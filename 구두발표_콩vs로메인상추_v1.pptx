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390" r:id="rId3"/>
    <p:sldId id="391" r:id="rId4"/>
    <p:sldId id="392" r:id="rId5"/>
    <p:sldId id="373" r:id="rId6"/>
    <p:sldId id="393" r:id="rId7"/>
    <p:sldId id="412" r:id="rId40"/>
    <p:sldId id="394" r:id="rId8"/>
    <p:sldId id="376" r:id="rId9"/>
    <p:sldId id="395" r:id="rId10"/>
    <p:sldId id="377" r:id="rId12"/>
    <p:sldId id="381" r:id="rId14"/>
    <p:sldId id="397" r:id="rId15"/>
    <p:sldId id="405" r:id="rId16"/>
    <p:sldId id="398" r:id="rId17"/>
    <p:sldId id="399" r:id="rId18"/>
    <p:sldId id="413" r:id="rId41"/>
    <p:sldId id="400" r:id="rId19"/>
    <p:sldId id="301" r:id="rId20"/>
    <p:sldId id="401" r:id="rId21"/>
    <p:sldId id="407" r:id="rId22"/>
    <p:sldId id="383" r:id="rId23"/>
    <p:sldId id="378" r:id="rId26"/>
    <p:sldId id="379" r:id="rId27"/>
    <p:sldId id="375" r:id="rId28"/>
    <p:sldId id="414" r:id="rId4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(약 10초) 안녕하십니까. 전북대학교 스마트농업AI융합학과 윤정민입니다. 오늘은 침수와 건조, 그리고 두 재해가 연속으로 발생한 복합재해 조건에서 콩과 로메인 상추의 생리 및 생육 반응을 비교한 결과를 발표하겠습니다. (발표 10분,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a:t>
            </a:fld>
            <a:endParaRPr lang="ko-KR" altLang="en-US"/>
          </a:p>
        </p:txBody>
      </p:sp>
    </p:spTree>
    <p:extLst>
      <p:ext uri="{BB962C8B-B14F-4D97-AF65-F5344CB8AC3E}">
        <p14:creationId xmlns:p14="http://schemas.microsoft.com/office/powerpoint/2010/main" val="2369180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최근 집중호우와 폭염·가뭄이 짧은 간격으로 반복되면서 한 생육기 안에서 침수와 건조를 연이어 겪는 일이 늘고 있습니다. 침수는 근권 산소 결핍으로, 건조는 토양 수분 부족으로 기공을 닫게 하지만, 두 재해가 연속될 때 피해가 누적되는지, 선행 스트레스가 순화 효과를 주는지는 작물마다 다를 수 있습니다. 그런데 재해 유형별로 생리 반응이 어느 단계에서 제한되는지를 작물 간에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이 연구는 수분 재해의 영향을 네 단계로 나누어 보았습니다. 가장 먼저 반응하는 기공, 광계의 명반응, 광합성의 생화학적 능력, 그리고 최종적으로 생육과 수량입니다. 콩과 로메인 상추에 침수, 건조, 복합 처리를 적용하여 잎 생리 반응이 어느 단계까지 이어지는지, 기공이 얼마나 빨리 회복되는지, 생육과 수량의 감소가 잎 생리로 설명되는지를 비교했습니다.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공시 작물은 콩 대원콩과 로메인 상추 크라디우스이며 전북대학교 부속농장에서 재배했습니다. 상추는 정식 3주 후 영양생장기에, 콩은 개화기에 처리를 시작했습니다. 처리구는 전날 손실된 수분량, 즉 증발산량만큼 관수한 대조구, 50%만 관수한 건조구, 3일간 침지한 뒤 정상 관수한 침수구, 침수 후 50% 관수한 복합구의 네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15초) 두 실험은 시기와 기간이 달라 침수 시작일을 DAT 0으로 맞추어 정렬했습니다. 로메인 상추는 처리 후 16일, 콩은 55일까지 관찰했고 점은 LI-600 측정일입니다.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앞서 제시한 네 단계에 맞추어 지표를 측정했습니다. 기공전도도와 명반응은 LI-600으로 반복 측정했고, 광합성의 생화학적 능력은 LI-6800의 A-Ci와 A-Q 곡선으로 평가했습니다. 생육은 파괴 조사로 측정했고 로메인 상추는 상면 사진으로 투영 엽면적도 추적했습니다. 통계는 측정일과 측정 당시 광도·기온을 보정한 평균에 침수 × 관수 이원 분산분석을 적용했습니다.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결과를 보기 전에 처리가 실제로 어떻게 들어갔는지 확인했습니다. 대조구 대비 누적 관수량은 건조구가 로메인 43%, 콩 40%로 설계인 50%에 가까웠습니다. 침수구는 콩이 87%였지만 로메인은 화분이 과습한 상태가 유지되어 56%만 관수되었습니다. 일일 증산량은 로메인이 건조 72%, 침수 84%, 복합 74%였고 콩은 건조 54%, 침수 95%였습니다. 다만 콩은 포트 밖으로 나간 뿌리가 있어 실제 수분 이용은 다를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첫 번째 단계인 기공입니다. 그래프와 표는 측정 광도와 기온을 보정한 값입니다. 침수 기간 동안 두 작물 모두 기공전도도가 감소했습니다. 로메인 상추는 침수 3일째 대조구의 10%까지 떨어졌다가 배수 직후 빠르게 회복했고, 콩은 침수 효과가 DAT 9까지 이어졌습니다. 건조는 두 작물 모두 후반에 기공전도도를 낮췄습니다.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각 처리구의 기공전도도를 같은 날 대조구에 대한 비율로 나타낸 그래프입니다. 로메인 상추는 침수 3일째 10%까지 떨어졌지만 배수 후 2~3일, 즉 DAT 5~6에 대조구 수준으로 회복했습니다. 콩은 DAT 9에도 52%로 회복되지 않았고 DAT 17 이후에야 대조구에 가까워졌습니다. 건조구와 복합구는 두 작물 모두 처리 후반에 대조구보다 낮아지는 시기가 있었고, 로메인의 복합구는 DAT 5에 75%였다가 DAT 6에 97%로 대조구 수준을 회복했습니다.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두 번째 단계인 명반응입니다. 처리 초기에는 측정일을 반복으로 한 검정에서 두 작물 모두 ΦPSII 차이가 없었습니다. 콩 P2에서는 건조구의 ΦPSII가 낮은 광도에서는 대조구와 같았지만 PPFD 1,200의 고광도에서만 0.68에서 0.50으로 낮아졌습니다. 로메인 상추는 모든 구간에서 처리 간 차이가 없었습니다. 따라서 로메인에서는 기공이 닫혔는데도 명반응은 영향을 받지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세 번째 단계인 광합성의 생화학적 능력입니다. 콩은 9월 측정에서 건조구와 복합구의 최대 카르복실화 속도와 최대 전자전달 속도가 낮았고, 로메인 상추도 복합구에서 가장 낮은 경향을 보였습니다. 다만 처리별로 측정일이 달라 측정일과 처리 효과가 섞여 있고 곡선 수도 처리당 3~4개로 적어 확정적으로 말하기는 어렵습니다. 암호흡, 최대 광합성, 양자수율은 두 작물 모두 처리 간 차이가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네 번째 단계인 생육과 수량입니다. 로메인 상추는 건조구 16%, 침수구 34%, 복합구 43%의 지상부 건물중 감소를 보였고 침수와 건조의 효과가 더해지는 가법적인 형태였습니다. 엽면적과 뿌리 건물중도 함께 줄었습니다. 콩은 DAT 20에 침수구의 꼬투리와 종실 발달이 대조구의 65%로 늦어졌지만 DAT 55에는 종실 건물중, 종실 수, 꼬투리 수, 100립중 모두 처리 간 차이가 없었습니다. 다만 검출 한계가 약 40~50%이고 뿌리가 포트 밖으로 나간 영향이 있어 근거는 약합니다.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50초) 이 발표의 핵심 결과입니다. 로메인 상추는 잎의 광합성 지표가 거의 변하지 않았는데 생육은 크게 줄었습니다. 그 원인을 캐노피 사진으로 추적했습니다. 침수 3일 동안 잎 확장이 멈춰 DAT 5의 투영 엽면적이 대조구의 약 70%에 그쳤고 배수 후 확장 속도는 대조구보다 빨랐지만 초기 손실을 따라잡지 못했습니다. 건물중 기준 생장 손실은 침수구 2.7일분인 반면, 기공이 닫혀 잃은 탄소는 약 1.2일분으로 추정되어 탄소 공급만으로는 설명이 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20초) 지금까지의 결과를 작물, 처리, 단계별로 정리한 표입니다. 로메인 상추는 기공이 침수 직후 크게 닫혔다가 며칠 만에 회복했고 명반응에는 변화가 없었지만, 생육은 침수 처리에서 가장 크게 감소했습니다. 콩은 기공 회복이 느렸고 건조 처리에서 고광도 명반응 저하가 나타났지만 수량 구성요소에는 차이가 없었습니다. 즉 같은 수분 재해라도 작물에 따라 영향이 나타나는 단계가 다릅니다.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55초) 고찰입니다. 먼저 두 작물 모두 침수 직후 기공전도도만 크게 떨어지고 명반응과 광합성 능력은 유지되었다는 점은, 광합성 장치의 손상이 아니라 이산화탄소 공급 제한임을 뜻합니다. 뿌리의 저산소는 ATP 고갈과 세포질 산성화로 아쿠아포린 기능을 떨어뜨려 뿌리의 수리전도도를 낮추고, 이것이 잎의 수분 상태를 악화시켜 기공을 닫는 것으로 보고됩니다. 건조도 잎 수분 상태를 통해 기공을 닫기 때문에 두 재해는 같은 경로를 공유합니다. 회복 속도의 차이는 배수 후 재산소화 단계의 신호 균형과 뿌리 기능의 회복에 달려 있고, 콩은 포트 밖으로 나간 뿌리가 끊기면서 회복이 늦었을 가능성이 있으나 이는 가설입니다.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40초) 결론입니다. 첫째, 침수는 두 작물에서 기공을 먼저 제한했고 로메인은 배수 2~3일 만에, 콩은 DAT 9 이후에 회복했습니다. 둘째, 명반응과 광합성 능력은 로메인에서 거의 변하지 않았고 콩은 건조 처리의 고광도에서만 명반응이 저하되었습니다. 셋째, 로메인은 생리가 회복되었는데도 침수 중 잎 확장 정지로 생육이 감소했고, 콩은 수량 구성요소에 차이가 없었습니다. 따라서 수분 스트레스에 대한 반응은 작물마다 다르며, 피해 진단에는 잎 생리 지표와 함께 잎 신장과 생장 지표가 필요합니다. 향후 재해 강도와 지속 기간을 세분화하고 잎 신장과 뿌리 기능을 직접 측정할 계획입니다.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이상으로 발표를 마치겠습니다. 감사합니다. (질의응답 2분)</a:t>
            </a:r>
          </a:p>
        </p:txBody>
      </p:sp>
      <p:sp>
        <p:nvSpPr>
          <p:cNvPr id="4" name="슬라이드 번호 개체 틀 3"/>
          <p:cNvSpPr>
            <a:spLocks noGrp="1"/>
          </p:cNvSpPr>
          <p:nvPr>
            <p:ph type="sldNum" sz="quarter" idx="5"/>
          </p:nvPr>
        </p:nvSpPr>
        <p:spPr/>
        <p:txBody>
          <a:bodyPr/>
          <a:lstStyle/>
          <a:p>
            <a:fld id="{9334595A-DD79-43DB-8171-24D3E6EC3B6F}" type="slidenum">
              <a:rPr lang="ko-KR" altLang="en-US" smtClean="0"/>
              <a:t>19</a:t>
            </a:fld>
            <a:endParaRPr lang="ko-KR" altLang="en-US"/>
          </a:p>
        </p:txBody>
      </p:sp>
    </p:spTree>
    <p:extLst>
      <p:ext uri="{BB962C8B-B14F-4D97-AF65-F5344CB8AC3E}">
        <p14:creationId xmlns:p14="http://schemas.microsoft.com/office/powerpoint/2010/main" val="349558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질의응답용 자료입니다. LI-600은 야외 광에서 측정하기 때문에 같은 날에도 처리마다 측정 광도와 기온이 달랐습니다. 그래서 측정일, 선형 PAR, 기온을 공변량으로 보정했고, 로메인 상추에서는 PAR만 보정한 결과와 기온까지 보정한 결과의 유의성 판정이 모든 지표에서 같았습니다.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두 실험은 계절이 달라 환경 조건이 크게 다릅니다. 콩의 처리 초기 평균 기온은 28.4도, 로메인 상추는 18.2도로 약 10도 낮았고 일적산광량도 로메인이 낮았습니다. 따라서 같은 50% 관수라도 증발산 부하가 달라 건조 스트레스 강도가 다르며, 두 작물의 차이는 병렬 사례로 해석하겠습니다.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55초) 두 번째 고찰입니다. 로메인 상추는 생리 지표가 회복되었는데도 생육이 크게 줄었습니다. 식물의 생장은 광합성으로 얻은 탄소의 양보다 조직 성장과 세포 팽압이 먼저 제한되는 경우가 많고, 이번에도 침수 중 잎 확장이 멈춰 생긴 손실이 기공 제한으로 잃은 탄소 추정치보다 컸습니다. 로메인은 영양생장기에 처리했고 수확물이 잎이라 생육 손실이 곧 수량 손실입니다. 반면 콩은 개화기에 처리해 늦어진 꼬투리와 종실이 이후 따라잡힌 것으로 보이며 생식 구조의 보상 가능성이 있지만 검출 한계와 뿌리 이탈 때문에 가설로 두겠습니다.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보충 자료 목록입니다.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광합성 광반응 곡선은 PPFD 8개 수준 모두에서 두 작물 모두 처리 간 유의한 차이가 없었습니다.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정상 상태 형광 Fs의 절대값은 로메인 상추에서 처리 간 차이가 없었고, 콩에서는 침수·건조 처리구가 대조구보다 높았습니다.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전자전달속도는 측정 광도에 비례하므로 광도를 보정한 평균으로 비교했고, 로메인 상추에서는 침수구가 약 6~8% 낮은 경향을 보였지만 측정일 반복 기준으로는 유의하지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자료입니다. 흐린 날은 제외하지 않고 측정 광도와 기온으로 보정했으며, 맑음지수 0.5 미만인 날을 그림에 회색 띠로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발표에 인용한 참고문헌입니다.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31.png"/><Relationship Id="rId5" Type="http://schemas.openxmlformats.org/officeDocument/2006/relationships/notesSlide" Target="../notesSlides/notesSlide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32.png"/><Relationship Id="rId5"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3.png"/><Relationship Id="rId5" Type="http://schemas.openxmlformats.org/officeDocument/2006/relationships/notesSlide" Target="../notesSlides/notesSlide3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2CE28E-68F2-8698-8327-B6D337810C4C}"/>
              </a:ext>
            </a:extLst>
          </p:cNvPr>
          <p:cNvSpPr>
            <a:spLocks noGrp="1"/>
          </p:cNvSpPr>
          <p:nvPr>
            <p:ph type="ctrTitle"/>
          </p:nvPr>
        </p:nvSpPr>
        <p:spPr>
          <a:xfrm>
            <a:off x="1480457" y="1367249"/>
            <a:ext cx="9231086" cy="2475807"/>
          </a:xfrm>
        </p:spPr>
        <p:txBody>
          <a:bodyPr>
            <a:normAutofit/>
          </a:bodyPr>
          <a:lstStyle/>
          <a:p>
            <a:r>
              <a:rPr lang="ko-KR" altLang="en-US" sz="4000" b="1" dirty="0"/>
              <a:t>침수 및 건조 복합재해에 대한 콩과</a:t>
            </a:r>
            <a:br>
              <a:rPr lang="en-US" altLang="ko-KR" sz="4000" b="1" dirty="0"/>
            </a:br>
            <a:r>
              <a:rPr lang="ko-KR" altLang="en-US" sz="4000" b="1" dirty="0"/>
              <a:t>로메인 상추의 생육 및 생리 반응 비교</a:t>
            </a:r>
            <a:br>
              <a:rPr lang="en-US" altLang="ko-KR" sz="4000" b="1" dirty="0"/>
            </a:br>
            <a:br>
              <a:rPr lang="en-US" altLang="ko-KR" sz="1600" b="1" dirty="0"/>
            </a:br>
            <a:r>
              <a:rPr lang="en-US" altLang="ko-KR" sz="1600" b="1" dirty="0">
                <a:latin typeface="Times New Roman" panose="02020603050405020304" pitchFamily="18" charset="0"/>
                <a:cs typeface="Times New Roman" panose="02020603050405020304" pitchFamily="18" charset="0"/>
              </a:rPr>
              <a:t>Comparison of Growth and Physiological Responses of Soybean and Romaine Lettuce to Flooding, Drought, and Combined Stress</a:t>
            </a:r>
            <a:endParaRPr lang="ko-KR" altLang="en-US" sz="2700" b="1" dirty="0">
              <a:latin typeface="Times New Roman" panose="02020603050405020304" pitchFamily="18" charset="0"/>
              <a:cs typeface="Times New Roman" panose="02020603050405020304" pitchFamily="18" charset="0"/>
            </a:endParaRPr>
          </a:p>
        </p:txBody>
      </p:sp>
      <p:sp>
        <p:nvSpPr>
          <p:cNvPr id="3" name="부제목 2">
            <a:extLst>
              <a:ext uri="{FF2B5EF4-FFF2-40B4-BE49-F238E27FC236}">
                <a16:creationId xmlns:a16="http://schemas.microsoft.com/office/drawing/2014/main" id="{1CE9F5BD-D28B-5F96-2E69-88270E8FFD15}"/>
              </a:ext>
            </a:extLst>
          </p:cNvPr>
          <p:cNvSpPr>
            <a:spLocks noGrp="1"/>
          </p:cNvSpPr>
          <p:nvPr>
            <p:ph type="subTitle" idx="1"/>
          </p:nvPr>
        </p:nvSpPr>
        <p:spPr>
          <a:xfrm>
            <a:off x="1524000" y="4255580"/>
            <a:ext cx="9144000" cy="2344850"/>
          </a:xfrm>
        </p:spPr>
        <p:txBody>
          <a:bodyPr>
            <a:normAutofit/>
          </a:bodyPr>
          <a:lstStyle/>
          <a:p>
            <a:pPr>
              <a:lnSpc>
                <a:spcPct val="80000"/>
              </a:lnSpc>
            </a:pPr>
            <a:endParaRPr lang="en-US" altLang="ko-KR" sz="2000" dirty="0"/>
          </a:p>
          <a:p>
            <a:pPr>
              <a:lnSpc>
                <a:spcPct val="80000"/>
              </a:lnSpc>
            </a:pPr>
            <a:endParaRPr lang="en-US" altLang="ko-KR" sz="1800" dirty="0"/>
          </a:p>
          <a:p>
            <a:endParaRPr lang="en-US" altLang="ko-KR" sz="1800" dirty="0"/>
          </a:p>
          <a:p>
            <a:endParaRPr lang="ko-KR" altLang="en-US" sz="1800" dirty="0"/>
          </a:p>
        </p:txBody>
      </p:sp>
      <p:pic>
        <p:nvPicPr>
          <p:cNvPr id="1026" name="Picture 2" descr="폰트, 그래픽, 로고, 텍스트이(가) 표시된 사진&#10;&#10;자동 생성된 설명">
            <a:extLst>
              <a:ext uri="{FF2B5EF4-FFF2-40B4-BE49-F238E27FC236}">
                <a16:creationId xmlns:a16="http://schemas.microsoft.com/office/drawing/2014/main" id="{1F5D21A4-5CE8-CA11-3AC9-D4DA2CEEA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1381" y="5788448"/>
            <a:ext cx="2213666"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직선 연결선 8">
            <a:extLst>
              <a:ext uri="{FF2B5EF4-FFF2-40B4-BE49-F238E27FC236}">
                <a16:creationId xmlns:a16="http://schemas.microsoft.com/office/drawing/2014/main" id="{98A2E225-EF8F-F661-C3B4-5EE926C3C211}"/>
              </a:ext>
            </a:extLst>
          </p:cNvPr>
          <p:cNvCxnSpPr>
            <a:cxnSpLocks/>
          </p:cNvCxnSpPr>
          <p:nvPr/>
        </p:nvCxnSpPr>
        <p:spPr>
          <a:xfrm>
            <a:off x="783772" y="89376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11" name="직선 연결선 10">
            <a:extLst>
              <a:ext uri="{FF2B5EF4-FFF2-40B4-BE49-F238E27FC236}">
                <a16:creationId xmlns:a16="http://schemas.microsoft.com/office/drawing/2014/main" id="{F25E478C-FA31-1F67-05B3-34C5962519CF}"/>
              </a:ext>
            </a:extLst>
          </p:cNvPr>
          <p:cNvCxnSpPr>
            <a:cxnSpLocks/>
          </p:cNvCxnSpPr>
          <p:nvPr/>
        </p:nvCxnSpPr>
        <p:spPr>
          <a:xfrm>
            <a:off x="1480457" y="4014412"/>
            <a:ext cx="9231086" cy="0"/>
          </a:xfrm>
          <a:prstGeom prst="line">
            <a:avLst/>
          </a:prstGeom>
          <a:ln w="28575"/>
        </p:spPr>
        <p:style>
          <a:lnRef idx="2">
            <a:schemeClr val="accent1"/>
          </a:lnRef>
          <a:fillRef idx="0">
            <a:schemeClr val="accent1"/>
          </a:fillRef>
          <a:effectRef idx="1">
            <a:schemeClr val="accent1"/>
          </a:effectRef>
          <a:fontRef idx="minor">
            <a:schemeClr val="tx1"/>
          </a:fontRef>
        </p:style>
      </p:cxnSp>
      <p:pic>
        <p:nvPicPr>
          <p:cNvPr id="4" name="Picture 2" descr="사)한국원예학회">
            <a:extLst>
              <a:ext uri="{FF2B5EF4-FFF2-40B4-BE49-F238E27FC236}">
                <a16:creationId xmlns:a16="http://schemas.microsoft.com/office/drawing/2014/main" id="{4869A5E8-6B1D-FCB7-158B-34C00508FE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2" y="88083"/>
            <a:ext cx="317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전북대학교 로고 브랜드 시그니처 마크 상징물 다운로드 LOGO UI MI CI AI BI JPG">
            <a:extLst>
              <a:ext uri="{FF2B5EF4-FFF2-40B4-BE49-F238E27FC236}">
                <a16:creationId xmlns:a16="http://schemas.microsoft.com/office/drawing/2014/main" id="{6B76D25D-FBEA-3892-9D2A-4667E65B44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9410" y="5788448"/>
            <a:ext cx="2936590" cy="720000"/>
          </a:xfrm>
          <a:prstGeom prst="rect">
            <a:avLst/>
          </a:prstGeom>
          <a:noFill/>
          <a:extLst>
            <a:ext uri="{909E8E84-426E-40DD-AFC4-6F175D3DCCD1}">
              <a14:hiddenFill xmlns:a14="http://schemas.microsoft.com/office/drawing/2010/main">
                <a:solidFill>
                  <a:srgbClr val="FFFFFF"/>
                </a:solidFill>
              </a14:hiddenFill>
            </a:ext>
          </a:extLst>
        </p:spPr>
      </p:pic>
      <p:sp>
        <p:nvSpPr>
          <p:cNvPr id="5" name="부제목 2">
            <a:extLst>
              <a:ext uri="{FF2B5EF4-FFF2-40B4-BE49-F238E27FC236}">
                <a16:creationId xmlns:a16="http://schemas.microsoft.com/office/drawing/2014/main" id="{510EA85C-DDC4-B272-8D57-37B6606FB19D}"/>
              </a:ext>
            </a:extLst>
          </p:cNvPr>
          <p:cNvSpPr txBox="1">
            <a:spLocks/>
          </p:cNvSpPr>
          <p:nvPr/>
        </p:nvSpPr>
        <p:spPr>
          <a:xfrm>
            <a:off x="1676400" y="4407980"/>
            <a:ext cx="9144000" cy="2344850"/>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80000"/>
              </a:lnSpc>
            </a:pPr>
            <a:r>
              <a:rPr lang="ko-KR" altLang="en-US" sz="2000" dirty="0"/>
              <a:t>전북대학교</a:t>
            </a:r>
            <a:r>
              <a:rPr lang="en-US" altLang="ko-KR" sz="2000" dirty="0"/>
              <a:t> </a:t>
            </a:r>
            <a:r>
              <a:rPr lang="ko-KR" altLang="en-US" sz="2000" dirty="0" err="1"/>
              <a:t>스마트농업AI융합학과</a:t>
            </a:r>
            <a:endParaRPr lang="en-US" altLang="ko-KR" sz="2000" dirty="0"/>
          </a:p>
          <a:p>
            <a:pPr>
              <a:lnSpc>
                <a:spcPct val="80000"/>
              </a:lnSpc>
            </a:pPr>
            <a:r>
              <a:rPr lang="ko-KR" altLang="en-US" sz="1800" dirty="0"/>
              <a:t>석사과정 윤정민</a:t>
            </a:r>
            <a:endParaRPr lang="en-US" altLang="ko-KR" sz="1800" dirty="0"/>
          </a:p>
          <a:p>
            <a:endParaRPr lang="en-US" altLang="ko-KR" sz="800" dirty="0"/>
          </a:p>
          <a:p>
            <a:r>
              <a:rPr lang="en-US" altLang="ko-KR" sz="1800" dirty="0"/>
              <a:t>2026. 11. 6.</a:t>
            </a:r>
            <a:endParaRPr lang="ko-KR" altLang="en-US" sz="1800" dirty="0"/>
          </a:p>
        </p:txBody>
      </p:sp>
    </p:spTree>
    <p:extLst>
      <p:ext uri="{BB962C8B-B14F-4D97-AF65-F5344CB8AC3E}">
        <p14:creationId xmlns:p14="http://schemas.microsoft.com/office/powerpoint/2010/main" val="239685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Swain et al. (2018) Nat. Clim. Change 8:427–433; Zandalinas &amp; Mittler (2022) New Phytol. 234:1161–1167.</a:t>
            </a:r>
          </a:p>
        </p:txBody>
      </p:sp>
      <p:sp>
        <p:nvSpPr>
          <p:cNvPr id="27" name="Flow 1"/>
          <p:cNvSpPr/>
          <p:nvPr/>
        </p:nvSpPr>
        <p:spPr>
          <a:xfrm>
            <a:off x="841248" y="1325880"/>
            <a:ext cx="3154680" cy="868680"/>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069080"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53712" y="1325880"/>
            <a:ext cx="3154680" cy="868680"/>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781544" y="1618488"/>
            <a:ext cx="41148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266176" y="1325880"/>
            <a:ext cx="3081528" cy="868680"/>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32" name="Card 침수 (Waterlogging)"/>
          <p:cNvSpPr/>
          <p:nvPr/>
        </p:nvSpPr>
        <p:spPr>
          <a:xfrm>
            <a:off x="84124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3" name="Header 침수 (Waterlogging)"/>
          <p:cNvSpPr/>
          <p:nvPr/>
        </p:nvSpPr>
        <p:spPr>
          <a:xfrm>
            <a:off x="1024128" y="2578608"/>
            <a:ext cx="2926080" cy="420624"/>
          </a:xfrm>
          <a:prstGeom prst="roundRect">
            <a:avLst>
              <a:gd name="adj" fmla="val 25000"/>
            </a:avLst>
          </a:prstGeom>
          <a:solidFill>
            <a:srgbClr val="0B76A0"/>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침수 (Waterlogging)</a:t>
            </a:r>
          </a:p>
        </p:txBody>
      </p:sp>
      <p:sp>
        <p:nvSpPr>
          <p:cNvPr id="34" name="Text 침수 (Waterlogging)"/>
          <p:cNvSpPr txBox="1"/>
          <p:nvPr/>
        </p:nvSpPr>
        <p:spPr>
          <a:xfrm>
            <a:off x="102412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근권 산소 결핍 → 뿌리 호흡·양수분 흡수 저해</a:t>
            </a:r>
          </a:p>
          <a:p>
            <a:pPr marL="201168" indent="-201168" algn="l">
              <a:spcBef>
                <a:spcPts val="1000"/>
              </a:spcBef>
              <a:buFont typeface="Arial"/>
              <a:buChar char="•"/>
            </a:pPr>
            <a:r>
              <a:rPr lang="ko-KR" altLang="en-US" sz="1400" b="0" dirty="0">
                <a:solidFill>
                  <a:srgbClr val="000000"/>
                </a:solidFill>
              </a:rPr>
              <a:t>기공 닫힘 → 엽 내 CO</a:t>
            </a:r>
            <a:r>
              <a:rPr lang="ko-KR" altLang="en-US" sz="1400" b="0" baseline="-25000" dirty="0">
                <a:solidFill>
                  <a:srgbClr val="000000"/>
                </a:solidFill>
              </a:rPr>
              <a:t>2</a:t>
            </a:r>
            <a:r>
              <a:rPr lang="ko-KR" altLang="en-US" sz="1400" b="0" dirty="0">
                <a:solidFill>
                  <a:srgbClr val="000000"/>
                </a:solidFill>
              </a:rPr>
              <a:t> 공급 감소</a:t>
            </a:r>
          </a:p>
          <a:p>
            <a:pPr marL="201168" indent="-201168" algn="l">
              <a:spcBef>
                <a:spcPts val="1000"/>
              </a:spcBef>
              <a:buFont typeface="Arial"/>
              <a:buChar char="•"/>
            </a:pPr>
            <a:r>
              <a:rPr lang="ko-KR" altLang="en-US" sz="1400" b="0" dirty="0">
                <a:solidFill>
                  <a:srgbClr val="000000"/>
                </a:solidFill>
              </a:rPr>
              <a:t>배수 후에도 회복에 시간 소요</a:t>
            </a:r>
          </a:p>
        </p:txBody>
      </p:sp>
      <p:sp>
        <p:nvSpPr>
          <p:cNvPr id="35" name="Card 건조 (Drought)"/>
          <p:cNvSpPr/>
          <p:nvPr/>
        </p:nvSpPr>
        <p:spPr>
          <a:xfrm>
            <a:off x="445312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6" name="Header 건조 (Drought)"/>
          <p:cNvSpPr/>
          <p:nvPr/>
        </p:nvSpPr>
        <p:spPr>
          <a:xfrm>
            <a:off x="4636008" y="2578608"/>
            <a:ext cx="292608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건조 (Drought)</a:t>
            </a:r>
          </a:p>
        </p:txBody>
      </p:sp>
      <p:sp>
        <p:nvSpPr>
          <p:cNvPr id="37" name="Text 건조 (Drought)"/>
          <p:cNvSpPr txBox="1"/>
          <p:nvPr/>
        </p:nvSpPr>
        <p:spPr>
          <a:xfrm>
            <a:off x="463600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토양 수분 감소 → 엽 수분 상태 저하</a:t>
            </a:r>
          </a:p>
          <a:p>
            <a:pPr marL="201168" indent="-201168" algn="l">
              <a:spcBef>
                <a:spcPts val="1000"/>
              </a:spcBef>
              <a:buFont typeface="Arial"/>
              <a:buChar char="•"/>
            </a:pPr>
            <a:r>
              <a:rPr lang="ko-KR" altLang="en-US" sz="1400" b="0" dirty="0">
                <a:solidFill>
                  <a:srgbClr val="000000"/>
                </a:solidFill>
              </a:rPr>
              <a:t>기공 닫힘 → 증산·광합성 감소</a:t>
            </a:r>
          </a:p>
          <a:p>
            <a:pPr marL="201168" indent="-201168" algn="l">
              <a:spcBef>
                <a:spcPts val="1000"/>
              </a:spcBef>
              <a:buFont typeface="Arial"/>
              <a:buChar char="•"/>
            </a:pPr>
            <a:r>
              <a:rPr lang="ko-KR" altLang="en-US" sz="1400" b="0" dirty="0">
                <a:solidFill>
                  <a:srgbClr val="000000"/>
                </a:solidFill>
              </a:rPr>
              <a:t>지속 시 광화학 효율 저하 가능</a:t>
            </a:r>
          </a:p>
        </p:txBody>
      </p:sp>
      <p:sp>
        <p:nvSpPr>
          <p:cNvPr id="38" name="Card 복합 (침수 → 건조)"/>
          <p:cNvSpPr/>
          <p:nvPr/>
        </p:nvSpPr>
        <p:spPr>
          <a:xfrm>
            <a:off x="8065008" y="2788920"/>
            <a:ext cx="3291840" cy="21945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9" name="Header 복합 (침수 → 건조)"/>
          <p:cNvSpPr/>
          <p:nvPr/>
        </p:nvSpPr>
        <p:spPr>
          <a:xfrm>
            <a:off x="8247888" y="2578608"/>
            <a:ext cx="292608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복합 (침수 → 건조)</a:t>
            </a:r>
          </a:p>
        </p:txBody>
      </p:sp>
      <p:sp>
        <p:nvSpPr>
          <p:cNvPr id="40" name="Text 복합 (침수 → 건조)"/>
          <p:cNvSpPr txBox="1"/>
          <p:nvPr/>
        </p:nvSpPr>
        <p:spPr>
          <a:xfrm>
            <a:off x="8247888" y="3172968"/>
            <a:ext cx="2971800" cy="16916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침수 피해 회복 전에 건조에 노출</a:t>
            </a:r>
          </a:p>
          <a:p>
            <a:pPr marL="201168" indent="-201168" algn="l">
              <a:spcBef>
                <a:spcPts val="1000"/>
              </a:spcBef>
              <a:buFont typeface="Arial"/>
              <a:buChar char="•"/>
            </a:pPr>
            <a:r>
              <a:rPr lang="ko-KR" altLang="en-US" sz="1400" b="0" dirty="0">
                <a:solidFill>
                  <a:srgbClr val="000000"/>
                </a:solidFill>
              </a:rPr>
              <a:t>피해 누적 또는 선행 스트레스에 의한 순화 가능</a:t>
            </a:r>
          </a:p>
          <a:p>
            <a:pPr marL="201168" indent="-201168" algn="l">
              <a:spcBef>
                <a:spcPts val="1000"/>
              </a:spcBef>
              <a:buFont typeface="Arial"/>
              <a:buChar char="•"/>
            </a:pPr>
            <a:r>
              <a:rPr lang="ko-KR" altLang="en-US" sz="1400" b="0" dirty="0">
                <a:solidFill>
                  <a:srgbClr val="000000"/>
                </a:solidFill>
              </a:rPr>
              <a:t>작물·생육 단계별 반응 비교 정보 부족</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6"/>
                                        </p:tgtEl>
                                        <p:attrNameLst>
                                          <p:attrName>style.visibility</p:attrName>
                                        </p:attrNameLst>
                                      </p:cBhvr>
                                      <p:to>
                                        <p:strVal val="visible"/>
                                      </p:to>
                                    </p:set>
                                    <p:animEffect transition="in" filter="fade">
                                      <p:cBhvr>
                                        <p:cTn id="38" dur="500"/>
                                        <p:tgtEl>
                                          <p:spTgt spid="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841248" y="1417320"/>
            <a:ext cx="1993392" cy="749808"/>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3474720" y="2130552"/>
            <a:ext cx="1993392" cy="749808"/>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r>
              <a:rPr lang="ko-KR" altLang="en-US" sz="1100" b="0" dirty="0">
                <a:solidFill>
                  <a:srgbClr val="000000"/>
                </a:solidFill>
              </a:rPr>
              <a:t> · F</a:t>
            </a:r>
            <a:r>
              <a:rPr lang="ko-KR" altLang="en-US" sz="1100" b="0" dirty="0" baseline="-25000">
                <a:solidFill>
                  <a:srgbClr val="000000"/>
                </a:solidFill>
              </a:rPr>
              <a:t>s</a:t>
            </a:r>
            <a:r>
              <a:rPr lang="ko-KR" altLang="en-US" sz="1100" b="0" dirty="0">
                <a:solidFill>
                  <a:srgbClr val="000000"/>
                </a:solidFill>
              </a:rPr>
              <a:t> · ETR</a:t>
            </a:r>
          </a:p>
        </p:txBody>
      </p:sp>
      <p:sp>
        <p:nvSpPr>
          <p:cNvPr id="30" name="Step 4"/>
          <p:cNvSpPr/>
          <p:nvPr/>
        </p:nvSpPr>
        <p:spPr>
          <a:xfrm>
            <a:off x="6108192" y="2843784"/>
            <a:ext cx="1993392" cy="749808"/>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A</a:t>
            </a:r>
            <a:r>
              <a:rPr lang="ko-KR" altLang="en-US" sz="1100" b="0" dirty="0" baseline="-25000">
                <a:solidFill>
                  <a:srgbClr val="FFFFFF"/>
                </a:solidFill>
              </a:rPr>
              <a:t>max</a:t>
            </a:r>
          </a:p>
        </p:txBody>
      </p:sp>
      <p:sp>
        <p:nvSpPr>
          <p:cNvPr id="31" name="Step 5"/>
          <p:cNvSpPr/>
          <p:nvPr/>
        </p:nvSpPr>
        <p:spPr>
          <a:xfrm>
            <a:off x="8741664" y="3557015"/>
            <a:ext cx="1993392" cy="749808"/>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건물중 · 엽면적 · 수확량</a:t>
            </a:r>
          </a:p>
        </p:txBody>
      </p:sp>
      <p:sp>
        <p:nvSpPr>
          <p:cNvPr id="33" name="Objective"/>
          <p:cNvSpPr/>
          <p:nvPr/>
        </p:nvSpPr>
        <p:spPr>
          <a:xfrm>
            <a:off x="841248" y="4498848"/>
            <a:ext cx="10515600" cy="1115568"/>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감소가 잎 생리로 설명되는지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공시 작물 및 수분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1">
                <a:solidFill>
                  <a:srgbClr val="E97132"/>
                </a:solidFill>
              </a:rPr>
              <a:t>2작물 × 4처리</a:t>
            </a:r>
            <a:r>
              <a:rPr sz="1600" b="0">
                <a:solidFill>
                  <a:srgbClr val="E97132"/>
                </a:solidFill>
              </a:rPr>
              <a:t>: 대조구 · 건조 · 침수 · 복합(침수 후 건조), 침수 기간은 두 작물 모두 3일</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복합구는 침수 종료 후 침수구 관수량의 50%를 관수. 침수는 포트를 물통에 옮겨 3일간 잠기게 함. 콩은 처리 전부터 일부 뿌리가 포트 하단 배수구로 빠져나가 지면에 닿음.</a:t>
            </a:r>
          </a:p>
        </p:txBody>
      </p:sp>
      <p:sp>
        <p:nvSpPr>
          <p:cNvPr id="27" name="Card 상추"/>
          <p:cNvSpPr/>
          <p:nvPr/>
        </p:nvSpPr>
        <p:spPr>
          <a:xfrm>
            <a:off x="841248" y="150876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상추"/>
          <p:cNvSpPr/>
          <p:nvPr/>
        </p:nvSpPr>
        <p:spPr>
          <a:xfrm>
            <a:off x="1024128" y="1298448"/>
            <a:ext cx="452628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로메인 상추</a:t>
            </a:r>
          </a:p>
        </p:txBody>
      </p:sp>
      <p:sp>
        <p:nvSpPr>
          <p:cNvPr id="29" name="Text 상추"/>
          <p:cNvSpPr txBox="1"/>
          <p:nvPr/>
        </p:nvSpPr>
        <p:spPr>
          <a:xfrm>
            <a:off x="1024128" y="189280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Lactuca sativa L. (로메인) cv. 크라디우스</a:t>
            </a:r>
          </a:p>
          <a:p>
            <a:pPr marL="201168" indent="-201168" algn="l">
              <a:spcBef>
                <a:spcPts val="600"/>
              </a:spcBef>
              <a:buFont typeface="Arial"/>
              <a:buChar char="•"/>
            </a:pPr>
            <a:r>
              <a:rPr lang="ko-KR" altLang="en-US" sz="1300" b="0" dirty="0">
                <a:solidFill>
                  <a:srgbClr val="000000"/>
                </a:solidFill>
              </a:rPr>
              <a:t>처리 개시: 정식 3주 후 (영양생장기)</a:t>
            </a:r>
          </a:p>
          <a:p>
            <a:pPr marL="201168" indent="-201168" algn="l">
              <a:spcBef>
                <a:spcPts val="600"/>
              </a:spcBef>
              <a:buFont typeface="Arial"/>
              <a:buChar char="•"/>
            </a:pPr>
            <a:r>
              <a:rPr lang="ko-KR" altLang="en-US" sz="1300" b="0" dirty="0">
                <a:solidFill>
                  <a:srgbClr val="000000"/>
                </a:solidFill>
              </a:rPr>
              <a:t>관찰: 처리 후 16일 (DAT 0~16)</a:t>
            </a:r>
          </a:p>
        </p:txBody>
      </p:sp>
      <p:sp>
        <p:nvSpPr>
          <p:cNvPr id="30" name="Card 콩"/>
          <p:cNvSpPr/>
          <p:nvPr/>
        </p:nvSpPr>
        <p:spPr>
          <a:xfrm>
            <a:off x="841248" y="3611880"/>
            <a:ext cx="4892040" cy="15544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콩"/>
          <p:cNvSpPr/>
          <p:nvPr/>
        </p:nvSpPr>
        <p:spPr>
          <a:xfrm>
            <a:off x="1024128" y="3401568"/>
            <a:ext cx="452628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콩</a:t>
            </a:r>
          </a:p>
        </p:txBody>
      </p:sp>
      <p:sp>
        <p:nvSpPr>
          <p:cNvPr id="32" name="Text 콩"/>
          <p:cNvSpPr txBox="1"/>
          <p:nvPr/>
        </p:nvSpPr>
        <p:spPr>
          <a:xfrm>
            <a:off x="1024128" y="3995928"/>
            <a:ext cx="4572000" cy="105156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00" b="0" i="1" dirty="0">
                <a:solidFill>
                  <a:srgbClr val="000000"/>
                </a:solidFill>
              </a:rPr>
              <a:t>Glycine max</a:t>
            </a:r>
            <a:r>
              <a:rPr lang="ko-KR" altLang="en-US" sz="1300" b="0" dirty="0">
                <a:solidFill>
                  <a:srgbClr val="000000"/>
                </a:solidFill>
              </a:rPr>
              <a:t> (L.) Merr. cv. Daewonkong (대원콩)</a:t>
            </a:r>
          </a:p>
          <a:p>
            <a:pPr marL="201168" indent="-201168" algn="l">
              <a:spcBef>
                <a:spcPts val="600"/>
              </a:spcBef>
              <a:buFont typeface="Arial"/>
              <a:buChar char="•"/>
            </a:pPr>
            <a:r>
              <a:rPr lang="ko-KR" altLang="en-US" sz="1300" b="0" dirty="0">
                <a:solidFill>
                  <a:srgbClr val="000000"/>
                </a:solidFill>
              </a:rPr>
              <a:t>처리 개시: 개화기</a:t>
            </a:r>
          </a:p>
          <a:p>
            <a:pPr marL="201168" indent="-201168" algn="l">
              <a:spcBef>
                <a:spcPts val="600"/>
              </a:spcBef>
              <a:buFont typeface="Arial"/>
              <a:buChar char="•"/>
            </a:pPr>
            <a:r>
              <a:rPr lang="ko-KR" altLang="en-US" sz="1300" b="0" dirty="0">
                <a:solidFill>
                  <a:srgbClr val="000000"/>
                </a:solidFill>
              </a:rPr>
              <a:t>관찰: 처리 후 55일 (DAT 0~55)</a:t>
            </a:r>
          </a:p>
        </p:txBody>
      </p:sp>
      <p:sp>
        <p:nvSpPr>
          <p:cNvPr id="33" name="Pot label"/>
          <p:cNvSpPr txBox="1"/>
          <p:nvPr/>
        </p:nvSpPr>
        <p:spPr>
          <a:xfrm>
            <a:off x="608076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3A3A3A"/>
                </a:solidFill>
              </a:rPr>
              <a:t>대조구</a:t>
            </a:r>
          </a:p>
        </p:txBody>
      </p:sp>
      <p:sp>
        <p:nvSpPr>
          <p:cNvPr id="34" name="Leaf"/>
          <p:cNvSpPr/>
          <p:nvPr/>
        </p:nvSpPr>
        <p:spPr>
          <a:xfrm>
            <a:off x="637336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35" name="Stem"/>
          <p:cNvSpPr/>
          <p:nvPr/>
        </p:nvSpPr>
        <p:spPr>
          <a:xfrm>
            <a:off x="666597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36" name="Soil"/>
          <p:cNvSpPr/>
          <p:nvPr/>
        </p:nvSpPr>
        <p:spPr>
          <a:xfrm flipV="1">
            <a:off x="621792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37" name="Pot"/>
          <p:cNvSpPr/>
          <p:nvPr/>
        </p:nvSpPr>
        <p:spPr>
          <a:xfrm flipV="1">
            <a:off x="615391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38" name="Pot desc"/>
          <p:cNvSpPr txBox="1"/>
          <p:nvPr/>
        </p:nvSpPr>
        <p:spPr>
          <a:xfrm>
            <a:off x="603504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100% 관수</a:t>
            </a:r>
          </a:p>
        </p:txBody>
      </p:sp>
      <p:sp>
        <p:nvSpPr>
          <p:cNvPr id="39" name="Pot label"/>
          <p:cNvSpPr txBox="1"/>
          <p:nvPr/>
        </p:nvSpPr>
        <p:spPr>
          <a:xfrm>
            <a:off x="740664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8A7F70"/>
                </a:solidFill>
              </a:rPr>
              <a:t>건조</a:t>
            </a:r>
          </a:p>
        </p:txBody>
      </p:sp>
      <p:sp>
        <p:nvSpPr>
          <p:cNvPr id="40" name="Leaf"/>
          <p:cNvSpPr/>
          <p:nvPr/>
        </p:nvSpPr>
        <p:spPr>
          <a:xfrm>
            <a:off x="769924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1" name="Stem"/>
          <p:cNvSpPr/>
          <p:nvPr/>
        </p:nvSpPr>
        <p:spPr>
          <a:xfrm>
            <a:off x="799185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2" name="Soil"/>
          <p:cNvSpPr/>
          <p:nvPr/>
        </p:nvSpPr>
        <p:spPr>
          <a:xfrm flipV="1">
            <a:off x="754380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43" name="Pot"/>
          <p:cNvSpPr/>
          <p:nvPr/>
        </p:nvSpPr>
        <p:spPr>
          <a:xfrm flipV="1">
            <a:off x="747979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44" name="Pot desc"/>
          <p:cNvSpPr txBox="1"/>
          <p:nvPr/>
        </p:nvSpPr>
        <p:spPr>
          <a:xfrm>
            <a:off x="736092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ET 50% 관수</a:t>
            </a:r>
          </a:p>
        </p:txBody>
      </p:sp>
      <p:sp>
        <p:nvSpPr>
          <p:cNvPr id="45" name="Pot label"/>
          <p:cNvSpPr txBox="1"/>
          <p:nvPr/>
        </p:nvSpPr>
        <p:spPr>
          <a:xfrm>
            <a:off x="873252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1F4E79"/>
                </a:solidFill>
              </a:rPr>
              <a:t>침수</a:t>
            </a:r>
          </a:p>
        </p:txBody>
      </p:sp>
      <p:sp>
        <p:nvSpPr>
          <p:cNvPr id="46" name="Leaf"/>
          <p:cNvSpPr/>
          <p:nvPr/>
        </p:nvSpPr>
        <p:spPr>
          <a:xfrm>
            <a:off x="902512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47" name="Stem"/>
          <p:cNvSpPr/>
          <p:nvPr/>
        </p:nvSpPr>
        <p:spPr>
          <a:xfrm>
            <a:off x="931773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48" name="Water"/>
          <p:cNvSpPr/>
          <p:nvPr/>
        </p:nvSpPr>
        <p:spPr>
          <a:xfrm>
            <a:off x="880567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49" name="Soil"/>
          <p:cNvSpPr/>
          <p:nvPr/>
        </p:nvSpPr>
        <p:spPr>
          <a:xfrm flipV="1">
            <a:off x="8869680" y="2816352"/>
            <a:ext cx="960120" cy="1234440"/>
          </a:xfrm>
          <a:prstGeom prst="trapezoid">
            <a:avLst>
              <a:gd name="adj" fmla="val 12000"/>
            </a:avLst>
          </a:prstGeom>
          <a:solidFill>
            <a:srgbClr val="7B4A1E"/>
          </a:solidFill>
          <a:ln>
            <a:noFill/>
          </a:ln>
        </p:spPr>
        <p:txBody>
          <a:bodyPr wrap="square" lIns="73152" tIns="36576" rIns="73152" bIns="36576" rtlCol="0" anchor="ctr">
            <a:noAutofit/>
          </a:bodyPr>
          <a:lstStyle/>
          <a:p>
            <a:endParaRPr lang="ko-KR"/>
          </a:p>
        </p:txBody>
      </p:sp>
      <p:sp>
        <p:nvSpPr>
          <p:cNvPr id="50" name="Pot"/>
          <p:cNvSpPr/>
          <p:nvPr/>
        </p:nvSpPr>
        <p:spPr>
          <a:xfrm flipV="1">
            <a:off x="880567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1" name="Pot desc"/>
          <p:cNvSpPr txBox="1"/>
          <p:nvPr/>
        </p:nvSpPr>
        <p:spPr>
          <a:xfrm>
            <a:off x="868680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100%</a:t>
            </a:r>
          </a:p>
        </p:txBody>
      </p:sp>
      <p:sp>
        <p:nvSpPr>
          <p:cNvPr id="52" name="Pot label"/>
          <p:cNvSpPr txBox="1"/>
          <p:nvPr/>
        </p:nvSpPr>
        <p:spPr>
          <a:xfrm>
            <a:off x="10058400" y="1280160"/>
            <a:ext cx="1234440" cy="36576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6F93B8"/>
                </a:solidFill>
              </a:rPr>
              <a:t>복합</a:t>
            </a:r>
          </a:p>
        </p:txBody>
      </p:sp>
      <p:sp>
        <p:nvSpPr>
          <p:cNvPr id="53" name="Leaf"/>
          <p:cNvSpPr/>
          <p:nvPr/>
        </p:nvSpPr>
        <p:spPr>
          <a:xfrm>
            <a:off x="10351008" y="1783080"/>
            <a:ext cx="640080" cy="457200"/>
          </a:xfrm>
          <a:prstGeom prst="ellipse">
            <a:avLst/>
          </a:prstGeom>
          <a:solidFill>
            <a:srgbClr val="5BAA4A"/>
          </a:solidFill>
          <a:ln>
            <a:noFill/>
          </a:ln>
        </p:spPr>
        <p:txBody>
          <a:bodyPr wrap="square" lIns="73152" tIns="36576" rIns="73152" bIns="36576" rtlCol="0" anchor="ctr">
            <a:noAutofit/>
          </a:bodyPr>
          <a:lstStyle/>
          <a:p>
            <a:endParaRPr lang="ko-KR"/>
          </a:p>
        </p:txBody>
      </p:sp>
      <p:sp>
        <p:nvSpPr>
          <p:cNvPr id="54" name="Stem"/>
          <p:cNvSpPr/>
          <p:nvPr/>
        </p:nvSpPr>
        <p:spPr>
          <a:xfrm>
            <a:off x="10643616" y="2176272"/>
            <a:ext cx="54864" cy="411480"/>
          </a:xfrm>
          <a:prstGeom prst="rect">
            <a:avLst/>
          </a:prstGeom>
          <a:solidFill>
            <a:srgbClr val="3E7C34"/>
          </a:solidFill>
          <a:ln>
            <a:noFill/>
          </a:ln>
        </p:spPr>
        <p:txBody>
          <a:bodyPr wrap="square" lIns="73152" tIns="36576" rIns="73152" bIns="36576" rtlCol="0" anchor="ctr">
            <a:noAutofit/>
          </a:bodyPr>
          <a:lstStyle/>
          <a:p>
            <a:endParaRPr lang="ko-KR"/>
          </a:p>
        </p:txBody>
      </p:sp>
      <p:sp>
        <p:nvSpPr>
          <p:cNvPr id="55" name="Water"/>
          <p:cNvSpPr/>
          <p:nvPr/>
        </p:nvSpPr>
        <p:spPr>
          <a:xfrm>
            <a:off x="10131552" y="2487168"/>
            <a:ext cx="1088136" cy="347472"/>
          </a:xfrm>
          <a:prstGeom prst="rect">
            <a:avLst/>
          </a:prstGeom>
          <a:solidFill>
            <a:srgbClr val="6BAED6">
              <a:alpha val="75000"/>
            </a:srgbClr>
          </a:solidFill>
          <a:ln>
            <a:noFill/>
          </a:ln>
        </p:spPr>
        <p:txBody>
          <a:bodyPr wrap="square" lIns="73152" tIns="36576" rIns="73152" bIns="36576" rtlCol="0" anchor="ctr">
            <a:noAutofit/>
          </a:bodyPr>
          <a:lstStyle/>
          <a:p>
            <a:endParaRPr lang="ko-KR"/>
          </a:p>
        </p:txBody>
      </p:sp>
      <p:sp>
        <p:nvSpPr>
          <p:cNvPr id="56" name="Soil"/>
          <p:cNvSpPr/>
          <p:nvPr/>
        </p:nvSpPr>
        <p:spPr>
          <a:xfrm flipV="1">
            <a:off x="10195560" y="2816352"/>
            <a:ext cx="960120" cy="1234440"/>
          </a:xfrm>
          <a:prstGeom prst="trapezoid">
            <a:avLst>
              <a:gd name="adj" fmla="val 12000"/>
            </a:avLst>
          </a:prstGeom>
          <a:solidFill>
            <a:srgbClr val="C9A26B"/>
          </a:solidFill>
          <a:ln>
            <a:noFill/>
          </a:ln>
        </p:spPr>
        <p:txBody>
          <a:bodyPr wrap="square" lIns="73152" tIns="36576" rIns="73152" bIns="36576" rtlCol="0" anchor="ctr">
            <a:noAutofit/>
          </a:bodyPr>
          <a:lstStyle/>
          <a:p>
            <a:endParaRPr lang="ko-KR"/>
          </a:p>
        </p:txBody>
      </p:sp>
      <p:sp>
        <p:nvSpPr>
          <p:cNvPr id="57" name="Pot"/>
          <p:cNvSpPr/>
          <p:nvPr/>
        </p:nvSpPr>
        <p:spPr>
          <a:xfrm flipV="1">
            <a:off x="10131552" y="2487168"/>
            <a:ext cx="1088136" cy="1600200"/>
          </a:xfrm>
          <a:prstGeom prst="trapezoid">
            <a:avLst>
              <a:gd name="adj" fmla="val 12000"/>
            </a:avLst>
          </a:prstGeom>
          <a:noFill/>
          <a:ln w="25400">
            <a:solidFill>
              <a:srgbClr val="7F7F7F"/>
            </a:solidFill>
          </a:ln>
        </p:spPr>
        <p:txBody>
          <a:bodyPr wrap="square" lIns="73152" tIns="36576" rIns="73152" bIns="36576" rtlCol="0" anchor="ctr">
            <a:noAutofit/>
          </a:bodyPr>
          <a:lstStyle/>
          <a:p>
            <a:endParaRPr lang="ko-KR"/>
          </a:p>
        </p:txBody>
      </p:sp>
      <p:sp>
        <p:nvSpPr>
          <p:cNvPr id="58" name="Pot desc"/>
          <p:cNvSpPr txBox="1"/>
          <p:nvPr/>
        </p:nvSpPr>
        <p:spPr>
          <a:xfrm>
            <a:off x="10012680" y="4187952"/>
            <a:ext cx="1325880" cy="640080"/>
          </a:xfrm>
          <a:prstGeom prst="rect">
            <a:avLst/>
          </a:prstGeom>
          <a:noFill/>
          <a:ln>
            <a:noFill/>
          </a:ln>
        </p:spPr>
        <p:txBody>
          <a:bodyPr wrap="square" lIns="73152" tIns="36576" rIns="73152" bIns="36576" rtlCol="0" anchor="ctr">
            <a:noAutofit/>
          </a:bodyPr>
          <a:lstStyle/>
          <a:p>
            <a:pPr marL="0" indent="0" algn="ctr">
              <a:spcBef>
                <a:spcPts val="0"/>
              </a:spcBef>
              <a:buNone/>
            </a:pPr>
            <a:r>
              <a:rPr lang="ko-KR" altLang="en-US" sz="1150" b="0" dirty="0">
                <a:solidFill>
                  <a:srgbClr val="000000"/>
                </a:solidFill>
              </a:rPr>
              <a:t>3일 침지 →</a:t>
            </a:r>
          </a:p>
          <a:p>
            <a:pPr marL="0" indent="0" algn="ctr">
              <a:spcBef>
                <a:spcPts val="0"/>
              </a:spcBef>
              <a:buNone/>
            </a:pPr>
            <a:r>
              <a:rPr lang="ko-KR" altLang="en-US" sz="1150" b="0" dirty="0">
                <a:solidFill>
                  <a:srgbClr val="000000"/>
                </a:solidFill>
              </a:rPr>
              <a:t>ET 50%</a:t>
            </a:r>
          </a:p>
        </p:txBody>
      </p:sp>
      <p:sp>
        <p:nvSpPr>
          <p:cNvPr id="59" name="Site"/>
          <p:cNvSpPr txBox="1"/>
          <p:nvPr/>
        </p:nvSpPr>
        <p:spPr>
          <a:xfrm>
            <a:off x="6035040" y="4983480"/>
            <a:ext cx="5303520" cy="457200"/>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재배: 전북대학교 부속농장  ·  ET: 전날 손실된 수분량 (증발산량)</a:t>
            </a:r>
          </a:p>
        </p:txBody>
      </p:sp>
      <p:sp>
        <p:nvSpPr>
          <p:cNvPr id="117"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18"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119"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20"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21"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500"/>
                                        <p:tgtEl>
                                          <p:spTgt spid="3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500"/>
                                        <p:tgtEl>
                                          <p:spTgt spid="4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fade">
                                      <p:cBhvr>
                                        <p:cTn id="59" dur="500"/>
                                        <p:tgtEl>
                                          <p:spTgt spid="43"/>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fade">
                                      <p:cBhvr>
                                        <p:cTn id="62" dur="500"/>
                                        <p:tgtEl>
                                          <p:spTgt spid="4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6"/>
                                        </p:tgtEl>
                                        <p:attrNameLst>
                                          <p:attrName>style.visibility</p:attrName>
                                        </p:attrNameLst>
                                      </p:cBhvr>
                                      <p:to>
                                        <p:strVal val="visible"/>
                                      </p:to>
                                    </p:set>
                                    <p:animEffect transition="in" filter="fade">
                                      <p:cBhvr>
                                        <p:cTn id="70" dur="500"/>
                                        <p:tgtEl>
                                          <p:spTgt spid="4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fade">
                                      <p:cBhvr>
                                        <p:cTn id="73" dur="500"/>
                                        <p:tgtEl>
                                          <p:spTgt spid="4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8"/>
                                        </p:tgtEl>
                                        <p:attrNameLst>
                                          <p:attrName>style.visibility</p:attrName>
                                        </p:attrNameLst>
                                      </p:cBhvr>
                                      <p:to>
                                        <p:strVal val="visible"/>
                                      </p:to>
                                    </p:set>
                                    <p:animEffect transition="in" filter="fade">
                                      <p:cBhvr>
                                        <p:cTn id="76" dur="500"/>
                                        <p:tgtEl>
                                          <p:spTgt spid="4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9"/>
                                        </p:tgtEl>
                                        <p:attrNameLst>
                                          <p:attrName>style.visibility</p:attrName>
                                        </p:attrNameLst>
                                      </p:cBhvr>
                                      <p:to>
                                        <p:strVal val="visible"/>
                                      </p:to>
                                    </p:set>
                                    <p:animEffect transition="in" filter="fade">
                                      <p:cBhvr>
                                        <p:cTn id="79" dur="500"/>
                                        <p:tgtEl>
                                          <p:spTgt spid="4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500"/>
                                        <p:tgtEl>
                                          <p:spTgt spid="5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1"/>
                                        </p:tgtEl>
                                        <p:attrNameLst>
                                          <p:attrName>style.visibility</p:attrName>
                                        </p:attrNameLst>
                                      </p:cBhvr>
                                      <p:to>
                                        <p:strVal val="visible"/>
                                      </p:to>
                                    </p:set>
                                    <p:animEffect transition="in" filter="fade">
                                      <p:cBhvr>
                                        <p:cTn id="85" dur="500"/>
                                        <p:tgtEl>
                                          <p:spTgt spid="5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2"/>
                                        </p:tgtEl>
                                        <p:attrNameLst>
                                          <p:attrName>style.visibility</p:attrName>
                                        </p:attrNameLst>
                                      </p:cBhvr>
                                      <p:to>
                                        <p:strVal val="visible"/>
                                      </p:to>
                                    </p:set>
                                    <p:animEffect transition="in" filter="fade">
                                      <p:cBhvr>
                                        <p:cTn id="90" dur="500"/>
                                        <p:tgtEl>
                                          <p:spTgt spid="5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3"/>
                                        </p:tgtEl>
                                        <p:attrNameLst>
                                          <p:attrName>style.visibility</p:attrName>
                                        </p:attrNameLst>
                                      </p:cBhvr>
                                      <p:to>
                                        <p:strVal val="visible"/>
                                      </p:to>
                                    </p:set>
                                    <p:animEffect transition="in" filter="fade">
                                      <p:cBhvr>
                                        <p:cTn id="93" dur="500"/>
                                        <p:tgtEl>
                                          <p:spTgt spid="5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fade">
                                      <p:cBhvr>
                                        <p:cTn id="96" dur="500"/>
                                        <p:tgtEl>
                                          <p:spTgt spid="5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animEffect transition="in" filter="fade">
                                      <p:cBhvr>
                                        <p:cTn id="99" dur="500"/>
                                        <p:tgtEl>
                                          <p:spTgt spid="5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56"/>
                                        </p:tgtEl>
                                        <p:attrNameLst>
                                          <p:attrName>style.visibility</p:attrName>
                                        </p:attrNameLst>
                                      </p:cBhvr>
                                      <p:to>
                                        <p:strVal val="visible"/>
                                      </p:to>
                                    </p:set>
                                    <p:animEffect transition="in" filter="fade">
                                      <p:cBhvr>
                                        <p:cTn id="102" dur="500"/>
                                        <p:tgtEl>
                                          <p:spTgt spid="5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57"/>
                                        </p:tgtEl>
                                        <p:attrNameLst>
                                          <p:attrName>style.visibility</p:attrName>
                                        </p:attrNameLst>
                                      </p:cBhvr>
                                      <p:to>
                                        <p:strVal val="visible"/>
                                      </p:to>
                                    </p:set>
                                    <p:animEffect transition="in" filter="fade">
                                      <p:cBhvr>
                                        <p:cTn id="105" dur="500"/>
                                        <p:tgtEl>
                                          <p:spTgt spid="5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fade">
                                      <p:cBhvr>
                                        <p:cTn id="108" dur="500"/>
                                        <p:tgtEl>
                                          <p:spTgt spid="58"/>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9"/>
                                        </p:tgtEl>
                                        <p:attrNameLst>
                                          <p:attrName>style.visibility</p:attrName>
                                        </p:attrNameLst>
                                      </p:cBhvr>
                                      <p:to>
                                        <p:strVal val="visible"/>
                                      </p:to>
                                    </p:set>
                                    <p:animEffect transition="in" filter="fade">
                                      <p:cBhvr>
                                        <p:cTn id="113" dur="500"/>
                                        <p:tgtEl>
                                          <p:spTgt spid="5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일정과 측정 시기 (DAT 기준 정렬)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5</a:t>
            </a:fld>
            <a:endParaRPr lang="ko-KR" altLang="en-US"/>
          </a:p>
        </p:txBody>
      </p:sp>
      <p:sp>
        <p:nvSpPr>
          <p:cNvPr id="7" name="TextBox 6"/>
          <p:cNvSpPr txBox="1"/>
          <p:nvPr/>
        </p:nvSpPr>
        <p:spPr>
          <a:xfrm>
            <a:off x="457200" y="1371600"/>
            <a:ext cx="1097280" cy="274320"/>
          </a:xfrm>
          <a:prstGeom prst="rect">
            <a:avLst/>
          </a:prstGeom>
          <a:noFill/>
        </p:spPr>
        <p:txBody>
          <a:bodyPr wrap="square" lIns="0" tIns="0" rIns="0" bIns="0">
            <a:spAutoFit/>
          </a:bodyPr>
          <a:lstStyle/>
          <a:p>
            <a:r>
              <a:rPr sz="1100" b="0">
                <a:solidFill>
                  <a:srgbClr val="595959"/>
                </a:solidFill>
              </a:rPr>
              <a:t>DAT (일)</a:t>
            </a:r>
          </a:p>
        </p:txBody>
      </p:sp>
      <p:sp>
        <p:nvSpPr>
          <p:cNvPr id="8" name="TextBox 7"/>
          <p:cNvSpPr txBox="1"/>
          <p:nvPr/>
        </p:nvSpPr>
        <p:spPr>
          <a:xfrm>
            <a:off x="1691640" y="1371600"/>
            <a:ext cx="457200" cy="274320"/>
          </a:xfrm>
          <a:prstGeom prst="rect">
            <a:avLst/>
          </a:prstGeom>
          <a:noFill/>
        </p:spPr>
        <p:txBody>
          <a:bodyPr wrap="square" lIns="0" tIns="0" rIns="0" bIns="0">
            <a:spAutoFit/>
          </a:bodyPr>
          <a:lstStyle/>
          <a:p>
            <a:pPr algn="ctr"/>
            <a:r>
              <a:rPr sz="1100" b="0">
                <a:solidFill>
                  <a:srgbClr val="595959"/>
                </a:solidFill>
              </a:rPr>
              <a:t>0</a:t>
            </a:r>
          </a:p>
        </p:txBody>
      </p:sp>
      <p:sp>
        <p:nvSpPr>
          <p:cNvPr id="9" name="TextBox 8"/>
          <p:cNvSpPr txBox="1"/>
          <p:nvPr/>
        </p:nvSpPr>
        <p:spPr>
          <a:xfrm>
            <a:off x="2560320" y="1371600"/>
            <a:ext cx="457200" cy="274320"/>
          </a:xfrm>
          <a:prstGeom prst="rect">
            <a:avLst/>
          </a:prstGeom>
          <a:noFill/>
        </p:spPr>
        <p:txBody>
          <a:bodyPr wrap="square" lIns="0" tIns="0" rIns="0" bIns="0">
            <a:spAutoFit/>
          </a:bodyPr>
          <a:lstStyle/>
          <a:p>
            <a:pPr algn="ctr"/>
            <a:r>
              <a:rPr sz="1100" b="0">
                <a:solidFill>
                  <a:srgbClr val="595959"/>
                </a:solidFill>
              </a:rPr>
              <a:t>5</a:t>
            </a:r>
          </a:p>
        </p:txBody>
      </p:sp>
      <p:sp>
        <p:nvSpPr>
          <p:cNvPr id="10" name="TextBox 9"/>
          <p:cNvSpPr txBox="1"/>
          <p:nvPr/>
        </p:nvSpPr>
        <p:spPr>
          <a:xfrm>
            <a:off x="3429000" y="1371600"/>
            <a:ext cx="457200" cy="274320"/>
          </a:xfrm>
          <a:prstGeom prst="rect">
            <a:avLst/>
          </a:prstGeom>
          <a:noFill/>
        </p:spPr>
        <p:txBody>
          <a:bodyPr wrap="square" lIns="0" tIns="0" rIns="0" bIns="0">
            <a:spAutoFit/>
          </a:bodyPr>
          <a:lstStyle/>
          <a:p>
            <a:pPr algn="ctr"/>
            <a:r>
              <a:rPr sz="1100" b="0">
                <a:solidFill>
                  <a:srgbClr val="595959"/>
                </a:solidFill>
              </a:rPr>
              <a:t>10</a:t>
            </a:r>
          </a:p>
        </p:txBody>
      </p:sp>
      <p:sp>
        <p:nvSpPr>
          <p:cNvPr id="11" name="TextBox 10"/>
          <p:cNvSpPr txBox="1"/>
          <p:nvPr/>
        </p:nvSpPr>
        <p:spPr>
          <a:xfrm>
            <a:off x="4297680" y="1371600"/>
            <a:ext cx="457200" cy="274320"/>
          </a:xfrm>
          <a:prstGeom prst="rect">
            <a:avLst/>
          </a:prstGeom>
          <a:noFill/>
        </p:spPr>
        <p:txBody>
          <a:bodyPr wrap="square" lIns="0" tIns="0" rIns="0" bIns="0">
            <a:spAutoFit/>
          </a:bodyPr>
          <a:lstStyle/>
          <a:p>
            <a:pPr algn="ctr"/>
            <a:r>
              <a:rPr sz="1100" b="0">
                <a:solidFill>
                  <a:srgbClr val="595959"/>
                </a:solidFill>
              </a:rPr>
              <a:t>15</a:t>
            </a:r>
          </a:p>
        </p:txBody>
      </p:sp>
      <p:sp>
        <p:nvSpPr>
          <p:cNvPr id="12" name="TextBox 11"/>
          <p:cNvSpPr txBox="1"/>
          <p:nvPr/>
        </p:nvSpPr>
        <p:spPr>
          <a:xfrm>
            <a:off x="5166360" y="1371600"/>
            <a:ext cx="457200" cy="274320"/>
          </a:xfrm>
          <a:prstGeom prst="rect">
            <a:avLst/>
          </a:prstGeom>
          <a:noFill/>
        </p:spPr>
        <p:txBody>
          <a:bodyPr wrap="square" lIns="0" tIns="0" rIns="0" bIns="0">
            <a:spAutoFit/>
          </a:bodyPr>
          <a:lstStyle/>
          <a:p>
            <a:pPr algn="ctr"/>
            <a:r>
              <a:rPr sz="1100" b="0">
                <a:solidFill>
                  <a:srgbClr val="595959"/>
                </a:solidFill>
              </a:rPr>
              <a:t>20</a:t>
            </a:r>
          </a:p>
        </p:txBody>
      </p:sp>
      <p:sp>
        <p:nvSpPr>
          <p:cNvPr id="13" name="TextBox 12"/>
          <p:cNvSpPr txBox="1"/>
          <p:nvPr/>
        </p:nvSpPr>
        <p:spPr>
          <a:xfrm>
            <a:off x="6035040" y="1371600"/>
            <a:ext cx="457200" cy="274320"/>
          </a:xfrm>
          <a:prstGeom prst="rect">
            <a:avLst/>
          </a:prstGeom>
          <a:noFill/>
        </p:spPr>
        <p:txBody>
          <a:bodyPr wrap="square" lIns="0" tIns="0" rIns="0" bIns="0">
            <a:spAutoFit/>
          </a:bodyPr>
          <a:lstStyle/>
          <a:p>
            <a:pPr algn="ctr"/>
            <a:r>
              <a:rPr sz="1100" b="0">
                <a:solidFill>
                  <a:srgbClr val="595959"/>
                </a:solidFill>
              </a:rPr>
              <a:t>25</a:t>
            </a:r>
          </a:p>
        </p:txBody>
      </p:sp>
      <p:sp>
        <p:nvSpPr>
          <p:cNvPr id="14" name="TextBox 13"/>
          <p:cNvSpPr txBox="1"/>
          <p:nvPr/>
        </p:nvSpPr>
        <p:spPr>
          <a:xfrm>
            <a:off x="6903720" y="1371600"/>
            <a:ext cx="457200" cy="274320"/>
          </a:xfrm>
          <a:prstGeom prst="rect">
            <a:avLst/>
          </a:prstGeom>
          <a:noFill/>
        </p:spPr>
        <p:txBody>
          <a:bodyPr wrap="square" lIns="0" tIns="0" rIns="0" bIns="0">
            <a:spAutoFit/>
          </a:bodyPr>
          <a:lstStyle/>
          <a:p>
            <a:pPr algn="ctr"/>
            <a:r>
              <a:rPr sz="1100" b="0">
                <a:solidFill>
                  <a:srgbClr val="595959"/>
                </a:solidFill>
              </a:rPr>
              <a:t>30</a:t>
            </a:r>
          </a:p>
        </p:txBody>
      </p:sp>
      <p:sp>
        <p:nvSpPr>
          <p:cNvPr id="15" name="TextBox 14"/>
          <p:cNvSpPr txBox="1"/>
          <p:nvPr/>
        </p:nvSpPr>
        <p:spPr>
          <a:xfrm>
            <a:off x="7772400" y="1371600"/>
            <a:ext cx="457200" cy="274320"/>
          </a:xfrm>
          <a:prstGeom prst="rect">
            <a:avLst/>
          </a:prstGeom>
          <a:noFill/>
        </p:spPr>
        <p:txBody>
          <a:bodyPr wrap="square" lIns="0" tIns="0" rIns="0" bIns="0">
            <a:spAutoFit/>
          </a:bodyPr>
          <a:lstStyle/>
          <a:p>
            <a:pPr algn="ctr"/>
            <a:r>
              <a:rPr sz="1100" b="0">
                <a:solidFill>
                  <a:srgbClr val="595959"/>
                </a:solidFill>
              </a:rPr>
              <a:t>35</a:t>
            </a:r>
          </a:p>
        </p:txBody>
      </p:sp>
      <p:sp>
        <p:nvSpPr>
          <p:cNvPr id="16" name="TextBox 15"/>
          <p:cNvSpPr txBox="1"/>
          <p:nvPr/>
        </p:nvSpPr>
        <p:spPr>
          <a:xfrm>
            <a:off x="8641080" y="1371600"/>
            <a:ext cx="457200" cy="274320"/>
          </a:xfrm>
          <a:prstGeom prst="rect">
            <a:avLst/>
          </a:prstGeom>
          <a:noFill/>
        </p:spPr>
        <p:txBody>
          <a:bodyPr wrap="square" lIns="0" tIns="0" rIns="0" bIns="0">
            <a:spAutoFit/>
          </a:bodyPr>
          <a:lstStyle/>
          <a:p>
            <a:pPr algn="ctr"/>
            <a:r>
              <a:rPr sz="1100" b="0">
                <a:solidFill>
                  <a:srgbClr val="595959"/>
                </a:solidFill>
              </a:rPr>
              <a:t>40</a:t>
            </a:r>
          </a:p>
        </p:txBody>
      </p:sp>
      <p:sp>
        <p:nvSpPr>
          <p:cNvPr id="17" name="TextBox 16"/>
          <p:cNvSpPr txBox="1"/>
          <p:nvPr/>
        </p:nvSpPr>
        <p:spPr>
          <a:xfrm>
            <a:off x="9509760" y="1371600"/>
            <a:ext cx="457200" cy="274320"/>
          </a:xfrm>
          <a:prstGeom prst="rect">
            <a:avLst/>
          </a:prstGeom>
          <a:noFill/>
        </p:spPr>
        <p:txBody>
          <a:bodyPr wrap="square" lIns="0" tIns="0" rIns="0" bIns="0">
            <a:spAutoFit/>
          </a:bodyPr>
          <a:lstStyle/>
          <a:p>
            <a:pPr algn="ctr"/>
            <a:r>
              <a:rPr sz="1100" b="0">
                <a:solidFill>
                  <a:srgbClr val="595959"/>
                </a:solidFill>
              </a:rPr>
              <a:t>45</a:t>
            </a:r>
          </a:p>
        </p:txBody>
      </p:sp>
      <p:sp>
        <p:nvSpPr>
          <p:cNvPr id="18" name="TextBox 17"/>
          <p:cNvSpPr txBox="1"/>
          <p:nvPr/>
        </p:nvSpPr>
        <p:spPr>
          <a:xfrm>
            <a:off x="10378440" y="1371600"/>
            <a:ext cx="457200" cy="274320"/>
          </a:xfrm>
          <a:prstGeom prst="rect">
            <a:avLst/>
          </a:prstGeom>
          <a:noFill/>
        </p:spPr>
        <p:txBody>
          <a:bodyPr wrap="square" lIns="0" tIns="0" rIns="0" bIns="0">
            <a:spAutoFit/>
          </a:bodyPr>
          <a:lstStyle/>
          <a:p>
            <a:pPr algn="ctr"/>
            <a:r>
              <a:rPr sz="1100" b="0">
                <a:solidFill>
                  <a:srgbClr val="595959"/>
                </a:solidFill>
              </a:rPr>
              <a:t>50</a:t>
            </a:r>
          </a:p>
        </p:txBody>
      </p:sp>
      <p:sp>
        <p:nvSpPr>
          <p:cNvPr id="19" name="TextBox 18"/>
          <p:cNvSpPr txBox="1"/>
          <p:nvPr/>
        </p:nvSpPr>
        <p:spPr>
          <a:xfrm>
            <a:off x="11247119" y="1371600"/>
            <a:ext cx="457200" cy="274320"/>
          </a:xfrm>
          <a:prstGeom prst="rect">
            <a:avLst/>
          </a:prstGeom>
          <a:noFill/>
        </p:spPr>
        <p:txBody>
          <a:bodyPr wrap="square" lIns="0" tIns="0" rIns="0" bIns="0">
            <a:spAutoFit/>
          </a:bodyPr>
          <a:lstStyle/>
          <a:p>
            <a:pPr algn="ctr"/>
            <a:r>
              <a:rPr sz="1100" b="0">
                <a:solidFill>
                  <a:srgbClr val="595959"/>
                </a:solidFill>
              </a:rPr>
              <a:t>55</a:t>
            </a:r>
          </a:p>
        </p:txBody>
      </p:sp>
      <p:cxnSp>
        <p:nvCxnSpPr>
          <p:cNvPr id="20" name="Connector 19"/>
          <p:cNvCxnSpPr/>
          <p:nvPr/>
        </p:nvCxnSpPr>
        <p:spPr>
          <a:xfrm>
            <a:off x="1920240" y="1691640"/>
            <a:ext cx="9555479" cy="0"/>
          </a:xfrm>
          <a:prstGeom prst="line">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2103120"/>
            <a:ext cx="1371600" cy="457200"/>
          </a:xfrm>
          <a:prstGeom prst="rect">
            <a:avLst/>
          </a:prstGeom>
          <a:noFill/>
        </p:spPr>
        <p:txBody>
          <a:bodyPr wrap="square" lIns="0" tIns="0" rIns="0" bIns="0">
            <a:spAutoFit/>
          </a:bodyPr>
          <a:lstStyle/>
          <a:p>
            <a:r>
              <a:rPr sz="1800" b="1">
                <a:solidFill>
                  <a:srgbClr val="0B76A0"/>
                </a:solidFill>
              </a:rPr>
              <a:t>콩</a:t>
            </a:r>
          </a:p>
        </p:txBody>
      </p:sp>
      <p:sp>
        <p:nvSpPr>
          <p:cNvPr id="22" name="Rounded Rectangle 21"/>
          <p:cNvSpPr/>
          <p:nvPr/>
        </p:nvSpPr>
        <p:spPr>
          <a:xfrm>
            <a:off x="1920240" y="201168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23" name="Rounded Rectangle 22"/>
          <p:cNvSpPr/>
          <p:nvPr/>
        </p:nvSpPr>
        <p:spPr>
          <a:xfrm>
            <a:off x="2441448" y="2011680"/>
            <a:ext cx="9034272"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1100" b="1">
                <a:solidFill>
                  <a:srgbClr val="FFFFFF"/>
                </a:solidFill>
              </a:rPr>
              <a:t>건조·복합 50% 관수</a:t>
            </a:r>
          </a:p>
        </p:txBody>
      </p:sp>
      <p:sp>
        <p:nvSpPr>
          <p:cNvPr id="24" name="Oval 23"/>
          <p:cNvSpPr/>
          <p:nvPr/>
        </p:nvSpPr>
        <p:spPr>
          <a:xfrm>
            <a:off x="2039112"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212848"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386584"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560320"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734056"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07792"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81528"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255264"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429000"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818888"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861304"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077456"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9509759"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725911" y="2578608"/>
            <a:ext cx="109728" cy="109728"/>
          </a:xfrm>
          <a:prstGeom prst="ellipse">
            <a:avLst/>
          </a:prstGeom>
          <a:solidFill>
            <a:srgbClr val="0B7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2542032"/>
            <a:ext cx="1371600" cy="274320"/>
          </a:xfrm>
          <a:prstGeom prst="rect">
            <a:avLst/>
          </a:prstGeom>
          <a:noFill/>
        </p:spPr>
        <p:txBody>
          <a:bodyPr wrap="square" lIns="0" tIns="0" rIns="0" bIns="0">
            <a:spAutoFit/>
          </a:bodyPr>
          <a:lstStyle/>
          <a:p>
            <a:r>
              <a:rPr sz="1000" b="0">
                <a:solidFill>
                  <a:srgbClr val="595959"/>
                </a:solidFill>
              </a:rPr>
              <a:t>LI-600 측정일</a:t>
            </a:r>
          </a:p>
        </p:txBody>
      </p:sp>
      <p:sp>
        <p:nvSpPr>
          <p:cNvPr id="39" name="TextBox 38"/>
          <p:cNvSpPr txBox="1"/>
          <p:nvPr/>
        </p:nvSpPr>
        <p:spPr>
          <a:xfrm>
            <a:off x="457200" y="3657600"/>
            <a:ext cx="1371600" cy="457200"/>
          </a:xfrm>
          <a:prstGeom prst="rect">
            <a:avLst/>
          </a:prstGeom>
          <a:noFill/>
        </p:spPr>
        <p:txBody>
          <a:bodyPr wrap="square" lIns="0" tIns="0" rIns="0" bIns="0">
            <a:spAutoFit/>
          </a:bodyPr>
          <a:lstStyle/>
          <a:p>
            <a:r>
              <a:rPr sz="1800" b="1">
                <a:solidFill>
                  <a:srgbClr val="2E7D32"/>
                </a:solidFill>
              </a:rPr>
              <a:t>로메인</a:t>
            </a:r>
          </a:p>
        </p:txBody>
      </p:sp>
      <p:sp>
        <p:nvSpPr>
          <p:cNvPr id="40" name="Rounded Rectangle 39"/>
          <p:cNvSpPr/>
          <p:nvPr/>
        </p:nvSpPr>
        <p:spPr>
          <a:xfrm>
            <a:off x="1920240" y="3566160"/>
            <a:ext cx="521207" cy="457200"/>
          </a:xfrm>
          <a:prstGeom prst="roundRect">
            <a:avLst>
              <a:gd name="adj" fmla="val 2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sz="900" b="1">
                <a:solidFill>
                  <a:srgbClr val="FFFFFF"/>
                </a:solidFill>
              </a:rPr>
              <a:t>침수</a:t>
            </a:r>
          </a:p>
        </p:txBody>
      </p:sp>
      <p:sp>
        <p:nvSpPr>
          <p:cNvPr id="42" name="Rounded Rectangle 41"/>
          <p:cNvSpPr/>
          <p:nvPr/>
        </p:nvSpPr>
        <p:spPr>
          <a:xfrm>
            <a:off x="2441447" y="3566160"/>
            <a:ext cx="2258569" cy="457200"/>
          </a:xfrm>
          <a:prstGeom prst="roundRect">
            <a:avLst>
              <a:gd name="adj" fmla="val 20000"/>
            </a:avLst>
          </a:prstGeom>
          <a:solidFill>
            <a:srgbClr val="AF5524"/>
          </a:solidFill>
          <a:ln>
            <a:noFill/>
          </a:ln>
          <a:effectLst/>
        </p:spPr>
        <p:style>
          <a:lnRef idx="1">
            <a:schemeClr val="accent1"/>
          </a:lnRef>
          <a:fillRef idx="3">
            <a:schemeClr val="accent1"/>
          </a:fillRef>
          <a:effectRef idx="2">
            <a:schemeClr val="accent1"/>
          </a:effectRef>
          <a:fontRef idx="minor">
            <a:schemeClr val="lt1"/>
          </a:fontRef>
        </p:style>
        <p:txBody>
          <a:bodyPr lIns="18288" rIns="18288" rtlCol="0" anchor="ctr"/>
          <a:lstStyle/>
          <a:p>
            <a:pPr algn="ctr"/>
            <a:r>
              <a:rPr lang="ko-KR" altLang="en-US" sz="1100" b="1" dirty="0">
                <a:solidFill>
                  <a:srgbClr val="FFFFFF"/>
                </a:solidFill>
              </a:rPr>
              <a:t>건조</a:t>
            </a:r>
            <a:r>
              <a:rPr lang="en-US" altLang="ko-KR" sz="1100" b="1" dirty="0">
                <a:solidFill>
                  <a:srgbClr val="FFFFFF"/>
                </a:solidFill>
              </a:rPr>
              <a:t>·</a:t>
            </a:r>
            <a:r>
              <a:rPr lang="ko-KR" altLang="en-US" sz="1100" b="1" dirty="0">
                <a:solidFill>
                  <a:srgbClr val="FFFFFF"/>
                </a:solidFill>
              </a:rPr>
              <a:t>복합 </a:t>
            </a:r>
            <a:r>
              <a:rPr lang="en-US" altLang="ko-KR" sz="1100" b="1" dirty="0">
                <a:solidFill>
                  <a:srgbClr val="FFFFFF"/>
                </a:solidFill>
              </a:rPr>
              <a:t>50% </a:t>
            </a:r>
            <a:r>
              <a:rPr lang="ko-KR" altLang="en-US" sz="1100" b="1" dirty="0">
                <a:solidFill>
                  <a:srgbClr val="FFFFFF"/>
                </a:solidFill>
              </a:rPr>
              <a:t>관수</a:t>
            </a:r>
          </a:p>
        </p:txBody>
      </p:sp>
      <p:sp>
        <p:nvSpPr>
          <p:cNvPr id="43" name="Oval 42"/>
          <p:cNvSpPr/>
          <p:nvPr/>
        </p:nvSpPr>
        <p:spPr>
          <a:xfrm>
            <a:off x="2039112"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212848"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86584"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560320"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734056"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2907792"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081528"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255264"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429000"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3602736"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950208"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4297680"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4645152" y="4133087"/>
            <a:ext cx="109728" cy="109728"/>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57200" y="4096511"/>
            <a:ext cx="1371600" cy="274320"/>
          </a:xfrm>
          <a:prstGeom prst="rect">
            <a:avLst/>
          </a:prstGeom>
          <a:noFill/>
        </p:spPr>
        <p:txBody>
          <a:bodyPr wrap="square" lIns="0" tIns="0" rIns="0" bIns="0">
            <a:spAutoFit/>
          </a:bodyPr>
          <a:lstStyle/>
          <a:p>
            <a:r>
              <a:rPr sz="1000" b="0">
                <a:solidFill>
                  <a:srgbClr val="595959"/>
                </a:solidFill>
              </a:rPr>
              <a:t>LI-600 측정일</a:t>
            </a:r>
          </a:p>
        </p:txBody>
      </p:sp>
      <p:sp>
        <p:nvSpPr>
          <p:cNvPr id="57" name="TextBox 56"/>
          <p:cNvSpPr txBox="1"/>
          <p:nvPr/>
        </p:nvSpPr>
        <p:spPr>
          <a:xfrm>
            <a:off x="1920240" y="4434840"/>
            <a:ext cx="9601200" cy="274320"/>
          </a:xfrm>
          <a:prstGeom prst="rect">
            <a:avLst/>
          </a:prstGeom>
          <a:noFill/>
        </p:spPr>
        <p:txBody>
          <a:bodyPr wrap="square" lIns="0" tIns="0" rIns="0" bIns="0">
            <a:spAutoFit/>
          </a:bodyPr>
          <a:lstStyle/>
          <a:p>
            <a:r>
              <a:rPr sz="1100" b="0">
                <a:solidFill>
                  <a:srgbClr val="595959"/>
                </a:solidFill>
              </a:rPr>
              <a:t>콩 종료 DAT 55 (10/6), 로메인 DAT 16 (10/23). 점은 LI-600 측정일.</a:t>
            </a:r>
          </a:p>
        </p:txBody>
      </p:sp>
      <p:sp>
        <p:nvSpPr>
          <p:cNvPr id="58" name="Conclusion Box"/>
          <p:cNvSpPr/>
          <p:nvPr/>
        </p:nvSpPr>
        <p:spPr>
          <a:xfrm>
            <a:off x="841248" y="521208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a:t>
            </a:r>
            <a:r>
              <a:rPr sz="1600" b="1">
                <a:solidFill>
                  <a:srgbClr val="E97132"/>
                </a:solidFill>
              </a:rPr>
              <a:t>침수 시작일(DAT 0)</a:t>
            </a:r>
            <a:r>
              <a:rPr sz="1600" b="0">
                <a:solidFill>
                  <a:srgbClr val="E97132"/>
                </a:solidFill>
              </a:rPr>
              <a:t>을 기준으로 정렬하여 반응을 비교</a:t>
            </a:r>
          </a:p>
        </p:txBody>
      </p:sp>
      <p:sp>
        <p:nvSpPr>
          <p:cNvPr id="59" name="Footnote"/>
          <p:cNvSpPr txBox="1"/>
          <p:nvPr/>
        </p:nvSpPr>
        <p:spPr>
          <a:xfrm>
            <a:off x="457200" y="6473952"/>
            <a:ext cx="8138160" cy="310896"/>
          </a:xfrm>
          <a:prstGeom prst="rect">
            <a:avLst/>
          </a:prstGeom>
          <a:noFill/>
        </p:spPr>
        <p:txBody>
          <a:bodyPr wrap="square" lIns="45720" tIns="0" rIns="45720" bIns="0" anchor="t">
            <a:spAutoFit/>
          </a:bodyPr>
          <a:lstStyle/>
          <a:p>
            <a:r>
              <a:rPr sz="1000" b="0" dirty="0">
                <a:solidFill>
                  <a:srgbClr val="595959"/>
                </a:solidFill>
              </a:rPr>
              <a:t>콩 침수 8/12~14, 50% 관수는 8/15부터. 로메인 상추 침수 10/7~10/10 오전, 50% 관수 10/12부터.</a:t>
            </a:r>
          </a:p>
        </p:txBody>
      </p:sp>
      <p:sp>
        <p:nvSpPr>
          <p:cNvPr id="6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62"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측정 항목: 제한 단계별 지표</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통계: 측정일·PAR·기온 보정 평균 + 침수 × 관수 이원 ANOVA·Tukey, 측정일 반복 검정 병기</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P1 = 침수 시작~종료 후 7일(콩 DAT 1~9: 대조구·침수만, 로메인 DAT 5~10 공통 측정일), P2 = 이후. 표 값 = PAR·기온 보정 평균(괄호 = PAR만 보정; 원 평균). Φ</a:t>
            </a:r>
            <a:r>
              <a:rPr sz="1000" baseline="-25000">
                <a:solidFill>
                  <a:srgbClr val="595959"/>
                </a:solidFill>
              </a:rPr>
              <a:t>PSII</a:t>
            </a:r>
            <a:r>
              <a:rPr sz="1000">
                <a:solidFill>
                  <a:srgbClr val="595959"/>
                </a:solidFill>
              </a:rPr>
              <a:t>는 처리 × PAR 모형의 PPFD 300·1,200 예측으로 비교. 생육은 전 개체 사용.</a:t>
            </a:r>
          </a:p>
        </p:txBody>
      </p:sp>
      <p:sp>
        <p:nvSpPr>
          <p:cNvPr id="27" name="Row bg"/>
          <p:cNvSpPr/>
          <p:nvPr/>
        </p:nvSpPr>
        <p:spPr>
          <a:xfrm>
            <a:off x="841248" y="1371600"/>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28" name="Row chip"/>
          <p:cNvSpPr/>
          <p:nvPr/>
        </p:nvSpPr>
        <p:spPr>
          <a:xfrm>
            <a:off x="841248" y="1371600"/>
            <a:ext cx="2148840" cy="713232"/>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p:txBody>
      </p:sp>
      <p:sp>
        <p:nvSpPr>
          <p:cNvPr id="29" name="Row ind"/>
          <p:cNvSpPr txBox="1"/>
          <p:nvPr/>
        </p:nvSpPr>
        <p:spPr>
          <a:xfrm>
            <a:off x="3200400" y="1371600"/>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g</a:t>
            </a:r>
            <a:r>
              <a:rPr lang="ko-KR" altLang="en-US" sz="1400" b="1" dirty="0" baseline="-25000">
                <a:solidFill>
                  <a:srgbClr val="000000"/>
                </a:solidFill>
              </a:rPr>
              <a:t>sw</a:t>
            </a:r>
          </a:p>
        </p:txBody>
      </p:sp>
      <p:sp>
        <p:nvSpPr>
          <p:cNvPr id="30" name="Row method"/>
          <p:cNvSpPr txBox="1"/>
          <p:nvPr/>
        </p:nvSpPr>
        <p:spPr>
          <a:xfrm>
            <a:off x="6858000" y="1371600"/>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포로미터, 처리 개시 후 반복 측정</a:t>
            </a:r>
          </a:p>
        </p:txBody>
      </p:sp>
      <p:sp>
        <p:nvSpPr>
          <p:cNvPr id="31" name="Row bg"/>
          <p:cNvSpPr/>
          <p:nvPr/>
        </p:nvSpPr>
        <p:spPr>
          <a:xfrm>
            <a:off x="841248" y="2359152"/>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32" name="Row chip"/>
          <p:cNvSpPr/>
          <p:nvPr/>
        </p:nvSpPr>
        <p:spPr>
          <a:xfrm>
            <a:off x="841248" y="2359152"/>
            <a:ext cx="2148840" cy="713232"/>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p:txBody>
      </p:sp>
      <p:sp>
        <p:nvSpPr>
          <p:cNvPr id="33" name="Row ind"/>
          <p:cNvSpPr txBox="1"/>
          <p:nvPr/>
        </p:nvSpPr>
        <p:spPr>
          <a:xfrm>
            <a:off x="3200400" y="2359152"/>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Φ</a:t>
            </a:r>
            <a:r>
              <a:rPr lang="ko-KR" altLang="en-US" sz="1400" b="1" dirty="0" baseline="-25000">
                <a:solidFill>
                  <a:srgbClr val="000000"/>
                </a:solidFill>
              </a:rPr>
              <a:t>PSII</a:t>
            </a:r>
            <a:r>
              <a:rPr lang="ko-KR" altLang="en-US" sz="1400" b="1" dirty="0">
                <a:solidFill>
                  <a:srgbClr val="000000"/>
                </a:solidFill>
              </a:rPr>
              <a:t>, F</a:t>
            </a:r>
            <a:r>
              <a:rPr lang="ko-KR" altLang="en-US" sz="1400" b="1" dirty="0" baseline="-25000">
                <a:solidFill>
                  <a:srgbClr val="000000"/>
                </a:solidFill>
              </a:rPr>
              <a:t>s</a:t>
            </a:r>
            <a:r>
              <a:rPr lang="ko-KR" altLang="en-US" sz="1400" b="1" dirty="0">
                <a:solidFill>
                  <a:srgbClr val="000000"/>
                </a:solidFill>
              </a:rPr>
              <a:t>, ETR</a:t>
            </a:r>
          </a:p>
        </p:txBody>
      </p:sp>
      <p:sp>
        <p:nvSpPr>
          <p:cNvPr id="34" name="Row method"/>
          <p:cNvSpPr txBox="1"/>
          <p:nvPr/>
        </p:nvSpPr>
        <p:spPr>
          <a:xfrm>
            <a:off x="6858000" y="2359152"/>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LI-600 명적응 형광 (F</a:t>
            </a:r>
            <a:r>
              <a:rPr lang="ko-KR" altLang="en-US" sz="1250" b="0" dirty="0" baseline="-25000">
                <a:solidFill>
                  <a:srgbClr val="595959"/>
                </a:solidFill>
              </a:rPr>
              <a:t>s</a:t>
            </a:r>
            <a:r>
              <a:rPr lang="ko-KR" altLang="en-US" sz="1250" b="0" dirty="0">
                <a:solidFill>
                  <a:srgbClr val="595959"/>
                </a:solidFill>
              </a:rPr>
              <a:t>, F</a:t>
            </a:r>
            <a:r>
              <a:rPr lang="ko-KR" altLang="en-US" sz="1250" b="0" dirty="0" baseline="-25000">
                <a:solidFill>
                  <a:srgbClr val="595959"/>
                </a:solidFill>
              </a:rPr>
              <a:t>m</a:t>
            </a:r>
            <a:r>
              <a:rPr lang="ko-KR" altLang="en-US" sz="1250" b="0" dirty="0">
                <a:solidFill>
                  <a:srgbClr val="595959"/>
                </a:solidFill>
              </a:rPr>
              <a:t>′), PAR·기온 보정</a:t>
            </a:r>
          </a:p>
        </p:txBody>
      </p:sp>
      <p:sp>
        <p:nvSpPr>
          <p:cNvPr id="39" name="Row bg"/>
          <p:cNvSpPr/>
          <p:nvPr/>
        </p:nvSpPr>
        <p:spPr>
          <a:xfrm>
            <a:off x="841248" y="3346704"/>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0" name="Row chip"/>
          <p:cNvSpPr/>
          <p:nvPr/>
        </p:nvSpPr>
        <p:spPr>
          <a:xfrm>
            <a:off x="841248" y="3346704"/>
            <a:ext cx="2148840" cy="713232"/>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생화학적 능력</a:t>
            </a:r>
          </a:p>
        </p:txBody>
      </p:sp>
      <p:sp>
        <p:nvSpPr>
          <p:cNvPr id="41" name="Row ind"/>
          <p:cNvSpPr txBox="1"/>
          <p:nvPr/>
        </p:nvSpPr>
        <p:spPr>
          <a:xfrm>
            <a:off x="3200400" y="3346704"/>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V</a:t>
            </a:r>
            <a:r>
              <a:rPr lang="ko-KR" altLang="en-US" sz="1400" b="1" dirty="0" baseline="-25000">
                <a:solidFill>
                  <a:srgbClr val="000000"/>
                </a:solidFill>
              </a:rPr>
              <a:t>cmax</a:t>
            </a:r>
            <a:r>
              <a:rPr lang="ko-KR" altLang="en-US" sz="1400" b="1" dirty="0">
                <a:solidFill>
                  <a:srgbClr val="000000"/>
                </a:solidFill>
              </a:rPr>
              <a:t>, J</a:t>
            </a:r>
            <a:r>
              <a:rPr lang="ko-KR" altLang="en-US" sz="1400" b="1" dirty="0" baseline="-25000">
                <a:solidFill>
                  <a:srgbClr val="000000"/>
                </a:solidFill>
              </a:rPr>
              <a:t>max</a:t>
            </a:r>
            <a:r>
              <a:rPr lang="ko-KR" altLang="en-US" sz="1400" b="1" dirty="0">
                <a:solidFill>
                  <a:srgbClr val="000000"/>
                </a:solidFill>
              </a:rPr>
              <a:t> / A</a:t>
            </a:r>
            <a:r>
              <a:rPr lang="ko-KR" altLang="en-US" sz="1400" b="1" dirty="0" baseline="-25000">
                <a:solidFill>
                  <a:srgbClr val="000000"/>
                </a:solidFill>
              </a:rPr>
              <a:t>max</a:t>
            </a:r>
            <a:r>
              <a:rPr lang="ko-KR" altLang="en-US" sz="1400" b="1" dirty="0">
                <a:solidFill>
                  <a:srgbClr val="000000"/>
                </a:solidFill>
              </a:rPr>
              <a:t>, α</a:t>
            </a:r>
          </a:p>
        </p:txBody>
      </p:sp>
      <p:sp>
        <p:nvSpPr>
          <p:cNvPr id="42" name="Row method"/>
          <p:cNvSpPr txBox="1"/>
          <p:nvPr/>
        </p:nvSpPr>
        <p:spPr>
          <a:xfrm>
            <a:off x="6858000" y="3346704"/>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LI-6800 A-Ci (FvCB), A-Q 곡선</a:t>
            </a:r>
          </a:p>
        </p:txBody>
      </p:sp>
      <p:sp>
        <p:nvSpPr>
          <p:cNvPr id="43" name="Row bg"/>
          <p:cNvSpPr/>
          <p:nvPr/>
        </p:nvSpPr>
        <p:spPr>
          <a:xfrm>
            <a:off x="841248" y="4334256"/>
            <a:ext cx="10515600" cy="713232"/>
          </a:xfrm>
          <a:prstGeom prst="roundRect">
            <a:avLst>
              <a:gd name="adj" fmla="val 12000"/>
            </a:avLst>
          </a:prstGeom>
          <a:solidFill>
            <a:srgbClr val="F2F6F9"/>
          </a:solidFill>
          <a:ln>
            <a:noFill/>
          </a:ln>
        </p:spPr>
        <p:txBody>
          <a:bodyPr wrap="square" lIns="73152" tIns="36576" rIns="73152" bIns="36576" rtlCol="0" anchor="ctr">
            <a:noAutofit/>
          </a:bodyPr>
          <a:lstStyle/>
          <a:p>
            <a:endParaRPr lang="ko-KR"/>
          </a:p>
        </p:txBody>
      </p:sp>
      <p:sp>
        <p:nvSpPr>
          <p:cNvPr id="44" name="Row chip"/>
          <p:cNvSpPr/>
          <p:nvPr/>
        </p:nvSpPr>
        <p:spPr>
          <a:xfrm>
            <a:off x="841248" y="4334256"/>
            <a:ext cx="2148840" cy="713232"/>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p:txBody>
      </p:sp>
      <p:sp>
        <p:nvSpPr>
          <p:cNvPr id="45" name="Row ind"/>
          <p:cNvSpPr txBox="1"/>
          <p:nvPr/>
        </p:nvSpPr>
        <p:spPr>
          <a:xfrm>
            <a:off x="3200400" y="4334256"/>
            <a:ext cx="356616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400" b="1" dirty="0">
                <a:solidFill>
                  <a:srgbClr val="000000"/>
                </a:solidFill>
              </a:rPr>
              <a:t>생체중, 건조중, 엽면적, 엽수, SPAD, 수확량</a:t>
            </a:r>
          </a:p>
        </p:txBody>
      </p:sp>
      <p:sp>
        <p:nvSpPr>
          <p:cNvPr id="46" name="Row method"/>
          <p:cNvSpPr txBox="1"/>
          <p:nvPr/>
        </p:nvSpPr>
        <p:spPr>
          <a:xfrm>
            <a:off x="6858000" y="4334256"/>
            <a:ext cx="4434840" cy="713232"/>
          </a:xfrm>
          <a:prstGeom prst="rect">
            <a:avLst/>
          </a:prstGeom>
          <a:noFill/>
          <a:ln>
            <a:noFill/>
          </a:ln>
        </p:spPr>
        <p:txBody>
          <a:bodyPr wrap="square" lIns="18288" tIns="18288" rIns="18288" bIns="18288" rtlCol="0" anchor="ctr">
            <a:noAutofit/>
          </a:bodyPr>
          <a:lstStyle/>
          <a:p>
            <a:pPr marL="0" indent="0" algn="l">
              <a:spcBef>
                <a:spcPts val="0"/>
              </a:spcBef>
              <a:buNone/>
            </a:pPr>
            <a:r>
              <a:rPr lang="ko-KR" altLang="en-US" sz="1250" b="0" dirty="0">
                <a:solidFill>
                  <a:srgbClr val="595959"/>
                </a:solidFill>
              </a:rPr>
              <a:t>파괴 조사(로메인 DAT 16, 콩 DAT 20·55), 로메인 캐노피 투영 엽면적(사진)</a:t>
            </a:r>
          </a:p>
        </p:txBody>
      </p:sp>
      <p:sp>
        <p:nvSpPr>
          <p:cNvPr id="7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7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8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8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8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500"/>
                                        <p:tgtEl>
                                          <p:spTgt spid="4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fade">
                                      <p:cBhvr>
                                        <p:cTn id="66" dur="500"/>
                                        <p:tgtEl>
                                          <p:spTgt spid="4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fade">
                                      <p:cBhvr>
                                        <p:cTn id="69" dur="500"/>
                                        <p:tgtEl>
                                          <p:spTgt spid="4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처리 검증: 관수량 비교와 일일 증산량</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감수 관수는 실현됨 — 로메인 침수구는 과습으로 관수가 적었고 콩은 뿌리 이탈 가능성</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관수: 포트에 들어간 누적 관수량(대조구 대비), 콩 8/16~10/6, 로메인 10/12~10/22. 일일 증산량 = 전날 관수 후 − 당일 관수 전 무게(로메인: 증산량·관수량 시트, 콩: 로드셀 mm × 38.01 g/mm). 로메인 점선 음영 = ± SE.</a:t>
            </a:r>
          </a:p>
        </p:txBody>
      </p:sp>
      <p:pic>
        <p:nvPicPr>
          <p:cNvPr id="27" name="Picture 26" descr="image.png"/>
          <p:cNvPicPr>
            <a:picLocks noChangeAspect="1"/>
          </p:cNvPicPr>
          <p:nvPr/>
        </p:nvPicPr>
        <p:blipFill>
          <a:blip r:embed="rId5"/>
          <a:stretch>
            <a:fillRect/>
          </a:stretch>
        </p:blipFill>
        <p:spPr>
          <a:xfrm>
            <a:off x="457200" y="1280160"/>
            <a:ext cx="7040880" cy="274320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43% · 40%</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건조구 누적 관수량 (로메인 · 콩, 대조구 대비)</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56% · 87%</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침수구 누적 관수량 (로메인 · 콩, 대조구 대비)</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관수량:</a:t>
            </a:r>
            <a:r>
              <a:rPr lang="ko-KR" altLang="en-US" sz="1400" dirty="0">
                <a:solidFill>
                  <a:srgbClr val="000000"/>
                </a:solidFill>
              </a:rPr>
              <a:t> 건조 로메인 43%·콩 40%, 침수 56%·87%, 복합 37%·44% (대조구 대비)</a:t>
            </a:r>
          </a:p>
          <a:p>
            <a:pPr marL="201168" indent="-201168" algn="l">
              <a:spcBef>
                <a:spcPts val="1000"/>
              </a:spcBef>
              <a:buFont typeface="Arial"/>
              <a:buChar char="•"/>
            </a:pPr>
            <a:r>
              <a:rPr lang="ko-KR" altLang="en-US" sz="1400" dirty="0">
                <a:solidFill>
                  <a:srgbClr val="000000"/>
                </a:solidFill>
              </a:rPr>
              <a:t>로메인 침수:  3일 침지 후 화분이 과습해 관수가 대조구의 56% — 복합구는 침수구의 66%</a:t>
            </a:r>
          </a:p>
          <a:p>
            <a:pPr marL="201168" indent="-201168" algn="l">
              <a:spcBef>
                <a:spcPts val="1000"/>
              </a:spcBef>
              <a:buFont typeface="Arial"/>
              <a:buChar char="•"/>
            </a:pPr>
            <a:r>
              <a:rPr lang="ko-KR" altLang="en-US" sz="1400" dirty="0">
                <a:solidFill>
                  <a:srgbClr val="000000"/>
                </a:solidFill>
              </a:rPr>
              <a:t>일일 증산량:  로메인은 건조 72%·침수 84%·복합 74% (대조구 대비, DAT 6~16), 콩은 건조 54%·침수 95% (로드셀)</a:t>
            </a:r>
          </a:p>
          <a:p>
            <a:pPr marL="201168" indent="-201168" algn="l">
              <a:spcBef>
                <a:spcPts val="1000"/>
              </a:spcBef>
              <a:buFont typeface="Arial"/>
              <a:buChar char="•"/>
            </a:pPr>
            <a:r>
              <a:rPr lang="ko-KR" altLang="en-US" sz="1400" b="0" dirty="0">
                <a:solidFill>
                  <a:srgbClr val="000000"/>
                </a:solidFill>
              </a:rPr>
              <a:t>콩 복합구는 증산량(로드셀) 자료 없음, 콩은 뿌리가 배수구로 이탈해 실제 수분 이용은 다를 수 있음</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① 기공전도도 (g</a:t>
            </a:r>
            <a:r>
              <a:rPr lang="ko-KR" altLang="en-US" sz="2800" baseline="-25000" dirty="0"/>
              <a:t>sw</a:t>
            </a:r>
            <a:r>
              <a:rPr lang="ko-KR" altLang="en-US" sz="2800" dirty="0"/>
              <a:t>): 침수 직후 두 작물 모두 감소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8</a:t>
            </a:fld>
            <a:endParaRPr lang="ko-KR" altLang="en-US"/>
          </a:p>
        </p:txBody>
      </p:sp>
      <p:pic>
        <p:nvPicPr>
          <p:cNvPr id="14" name="Picture 13" descr="image.png"/>
          <p:cNvPicPr>
            <a:picLocks noChangeAspect="1"/>
          </p:cNvPicPr>
          <p:nvPr/>
        </p:nvPicPr>
        <p:blipFill>
          <a:blip r:embed="rId5"/>
          <a:stretch>
            <a:fillRect/>
          </a:stretch>
        </p:blipFill>
        <p:spPr>
          <a:xfrm>
            <a:off x="493881" y="1188720"/>
            <a:ext cx="6830357" cy="254999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14231821"/>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0.353 a (0.358; 0.363)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0.355 a (0.351; 0.347)</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0.264 a (0.264;0.264)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0.155 ab (0.153;0.155)</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0.215 b (0.212; 0.224)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0.249 a (0.249;0.248)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0.113 b (0.112;0.113)</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0.264 b (0.261; 0.273)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0.346 a (0.348; 0.353)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0.255 a (0.255;0.254)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0.161 a (0.160;0.162)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0.226 b (0.229; 0.233)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0.237 a (0.237;0.237)</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0.144 ab (0.143;0.145)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190000">
                <a:tc>
                  <a:txBody>
                    <a:bodyPr/>
                    <a:lstStyle/>
                    <a:p>
                      <a:pPr algn="l"/>
                      <a:r>
                        <a:rPr sz="800" b="0">
                          <a:solidFill>
                            <a:srgbClr val="000000"/>
                          </a:solidFill>
                        </a:rPr>
                        <a:t>P (측정일 반복)</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W 0.006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I 0.001; W×I 0.99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n.s.</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I n.s. (0.11)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190000">
                <a:tc>
                  <a:txBody>
                    <a:bodyPr/>
                    <a:lstStyle/>
                    <a:p>
                      <a:pPr algn="l"/>
                      <a:r>
                        <a:rPr sz="800" b="0">
                          <a:solidFill>
                            <a:srgbClr val="000000"/>
                          </a:solidFill>
                        </a:rPr>
                        <a:t>처리 × 측정일 P</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0.085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dirty="0">
                          <a:solidFill>
                            <a:srgbClr val="000000"/>
                          </a:solidFill>
                        </a:rPr>
                        <a:t>0.067</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P1:</a:t>
            </a:r>
            <a:r>
              <a:rPr sz="1400">
                <a:solidFill>
                  <a:srgbClr val="000000"/>
                </a:solidFill>
              </a:rPr>
              <a:t> 침수 0.26 vs 대조구 0.35 — 측정일을 반복으로 해도 유의 (P=0.006)</a:t>
            </a:r>
          </a:p>
          <a:p>
            <a:pPr marL="201168" indent="-201168">
              <a:spcBef>
                <a:spcPts val="0"/>
              </a:spcBef>
              <a:buFont typeface="Arial"/>
              <a:buChar char="•"/>
            </a:pPr>
            <a:r>
              <a:rPr sz="1400" b="1">
                <a:solidFill>
                  <a:srgbClr val="000000"/>
                </a:solidFill>
              </a:rPr>
              <a:t>콩 P2:</a:t>
            </a:r>
            <a:r>
              <a:rPr sz="1400">
                <a:solidFill>
                  <a:srgbClr val="000000"/>
                </a:solidFill>
              </a:rPr>
              <a:t> 건조·복합 0.22~0.23 &lt; 대조구·침수 0.35, 관수 효과만 유의 (P=0.001; W × I P=0.99)</a:t>
            </a:r>
          </a:p>
          <a:p>
            <a:pPr marL="201168" indent="-201168">
              <a:spcBef>
                <a:spcPts val="0"/>
              </a:spcBef>
              <a:buFont typeface="Arial"/>
              <a:buChar char="•"/>
            </a:pPr>
            <a:r>
              <a:rPr sz="1400" b="1">
                <a:solidFill>
                  <a:srgbClr val="000000"/>
                </a:solidFill>
              </a:rPr>
              <a:t>로메인 P1:</a:t>
            </a:r>
            <a:r>
              <a:rPr sz="1400">
                <a:solidFill>
                  <a:srgbClr val="000000"/>
                </a:solidFill>
              </a:rPr>
              <a:t> 4처리 차이 없음 (P=0.20) — 침수 중(DAT 2~4) 0.10→0.028→0.10 vs 대조구 0.24~0.29, DAT 5부터 대조구 수준</a:t>
            </a:r>
          </a:p>
          <a:p>
            <a:pPr marL="201168" indent="-201168">
              <a:spcBef>
                <a:spcPts val="0"/>
              </a:spcBef>
              <a:buFont typeface="Arial"/>
              <a:buChar char="•"/>
            </a:pPr>
            <a:r>
              <a:rPr sz="1400">
                <a:solidFill>
                  <a:srgbClr val="000000"/>
                </a:solidFill>
              </a:rPr>
              <a:t>로메인 P2:  건조 0.113 (b) &lt; 침수 0.161 (a), 관수 효과 P=0.015 (측정일 반복은 n.s., P=0.11); DAT 16 건조 0.055 vs 대조구 0.144</a:t>
            </a:r>
          </a:p>
          <a:p>
            <a:pPr marL="201168" indent="-201168">
              <a:spcBef>
                <a:spcPts val="0"/>
              </a:spcBef>
              <a:buFont typeface="Arial"/>
              <a:buChar char="•"/>
            </a:pPr>
            <a:r>
              <a:rPr sz="1400" b="0">
                <a:solidFill>
                  <a:srgbClr val="000000"/>
                </a:solidFill>
              </a:rPr>
              <a:t>로메인 최저값: DAT 3에 대조구의 10% (0.026 vs 0.256)</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기공은 두 작물 모두 침수에 즉시 반응 — </a:t>
            </a:r>
            <a:r>
              <a:rPr sz="1600" b="1">
                <a:solidFill>
                  <a:srgbClr val="E97132"/>
                </a:solidFill>
              </a:rPr>
              <a:t>차이는 회복 속도에서 나타남</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PAR·기온 보정 평균, Tukey 문자, 괄호 = (PAR만 보정; 원 평균). P(측정일 반복) = 처리별 측정일 평균 ~ 침수 × 관수 + 측정일 (W 침수, I 관수). 그림: PAR·기온 보정 일평균, 음영 ± SE, 회색 띠 흐린 날, * 당일 P&lt;0.05(Holm).</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① 기공 회복 속도: 로메인은 빠르게, 콩은 느리게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9</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3일 침수에도 로메인은 배수 2~3일 만에 회복, 콩은 DAT 9까지 회복되지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각 처리 g</a:t>
            </a:r>
            <a:r>
              <a:rPr sz="1000" baseline="-25000">
                <a:solidFill>
                  <a:srgbClr val="595959"/>
                </a:solidFill>
              </a:rPr>
              <a:t>sw</a:t>
            </a:r>
            <a:r>
              <a:rPr sz="1000">
                <a:solidFill>
                  <a:srgbClr val="595959"/>
                </a:solidFill>
              </a:rPr>
              <a:t> ÷ 같은 날 대조구 g</a:t>
            </a:r>
            <a:r>
              <a:rPr sz="1000" baseline="-25000">
                <a:solidFill>
                  <a:srgbClr val="595959"/>
                </a:solidFill>
              </a:rPr>
              <a:t>sw</a:t>
            </a:r>
            <a:r>
              <a:rPr sz="1000">
                <a:solidFill>
                  <a:srgbClr val="595959"/>
                </a:solidFill>
              </a:rPr>
              <a:t> × 100 (PAR·기온 보정 일평균). * 대조 vs 처리 P&lt;0.05(Welch t, Holm 보정). 콩 DAT 10~16은 측정 없음, 콩 건조·복합은 DAT 17부터 측정.</a:t>
            </a:r>
          </a:p>
        </p:txBody>
      </p:sp>
      <p:pic>
        <p:nvPicPr>
          <p:cNvPr id="27" name="Picture 26" descr="image.png"/>
          <p:cNvPicPr>
            <a:picLocks noChangeAspect="1"/>
          </p:cNvPicPr>
          <p:nvPr/>
        </p:nvPicPr>
        <p:blipFill>
          <a:blip r:embed="rId5"/>
          <a:stretch>
            <a:fillRect/>
          </a:stretch>
        </p:blipFill>
        <p:spPr>
          <a:xfrm>
            <a:off x="457200" y="1261872"/>
            <a:ext cx="7040880" cy="3200399"/>
          </a:xfrm>
          <a:prstGeom prst="rect">
            <a:avLst/>
          </a:prstGeom>
        </p:spPr>
      </p:pic>
      <p:sp>
        <p:nvSpPr>
          <p:cNvPr id="28" name="Recovery text"/>
          <p:cNvSpPr txBox="1"/>
          <p:nvPr/>
        </p:nvSpPr>
        <p:spPr>
          <a:xfrm>
            <a:off x="841248" y="4553712"/>
            <a:ext cx="6492240" cy="109728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250" b="1" dirty="0">
                <a:solidFill>
                  <a:srgbClr val="000000"/>
                </a:solidFill>
              </a:rPr>
              <a:t>로메인:</a:t>
            </a:r>
            <a:r>
              <a:rPr lang="ko-KR" altLang="en-US" sz="1250" dirty="0">
                <a:solidFill>
                  <a:srgbClr val="000000"/>
                </a:solidFill>
              </a:rPr>
              <a:t> 침수 DAT 3 최저(10%) → DAT 5~6(87~98%) 대조구 수준 회복. 건조·복합(DAT 5~)은 DAT 5~14에 74~127%로 대조구 수준, 건조는 DAT 16 39%</a:t>
            </a:r>
          </a:p>
          <a:p>
            <a:pPr marL="201168" indent="-201168" algn="l">
              <a:spcBef>
                <a:spcPts val="600"/>
              </a:spcBef>
              <a:buFont typeface="Arial"/>
              <a:buChar char="•"/>
            </a:pPr>
            <a:r>
              <a:rPr lang="ko-KR" altLang="en-US" sz="1250" b="1" dirty="0">
                <a:solidFill>
                  <a:srgbClr val="000000"/>
                </a:solidFill>
              </a:rPr>
              <a:t>콩:</a:t>
            </a:r>
            <a:r>
              <a:rPr lang="ko-KR" altLang="en-US" sz="1250" dirty="0">
                <a:solidFill>
                  <a:srgbClr val="000000"/>
                </a:solidFill>
              </a:rPr>
              <a:t> 침수 DAT 2~9에 39~90%(DAT 9 52%) → DAT 17 86%, DAT 23 99%. 건조·복합(DAT 17~)은 DAT 23~30에 31~71%로 낮고 DAT 44에 81~83%, DAT 51에 36~45%</a:t>
            </a:r>
          </a:p>
        </p:txBody>
      </p:sp>
      <p:sp>
        <p:nvSpPr>
          <p:cNvPr id="29" name="Stat box"/>
          <p:cNvSpPr/>
          <p:nvPr/>
        </p:nvSpPr>
        <p:spPr>
          <a:xfrm>
            <a:off x="7863840" y="1417320"/>
            <a:ext cx="3493008" cy="187452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30" name="Stat value"/>
          <p:cNvSpPr txBox="1"/>
          <p:nvPr/>
        </p:nvSpPr>
        <p:spPr>
          <a:xfrm>
            <a:off x="7909560" y="149047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400" dirty="0">
                <a:solidFill>
                  <a:srgbClr val="2E6B3F"/>
                </a:solidFill>
              </a:rPr>
              <a:t>2~3일</a:t>
            </a:r>
          </a:p>
        </p:txBody>
      </p:sp>
      <p:sp>
        <p:nvSpPr>
          <p:cNvPr id="31" name="Stat label"/>
          <p:cNvSpPr txBox="1"/>
          <p:nvPr/>
        </p:nvSpPr>
        <p:spPr>
          <a:xfrm>
            <a:off x="7936992" y="254203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로메인: 배수 후 대조구 수준까지 회복</a:t>
            </a:r>
          </a:p>
        </p:txBody>
      </p:sp>
      <p:sp>
        <p:nvSpPr>
          <p:cNvPr id="32" name="Stat box"/>
          <p:cNvSpPr/>
          <p:nvPr/>
        </p:nvSpPr>
        <p:spPr>
          <a:xfrm>
            <a:off x="7863840" y="3611880"/>
            <a:ext cx="3493008" cy="187452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3" name="Stat value"/>
          <p:cNvSpPr txBox="1"/>
          <p:nvPr/>
        </p:nvSpPr>
        <p:spPr>
          <a:xfrm>
            <a:off x="7909560" y="3685032"/>
            <a:ext cx="3401568" cy="1030986"/>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3000" dirty="0">
                <a:solidFill>
                  <a:srgbClr val="6B4226"/>
                </a:solidFill>
              </a:rPr>
              <a:t>DAT 9: 52%</a:t>
            </a:r>
          </a:p>
        </p:txBody>
      </p:sp>
      <p:sp>
        <p:nvSpPr>
          <p:cNvPr id="34" name="Stat label"/>
          <p:cNvSpPr txBox="1"/>
          <p:nvPr/>
        </p:nvSpPr>
        <p:spPr>
          <a:xfrm>
            <a:off x="7936992" y="4736592"/>
            <a:ext cx="3346704" cy="712318"/>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콩: 침수 종료 6일 후에도 미회복</a:t>
            </a:r>
          </a:p>
        </p:txBody>
      </p:sp>
      <p:sp>
        <p:nvSpPr>
          <p:cNvPr id="40"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1"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2"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3"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4"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5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243278" cy="566928"/>
          </a:xfrm>
        </p:spPr>
        <p:txBody>
          <a:bodyPr anchor="b">
            <a:normAutofit/>
          </a:bodyPr>
          <a:lstStyle/>
          <a:p>
            <a:r>
              <a:rPr lang="ko-KR" altLang="en-US" sz="2800" dirty="0"/>
              <a:t>② Φ</a:t>
            </a:r>
            <a:r>
              <a:rPr lang="ko-KR" altLang="en-US" sz="2800" dirty="0" baseline="-25000"/>
              <a:t>PSII</a:t>
            </a:r>
            <a:r>
              <a:rPr lang="ko-KR" altLang="en-US" sz="2800" dirty="0"/>
              <a:t>: 콩은 고광도 건조에서만 저하</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11</a:t>
            </a:fld>
            <a:endParaRPr lang="ko-KR" altLang="en-US"/>
          </a:p>
        </p:txBody>
      </p:sp>
      <p:pic>
        <p:nvPicPr>
          <p:cNvPr id="14" name="Picture 13" descr="image.png"/>
          <p:cNvPicPr>
            <a:picLocks noChangeAspect="1"/>
          </p:cNvPicPr>
          <p:nvPr/>
        </p:nvPicPr>
        <p:blipFill>
          <a:blip r:embed="rId5"/>
          <a:stretch>
            <a:fillRect/>
          </a:stretch>
        </p:blipFill>
        <p:spPr>
          <a:xfrm>
            <a:off x="457200" y="1188720"/>
            <a:ext cx="6903720" cy="2510443"/>
          </a:xfrm>
          <a:prstGeom prst="rect">
            <a:avLst/>
          </a:prstGeom>
        </p:spPr>
      </p:pic>
      <p:graphicFrame>
        <p:nvGraphicFramePr>
          <p:cNvPr id="8" name="Table 7"/>
          <p:cNvGraphicFramePr>
            <a:graphicFrameLocks noGrp="1"/>
          </p:cNvGraphicFramePr>
          <p:nvPr/>
        </p:nvGraphicFramePr>
        <p:xfrm>
          <a:off x="457200" y="3790000"/>
          <a:ext cx="6857997" cy="1420416"/>
        </p:xfrm>
        <a:graphic>
          <a:graphicData uri="http://schemas.openxmlformats.org/drawingml/2006/table">
            <a:tbl>
              <a:tblPr>
                <a:tableStyleId>{2D5ABB26-0587-4C30-8999-92F81FD0307C}</a:tableStyleId>
              </a:tblPr>
              <a:tblGrid>
                <a:gridCol w="1446244">
                  <a:extLst>
                    <a:ext uri="{9D8B030D-6E8A-4147-A177-3AD203B41FA5}">
                      <a16:colId xmlns:a16="http://schemas.microsoft.com/office/drawing/2014/main" val="20000"/>
                    </a:ext>
                  </a:extLst>
                </a:gridCol>
                <a:gridCol w="1212979">
                  <a:extLst>
                    <a:ext uri="{9D8B030D-6E8A-4147-A177-3AD203B41FA5}">
                      <a16:colId xmlns:a16="http://schemas.microsoft.com/office/drawing/2014/main" val="20001"/>
                    </a:ext>
                  </a:extLst>
                </a:gridCol>
                <a:gridCol w="886408">
                  <a:extLst>
                    <a:ext uri="{9D8B030D-6E8A-4147-A177-3AD203B41FA5}">
                      <a16:colId xmlns:a16="http://schemas.microsoft.com/office/drawing/2014/main" val="20002"/>
                    </a:ext>
                  </a:extLst>
                </a:gridCol>
                <a:gridCol w="886408">
                  <a:extLst>
                    <a:ext uri="{9D8B030D-6E8A-4147-A177-3AD203B41FA5}">
                      <a16:colId xmlns:a16="http://schemas.microsoft.com/office/drawing/2014/main" val="20003"/>
                    </a:ext>
                  </a:extLst>
                </a:gridCol>
                <a:gridCol w="1212979">
                  <a:extLst>
                    <a:ext uri="{9D8B030D-6E8A-4147-A177-3AD203B41FA5}">
                      <a16:colId xmlns:a16="http://schemas.microsoft.com/office/drawing/2014/main" val="20004"/>
                    </a:ext>
                  </a:extLst>
                </a:gridCol>
                <a:gridCol w="1212979">
                  <a:extLst>
                    <a:ext uri="{9D8B030D-6E8A-4147-A177-3AD203B41FA5}">
                      <a16:colId xmlns:a16="http://schemas.microsoft.com/office/drawing/2014/main" val="20005"/>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 (300)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 (1,200)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0.704 a (0.701; 0.694)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0.75 a (0.75)</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0.68 a (0.69)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0.611 a (0.611;0.599)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0.645 a (0.645;0.658)</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0.72 a (0.72)</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0.50 c (0.50)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0.595 a (0.595;0.612)</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0.649 a (0.649;0.661)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0.679 b (0.680; 0.687)</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0.74 a (0.74)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0.58 b (0.59)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0.591 a (0.591;0.595)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0.642 a (0.642;0.637)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0.73 a (0.73)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0.54 bc (0.54)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0.585 a (0.585;0.576)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0.655 a (0.655;0.642)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190000">
                <a:tc>
                  <a:txBody>
                    <a:bodyPr/>
                    <a:lstStyle/>
                    <a:p>
                      <a:pPr algn="l"/>
                      <a:r>
                        <a:rPr sz="800" b="0">
                          <a:solidFill>
                            <a:srgbClr val="000000"/>
                          </a:solidFill>
                        </a:rPr>
                        <a:t>P (측정일 반복)</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W 0.44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I 0.011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W×I 0.027</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W 0.24 (n.s.)</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190000">
                <a:tc>
                  <a:txBody>
                    <a:bodyPr/>
                    <a:lstStyle/>
                    <a:p>
                      <a:pPr algn="l"/>
                      <a:r>
                        <a:rPr sz="800" b="0">
                          <a:solidFill>
                            <a:srgbClr val="000000"/>
                          </a:solidFill>
                        </a:rPr>
                        <a:t>처리 × PAR P</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0.99</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0.56</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0.91</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P1: 측정일 반복 검정은 두 작물 모두 차이 없음 (콩 P=0.44, 로메인 P=0.24) — 콩 보정 평균의 침수 0.68 vs 대조구 0.70은 작고 보정 방식에 민감</a:t>
            </a:r>
          </a:p>
          <a:p>
            <a:pPr marL="201168" indent="-201168">
              <a:spcBef>
                <a:spcPts val="0"/>
              </a:spcBef>
              <a:buFont typeface="Arial"/>
              <a:buChar char="•"/>
            </a:pPr>
            <a:r>
              <a:rPr sz="1400" b="1">
                <a:solidFill>
                  <a:srgbClr val="000000"/>
                </a:solidFill>
              </a:rPr>
              <a:t>콩 P2:</a:t>
            </a:r>
            <a:r>
              <a:rPr sz="1400">
                <a:solidFill>
                  <a:srgbClr val="000000"/>
                </a:solidFill>
              </a:rPr>
              <a:t> 저광(300) 0.72~0.75로 차이 없음, 고광(1,200)에서 건조 0.50 &lt; 복합 0.54 &lt; 침수 0.58 &lt; 대조구 0.68</a:t>
            </a:r>
          </a:p>
          <a:p>
            <a:pPr marL="201168" indent="-201168">
              <a:spcBef>
                <a:spcPts val="0"/>
              </a:spcBef>
              <a:buFont typeface="Arial"/>
              <a:buChar char="•"/>
            </a:pPr>
            <a:r>
              <a:rPr sz="1400" b="0">
                <a:solidFill>
                  <a:srgbClr val="000000"/>
                </a:solidFill>
              </a:rPr>
              <a:t>처리 × 광도 상호작용 P&lt;0.001 — 건조의 명반응 저하는 과잉광에서만 (기공 제한의 2차 결과와 부합)</a:t>
            </a:r>
          </a:p>
          <a:p>
            <a:pPr marL="201168" indent="-201168">
              <a:spcBef>
                <a:spcPts val="0"/>
              </a:spcBef>
              <a:buFont typeface="Arial"/>
              <a:buChar char="•"/>
            </a:pPr>
            <a:r>
              <a:rPr sz="1400" b="0">
                <a:solidFill>
                  <a:srgbClr val="000000"/>
                </a:solidFill>
              </a:rPr>
              <a:t>로메인은 P1 0.585~0.611 (침수 효과 P=0.049, 처리 P=0.10), P2 0.642~0.655 (P=0.75): 구간 차이 없음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건조의 Φ</a:t>
            </a:r>
            <a:r>
              <a:rPr sz="1600" baseline="-25000">
                <a:solidFill>
                  <a:srgbClr val="E97132"/>
                </a:solidFill>
              </a:rPr>
              <a:t>PSII</a:t>
            </a:r>
            <a:r>
              <a:rPr sz="1600">
                <a:solidFill>
                  <a:srgbClr val="E97132"/>
                </a:solidFill>
              </a:rPr>
              <a:t> 저하는 고광도에서만 — 로메인은 잎 광화학 효율 변화 없음 (침수 후 약 3% 낮은 경향)</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PAR·기온 보정 평균(콩 P2는 처리 × PAR 모형의 PPFD 300·1,200 예측, 9/4 기준). 괄호 = (PAR만 보정; 원 평균). P(측정일 반복) = 처리별 측정일 평균 ~ 침수 × 관수 + 측정일. 문자: Tukey(로메인은 n.s.라 모두 a).</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③ 광합성 능력 (A-Ci, A-Q 파라미터)</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13</a:t>
            </a:fld>
            <a:endParaRPr lang="ko-KR" altLang="en-US"/>
          </a:p>
        </p:txBody>
      </p:sp>
      <p:pic>
        <p:nvPicPr>
          <p:cNvPr id="14" name="Picture 13" descr="image.png"/>
          <p:cNvPicPr>
            <a:picLocks noChangeAspect="1"/>
          </p:cNvPicPr>
          <p:nvPr/>
        </p:nvPicPr>
        <p:blipFill>
          <a:blip r:embed="rId5"/>
          <a:stretch>
            <a:fillRect/>
          </a:stretch>
        </p:blipFill>
        <p:spPr>
          <a:xfrm>
            <a:off x="460283" y="1199097"/>
            <a:ext cx="7034712" cy="2813885"/>
          </a:xfrm>
          <a:prstGeom prst="rect">
            <a:avLst/>
          </a:prstGeom>
        </p:spPr>
      </p:pic>
      <p:graphicFrame>
        <p:nvGraphicFramePr>
          <p:cNvPr id="8" name="Table 7"/>
          <p:cNvGraphicFramePr>
            <a:graphicFrameLocks noGrp="1"/>
          </p:cNvGraphicFramePr>
          <p:nvPr/>
        </p:nvGraphicFramePr>
        <p:xfrm>
          <a:off x="457200" y="4160520"/>
          <a:ext cx="6858000" cy="1481328"/>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46888">
                <a:tc>
                  <a:txBody>
                    <a:bodyPr/>
                    <a:lstStyle/>
                    <a:p>
                      <a:pPr algn="l"/>
                      <a:r>
                        <a:rPr sz="1050" b="1">
                          <a:solidFill>
                            <a:srgbClr val="000000"/>
                          </a:solidFill>
                        </a:rPr>
                        <a:t>Parameter</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 pre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 pre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6888">
                <a:tc>
                  <a:txBody>
                    <a:bodyPr/>
                    <a:lstStyle/>
                    <a:p>
                      <a:pPr algn="l"/>
                      <a:r>
                        <a:rPr sz="1050" b="0">
                          <a:solidFill>
                            <a:srgbClr val="000000"/>
                          </a:solidFill>
                        </a:rPr>
                        <a:t>V</a:t>
                      </a:r>
                      <a:r>
                        <a:rPr sz="1050" b="0" baseline="-25000">
                          <a:solidFill>
                            <a:srgbClr val="000000"/>
                          </a:solidFill>
                        </a:rPr>
                        <a:t>cmax</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60.4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0.011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98.3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0.029</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6888">
                <a:tc>
                  <a:txBody>
                    <a:bodyPr/>
                    <a:lstStyle/>
                    <a:p>
                      <a:pPr algn="l"/>
                      <a:r>
                        <a:rPr sz="1050" b="0">
                          <a:solidFill>
                            <a:srgbClr val="000000"/>
                          </a:solidFill>
                        </a:rPr>
                        <a:t>J</a:t>
                      </a:r>
                      <a:r>
                        <a:rPr sz="1050" b="0" baseline="-25000">
                          <a:solidFill>
                            <a:srgbClr val="000000"/>
                          </a:solidFill>
                        </a:rPr>
                        <a:t>max</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83.3</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&lt;0.001</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172.7</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0.047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6888">
                <a:tc>
                  <a:txBody>
                    <a:bodyPr/>
                    <a:lstStyle/>
                    <a:p>
                      <a:pPr algn="l"/>
                      <a:r>
                        <a:rPr sz="1050" b="0">
                          <a:solidFill>
                            <a:srgbClr val="000000"/>
                          </a:solidFill>
                        </a:rPr>
                        <a:t>R</a:t>
                      </a:r>
                      <a:r>
                        <a:rPr sz="1050" b="0" baseline="-25000">
                          <a:solidFill>
                            <a:srgbClr val="000000"/>
                          </a:solidFill>
                        </a:rPr>
                        <a:t>d</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1.44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0.049</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1.70</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0.87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6888">
                <a:tc>
                  <a:txBody>
                    <a:bodyPr/>
                    <a:lstStyle/>
                    <a:p>
                      <a:pPr algn="l"/>
                      <a:r>
                        <a:rPr sz="1050" b="0">
                          <a:solidFill>
                            <a:srgbClr val="000000"/>
                          </a:solidFill>
                        </a:rPr>
                        <a:t>A</a:t>
                      </a:r>
                      <a:r>
                        <a:rPr sz="1050" b="0" baseline="-25000">
                          <a:solidFill>
                            <a:srgbClr val="000000"/>
                          </a:solidFill>
                        </a:rPr>
                        <a:t>max</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0.686</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26.4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0.58</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6888">
                <a:tc>
                  <a:txBody>
                    <a:bodyPr/>
                    <a:lstStyle/>
                    <a:p>
                      <a:pPr algn="l"/>
                      <a:r>
                        <a:rPr sz="1050" b="0">
                          <a:solidFill>
                            <a:srgbClr val="000000"/>
                          </a:solidFill>
                        </a:rPr>
                        <a:t>α</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0.047</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0.420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0.063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1050" b="0">
                          <a:solidFill>
                            <a:srgbClr val="000000"/>
                          </a:solidFill>
                        </a:rPr>
                        <a:t>0.79</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5"/>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1">
                <a:solidFill>
                  <a:srgbClr val="000000"/>
                </a:solidFill>
              </a:rPr>
              <a:t>콩 9월 A-Ci(선별 15곡선):</a:t>
            </a:r>
            <a:r>
              <a:rPr sz="1400">
                <a:solidFill>
                  <a:srgbClr val="000000"/>
                </a:solidFill>
              </a:rPr>
              <a:t> V</a:t>
            </a:r>
            <a:r>
              <a:rPr sz="1400" baseline="-25000">
                <a:solidFill>
                  <a:srgbClr val="000000"/>
                </a:solidFill>
              </a:rPr>
              <a:t>cmax</a:t>
            </a:r>
            <a:r>
              <a:rPr sz="1400">
                <a:solidFill>
                  <a:srgbClr val="000000"/>
                </a:solidFill>
              </a:rPr>
              <a:t> 대조구 90 (a) &gt; 침수 85 &gt; 복합 75 &gt; 건조 68 (b) (P=0.011), J</a:t>
            </a:r>
            <a:r>
              <a:rPr sz="1400" baseline="-25000">
                <a:solidFill>
                  <a:srgbClr val="000000"/>
                </a:solidFill>
              </a:rPr>
              <a:t>max</a:t>
            </a:r>
            <a:r>
              <a:rPr sz="1400">
                <a:solidFill>
                  <a:srgbClr val="000000"/>
                </a:solidFill>
              </a:rPr>
              <a:t> 대조구·침수 (a) &gt; 복합·건조 (b) (P&lt;0.001) — 관수 주효과만 유의</a:t>
            </a:r>
          </a:p>
          <a:p>
            <a:pPr marL="201168" indent="-201168">
              <a:spcBef>
                <a:spcPts val="0"/>
              </a:spcBef>
              <a:buFont typeface="Arial"/>
              <a:buChar char="•"/>
            </a:pPr>
            <a:r>
              <a:rPr sz="1400">
                <a:solidFill>
                  <a:srgbClr val="000000"/>
                </a:solidFill>
              </a:rPr>
              <a:t>로메인 Vcmax:</a:t>
            </a:r>
            <a:r>
              <a:rPr sz="1400">
                <a:solidFill>
                  <a:srgbClr val="000000"/>
                </a:solidFill>
              </a:rPr>
              <a:t> 대조구 104 (a) &gt; 건조 94 &gt; 침수 88 &gt; 복합 73 (b) (P=0.029, 침수 P=0.012), J</a:t>
            </a:r>
            <a:r>
              <a:rPr sz="1400" baseline="-25000">
                <a:solidFill>
                  <a:srgbClr val="000000"/>
                </a:solidFill>
              </a:rPr>
              <a:t>max</a:t>
            </a:r>
            <a:r>
              <a:rPr sz="1400">
                <a:solidFill>
                  <a:srgbClr val="000000"/>
                </a:solidFill>
              </a:rPr>
              <a:t>도 같은 순서로 감소 (P=0.047, 침수 P=0.024)</a:t>
            </a:r>
          </a:p>
          <a:p>
            <a:pPr marL="201168" indent="-201168">
              <a:spcBef>
                <a:spcPts val="0"/>
              </a:spcBef>
              <a:buFont typeface="Arial"/>
              <a:buChar char="•"/>
            </a:pPr>
            <a:r>
              <a:rPr sz="1400" b="0">
                <a:solidFill>
                  <a:srgbClr val="000000"/>
                </a:solidFill>
              </a:rPr>
              <a:t>R</a:t>
            </a:r>
            <a:r>
              <a:rPr sz="1400" b="0" baseline="-25000">
                <a:solidFill>
                  <a:srgbClr val="000000"/>
                </a:solidFill>
              </a:rPr>
              <a:t>d</a:t>
            </a:r>
            <a:r>
              <a:rPr sz="1400" b="0">
                <a:solidFill>
                  <a:srgbClr val="000000"/>
                </a:solidFill>
              </a:rPr>
              <a:t>·A</a:t>
            </a:r>
            <a:r>
              <a:rPr sz="1400" b="0" baseline="-25000">
                <a:solidFill>
                  <a:srgbClr val="000000"/>
                </a:solidFill>
              </a:rPr>
              <a:t>max</a:t>
            </a:r>
            <a:r>
              <a:rPr sz="1400" b="0">
                <a:solidFill>
                  <a:srgbClr val="000000"/>
                </a:solidFill>
              </a:rPr>
              <a:t>·α·A-Q 곡선은 두 작물 모두 차이 없음 (로메인 P≥0.58)</a:t>
            </a:r>
          </a:p>
          <a:p>
            <a:pPr marL="201168" indent="-201168">
              <a:spcBef>
                <a:spcPts val="0"/>
              </a:spcBef>
              <a:buFont typeface="Arial"/>
              <a:buChar char="•"/>
            </a:pPr>
            <a:r>
              <a:rPr sz="1400" b="0">
                <a:solidFill>
                  <a:srgbClr val="000000"/>
                </a:solidFill>
              </a:rPr>
              <a:t>처리별 측정일이 달라(콩 9/2~9/17, 로메인 10/16~19) 측정일과 교락 — 곡선 수가 적어(처리당 3~4개) 해석 주의</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콩 건조·복합구(9월)와 로메인 복합구(10월)에서 V</a:t>
            </a:r>
            <a:r>
              <a:rPr sz="1600" baseline="-25000">
                <a:solidFill>
                  <a:srgbClr val="E97132"/>
                </a:solidFill>
              </a:rPr>
              <a:t>cmax</a:t>
            </a:r>
            <a:r>
              <a:rPr sz="1600">
                <a:solidFill>
                  <a:srgbClr val="E97132"/>
                </a:solidFill>
              </a:rPr>
              <a:t>·J</a:t>
            </a:r>
            <a:r>
              <a:rPr sz="1600" baseline="-25000">
                <a:solidFill>
                  <a:srgbClr val="E97132"/>
                </a:solidFill>
              </a:rPr>
              <a:t>max</a:t>
            </a:r>
            <a:r>
              <a:rPr sz="1600">
                <a:solidFill>
                  <a:srgbClr val="E97132"/>
                </a:solidFill>
              </a:rPr>
              <a:t>가 낮은 경향 — 측정일 교락으로 확정은 어려움</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상자: 사분위(n≥4), 가로선: 평균 ± SE(n&lt;4), 점: 개별 곡선, 문자: Tukey. 표: pre = 처리 전 평균, P = 처리 후 4처리 ANOVA. 콩: 9월 파라미터 '선택적 데이터' 시트(9/2~9/17). 로메인: 10/16~19, 10/19 CR 4는 CR-2와 같은 개체라 제외.</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9069106" cy="566928"/>
          </a:xfrm>
        </p:spPr>
        <p:txBody>
          <a:bodyPr anchor="b">
            <a:normAutofit/>
          </a:bodyPr>
          <a:lstStyle/>
          <a:p>
            <a:r>
              <a:rPr lang="ko-KR" altLang="en-US" sz="2800" dirty="0"/>
              <a:t>④ 생육·수량: 로메인 감소, 콩은 차이 없음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14</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침수·건조·복합 모두 생육이 감소(복합 −43%), 콩은 종실 수량 구성요소에서 처리 간 차이 없음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로메인 10/23(DAT 16) 파괴조사 처리당 8주, 콩 10/6(DAT 55, R6~R7) 파괴조사(성숙기 최종 수확 전) n=6~9. 평균 ± SE, 문자: Tukey(ANOVA P&lt;0.05일 때만). 100립중 P=0.196.</a:t>
            </a:r>
          </a:p>
        </p:txBody>
      </p:sp>
      <p:pic>
        <p:nvPicPr>
          <p:cNvPr id="27" name="Picture 26" descr="image.png"/>
          <p:cNvPicPr>
            <a:picLocks noChangeAspect="1"/>
          </p:cNvPicPr>
          <p:nvPr/>
        </p:nvPicPr>
        <p:blipFill>
          <a:blip r:embed="rId5"/>
          <a:stretch>
            <a:fillRect/>
          </a:stretch>
        </p:blipFill>
        <p:spPr>
          <a:xfrm>
            <a:off x="658368" y="1298448"/>
            <a:ext cx="6638544" cy="1676270"/>
          </a:xfrm>
          <a:prstGeom prst="rect">
            <a:avLst/>
          </a:prstGeom>
        </p:spPr>
      </p:pic>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로메인:</a:t>
            </a:r>
            <a:r>
              <a:rPr lang="ko-KR" altLang="en-US" sz="1400" dirty="0">
                <a:solidFill>
                  <a:srgbClr val="000000"/>
                </a:solidFill>
              </a:rPr>
              <a:t> 지상부 건물중 건조 −16%, 침수 −34%, 복합 −43% (침수 P&lt;0.001, 관수 P=0.026, 상호작용 없음: 가법적)</a:t>
            </a:r>
          </a:p>
          <a:p>
            <a:pPr marL="201168" indent="-201168" algn="l">
              <a:spcBef>
                <a:spcPts val="1000"/>
              </a:spcBef>
              <a:buFont typeface="Arial"/>
              <a:buChar char="•"/>
            </a:pPr>
            <a:r>
              <a:rPr lang="ko-KR" altLang="en-US" sz="1400" dirty="0" b="0">
                <a:solidFill>
                  <a:srgbClr val="000000"/>
                </a:solidFill>
              </a:rPr>
              <a:t>생체중 −29·−26·−38%, 엽면적 −16~29%, 뿌리 건물중 −39~68%</a:t>
            </a:r>
          </a:p>
          <a:p>
            <a:pPr marL="201168" indent="-201168" algn="l">
              <a:spcBef>
                <a:spcPts val="1000"/>
              </a:spcBef>
              <a:buFont typeface="Arial"/>
              <a:buChar char="•"/>
            </a:pPr>
            <a:r>
              <a:rPr lang="ko-KR" altLang="en-US" sz="1400" b="1" dirty="0">
                <a:solidFill>
                  <a:srgbClr val="000000"/>
                </a:solidFill>
              </a:rPr>
              <a:t>콩 DAT 20:</a:t>
            </a:r>
            <a:r>
              <a:rPr lang="ko-KR" altLang="en-US" sz="1400" dirty="0">
                <a:solidFill>
                  <a:srgbClr val="000000"/>
                </a:solidFill>
              </a:rPr>
              <a:t> 침수구 꼬투리+종실 건물중 65% (침수 주효과 P=0.009)</a:t>
            </a:r>
          </a:p>
          <a:p>
            <a:pPr marL="201168" indent="-201168" algn="l">
              <a:spcBef>
                <a:spcPts val="1000"/>
              </a:spcBef>
              <a:buFont typeface="Arial"/>
              <a:buChar char="•"/>
            </a:pPr>
            <a:r>
              <a:rPr lang="ko-KR" altLang="en-US" sz="1400" b="1" dirty="0">
                <a:solidFill>
                  <a:srgbClr val="000000"/>
                </a:solidFill>
              </a:rPr>
              <a:t>콩 DAT 55:</a:t>
            </a:r>
            <a:r>
              <a:rPr lang="ko-KR" altLang="en-US" sz="1400" dirty="0">
                <a:solidFill>
                  <a:srgbClr val="000000"/>
                </a:solidFill>
              </a:rPr>
              <a:t> 종실 건물중 57~63 g, 종실 수·꼬투리 수·100립중 모두 차이 없음 (P≥0.20) — 검출 한계 약 40~50%, 뿌리 이탈</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graphicFrame>
        <p:nvGraphicFramePr>
          <p:cNvPr id="8" name="Table 7"/>
          <p:cNvGraphicFramePr>
            <a:graphicFrameLocks noGrp="1"/>
          </p:cNvGraphicFramePr>
          <p:nvPr/>
        </p:nvGraphicFramePr>
        <p:xfrm>
          <a:off x="457200" y="3090672"/>
          <a:ext cx="6675120" cy="23317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33172">
                <a:tc>
                  <a:txBody>
                    <a:bodyPr/>
                    <a:lstStyle/>
                    <a:p>
                      <a:pPr algn="l"/>
                      <a:r>
                        <a:rPr sz="800" b="1" dirty="0">
                          <a:solidFill>
                            <a:srgbClr val="000000"/>
                          </a:solidFill>
                        </a:rPr>
                        <a:t>Crop · variable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Control</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Drought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Waterlog.</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Combined</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3172">
                <a:tc>
                  <a:txBody>
                    <a:bodyPr/>
                    <a:lstStyle/>
                    <a:p>
                      <a:pPr algn="l"/>
                      <a:r>
                        <a:rPr sz="800" b="0">
                          <a:solidFill>
                            <a:srgbClr val="000000"/>
                          </a:solidFill>
                        </a:rPr>
                        <a:t>Romaine DAT 16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 </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3172">
                <a:tc>
                  <a:txBody>
                    <a:bodyPr/>
                    <a:lstStyle/>
                    <a:p>
                      <a:pPr algn="l"/>
                      <a:r>
                        <a:rPr sz="800" b="0">
                          <a:solidFill>
                            <a:srgbClr val="000000"/>
                          </a:solidFill>
                        </a:rPr>
                        <a:t>Shoot FW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89.9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63.5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66.3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55.4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3172">
                <a:tc>
                  <a:txBody>
                    <a:bodyPr/>
                    <a:lstStyle/>
                    <a:p>
                      <a:pPr algn="l"/>
                      <a:r>
                        <a:rPr lang="en-US" sz="800" b="0" dirty="0">
                          <a:solidFill>
                            <a:srgbClr val="000000"/>
                          </a:solidFill>
                        </a:rPr>
                        <a:t>Shoot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6.47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5.43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4.30 bc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3.69 c</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3172">
                <a:tc>
                  <a:txBody>
                    <a:bodyPr/>
                    <a:lstStyle/>
                    <a:p>
                      <a:pPr algn="l"/>
                      <a:r>
                        <a:rPr lang="en-US" sz="800" b="0" dirty="0">
                          <a:solidFill>
                            <a:srgbClr val="000000"/>
                          </a:solidFill>
                        </a:rPr>
                        <a:t>Leaf area (cm²)</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1599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1289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1348 ab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1138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0.001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3172">
                <a:tc>
                  <a:txBody>
                    <a:bodyPr/>
                    <a:lstStyle/>
                    <a:p>
                      <a:pPr algn="l"/>
                      <a:r>
                        <a:rPr sz="800" b="0">
                          <a:solidFill>
                            <a:srgbClr val="000000"/>
                          </a:solidFill>
                        </a:rPr>
                        <a:t>Root DW (g)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4.46 a</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2.71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2.01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1.45 b</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33172">
                <a:tc>
                  <a:txBody>
                    <a:bodyPr/>
                    <a:lstStyle/>
                    <a:p>
                      <a:pPr algn="l"/>
                      <a:r>
                        <a:rPr sz="800" b="0">
                          <a:solidFill>
                            <a:srgbClr val="000000"/>
                          </a:solidFill>
                        </a:rPr>
                        <a:t>Soybean DAT 55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 </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r h="233172">
                <a:tc>
                  <a:txBody>
                    <a:bodyPr/>
                    <a:lstStyle/>
                    <a:p>
                      <a:pPr algn="l"/>
                      <a:r>
                        <a:rPr sz="800" b="0">
                          <a:solidFill>
                            <a:srgbClr val="000000"/>
                          </a:solidFill>
                        </a:rPr>
                        <a:t>Seed DW (g)</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69.3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66.3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63.0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57.0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0.438</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r h="233172">
                <a:tc>
                  <a:txBody>
                    <a:bodyPr/>
                    <a:lstStyle/>
                    <a:p>
                      <a:pPr algn="l"/>
                      <a:r>
                        <a:rPr sz="800" b="0">
                          <a:solidFill>
                            <a:srgbClr val="000000"/>
                          </a:solidFill>
                        </a:rPr>
                        <a:t>Seed no.</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354</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334</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326</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300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0.468</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r h="233172">
                <a:tc>
                  <a:txBody>
                    <a:bodyPr/>
                    <a:lstStyle/>
                    <a:p>
                      <a:pPr algn="l"/>
                      <a:r>
                        <a:rPr sz="800" b="0">
                          <a:solidFill>
                            <a:srgbClr val="000000"/>
                          </a:solidFill>
                        </a:rPr>
                        <a:t>Pod no.</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170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162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163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144</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0.404</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4" grpId="0" animBg="1"/>
      <p:bldP spid="35"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④ 로메인 생육 감소는 잎 생리로 설명되지 않음</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15</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건물중 손실(2.7일분)이 기공 제한 탄소 손실(≈1.2일분)보다 큼 — 잎 생리만으로 설명 불가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투영 엽면적: 상면 사진 SAM 분할, 처리당 6개체 반복 촬영, * 날짜별 P&lt;0.05, ◇ DAT 16 건물중. 처리 전 캐노피 미측정. 탄소 손실 = Σ(1 − 침수/대조 g</a:t>
            </a:r>
            <a:r>
              <a:rPr sz="1000" baseline="-25000">
                <a:solidFill>
                  <a:srgbClr val="595959"/>
                </a:solidFill>
              </a:rPr>
              <a:t>sw</a:t>
            </a:r>
            <a:r>
              <a:rPr sz="1000">
                <a:solidFill>
                  <a:srgbClr val="595959"/>
                </a:solidFill>
              </a:rPr>
              <a:t>) × 0.5 (A 감소율 가정). 생장 손실 일수 = ln(DW대조/DW처리)/RGR대조.</a:t>
            </a:r>
          </a:p>
        </p:txBody>
      </p:sp>
      <p:pic>
        <p:nvPicPr>
          <p:cNvPr id="27" name="Picture 26" descr="image.png"/>
          <p:cNvPicPr>
            <a:picLocks noChangeAspect="1"/>
          </p:cNvPicPr>
          <p:nvPr/>
        </p:nvPicPr>
        <p:blipFill>
          <a:blip r:embed="rId5"/>
          <a:stretch>
            <a:fillRect/>
          </a:stretch>
        </p:blipFill>
        <p:spPr>
          <a:xfrm>
            <a:off x="658369" y="1621754"/>
            <a:ext cx="6638542" cy="2370907"/>
          </a:xfrm>
          <a:prstGeom prst="rect">
            <a:avLst/>
          </a:prstGeom>
        </p:spPr>
      </p:pic>
      <p:sp>
        <p:nvSpPr>
          <p:cNvPr id="28" name="Stat box"/>
          <p:cNvSpPr/>
          <p:nvPr/>
        </p:nvSpPr>
        <p:spPr>
          <a:xfrm>
            <a:off x="841248" y="4526280"/>
            <a:ext cx="3154680" cy="109728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599432"/>
            <a:ext cx="3063240" cy="603504"/>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2.7일</a:t>
            </a:r>
          </a:p>
        </p:txBody>
      </p:sp>
      <p:sp>
        <p:nvSpPr>
          <p:cNvPr id="30" name="Stat label"/>
          <p:cNvSpPr txBox="1"/>
          <p:nvPr/>
        </p:nvSpPr>
        <p:spPr>
          <a:xfrm>
            <a:off x="914400" y="5184648"/>
            <a:ext cx="3008376" cy="416966"/>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침수구 건물중 생장 손실 (대조구 RGR 0.152 d</a:t>
            </a:r>
            <a:r>
              <a:rPr lang="ko-KR" altLang="en-US" sz="1100" dirty="0" baseline="30000">
                <a:solidFill>
                  <a:srgbClr val="595959"/>
                </a:solidFill>
              </a:rPr>
              <a:t>−1</a:t>
            </a:r>
            <a:r>
              <a:rPr lang="ko-KR" altLang="en-US" sz="1100" dirty="0">
                <a:solidFill>
                  <a:srgbClr val="595959"/>
                </a:solidFill>
              </a:rPr>
              <a:t> 환산)</a:t>
            </a:r>
          </a:p>
        </p:txBody>
      </p:sp>
      <p:sp>
        <p:nvSpPr>
          <p:cNvPr id="31" name="Stat box"/>
          <p:cNvSpPr/>
          <p:nvPr/>
        </p:nvSpPr>
        <p:spPr>
          <a:xfrm>
            <a:off x="4206240" y="4526280"/>
            <a:ext cx="3154680" cy="1097280"/>
          </a:xfrm>
          <a:prstGeom prst="roundRect">
            <a:avLst>
              <a:gd name="adj" fmla="val 12000"/>
            </a:avLst>
          </a:prstGeom>
          <a:solidFill>
            <a:srgbClr val="FFFFFF"/>
          </a:solidFill>
          <a:ln w="19050">
            <a:solidFill>
              <a:srgbClr val="6B4226"/>
            </a:solidFill>
          </a:ln>
        </p:spPr>
        <p:txBody>
          <a:bodyPr wrap="square" lIns="73152" tIns="36576" rIns="73152" bIns="36576" rtlCol="0" anchor="ctr">
            <a:noAutofit/>
          </a:bodyPr>
          <a:lstStyle/>
          <a:p>
            <a:endParaRPr lang="ko-KR"/>
          </a:p>
        </p:txBody>
      </p:sp>
      <p:sp>
        <p:nvSpPr>
          <p:cNvPr id="32" name="Stat value"/>
          <p:cNvSpPr txBox="1"/>
          <p:nvPr/>
        </p:nvSpPr>
        <p:spPr>
          <a:xfrm>
            <a:off x="4251960" y="4599432"/>
            <a:ext cx="3063240" cy="603504"/>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600" dirty="0">
                <a:solidFill>
                  <a:srgbClr val="6B4226"/>
                </a:solidFill>
              </a:rPr>
              <a:t>≈ 1.2일</a:t>
            </a:r>
          </a:p>
        </p:txBody>
      </p:sp>
      <p:sp>
        <p:nvSpPr>
          <p:cNvPr id="33" name="Stat label"/>
          <p:cNvSpPr txBox="1"/>
          <p:nvPr/>
        </p:nvSpPr>
        <p:spPr>
          <a:xfrm>
            <a:off x="4279392" y="5184648"/>
            <a:ext cx="3008376" cy="416966"/>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기공 제한 탄소 손실 추정 (DAT 1~8 결손 2.4일분 × 0.5)</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1" dirty="0">
                <a:solidFill>
                  <a:srgbClr val="000000"/>
                </a:solidFill>
              </a:rPr>
              <a:t>DAT 5:</a:t>
            </a:r>
            <a:r>
              <a:rPr lang="ko-KR" altLang="en-US" sz="1400" dirty="0">
                <a:solidFill>
                  <a:srgbClr val="000000"/>
                </a:solidFill>
              </a:rPr>
              <a:t> 투영 엽면적 침수 72%·복합 69% (대조구 대비, P=0.002) — 침수 3일 동안 잎 확장이 거의 멈춤</a:t>
            </a:r>
          </a:p>
          <a:p>
            <a:pPr marL="201168" indent="-201168" algn="l">
              <a:spcBef>
                <a:spcPts val="1000"/>
              </a:spcBef>
              <a:buFont typeface="Arial"/>
              <a:buChar char="•"/>
            </a:pPr>
            <a:r>
              <a:rPr lang="ko-KR" altLang="en-US" sz="1400" dirty="0">
                <a:solidFill>
                  <a:srgbClr val="000000"/>
                </a:solidFill>
              </a:rPr>
              <a:t>DAT 16:</a:t>
            </a:r>
            <a:r>
              <a:rPr lang="ko-KR" altLang="en-US" sz="1400" dirty="0">
                <a:solidFill>
                  <a:srgbClr val="000000"/>
                </a:solidFill>
              </a:rPr>
              <a:t> 침수 85%, 복합 77%, 건조 95% — 배수 후 침수구 확장 속도는 대조구보다 빠르나(RGR 0.031 vs 0.015 d</a:t>
            </a:r>
            <a:r>
              <a:rPr lang="ko-KR" altLang="en-US" sz="1400" dirty="0" baseline="30000">
                <a:solidFill>
                  <a:srgbClr val="000000"/>
                </a:solidFill>
              </a:rPr>
              <a:t>−1</a:t>
            </a:r>
            <a:r>
              <a:rPr lang="ko-KR" altLang="en-US" sz="1400" dirty="0">
                <a:solidFill>
                  <a:srgbClr val="000000"/>
                </a:solidFill>
              </a:rPr>
              <a:t>) 초기 손실을 만회하지 못함</a:t>
            </a:r>
          </a:p>
          <a:p>
            <a:pPr marL="201168" indent="-201168" algn="l">
              <a:spcBef>
                <a:spcPts val="1000"/>
              </a:spcBef>
              <a:buFont typeface="Arial"/>
              <a:buChar char="•"/>
            </a:pPr>
            <a:r>
              <a:rPr lang="ko-KR" altLang="en-US" sz="1400" b="0" dirty="0">
                <a:solidFill>
                  <a:srgbClr val="000000"/>
                </a:solidFill>
              </a:rPr>
              <a:t>건물중 기준 생장 손실 침수 2.7일·복합 3.7일분 &gt; 기공 제한 탄소 손실 추정 ≈ 1.2일분 → 탄소 부족만으로 설명 불가</a:t>
            </a:r>
          </a:p>
          <a:p>
            <a:pPr marL="201168" indent="-201168" algn="l">
              <a:spcBef>
                <a:spcPts val="1000"/>
              </a:spcBef>
              <a:buFont typeface="Arial"/>
              <a:buChar char="•"/>
            </a:pPr>
            <a:r>
              <a:rPr lang="ko-KR" altLang="en-US" sz="1400" b="0" dirty="0">
                <a:solidFill>
                  <a:srgbClr val="000000"/>
                </a:solidFill>
              </a:rPr>
              <a:t>건조구는 DAT 12 이후 캐노피 확장 정체 (RGR 최저)</a:t>
            </a:r>
          </a:p>
        </p:txBody>
      </p:sp>
      <p:sp>
        <p:nvSpPr>
          <p:cNvPr id="46"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7"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8"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49"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50"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제한 단계 종합: 작물 × 처리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16</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잎 생리 변화 없이 생육 −43%, 콩은 건조 시 고광도 명반응 저하 (교차 내성은 가설)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 큰 감소 · ↓ 감소 · – 차이 없음 (기공은 P1·P2 포함, 콩 Φ</a:t>
            </a:r>
            <a:r>
              <a:rPr sz="1000" baseline="-25000">
                <a:solidFill>
                  <a:srgbClr val="595959"/>
                </a:solidFill>
              </a:rPr>
              <a:t>PSII</a:t>
            </a:r>
            <a:r>
              <a:rPr sz="1000">
                <a:solidFill>
                  <a:srgbClr val="595959"/>
                </a:solidFill>
              </a:rPr>
              <a:t>는 PPFD 1,200 예측값, 생화학은 콩 9월·로메인 10월 곡선, 측정일 교락). 생육: 로메인 건물중 DAT 16, 콩 종실 건물중 DAT 55 (대조구 대비 %), 검출 한계 약 40~50%, 뿌리 이탈 가능.</a:t>
            </a:r>
          </a:p>
        </p:txBody>
      </p:sp>
      <p:sp>
        <p:nvSpPr>
          <p:cNvPr id="27" name="Col head"/>
          <p:cNvSpPr/>
          <p:nvPr/>
        </p:nvSpPr>
        <p:spPr>
          <a:xfrm>
            <a:off x="2468880" y="1261872"/>
            <a:ext cx="2103120" cy="658368"/>
          </a:xfrm>
          <a:prstGeom prst="roundRect">
            <a:avLst>
              <a:gd name="adj" fmla="val 12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① 기공</a:t>
            </a:r>
          </a:p>
          <a:p>
            <a:pPr marL="0" indent="0" algn="ctr">
              <a:spcBef>
                <a:spcPts val="0"/>
              </a:spcBef>
              <a:buNone/>
            </a:pPr>
            <a:r>
              <a:rPr lang="ko-KR" altLang="en-US" sz="1050" b="0" dirty="0">
                <a:solidFill>
                  <a:srgbClr val="000000"/>
                </a:solidFill>
              </a:rPr>
              <a:t>g</a:t>
            </a:r>
            <a:r>
              <a:rPr lang="ko-KR" altLang="en-US" sz="1050" b="0" dirty="0" baseline="-25000">
                <a:solidFill>
                  <a:srgbClr val="000000"/>
                </a:solidFill>
              </a:rPr>
              <a:t>sw</a:t>
            </a:r>
          </a:p>
        </p:txBody>
      </p:sp>
      <p:sp>
        <p:nvSpPr>
          <p:cNvPr id="28" name="Col head"/>
          <p:cNvSpPr/>
          <p:nvPr/>
        </p:nvSpPr>
        <p:spPr>
          <a:xfrm>
            <a:off x="4663440" y="1261872"/>
            <a:ext cx="2103120" cy="658368"/>
          </a:xfrm>
          <a:prstGeom prst="roundRect">
            <a:avLst>
              <a:gd name="adj" fmla="val 12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000000"/>
                </a:solidFill>
              </a:rPr>
              <a:t>② 명반응</a:t>
            </a:r>
          </a:p>
          <a:p>
            <a:pPr marL="0" indent="0" algn="ctr">
              <a:spcBef>
                <a:spcPts val="0"/>
              </a:spcBef>
              <a:buNone/>
            </a:pPr>
            <a:r>
              <a:rPr lang="ko-KR" altLang="en-US" sz="1050" b="0" dirty="0">
                <a:solidFill>
                  <a:srgbClr val="000000"/>
                </a:solidFill>
              </a:rPr>
              <a:t>Φ</a:t>
            </a:r>
            <a:r>
              <a:rPr lang="ko-KR" altLang="en-US" sz="1050" b="0" dirty="0" baseline="-25000">
                <a:solidFill>
                  <a:srgbClr val="000000"/>
                </a:solidFill>
              </a:rPr>
              <a:t>PSII</a:t>
            </a:r>
          </a:p>
        </p:txBody>
      </p:sp>
      <p:sp>
        <p:nvSpPr>
          <p:cNvPr id="31" name="Col head"/>
          <p:cNvSpPr/>
          <p:nvPr/>
        </p:nvSpPr>
        <p:spPr>
          <a:xfrm>
            <a:off x="6858000" y="1261872"/>
            <a:ext cx="2103120" cy="658368"/>
          </a:xfrm>
          <a:prstGeom prst="roundRect">
            <a:avLst>
              <a:gd name="adj" fmla="val 12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③ 생화학</a:t>
            </a:r>
          </a:p>
          <a:p>
            <a:pPr marL="0" indent="0" algn="ctr">
              <a:spcBef>
                <a:spcPts val="0"/>
              </a:spcBef>
              <a:buNone/>
            </a:pPr>
            <a:r>
              <a:rPr lang="ko-KR" altLang="en-US" sz="1050" b="0" dirty="0">
                <a:solidFill>
                  <a:srgbClr val="FFFFFF"/>
                </a:solidFill>
              </a:rPr>
              <a:t>V</a:t>
            </a:r>
            <a:r>
              <a:rPr lang="ko-KR" altLang="en-US" sz="1050" b="0" dirty="0" baseline="-25000">
                <a:solidFill>
                  <a:srgbClr val="FFFFFF"/>
                </a:solidFill>
              </a:rPr>
              <a:t>cmax</a:t>
            </a:r>
            <a:r>
              <a:rPr lang="ko-KR" altLang="en-US" sz="1050" b="0" dirty="0">
                <a:solidFill>
                  <a:srgbClr val="FFFFFF"/>
                </a:solidFill>
              </a:rPr>
              <a:t> · A</a:t>
            </a:r>
            <a:r>
              <a:rPr lang="ko-KR" altLang="en-US" sz="1050" b="0" dirty="0" baseline="-25000">
                <a:solidFill>
                  <a:srgbClr val="FFFFFF"/>
                </a:solidFill>
              </a:rPr>
              <a:t>max</a:t>
            </a:r>
          </a:p>
        </p:txBody>
      </p:sp>
      <p:sp>
        <p:nvSpPr>
          <p:cNvPr id="32" name="Col head"/>
          <p:cNvSpPr/>
          <p:nvPr/>
        </p:nvSpPr>
        <p:spPr>
          <a:xfrm>
            <a:off x="9052560" y="1261872"/>
            <a:ext cx="2103120" cy="658368"/>
          </a:xfrm>
          <a:prstGeom prst="roundRect">
            <a:avLst>
              <a:gd name="adj" fmla="val 12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250" b="1" dirty="0">
                <a:solidFill>
                  <a:srgbClr val="FFFFFF"/>
                </a:solidFill>
              </a:rPr>
              <a:t>④ 생육·수량</a:t>
            </a:r>
          </a:p>
          <a:p>
            <a:pPr marL="0" indent="0" algn="ctr">
              <a:spcBef>
                <a:spcPts val="0"/>
              </a:spcBef>
              <a:buNone/>
            </a:pPr>
            <a:r>
              <a:rPr lang="ko-KR" altLang="en-US" sz="1050" b="0" dirty="0">
                <a:solidFill>
                  <a:srgbClr val="FFFFFF"/>
                </a:solidFill>
              </a:rPr>
              <a:t>건물중 · 종실</a:t>
            </a:r>
          </a:p>
        </p:txBody>
      </p:sp>
      <p:sp>
        <p:nvSpPr>
          <p:cNvPr id="33" name="Row label"/>
          <p:cNvSpPr/>
          <p:nvPr/>
        </p:nvSpPr>
        <p:spPr>
          <a:xfrm>
            <a:off x="841248" y="1993392"/>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건조</a:t>
            </a:r>
          </a:p>
        </p:txBody>
      </p:sp>
      <p:sp>
        <p:nvSpPr>
          <p:cNvPr id="34" name="Cell"/>
          <p:cNvSpPr/>
          <p:nvPr/>
        </p:nvSpPr>
        <p:spPr>
          <a:xfrm>
            <a:off x="246888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후반</a:t>
            </a:r>
          </a:p>
          <a:p>
            <a:pPr marL="0" indent="0" algn="ctr">
              <a:spcBef>
                <a:spcPts val="0"/>
              </a:spcBef>
              <a:buNone/>
            </a:pPr>
            <a:r>
              <a:rPr lang="ko-KR" altLang="en-US" sz="1200" dirty="0">
                <a:solidFill>
                  <a:srgbClr val="7F7F7F"/>
                </a:solidFill>
              </a:rPr>
              <a:t>(DAT 16 39%)</a:t>
            </a:r>
          </a:p>
        </p:txBody>
      </p:sp>
      <p:sp>
        <p:nvSpPr>
          <p:cNvPr id="35" name="Cell"/>
          <p:cNvSpPr/>
          <p:nvPr/>
        </p:nvSpPr>
        <p:spPr>
          <a:xfrm>
            <a:off x="466344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8" name="Cell"/>
          <p:cNvSpPr/>
          <p:nvPr/>
        </p:nvSpPr>
        <p:spPr>
          <a:xfrm>
            <a:off x="6858000" y="1993392"/>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39" name="Cell"/>
          <p:cNvSpPr/>
          <p:nvPr/>
        </p:nvSpPr>
        <p:spPr>
          <a:xfrm>
            <a:off x="9052560" y="1993392"/>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건물중 84%</a:t>
            </a:r>
          </a:p>
          <a:p>
            <a:pPr marL="0" indent="0" algn="ctr">
              <a:spcBef>
                <a:spcPts val="0"/>
              </a:spcBef>
              <a:buNone/>
            </a:pPr>
            <a:r>
              <a:rPr lang="ko-KR" altLang="en-US" sz="1200" dirty="0">
                <a:solidFill>
                  <a:srgbClr val="7F7F7F"/>
                </a:solidFill>
              </a:rPr>
              <a:t>(생체중 71%)</a:t>
            </a:r>
          </a:p>
        </p:txBody>
      </p:sp>
      <p:sp>
        <p:nvSpPr>
          <p:cNvPr id="40" name="Row label"/>
          <p:cNvSpPr/>
          <p:nvPr/>
        </p:nvSpPr>
        <p:spPr>
          <a:xfrm>
            <a:off x="841248" y="2578608"/>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침수</a:t>
            </a:r>
          </a:p>
        </p:txBody>
      </p:sp>
      <p:sp>
        <p:nvSpPr>
          <p:cNvPr id="41" name="Cell"/>
          <p:cNvSpPr/>
          <p:nvPr/>
        </p:nvSpPr>
        <p:spPr>
          <a:xfrm>
            <a:off x="2468880" y="2578608"/>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950" dirty="0">
                <a:solidFill>
                  <a:srgbClr val="000000"/>
                </a:solidFill>
              </a:rPr>
              <a:t>DAT 5~6</a:t>
            </a:r>
          </a:p>
        </p:txBody>
      </p:sp>
      <p:sp>
        <p:nvSpPr>
          <p:cNvPr id="42" name="Cell"/>
          <p:cNvSpPr/>
          <p:nvPr/>
        </p:nvSpPr>
        <p:spPr>
          <a:xfrm>
            <a:off x="4663440" y="257860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45" name="Cell"/>
          <p:cNvSpPr/>
          <p:nvPr/>
        </p:nvSpPr>
        <p:spPr>
          <a:xfrm>
            <a:off x="6858000" y="257860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(측정일 교락)</a:t>
            </a:r>
          </a:p>
        </p:txBody>
      </p:sp>
      <p:sp>
        <p:nvSpPr>
          <p:cNvPr id="46" name="Cell"/>
          <p:cNvSpPr/>
          <p:nvPr/>
        </p:nvSpPr>
        <p:spPr>
          <a:xfrm>
            <a:off x="9052560" y="257860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66%</a:t>
            </a:r>
          </a:p>
        </p:txBody>
      </p:sp>
      <p:sp>
        <p:nvSpPr>
          <p:cNvPr id="47" name="Row label"/>
          <p:cNvSpPr/>
          <p:nvPr/>
        </p:nvSpPr>
        <p:spPr>
          <a:xfrm>
            <a:off x="841248" y="3163824"/>
            <a:ext cx="1545336" cy="548640"/>
          </a:xfrm>
          <a:prstGeom prst="roundRect">
            <a:avLst>
              <a:gd name="adj" fmla="val 14000"/>
            </a:avLst>
          </a:prstGeom>
          <a:solidFill>
            <a:srgbClr val="FFFFFF"/>
          </a:solidFill>
          <a:ln w="15875">
            <a:solidFill>
              <a:srgbClr val="2E6B3F"/>
            </a:solidFill>
          </a:ln>
        </p:spPr>
        <p:txBody>
          <a:bodyPr wrap="square" lIns="73152" tIns="36576" rIns="73152" bIns="36576" rtlCol="0" anchor="ctr">
            <a:noAutofit/>
          </a:bodyPr>
          <a:lstStyle/>
          <a:p>
            <a:pPr marL="0" indent="0" algn="ctr">
              <a:spcBef>
                <a:spcPts val="0"/>
              </a:spcBef>
              <a:buNone/>
            </a:pPr>
            <a:r>
              <a:rPr lang="ko-KR" altLang="en-US" sz="1300" b="1" dirty="0">
                <a:solidFill>
                  <a:srgbClr val="2E6B3F"/>
                </a:solidFill>
              </a:rPr>
              <a:t>로메인 </a:t>
            </a:r>
            <a:r>
              <a:rPr lang="ko-KR" altLang="en-US" sz="1300" b="1" dirty="0">
                <a:solidFill>
                  <a:srgbClr val="000000"/>
                </a:solidFill>
              </a:rPr>
              <a:t>복합</a:t>
            </a:r>
          </a:p>
        </p:txBody>
      </p:sp>
      <p:sp>
        <p:nvSpPr>
          <p:cNvPr id="48" name="Cell"/>
          <p:cNvSpPr/>
          <p:nvPr/>
        </p:nvSpPr>
        <p:spPr>
          <a:xfrm>
            <a:off x="2468880" y="3163824"/>
            <a:ext cx="2103120" cy="548640"/>
          </a:xfrm>
          <a:prstGeom prst="roundRect">
            <a:avLst>
              <a:gd name="adj" fmla="val 10000"/>
            </a:avLst>
          </a:prstGeom>
          <a:solidFill>
            <a:srgbClr val="D9EAD3"/>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 회복</a:t>
            </a:r>
          </a:p>
          <a:p>
            <a:pPr marL="0" indent="0" algn="ctr">
              <a:spcBef>
                <a:spcPts val="0"/>
              </a:spcBef>
              <a:buNone/>
            </a:pPr>
            <a:r>
              <a:rPr lang="ko-KR" altLang="en-US" sz="1200" dirty="0">
                <a:solidFill>
                  <a:srgbClr val="000000"/>
                </a:solidFill>
              </a:rPr>
              <a:t>DAT 6</a:t>
            </a:r>
          </a:p>
        </p:txBody>
      </p:sp>
      <p:sp>
        <p:nvSpPr>
          <p:cNvPr id="49" name="Cell"/>
          <p:cNvSpPr/>
          <p:nvPr/>
        </p:nvSpPr>
        <p:spPr>
          <a:xfrm>
            <a:off x="4663440" y="316382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52" name="Cell"/>
          <p:cNvSpPr/>
          <p:nvPr/>
        </p:nvSpPr>
        <p:spPr>
          <a:xfrm>
            <a:off x="6858000" y="316382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경향</a:t>
            </a:r>
          </a:p>
          <a:p>
            <a:pPr marL="0" indent="0" algn="ctr">
              <a:spcBef>
                <a:spcPts val="0"/>
              </a:spcBef>
              <a:buNone/>
            </a:pPr>
            <a:r>
              <a:rPr lang="ko-KR" altLang="en-US" sz="1200" dirty="0">
                <a:solidFill>
                  <a:srgbClr val="7F7F7F"/>
                </a:solidFill>
              </a:rPr>
              <a:t>(V</a:t>
            </a:r>
            <a:r>
              <a:rPr lang="ko-KR" altLang="en-US" sz="1200" dirty="0" baseline="-25000">
                <a:solidFill>
                  <a:srgbClr val="7F7F7F"/>
                </a:solidFill>
              </a:rPr>
              <a:t>cmax</a:t>
            </a:r>
            <a:r>
              <a:rPr lang="ko-KR" altLang="en-US" sz="1200" dirty="0">
                <a:solidFill>
                  <a:srgbClr val="7F7F7F"/>
                </a:solidFill>
              </a:rPr>
              <a:t> 73)</a:t>
            </a:r>
          </a:p>
        </p:txBody>
      </p:sp>
      <p:sp>
        <p:nvSpPr>
          <p:cNvPr id="53" name="Cell"/>
          <p:cNvSpPr/>
          <p:nvPr/>
        </p:nvSpPr>
        <p:spPr>
          <a:xfrm>
            <a:off x="9052560" y="3163824"/>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 57%</a:t>
            </a:r>
          </a:p>
        </p:txBody>
      </p:sp>
      <p:sp>
        <p:nvSpPr>
          <p:cNvPr id="54" name="Row label"/>
          <p:cNvSpPr/>
          <p:nvPr/>
        </p:nvSpPr>
        <p:spPr>
          <a:xfrm>
            <a:off x="841248" y="3858768"/>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건조</a:t>
            </a:r>
          </a:p>
        </p:txBody>
      </p:sp>
      <p:sp>
        <p:nvSpPr>
          <p:cNvPr id="55" name="Cell"/>
          <p:cNvSpPr/>
          <p:nvPr/>
        </p:nvSpPr>
        <p:spPr>
          <a:xfrm>
            <a:off x="246888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56" name="Cell"/>
          <p:cNvSpPr/>
          <p:nvPr/>
        </p:nvSpPr>
        <p:spPr>
          <a:xfrm>
            <a:off x="4663440" y="3858768"/>
            <a:ext cx="2103120" cy="548640"/>
          </a:xfrm>
          <a:prstGeom prst="roundRect">
            <a:avLst>
              <a:gd name="adj" fmla="val 10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FFFFFF"/>
                </a:solidFill>
              </a:rPr>
              <a:t>↓↓</a:t>
            </a:r>
          </a:p>
          <a:p>
            <a:pPr marL="0" indent="0" algn="ctr">
              <a:spcBef>
                <a:spcPts val="0"/>
              </a:spcBef>
              <a:buNone/>
            </a:pPr>
            <a:r>
              <a:rPr lang="ko-KR" altLang="en-US" sz="1200" dirty="0">
                <a:solidFill>
                  <a:srgbClr val="FFFFFF"/>
                </a:solidFill>
              </a:rPr>
              <a:t>(고광도)</a:t>
            </a:r>
          </a:p>
        </p:txBody>
      </p:sp>
      <p:sp>
        <p:nvSpPr>
          <p:cNvPr id="59" name="Cell"/>
          <p:cNvSpPr/>
          <p:nvPr/>
        </p:nvSpPr>
        <p:spPr>
          <a:xfrm>
            <a:off x="6858000" y="3858768"/>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V</a:t>
            </a:r>
            <a:r>
              <a:rPr lang="ko-KR" altLang="en-US" sz="1200" dirty="0" baseline="-25000">
                <a:solidFill>
                  <a:srgbClr val="000000"/>
                </a:solidFill>
              </a:rPr>
              <a:t>cmax</a:t>
            </a:r>
            <a:r>
              <a:rPr lang="ko-KR" altLang="en-US" sz="1200" dirty="0">
                <a:solidFill>
                  <a:srgbClr val="000000"/>
                </a:solidFill>
              </a:rPr>
              <a:t>·J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60" name="Cell"/>
          <p:cNvSpPr/>
          <p:nvPr/>
        </p:nvSpPr>
        <p:spPr>
          <a:xfrm>
            <a:off x="9052560" y="3858768"/>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종실 96%</a:t>
            </a:r>
          </a:p>
          <a:p>
            <a:pPr marL="0" indent="0" algn="ctr">
              <a:spcBef>
                <a:spcPts val="0"/>
              </a:spcBef>
              <a:buNone/>
            </a:pPr>
            <a:r>
              <a:rPr lang="ko-KR" altLang="en-US" sz="1200" dirty="0">
                <a:solidFill>
                  <a:srgbClr val="7F7F7F"/>
                </a:solidFill>
              </a:rPr>
              <a:t>(뿌리 이탈 가능)</a:t>
            </a:r>
          </a:p>
        </p:txBody>
      </p:sp>
      <p:sp>
        <p:nvSpPr>
          <p:cNvPr id="61" name="Row label"/>
          <p:cNvSpPr/>
          <p:nvPr/>
        </p:nvSpPr>
        <p:spPr>
          <a:xfrm>
            <a:off x="841248" y="4443984"/>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침수</a:t>
            </a:r>
          </a:p>
        </p:txBody>
      </p:sp>
      <p:sp>
        <p:nvSpPr>
          <p:cNvPr id="62" name="Cell"/>
          <p:cNvSpPr/>
          <p:nvPr/>
        </p:nvSpPr>
        <p:spPr>
          <a:xfrm>
            <a:off x="2468880" y="4443984"/>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DAT 9까지</a:t>
            </a:r>
          </a:p>
          <a:p>
            <a:pPr marL="0" indent="0" algn="ctr">
              <a:spcBef>
                <a:spcPts val="0"/>
              </a:spcBef>
              <a:buNone/>
            </a:pPr>
            <a:r>
              <a:rPr lang="ko-KR" altLang="en-US" sz="950" dirty="0">
                <a:solidFill>
                  <a:srgbClr val="000000"/>
                </a:solidFill>
              </a:rPr>
              <a:t>미회복</a:t>
            </a:r>
          </a:p>
        </p:txBody>
      </p:sp>
      <p:sp>
        <p:nvSpPr>
          <p:cNvPr id="63" name="Cell"/>
          <p:cNvSpPr/>
          <p:nvPr/>
        </p:nvSpPr>
        <p:spPr>
          <a:xfrm>
            <a:off x="466344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a:p>
            <a:pPr marL="0" indent="0" algn="ctr">
              <a:spcBef>
                <a:spcPts val="0"/>
              </a:spcBef>
              <a:buNone/>
            </a:pPr>
            <a:r>
              <a:rPr lang="ko-KR" altLang="en-US" sz="1200" dirty="0">
                <a:solidFill>
                  <a:srgbClr val="7F7F7F"/>
                </a:solidFill>
              </a:rPr>
              <a:t>(보정 시 0.68 vs 0.70)</a:t>
            </a:r>
          </a:p>
        </p:txBody>
      </p:sp>
      <p:sp>
        <p:nvSpPr>
          <p:cNvPr id="66" name="Cell"/>
          <p:cNvSpPr/>
          <p:nvPr/>
        </p:nvSpPr>
        <p:spPr>
          <a:xfrm>
            <a:off x="685800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a:t>
            </a:r>
          </a:p>
        </p:txBody>
      </p:sp>
      <p:sp>
        <p:nvSpPr>
          <p:cNvPr id="67" name="Cell"/>
          <p:cNvSpPr/>
          <p:nvPr/>
        </p:nvSpPr>
        <p:spPr>
          <a:xfrm>
            <a:off x="9052560" y="4443984"/>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종실 91%</a:t>
            </a:r>
          </a:p>
          <a:p>
            <a:pPr marL="0" indent="0" algn="ctr">
              <a:spcBef>
                <a:spcPts val="0"/>
              </a:spcBef>
              <a:buNone/>
            </a:pPr>
            <a:r>
              <a:rPr lang="ko-KR" altLang="en-US" sz="950" dirty="0">
                <a:solidFill>
                  <a:srgbClr val="7F7F7F"/>
                </a:solidFill>
              </a:rPr>
              <a:t>(DAT 20 꼬투리 65%)</a:t>
            </a:r>
          </a:p>
        </p:txBody>
      </p:sp>
      <p:sp>
        <p:nvSpPr>
          <p:cNvPr id="68" name="Row label"/>
          <p:cNvSpPr/>
          <p:nvPr/>
        </p:nvSpPr>
        <p:spPr>
          <a:xfrm>
            <a:off x="841248" y="5029200"/>
            <a:ext cx="1545336" cy="548640"/>
          </a:xfrm>
          <a:prstGeom prst="roundRect">
            <a:avLst>
              <a:gd name="adj" fmla="val 14000"/>
            </a:avLst>
          </a:prstGeom>
          <a:solidFill>
            <a:srgbClr val="FFFFFF"/>
          </a:solidFill>
          <a:ln w="15875">
            <a:solidFill>
              <a:srgbClr val="6B4226"/>
            </a:solidFill>
          </a:ln>
        </p:spPr>
        <p:txBody>
          <a:bodyPr wrap="square" lIns="73152" tIns="36576" rIns="73152" bIns="36576" rtlCol="0" anchor="ctr">
            <a:noAutofit/>
          </a:bodyPr>
          <a:lstStyle/>
          <a:p>
            <a:pPr marL="0" indent="0" algn="ctr">
              <a:spcBef>
                <a:spcPts val="0"/>
              </a:spcBef>
              <a:buNone/>
            </a:pPr>
            <a:r>
              <a:rPr lang="ko-KR" altLang="en-US" sz="1300" b="1" dirty="0">
                <a:solidFill>
                  <a:srgbClr val="6B4226"/>
                </a:solidFill>
              </a:rPr>
              <a:t>콩 </a:t>
            </a:r>
            <a:r>
              <a:rPr lang="ko-KR" altLang="en-US" sz="1300" b="1" dirty="0">
                <a:solidFill>
                  <a:srgbClr val="000000"/>
                </a:solidFill>
              </a:rPr>
              <a:t>복합</a:t>
            </a:r>
          </a:p>
        </p:txBody>
      </p:sp>
      <p:sp>
        <p:nvSpPr>
          <p:cNvPr id="69" name="Cell"/>
          <p:cNvSpPr/>
          <p:nvPr/>
        </p:nvSpPr>
        <p:spPr>
          <a:xfrm>
            <a:off x="246888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지속</a:t>
            </a:r>
          </a:p>
        </p:txBody>
      </p:sp>
      <p:sp>
        <p:nvSpPr>
          <p:cNvPr id="70" name="Cell"/>
          <p:cNvSpPr/>
          <p:nvPr/>
        </p:nvSpPr>
        <p:spPr>
          <a:xfrm>
            <a:off x="466344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(고광도)</a:t>
            </a:r>
          </a:p>
          <a:p>
            <a:pPr marL="0" indent="0" algn="ctr">
              <a:spcBef>
                <a:spcPts val="0"/>
              </a:spcBef>
              <a:buNone/>
            </a:pPr>
            <a:r>
              <a:rPr lang="ko-KR" altLang="en-US" sz="1200" dirty="0">
                <a:solidFill>
                  <a:srgbClr val="000000"/>
                </a:solidFill>
              </a:rPr>
              <a:t>건조보다 작음(가설)</a:t>
            </a:r>
          </a:p>
        </p:txBody>
      </p:sp>
      <p:sp>
        <p:nvSpPr>
          <p:cNvPr id="73" name="Cell"/>
          <p:cNvSpPr/>
          <p:nvPr/>
        </p:nvSpPr>
        <p:spPr>
          <a:xfrm>
            <a:off x="6858000" y="5029200"/>
            <a:ext cx="2103120" cy="548640"/>
          </a:xfrm>
          <a:prstGeom prst="roundRect">
            <a:avLst>
              <a:gd name="adj" fmla="val 10000"/>
            </a:avLst>
          </a:prstGeom>
          <a:solidFill>
            <a:srgbClr val="F8CBAD"/>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000000"/>
                </a:solidFill>
              </a:rPr>
              <a:t>↓ J</a:t>
            </a:r>
            <a:r>
              <a:rPr lang="ko-KR" altLang="en-US" sz="1200" dirty="0" baseline="-25000">
                <a:solidFill>
                  <a:srgbClr val="000000"/>
                </a:solidFill>
              </a:rPr>
              <a:t>max</a:t>
            </a:r>
          </a:p>
          <a:p>
            <a:pPr marL="0" indent="0" algn="ctr">
              <a:spcBef>
                <a:spcPts val="0"/>
              </a:spcBef>
              <a:buNone/>
            </a:pPr>
            <a:r>
              <a:rPr lang="ko-KR" altLang="en-US" sz="1200" dirty="0">
                <a:solidFill>
                  <a:srgbClr val="000000"/>
                </a:solidFill>
              </a:rPr>
              <a:t>(9월)</a:t>
            </a:r>
          </a:p>
        </p:txBody>
      </p:sp>
      <p:sp>
        <p:nvSpPr>
          <p:cNvPr id="74" name="Cell"/>
          <p:cNvSpPr/>
          <p:nvPr/>
        </p:nvSpPr>
        <p:spPr>
          <a:xfrm>
            <a:off x="9052560" y="5029200"/>
            <a:ext cx="2103120" cy="548640"/>
          </a:xfrm>
          <a:prstGeom prst="roundRect">
            <a:avLst>
              <a:gd name="adj" fmla="val 10000"/>
            </a:avLst>
          </a:prstGeom>
          <a:solidFill>
            <a:srgbClr val="EFEFEF"/>
          </a:solidFill>
          <a:ln>
            <a:noFill/>
          </a:ln>
        </p:spPr>
        <p:txBody>
          <a:bodyPr wrap="square" lIns="73152" tIns="36576" rIns="73152" bIns="36576" rtlCol="0" anchor="ctr">
            <a:noAutofit/>
          </a:bodyPr>
          <a:lstStyle/>
          <a:p>
            <a:pPr marL="0" indent="0" algn="ctr">
              <a:spcBef>
                <a:spcPts val="0"/>
              </a:spcBef>
              <a:buNone/>
            </a:pPr>
            <a:r>
              <a:rPr lang="ko-KR" altLang="en-US" sz="1200" dirty="0">
                <a:solidFill>
                  <a:srgbClr val="7F7F7F"/>
                </a:solidFill>
              </a:rPr>
              <a:t>– 종실 82%</a:t>
            </a:r>
          </a:p>
          <a:p>
            <a:pPr marL="0" indent="0" algn="ctr">
              <a:spcBef>
                <a:spcPts val="0"/>
              </a:spcBef>
              <a:buNone/>
            </a:pPr>
            <a:r>
              <a:rPr lang="ko-KR" altLang="en-US" sz="950" dirty="0">
                <a:solidFill>
                  <a:srgbClr val="7F7F7F"/>
                </a:solidFill>
              </a:rPr>
              <a:t>(DAT 20 꼬투리 72%)</a:t>
            </a:r>
          </a:p>
        </p:txBody>
      </p:sp>
      <p:sp>
        <p:nvSpPr>
          <p:cNvPr id="16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66" name="Nav 결과"/>
          <p:cNvSpPr txBox="1"/>
          <p:nvPr/>
        </p:nvSpPr>
        <p:spPr>
          <a:xfrm>
            <a:off x="3584448" y="100584"/>
            <a:ext cx="1371600" cy="329184"/>
          </a:xfrm>
          <a:prstGeom prst="rect">
            <a:avLst/>
          </a:prstGeom>
          <a:noFill/>
        </p:spPr>
        <p:txBody>
          <a:bodyPr wrap="none" lIns="0" tIns="0" rIns="0" bIns="0" anchor="ctr">
            <a:spAutoFit/>
          </a:bodyPr>
          <a:lstStyle/>
          <a:p>
            <a:pPr algn="ctr"/>
            <a:r>
              <a:rPr sz="1450" b="1" u="sng">
                <a:solidFill>
                  <a:srgbClr val="1A1A1A"/>
                </a:solidFill>
              </a:rPr>
              <a:t>결과</a:t>
            </a:r>
          </a:p>
        </p:txBody>
      </p:sp>
      <p:sp>
        <p:nvSpPr>
          <p:cNvPr id="16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6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500"/>
                                        <p:tgtEl>
                                          <p:spTgt spid="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fade">
                                      <p:cBhvr>
                                        <p:cTn id="40" dur="500"/>
                                        <p:tgtEl>
                                          <p:spTgt spid="6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fade">
                                      <p:cBhvr>
                                        <p:cTn id="43" dur="500"/>
                                        <p:tgtEl>
                                          <p:spTgt spid="69"/>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fade">
                                      <p:cBhvr>
                                        <p:cTn id="54" dur="500"/>
                                        <p:tgtEl>
                                          <p:spTgt spid="4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fade">
                                      <p:cBhvr>
                                        <p:cTn id="57" dur="500"/>
                                        <p:tgtEl>
                                          <p:spTgt spid="4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6"/>
                                        </p:tgtEl>
                                        <p:attrNameLst>
                                          <p:attrName>style.visibility</p:attrName>
                                        </p:attrNameLst>
                                      </p:cBhvr>
                                      <p:to>
                                        <p:strVal val="visible"/>
                                      </p:to>
                                    </p:set>
                                    <p:animEffect transition="in" filter="fade">
                                      <p:cBhvr>
                                        <p:cTn id="60" dur="500"/>
                                        <p:tgtEl>
                                          <p:spTgt spid="5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0"/>
                                        </p:tgtEl>
                                        <p:attrNameLst>
                                          <p:attrName>style.visibility</p:attrName>
                                        </p:attrNameLst>
                                      </p:cBhvr>
                                      <p:to>
                                        <p:strVal val="visible"/>
                                      </p:to>
                                    </p:set>
                                    <p:animEffect transition="in" filter="fade">
                                      <p:cBhvr>
                                        <p:cTn id="66" dur="500"/>
                                        <p:tgtEl>
                                          <p:spTgt spid="70"/>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500"/>
                                        <p:tgtEl>
                                          <p:spTgt spid="3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5"/>
                                        </p:tgtEl>
                                        <p:attrNameLst>
                                          <p:attrName>style.visibility</p:attrName>
                                        </p:attrNameLst>
                                      </p:cBhvr>
                                      <p:to>
                                        <p:strVal val="visible"/>
                                      </p:to>
                                    </p:set>
                                    <p:animEffect transition="in" filter="fade">
                                      <p:cBhvr>
                                        <p:cTn id="123" dur="500"/>
                                        <p:tgtEl>
                                          <p:spTgt spid="45"/>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2"/>
                                        </p:tgtEl>
                                        <p:attrNameLst>
                                          <p:attrName>style.visibility</p:attrName>
                                        </p:attrNameLst>
                                      </p:cBhvr>
                                      <p:to>
                                        <p:strVal val="visible"/>
                                      </p:to>
                                    </p:set>
                                    <p:animEffect transition="in" filter="fade">
                                      <p:cBhvr>
                                        <p:cTn id="126" dur="500"/>
                                        <p:tgtEl>
                                          <p:spTgt spid="52"/>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9"/>
                                        </p:tgtEl>
                                        <p:attrNameLst>
                                          <p:attrName>style.visibility</p:attrName>
                                        </p:attrNameLst>
                                      </p:cBhvr>
                                      <p:to>
                                        <p:strVal val="visible"/>
                                      </p:to>
                                    </p:set>
                                    <p:animEffect transition="in" filter="fade">
                                      <p:cBhvr>
                                        <p:cTn id="129" dur="500"/>
                                        <p:tgtEl>
                                          <p:spTgt spid="59"/>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66"/>
                                        </p:tgtEl>
                                        <p:attrNameLst>
                                          <p:attrName>style.visibility</p:attrName>
                                        </p:attrNameLst>
                                      </p:cBhvr>
                                      <p:to>
                                        <p:strVal val="visible"/>
                                      </p:to>
                                    </p:set>
                                    <p:animEffect transition="in" filter="fade">
                                      <p:cBhvr>
                                        <p:cTn id="132" dur="500"/>
                                        <p:tgtEl>
                                          <p:spTgt spid="6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73"/>
                                        </p:tgtEl>
                                        <p:attrNameLst>
                                          <p:attrName>style.visibility</p:attrName>
                                        </p:attrNameLst>
                                      </p:cBhvr>
                                      <p:to>
                                        <p:strVal val="visible"/>
                                      </p:to>
                                    </p:set>
                                    <p:animEffect transition="in" filter="fade">
                                      <p:cBhvr>
                                        <p:cTn id="135" dur="500"/>
                                        <p:tgtEl>
                                          <p:spTgt spid="73"/>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500"/>
                                        <p:tgtEl>
                                          <p:spTgt spid="32"/>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39"/>
                                        </p:tgtEl>
                                        <p:attrNameLst>
                                          <p:attrName>style.visibility</p:attrName>
                                        </p:attrNameLst>
                                      </p:cBhvr>
                                      <p:to>
                                        <p:strVal val="visible"/>
                                      </p:to>
                                    </p:set>
                                    <p:animEffect transition="in" filter="fade">
                                      <p:cBhvr>
                                        <p:cTn id="143" dur="500"/>
                                        <p:tgtEl>
                                          <p:spTgt spid="3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500"/>
                                        <p:tgtEl>
                                          <p:spTgt spid="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60"/>
                                        </p:tgtEl>
                                        <p:attrNameLst>
                                          <p:attrName>style.visibility</p:attrName>
                                        </p:attrNameLst>
                                      </p:cBhvr>
                                      <p:to>
                                        <p:strVal val="visible"/>
                                      </p:to>
                                    </p:set>
                                    <p:animEffect transition="in" filter="fade">
                                      <p:cBhvr>
                                        <p:cTn id="152" dur="500"/>
                                        <p:tgtEl>
                                          <p:spTgt spid="60"/>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500"/>
                                        <p:tgtEl>
                                          <p:spTgt spid="67"/>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74"/>
                                        </p:tgtEl>
                                        <p:attrNameLst>
                                          <p:attrName>style.visibility</p:attrName>
                                        </p:attrNameLst>
                                      </p:cBhvr>
                                      <p:to>
                                        <p:strVal val="visible"/>
                                      </p:to>
                                    </p:set>
                                    <p:animEffect transition="in" filter="fade">
                                      <p:cBhvr>
                                        <p:cTn id="158" dur="500"/>
                                        <p:tgtEl>
                                          <p:spTgt spid="74"/>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animEffect transition="in" filter="fade">
                                      <p:cBhvr>
                                        <p:cTn id="16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1" grpId="0" animBg="1"/>
      <p:bldP spid="32" grpId="0" animBg="1"/>
      <p:bldP spid="33" grpId="0" animBg="1"/>
      <p:bldP spid="34" grpId="0" animBg="1"/>
      <p:bldP spid="35" grpId="0" animBg="1"/>
      <p:bldP spid="38" grpId="0" animBg="1"/>
      <p:bldP spid="39" grpId="0" animBg="1"/>
      <p:bldP spid="40" grpId="0" animBg="1"/>
      <p:bldP spid="41" grpId="0" animBg="1"/>
      <p:bldP spid="42" grpId="0" animBg="1"/>
      <p:bldP spid="45" grpId="0" animBg="1"/>
      <p:bldP spid="46" grpId="0" animBg="1"/>
      <p:bldP spid="47" grpId="0" animBg="1"/>
      <p:bldP spid="48" grpId="0" animBg="1"/>
      <p:bldP spid="49" grpId="0" animBg="1"/>
      <p:bldP spid="52" grpId="0" animBg="1"/>
      <p:bldP spid="53" grpId="0" animBg="1"/>
      <p:bldP spid="54" grpId="0" animBg="1"/>
      <p:bldP spid="55" grpId="0" animBg="1"/>
      <p:bldP spid="56" grpId="0" animBg="1"/>
      <p:bldP spid="59" grpId="0" animBg="1"/>
      <p:bldP spid="60" grpId="0" animBg="1"/>
      <p:bldP spid="61" grpId="0" animBg="1"/>
      <p:bldP spid="62" grpId="0" animBg="1"/>
      <p:bldP spid="63" grpId="0" animBg="1"/>
      <p:bldP spid="66" grpId="0" animBg="1"/>
      <p:bldP spid="67" grpId="0" animBg="1"/>
      <p:bldP spid="68" grpId="0" animBg="1"/>
      <p:bldP spid="69" grpId="0" animBg="1"/>
      <p:bldP spid="70" grpId="0" animBg="1"/>
      <p:bldP spid="73" grpId="0" animBg="1"/>
      <p:bldP spid="7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①: 침수 직후 기공이 먼저 닫히는 이유와 회복 속도 차이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침수는 광합성 장치가 아니라 수분 공급 경로를 통해 기공을 닫고, 회복 속도는 뿌리 기능 회복에 달려 있을 것</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Tan et al. 2018 J Plant Physiol; Haverroth et al. 2024 Plant Physiol; Buckley 2019 New Phytol; Yeung et al. 2018 PNAS; Sasidharan et al. 2018 Plant Physiol; Zandalinas &amp; Mittler 2022 New Phytol; Hilker et al. 2016 Biol Rev (참고문헌: 보충 자료)</a:t>
            </a:r>
          </a:p>
        </p:txBody>
      </p:sp>
      <p:sp>
        <p:nvSpPr>
          <p:cNvPr id="27" name="Card ① 피해가 나타난 부위"/>
          <p:cNvSpPr/>
          <p:nvPr/>
        </p:nvSpPr>
        <p:spPr>
          <a:xfrm>
            <a:off x="841248" y="1463040"/>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① 피해가 나타난 부위"/>
          <p:cNvSpPr/>
          <p:nvPr/>
        </p:nvSpPr>
        <p:spPr>
          <a:xfrm>
            <a:off x="1024128" y="1252728"/>
            <a:ext cx="480060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① 침수 → 기공 폐쇄: 수분 공급 문제</a:t>
            </a:r>
          </a:p>
        </p:txBody>
      </p:sp>
      <p:sp>
        <p:nvSpPr>
          <p:cNvPr id="29" name="Text ① 피해가 나타난 부위"/>
          <p:cNvSpPr txBox="1"/>
          <p:nvPr/>
        </p:nvSpPr>
        <p:spPr>
          <a:xfrm>
            <a:off x="1024128" y="1847088"/>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g</a:t>
            </a:r>
            <a:r>
              <a:rPr lang="ko-KR" altLang="en-US" sz="1350" dirty="0" baseline="-25000">
                <a:solidFill>
                  <a:srgbClr val="000000"/>
                </a:solidFill>
              </a:rPr>
              <a:t>sw</a:t>
            </a:r>
            <a:r>
              <a:rPr lang="ko-KR" altLang="en-US" sz="1350" dirty="0">
                <a:solidFill>
                  <a:srgbClr val="000000"/>
                </a:solidFill>
              </a:rPr>
              <a:t>만 급감(로메인 DAT 3 10%)하고 Φ</a:t>
            </a:r>
            <a:r>
              <a:rPr lang="ko-KR" altLang="en-US" sz="1350" dirty="0" baseline="-25000">
                <a:solidFill>
                  <a:srgbClr val="000000"/>
                </a:solidFill>
              </a:rPr>
              <a:t>PSII</a:t>
            </a:r>
            <a:r>
              <a:rPr lang="ko-KR" altLang="en-US" sz="1350" dirty="0">
                <a:solidFill>
                  <a:srgbClr val="000000"/>
                </a:solidFill>
              </a:rPr>
              <a:t>·V</a:t>
            </a:r>
            <a:r>
              <a:rPr lang="ko-KR" altLang="en-US" sz="1350" dirty="0" baseline="-25000">
                <a:solidFill>
                  <a:srgbClr val="000000"/>
                </a:solidFill>
              </a:rPr>
              <a:t>cmax</a:t>
            </a:r>
            <a:r>
              <a:rPr lang="ko-KR" altLang="en-US" sz="1350" dirty="0">
                <a:solidFill>
                  <a:srgbClr val="000000"/>
                </a:solidFill>
              </a:rPr>
              <a:t>는 유지 → 광합성 장치 손상이 아니라 CO</a:t>
            </a:r>
            <a:r>
              <a:rPr lang="ko-KR" altLang="en-US" sz="1350" dirty="0" baseline="-25000">
                <a:solidFill>
                  <a:srgbClr val="000000"/>
                </a:solidFill>
              </a:rPr>
              <a:t>2</a:t>
            </a:r>
            <a:r>
              <a:rPr lang="ko-KR" altLang="en-US" sz="1350" dirty="0">
                <a:solidFill>
                  <a:srgbClr val="000000"/>
                </a:solidFill>
              </a:rPr>
              <a:t> 공급 제한</a:t>
            </a:r>
          </a:p>
          <a:p>
            <a:pPr marL="201168" indent="-201168" algn="l">
              <a:spcBef>
                <a:spcPts val="1000"/>
              </a:spcBef>
              <a:buFont typeface="Arial"/>
              <a:buChar char="•"/>
            </a:pPr>
            <a:r>
              <a:rPr lang="ko-KR" altLang="en-US" sz="1350" dirty="0">
                <a:solidFill>
                  <a:srgbClr val="000000"/>
                </a:solidFill>
              </a:rPr>
              <a:t>뿌리 저산소 → ATP 고갈·세포질 산성화 → 아쿠아포린 기능 저하 → 뿌리 수리전도도·잎 수분 상태 악화 → 기공 폐쇄 (Tan 2018; Haverroth 2024)</a:t>
            </a:r>
          </a:p>
        </p:txBody>
      </p:sp>
      <p:sp>
        <p:nvSpPr>
          <p:cNvPr id="30" name="Card ② 회복에 쓸 수 있는 시간"/>
          <p:cNvSpPr/>
          <p:nvPr/>
        </p:nvSpPr>
        <p:spPr>
          <a:xfrm>
            <a:off x="6190488" y="1463040"/>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② 회복에 쓸 수 있는 시간"/>
          <p:cNvSpPr/>
          <p:nvPr/>
        </p:nvSpPr>
        <p:spPr>
          <a:xfrm>
            <a:off x="6373368" y="1252728"/>
            <a:ext cx="480060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② 기공은 잎 수분 상태에 반응</a:t>
            </a:r>
          </a:p>
        </p:txBody>
      </p:sp>
      <p:sp>
        <p:nvSpPr>
          <p:cNvPr id="32" name="Text ② 회복에 쓸 수 있는 시간"/>
          <p:cNvSpPr txBox="1"/>
          <p:nvPr/>
        </p:nvSpPr>
        <p:spPr>
          <a:xfrm>
            <a:off x="6373368" y="1847088"/>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기공은 잎 수분 상태(팽압)의 피드백으로 조절되고 ABA가 관여할 수 있음 (Buckley 2019)</a:t>
            </a:r>
          </a:p>
          <a:p>
            <a:pPr marL="201168" indent="-201168" algn="l">
              <a:spcBef>
                <a:spcPts val="1000"/>
              </a:spcBef>
              <a:buFont typeface="Arial"/>
              <a:buChar char="•"/>
            </a:pPr>
            <a:r>
              <a:rPr lang="ko-KR" altLang="en-US" sz="1350" dirty="0">
                <a:solidFill>
                  <a:srgbClr val="000000"/>
                </a:solidFill>
              </a:rPr>
              <a:t>침수 유발 탈수는 건조와 닮은 점이 많음 (Haverroth 2024) — 건조구 g</a:t>
            </a:r>
            <a:r>
              <a:rPr lang="ko-KR" altLang="en-US" sz="1350" dirty="0" baseline="-25000">
                <a:solidFill>
                  <a:srgbClr val="000000"/>
                </a:solidFill>
              </a:rPr>
              <a:t>sw</a:t>
            </a:r>
            <a:r>
              <a:rPr lang="ko-KR" altLang="en-US" sz="1350" dirty="0">
                <a:solidFill>
                  <a:srgbClr val="000000"/>
                </a:solidFill>
              </a:rPr>
              <a:t>는 토양 수분이 줄어든 후반에 낮아짐</a:t>
            </a:r>
          </a:p>
        </p:txBody>
      </p:sp>
      <p:sp>
        <p:nvSpPr>
          <p:cNvPr id="33" name="Card ③ 생육 단계와 근계"/>
          <p:cNvSpPr/>
          <p:nvPr/>
        </p:nvSpPr>
        <p:spPr>
          <a:xfrm>
            <a:off x="841248" y="3675888"/>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4" name="Header ③ 생육 단계와 근계"/>
          <p:cNvSpPr/>
          <p:nvPr/>
        </p:nvSpPr>
        <p:spPr>
          <a:xfrm>
            <a:off x="1024128" y="3465576"/>
            <a:ext cx="480060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③ 회복 속도: 뿌리 기능과 재산소 신호</a:t>
            </a:r>
          </a:p>
        </p:txBody>
      </p:sp>
      <p:sp>
        <p:nvSpPr>
          <p:cNvPr id="35" name="Text ③ 생육 단계와 근계"/>
          <p:cNvSpPr txBox="1"/>
          <p:nvPr/>
        </p:nvSpPr>
        <p:spPr>
          <a:xfrm>
            <a:off x="1024128" y="4059936"/>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배수 후 재산소화에서 ROS·ABA·에틸렌 신호의 균형이 기공 개방과 노화를 좌우 (Yeung 2018; Sasidharan 2018)</a:t>
            </a:r>
          </a:p>
          <a:p>
            <a:pPr marL="201168" indent="-201168" algn="l">
              <a:spcBef>
                <a:spcPts val="1000"/>
              </a:spcBef>
              <a:buFont typeface="Arial"/>
              <a:buChar char="•"/>
            </a:pPr>
            <a:r>
              <a:rPr lang="ko-KR" altLang="en-US" sz="1350" dirty="0">
                <a:solidFill>
                  <a:srgbClr val="000000"/>
                </a:solidFill>
              </a:rPr>
              <a:t>로메인 DAT 5~6 vs 콩 DAT 9 이후: 콩은 포트 밖 뿌리 절단·손상으로 수리전도도 회복이 늦었을 가능성 (가설)</a:t>
            </a:r>
          </a:p>
        </p:txBody>
      </p:sp>
      <p:sp>
        <p:nvSpPr>
          <p:cNvPr id="36" name="Card ④ 처리 강도와 환경"/>
          <p:cNvSpPr/>
          <p:nvPr/>
        </p:nvSpPr>
        <p:spPr>
          <a:xfrm>
            <a:off x="6190488" y="3675888"/>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7" name="Header ④ 처리 강도와 환경"/>
          <p:cNvSpPr/>
          <p:nvPr/>
        </p:nvSpPr>
        <p:spPr>
          <a:xfrm>
            <a:off x="6373368" y="3465576"/>
            <a:ext cx="480060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④ 복합: 선행 침수의 영향</a:t>
            </a:r>
          </a:p>
        </p:txBody>
      </p:sp>
      <p:sp>
        <p:nvSpPr>
          <p:cNvPr id="38" name="Text ④ 처리 강도와 환경"/>
          <p:cNvSpPr txBox="1"/>
          <p:nvPr/>
        </p:nvSpPr>
        <p:spPr>
          <a:xfrm>
            <a:off x="6373368" y="4059936"/>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로메인 복합구 g</a:t>
            </a:r>
            <a:r>
              <a:rPr lang="ko-KR" altLang="en-US" sz="1350" dirty="0" baseline="-25000">
                <a:solidFill>
                  <a:srgbClr val="000000"/>
                </a:solidFill>
              </a:rPr>
              <a:t>sw</a:t>
            </a:r>
            <a:r>
              <a:rPr lang="ko-KR" altLang="en-US" sz="1350" dirty="0">
                <a:solidFill>
                  <a:srgbClr val="000000"/>
                </a:solidFill>
              </a:rPr>
              <a:t>는 건조구와 비슷해 침수 이력의 추가 효과는 뚜렷하지 않음</a:t>
            </a:r>
          </a:p>
          <a:p>
            <a:pPr marL="201168" indent="-201168" algn="l">
              <a:spcBef>
                <a:spcPts val="1000"/>
              </a:spcBef>
              <a:buFont typeface="Arial"/>
              <a:buChar char="•"/>
            </a:pPr>
            <a:r>
              <a:rPr lang="ko-KR" altLang="en-US" sz="1350" dirty="0">
                <a:solidFill>
                  <a:srgbClr val="000000"/>
                </a:solidFill>
              </a:rPr>
              <a:t>다요인 조합은 단일 스트레스와 다른 반응을 낼 수 있고(Zandalinas &amp; Mittler 2022), 선행 스트레스가 이후 반응을 바꿀 수 있음(Hilker 2016) — 콩 고광도 Φ</a:t>
            </a:r>
            <a:r>
              <a:rPr lang="ko-KR" altLang="en-US" sz="1350" dirty="0" baseline="-25000">
                <a:solidFill>
                  <a:srgbClr val="000000"/>
                </a:solidFill>
              </a:rPr>
              <a:t>PSII</a:t>
            </a:r>
            <a:r>
              <a:rPr lang="ko-KR" altLang="en-US" sz="1350" dirty="0">
                <a:solidFill>
                  <a:srgbClr val="000000"/>
                </a:solidFill>
              </a:rPr>
              <a:t>의 복합 &gt; 건조는 가설</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결론 및 향후 계획</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18</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같은 침수에도 로메인은 생리 회복이 빠르나 생육이 감소, 콩은 회복이 느리나 수량 차이 없음 — 수분 스트레스 반응은 작물마다 다르다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본 성과는 농촌진흥청 공동연구사업(과제번호: RS-2026-25507435)의 지원에 의해 이루어진 것임.</a:t>
            </a:r>
          </a:p>
        </p:txBody>
      </p:sp>
      <p:sp>
        <p:nvSpPr>
          <p:cNvPr id="27" name="Num"/>
          <p:cNvSpPr/>
          <p:nvPr/>
        </p:nvSpPr>
        <p:spPr>
          <a:xfrm>
            <a:off x="841248" y="14813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1</a:t>
            </a:r>
          </a:p>
        </p:txBody>
      </p:sp>
      <p:sp>
        <p:nvSpPr>
          <p:cNvPr id="28" name="Concl"/>
          <p:cNvSpPr txBox="1"/>
          <p:nvPr/>
        </p:nvSpPr>
        <p:spPr>
          <a:xfrm>
            <a:off x="1600200" y="1371600"/>
            <a:ext cx="589788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기공 회복 속도</a:t>
            </a:r>
          </a:p>
          <a:p>
            <a:pPr marL="0" indent="0" algn="l">
              <a:spcBef>
                <a:spcPts val="300"/>
              </a:spcBef>
              <a:buNone/>
            </a:pPr>
            <a:r>
              <a:rPr lang="ko-KR" altLang="en-US" sz="1300" dirty="0">
                <a:solidFill>
                  <a:srgbClr val="000000"/>
                </a:solidFill>
              </a:rPr>
              <a:t>침수는 두 작물 모두에서 기공전도도를 먼저 낮췄다. 로메인은 배수 2~3일 후(DAT 5~6) 대조구 수준으로 회복했고, 콩은 배수 6일 후(DAT 9)에도 대조구의 52%였으며 DAT 23에 회복이 확인되었다.</a:t>
            </a:r>
          </a:p>
        </p:txBody>
      </p:sp>
      <p:sp>
        <p:nvSpPr>
          <p:cNvPr id="29" name="Num"/>
          <p:cNvSpPr/>
          <p:nvPr/>
        </p:nvSpPr>
        <p:spPr>
          <a:xfrm>
            <a:off x="841248" y="28529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2</a:t>
            </a:r>
          </a:p>
        </p:txBody>
      </p:sp>
      <p:sp>
        <p:nvSpPr>
          <p:cNvPr id="30" name="Concl"/>
          <p:cNvSpPr txBox="1"/>
          <p:nvPr/>
        </p:nvSpPr>
        <p:spPr>
          <a:xfrm>
            <a:off x="1600200" y="2743200"/>
            <a:ext cx="589788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명반응과 광합성 능력</a:t>
            </a:r>
          </a:p>
          <a:p>
            <a:pPr marL="0" indent="0" algn="l">
              <a:spcBef>
                <a:spcPts val="300"/>
              </a:spcBef>
              <a:buNone/>
            </a:pPr>
            <a:r>
              <a:rPr lang="ko-KR" altLang="en-US" sz="1300" dirty="0">
                <a:solidFill>
                  <a:srgbClr val="000000"/>
                </a:solidFill>
              </a:rPr>
              <a:t>로메인은 Φ</a:t>
            </a:r>
            <a:r>
              <a:rPr lang="ko-KR" altLang="en-US" sz="1300" dirty="0" baseline="-25000">
                <a:solidFill>
                  <a:srgbClr val="000000"/>
                </a:solidFill>
              </a:rPr>
              <a:t>PSII</a:t>
            </a:r>
            <a:r>
              <a:rPr lang="ko-KR" altLang="en-US" sz="1300" dirty="0">
                <a:solidFill>
                  <a:srgbClr val="000000"/>
                </a:solidFill>
              </a:rPr>
              <a:t>에 처리 차이가 없었고 V</a:t>
            </a:r>
            <a:r>
              <a:rPr lang="ko-KR" altLang="en-US" sz="1300" dirty="0" baseline="-25000">
                <a:solidFill>
                  <a:srgbClr val="000000"/>
                </a:solidFill>
              </a:rPr>
              <a:t>cmax</a:t>
            </a:r>
            <a:r>
              <a:rPr lang="ko-KR" altLang="en-US" sz="1300" dirty="0">
                <a:solidFill>
                  <a:srgbClr val="000000"/>
                </a:solidFill>
              </a:rPr>
              <a:t>·J</a:t>
            </a:r>
            <a:r>
              <a:rPr lang="ko-KR" altLang="en-US" sz="1300" dirty="0" baseline="-25000">
                <a:solidFill>
                  <a:srgbClr val="000000"/>
                </a:solidFill>
              </a:rPr>
              <a:t>max</a:t>
            </a:r>
            <a:r>
              <a:rPr lang="ko-KR" altLang="en-US" sz="1300" dirty="0">
                <a:solidFill>
                  <a:srgbClr val="000000"/>
                </a:solidFill>
              </a:rPr>
              <a:t>는 복합구에서 낮은 경향(측정일 교락)이었다. 콩은 건조에 의한 Φ</a:t>
            </a:r>
            <a:r>
              <a:rPr lang="ko-KR" altLang="en-US" sz="1300" dirty="0" baseline="-25000">
                <a:solidFill>
                  <a:srgbClr val="000000"/>
                </a:solidFill>
              </a:rPr>
              <a:t>PSII</a:t>
            </a:r>
            <a:r>
              <a:rPr lang="ko-KR" altLang="en-US" sz="1300" dirty="0">
                <a:solidFill>
                  <a:srgbClr val="000000"/>
                </a:solidFill>
              </a:rPr>
              <a:t> 저하가 고광도에서만 나타났다(PPFD 1,200에서 0.68 → 0.50).</a:t>
            </a:r>
          </a:p>
        </p:txBody>
      </p:sp>
      <p:sp>
        <p:nvSpPr>
          <p:cNvPr id="31" name="Num"/>
          <p:cNvSpPr/>
          <p:nvPr/>
        </p:nvSpPr>
        <p:spPr>
          <a:xfrm>
            <a:off x="841248" y="4224528"/>
            <a:ext cx="566928" cy="566928"/>
          </a:xfrm>
          <a:prstGeom prst="ellipse">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800" b="1" dirty="0">
                <a:solidFill>
                  <a:srgbClr val="FFFFFF"/>
                </a:solidFill>
              </a:rPr>
              <a:t>3</a:t>
            </a:r>
          </a:p>
        </p:txBody>
      </p:sp>
      <p:sp>
        <p:nvSpPr>
          <p:cNvPr id="32" name="Concl"/>
          <p:cNvSpPr txBox="1"/>
          <p:nvPr/>
        </p:nvSpPr>
        <p:spPr>
          <a:xfrm>
            <a:off x="1600200" y="4114800"/>
            <a:ext cx="5897880" cy="123444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500" b="1" dirty="0">
                <a:solidFill>
                  <a:srgbClr val="156082"/>
                </a:solidFill>
              </a:rPr>
              <a:t>생육·수량</a:t>
            </a:r>
          </a:p>
          <a:p>
            <a:pPr marL="0" indent="0" algn="l">
              <a:spcBef>
                <a:spcPts val="300"/>
              </a:spcBef>
              <a:buNone/>
            </a:pPr>
            <a:r>
              <a:rPr lang="ko-KR" altLang="en-US" sz="1300" dirty="0">
                <a:solidFill>
                  <a:srgbClr val="000000"/>
                </a:solidFill>
              </a:rPr>
              <a:t>로메인은 생리가 회복되었는데도 지상부 건물중이 감소했고(건조 −16%, 침수 −34%, 복합 −43%) 침수 중 잎 확장 정지가 주요 원인으로 해석된다. 콩은 DAT 20 꼬투리·종실 지연(65%)이 DAT 55에는 차이가 없어 수량 구성요소에 차이가 없었다.</a:t>
            </a:r>
          </a:p>
        </p:txBody>
      </p:sp>
      <p:sp>
        <p:nvSpPr>
          <p:cNvPr id="33" name="Card 향후 계획"/>
          <p:cNvSpPr/>
          <p:nvPr/>
        </p:nvSpPr>
        <p:spPr>
          <a:xfrm>
            <a:off x="7863840" y="1481328"/>
            <a:ext cx="3493008" cy="406908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4" name="Header 향후 계획"/>
          <p:cNvSpPr/>
          <p:nvPr/>
        </p:nvSpPr>
        <p:spPr>
          <a:xfrm>
            <a:off x="8046720" y="1271016"/>
            <a:ext cx="3127248" cy="420624"/>
          </a:xfrm>
          <a:prstGeom prst="roundRect">
            <a:avLst>
              <a:gd name="adj" fmla="val 25000"/>
            </a:avLst>
          </a:prstGeom>
          <a:solidFill>
            <a:srgbClr val="E9713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향후 계획</a:t>
            </a:r>
          </a:p>
        </p:txBody>
      </p:sp>
      <p:sp>
        <p:nvSpPr>
          <p:cNvPr id="35" name="Future step"/>
          <p:cNvSpPr/>
          <p:nvPr/>
        </p:nvSpPr>
        <p:spPr>
          <a:xfrm>
            <a:off x="8092440" y="1810512"/>
            <a:ext cx="3035808" cy="658368"/>
          </a:xfrm>
          <a:prstGeom prst="roundRect">
            <a:avLst>
              <a:gd name="adj" fmla="val 16000"/>
            </a:avLst>
          </a:prstGeom>
          <a:solidFill>
            <a:srgbClr val="FFFFFF"/>
          </a:solidFill>
          <a:ln w="15875">
            <a:solidFill>
              <a:srgbClr val="E97132"/>
            </a:solidFill>
          </a:ln>
        </p:spPr>
        <p:txBody>
          <a:bodyPr wrap="square" lIns="73152" tIns="36576" rIns="73152" bIns="36576" rtlCol="0" anchor="ctr">
            <a:noAutofit/>
          </a:bodyPr>
          <a:lstStyle/>
          <a:p>
            <a:pPr marL="0" indent="0" algn="ctr">
              <a:spcBef>
                <a:spcPts val="0"/>
              </a:spcBef>
              <a:buNone/>
            </a:pPr>
            <a:r>
              <a:rPr lang="ko-KR" altLang="en-US" sz="1250" b="0" dirty="0">
                <a:solidFill>
                  <a:srgbClr val="000000"/>
                </a:solidFill>
              </a:rPr>
              <a:t>재해 강도·지속 기간 세분화</a:t>
            </a:r>
          </a:p>
        </p:txBody>
      </p:sp>
      <p:sp>
        <p:nvSpPr>
          <p:cNvPr id="36" name="Down"/>
          <p:cNvSpPr/>
          <p:nvPr/>
        </p:nvSpPr>
        <p:spPr>
          <a:xfrm>
            <a:off x="9491472" y="2487168"/>
            <a:ext cx="237744" cy="237744"/>
          </a:xfrm>
          <a:prstGeom prst="downArrow">
            <a:avLst/>
          </a:prstGeom>
          <a:solidFill>
            <a:srgbClr val="F4B183"/>
          </a:solidFill>
          <a:ln>
            <a:noFill/>
          </a:ln>
        </p:spPr>
        <p:txBody>
          <a:bodyPr wrap="square" lIns="73152" tIns="36576" rIns="73152" bIns="36576" rtlCol="0" anchor="ctr">
            <a:noAutofit/>
          </a:bodyPr>
          <a:lstStyle/>
          <a:p>
            <a:endParaRPr lang="ko-KR"/>
          </a:p>
        </p:txBody>
      </p:sp>
      <p:sp>
        <p:nvSpPr>
          <p:cNvPr id="37" name="Future step"/>
          <p:cNvSpPr/>
          <p:nvPr/>
        </p:nvSpPr>
        <p:spPr>
          <a:xfrm>
            <a:off x="8092440" y="2743200"/>
            <a:ext cx="3035808" cy="658368"/>
          </a:xfrm>
          <a:prstGeom prst="roundRect">
            <a:avLst>
              <a:gd name="adj" fmla="val 16000"/>
            </a:avLst>
          </a:prstGeom>
          <a:solidFill>
            <a:srgbClr val="FFFFFF"/>
          </a:solidFill>
          <a:ln w="15875">
            <a:solidFill>
              <a:srgbClr val="E97132"/>
            </a:solidFill>
          </a:ln>
        </p:spPr>
        <p:txBody>
          <a:bodyPr wrap="square" lIns="73152" tIns="36576" rIns="73152" bIns="36576" rtlCol="0" anchor="ctr">
            <a:noAutofit/>
          </a:bodyPr>
          <a:lstStyle/>
          <a:p>
            <a:pPr marL="0" indent="0" algn="ctr">
              <a:spcBef>
                <a:spcPts val="0"/>
              </a:spcBef>
              <a:buNone/>
            </a:pPr>
            <a:r>
              <a:rPr lang="ko-KR" altLang="en-US" sz="1250" dirty="0">
                <a:solidFill>
                  <a:srgbClr val="000000"/>
                </a:solidFill>
              </a:rPr>
              <a:t>잎 신장·뿌리 기능 측정</a:t>
            </a:r>
          </a:p>
        </p:txBody>
      </p:sp>
      <p:sp>
        <p:nvSpPr>
          <p:cNvPr id="38" name="Down"/>
          <p:cNvSpPr/>
          <p:nvPr/>
        </p:nvSpPr>
        <p:spPr>
          <a:xfrm>
            <a:off x="9491472" y="3419856"/>
            <a:ext cx="237744" cy="237744"/>
          </a:xfrm>
          <a:prstGeom prst="downArrow">
            <a:avLst/>
          </a:prstGeom>
          <a:solidFill>
            <a:srgbClr val="F4B183"/>
          </a:solidFill>
          <a:ln>
            <a:noFill/>
          </a:ln>
        </p:spPr>
        <p:txBody>
          <a:bodyPr wrap="square" lIns="73152" tIns="36576" rIns="73152" bIns="36576" rtlCol="0" anchor="ctr">
            <a:noAutofit/>
          </a:bodyPr>
          <a:lstStyle/>
          <a:p>
            <a:endParaRPr lang="ko-KR"/>
          </a:p>
        </p:txBody>
      </p:sp>
      <p:sp>
        <p:nvSpPr>
          <p:cNvPr id="39" name="Future step"/>
          <p:cNvSpPr/>
          <p:nvPr/>
        </p:nvSpPr>
        <p:spPr>
          <a:xfrm>
            <a:off x="8092440" y="3675888"/>
            <a:ext cx="3035808" cy="658368"/>
          </a:xfrm>
          <a:prstGeom prst="roundRect">
            <a:avLst>
              <a:gd name="adj" fmla="val 16000"/>
            </a:avLst>
          </a:prstGeom>
          <a:solidFill>
            <a:srgbClr val="FFFFFF"/>
          </a:solidFill>
          <a:ln w="15875">
            <a:solidFill>
              <a:srgbClr val="E97132"/>
            </a:solidFill>
          </a:ln>
        </p:spPr>
        <p:txBody>
          <a:bodyPr wrap="square" lIns="73152" tIns="36576" rIns="73152" bIns="36576" rtlCol="0" anchor="ctr">
            <a:noAutofit/>
          </a:bodyPr>
          <a:lstStyle/>
          <a:p>
            <a:pPr marL="0" indent="0" algn="ctr">
              <a:spcBef>
                <a:spcPts val="0"/>
              </a:spcBef>
              <a:buNone/>
            </a:pPr>
            <a:r>
              <a:rPr lang="ko-KR" altLang="en-US" sz="1250" b="0" dirty="0">
                <a:solidFill>
                  <a:srgbClr val="000000"/>
                </a:solidFill>
              </a:rPr>
              <a:t>생육모형 수분 반응 계수 산정</a:t>
            </a:r>
          </a:p>
        </p:txBody>
      </p:sp>
      <p:sp>
        <p:nvSpPr>
          <p:cNvPr id="40" name="Down"/>
          <p:cNvSpPr/>
          <p:nvPr/>
        </p:nvSpPr>
        <p:spPr>
          <a:xfrm>
            <a:off x="9491472" y="4352544"/>
            <a:ext cx="237744" cy="237744"/>
          </a:xfrm>
          <a:prstGeom prst="downArrow">
            <a:avLst/>
          </a:prstGeom>
          <a:solidFill>
            <a:srgbClr val="F4B183"/>
          </a:solidFill>
          <a:ln>
            <a:noFill/>
          </a:ln>
        </p:spPr>
        <p:txBody>
          <a:bodyPr wrap="square" lIns="73152" tIns="36576" rIns="73152" bIns="36576" rtlCol="0" anchor="ctr">
            <a:noAutofit/>
          </a:bodyPr>
          <a:lstStyle/>
          <a:p>
            <a:endParaRPr lang="ko-KR"/>
          </a:p>
        </p:txBody>
      </p:sp>
      <p:sp>
        <p:nvSpPr>
          <p:cNvPr id="41" name="Future step"/>
          <p:cNvSpPr/>
          <p:nvPr/>
        </p:nvSpPr>
        <p:spPr>
          <a:xfrm>
            <a:off x="8092440" y="4608576"/>
            <a:ext cx="3035808" cy="658368"/>
          </a:xfrm>
          <a:prstGeom prst="roundRect">
            <a:avLst>
              <a:gd name="adj" fmla="val 16000"/>
            </a:avLst>
          </a:prstGeom>
          <a:solidFill>
            <a:srgbClr val="FFFFFF"/>
          </a:solidFill>
          <a:ln w="15875">
            <a:solidFill>
              <a:srgbClr val="E97132"/>
            </a:solidFill>
          </a:ln>
        </p:spPr>
        <p:txBody>
          <a:bodyPr wrap="square" lIns="73152" tIns="36576" rIns="73152" bIns="36576" rtlCol="0" anchor="ctr">
            <a:noAutofit/>
          </a:bodyPr>
          <a:lstStyle/>
          <a:p>
            <a:pPr marL="0" indent="0" algn="ctr">
              <a:spcBef>
                <a:spcPts val="0"/>
              </a:spcBef>
              <a:buNone/>
            </a:pPr>
            <a:r>
              <a:rPr lang="ko-KR" altLang="en-US" sz="1250" b="0" dirty="0">
                <a:solidFill>
                  <a:srgbClr val="000000"/>
                </a:solidFill>
              </a:rPr>
              <a:t>침수·건조 피해 조기 진단 및</a:t>
            </a:r>
          </a:p>
          <a:p>
            <a:pPr marL="0" indent="0" algn="ctr">
              <a:spcBef>
                <a:spcPts val="0"/>
              </a:spcBef>
              <a:buNone/>
            </a:pPr>
            <a:r>
              <a:rPr lang="ko-KR" altLang="en-US" sz="1250" b="0" dirty="0">
                <a:solidFill>
                  <a:srgbClr val="000000"/>
                </a:solidFill>
              </a:rPr>
              <a:t>관수 의사결정 기준</a:t>
            </a:r>
          </a:p>
        </p:txBody>
      </p:sp>
      <p:sp>
        <p:nvSpPr>
          <p:cNvPr id="61"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6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5" name="Nav 결론"/>
          <p:cNvSpPr txBox="1"/>
          <p:nvPr/>
        </p:nvSpPr>
        <p:spPr>
          <a:xfrm>
            <a:off x="6327648" y="100584"/>
            <a:ext cx="1371600" cy="329184"/>
          </a:xfrm>
          <a:prstGeom prst="rect">
            <a:avLst/>
          </a:prstGeom>
          <a:noFill/>
        </p:spPr>
        <p:txBody>
          <a:bodyPr wrap="none" lIns="0" tIns="0" rIns="0" bIns="0" anchor="ctr">
            <a:spAutoFit/>
          </a:bodyPr>
          <a:lstStyle/>
          <a:p>
            <a:pPr algn="ctr"/>
            <a:r>
              <a:rPr sz="1450" b="1" u="sng">
                <a:solidFill>
                  <a:srgbClr val="1A1A1A"/>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5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fade">
                                      <p:cBhvr>
                                        <p:cTn id="49" dur="500"/>
                                        <p:tgtEl>
                                          <p:spTgt spid="3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fade">
                                      <p:cBhvr>
                                        <p:cTn id="52" dur="500"/>
                                        <p:tgtEl>
                                          <p:spTgt spid="4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양쪽 모서리가 둥근 사각형 1">
            <a:extLst>
              <a:ext uri="{FF2B5EF4-FFF2-40B4-BE49-F238E27FC236}">
                <a16:creationId xmlns:a16="http://schemas.microsoft.com/office/drawing/2014/main" id="{61F6D138-DFFC-10C1-053C-3D2B417CC93E}"/>
              </a:ext>
            </a:extLst>
          </p:cNvPr>
          <p:cNvSpPr/>
          <p:nvPr/>
        </p:nvSpPr>
        <p:spPr>
          <a:xfrm>
            <a:off x="0" y="3429000"/>
            <a:ext cx="12192000" cy="3429000"/>
          </a:xfrm>
          <a:prstGeom prst="round2SameRect">
            <a:avLst/>
          </a:prstGeom>
          <a:solidFill>
            <a:srgbClr val="04458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sz="1200"/>
          </a:p>
        </p:txBody>
      </p:sp>
      <p:sp>
        <p:nvSpPr>
          <p:cNvPr id="28" name="TextBox 27">
            <a:extLst>
              <a:ext uri="{FF2B5EF4-FFF2-40B4-BE49-F238E27FC236}">
                <a16:creationId xmlns:a16="http://schemas.microsoft.com/office/drawing/2014/main" id="{C11A0B38-A3E4-9B0E-0886-5E9788B47173}"/>
              </a:ext>
            </a:extLst>
          </p:cNvPr>
          <p:cNvSpPr txBox="1"/>
          <p:nvPr/>
        </p:nvSpPr>
        <p:spPr>
          <a:xfrm>
            <a:off x="3766530" y="2681512"/>
            <a:ext cx="4658940" cy="769441"/>
          </a:xfrm>
          <a:prstGeom prst="rect">
            <a:avLst/>
          </a:prstGeom>
          <a:noFill/>
        </p:spPr>
        <p:txBody>
          <a:bodyPr wrap="square" rtlCol="0">
            <a:spAutoFit/>
          </a:bodyPr>
          <a:lstStyle/>
          <a:p>
            <a:pPr algn="ctr"/>
            <a:r>
              <a:rPr kumimoji="1" lang="ko-KR" altLang="en-US" sz="4400" b="1" spc="-200" dirty="0">
                <a:solidFill>
                  <a:srgbClr val="04458A"/>
                </a:solidFill>
                <a:latin typeface="Malgun Gothic" panose="020B0503020000020004" pitchFamily="34" charset="-127"/>
                <a:ea typeface="Malgun Gothic" panose="020B0503020000020004" pitchFamily="34" charset="-127"/>
              </a:rPr>
              <a:t>감사합니다</a:t>
            </a:r>
            <a:endParaRPr kumimoji="1" lang="en-US" altLang="ko-Kore-KR" sz="4400" b="1" spc="-200" dirty="0">
              <a:solidFill>
                <a:srgbClr val="04458A"/>
              </a:solidFill>
              <a:latin typeface="Malgun Gothic" panose="020B0503020000020004" pitchFamily="34" charset="-127"/>
              <a:ea typeface="Malgun Gothic" panose="020B0503020000020004" pitchFamily="34" charset="-127"/>
            </a:endParaRPr>
          </a:p>
        </p:txBody>
      </p:sp>
      <p:sp>
        <p:nvSpPr>
          <p:cNvPr id="31" name="TextBox 30">
            <a:extLst>
              <a:ext uri="{FF2B5EF4-FFF2-40B4-BE49-F238E27FC236}">
                <a16:creationId xmlns:a16="http://schemas.microsoft.com/office/drawing/2014/main" id="{ABD9CEE3-88A3-FC3B-9B6B-4B8B7C7214DE}"/>
              </a:ext>
            </a:extLst>
          </p:cNvPr>
          <p:cNvSpPr txBox="1"/>
          <p:nvPr/>
        </p:nvSpPr>
        <p:spPr>
          <a:xfrm>
            <a:off x="3026229" y="3520615"/>
            <a:ext cx="6139542" cy="1048492"/>
          </a:xfrm>
          <a:prstGeom prst="rect">
            <a:avLst/>
          </a:prstGeom>
          <a:noFill/>
        </p:spPr>
        <p:txBody>
          <a:bodyPr wrap="square" rtlCol="0">
            <a:spAutoFit/>
          </a:bodyPr>
          <a:lstStyle/>
          <a:p>
            <a:pPr algn="ctr">
              <a:lnSpc>
                <a:spcPct val="150000"/>
              </a:lnSpc>
            </a:pPr>
            <a:endParaRPr kumimoji="1" lang="en-US" altLang="ko-KR" sz="2400" b="1" spc="-100" dirty="0">
              <a:solidFill>
                <a:schemeClr val="bg1"/>
              </a:solidFill>
              <a:latin typeface="Malgun Gothic" panose="020B0503020000020004" pitchFamily="34" charset="-127"/>
              <a:ea typeface="Malgun Gothic" panose="020B0503020000020004" pitchFamily="34" charset="-127"/>
            </a:endParaRPr>
          </a:p>
          <a:p>
            <a:pPr algn="ctr">
              <a:lnSpc>
                <a:spcPct val="150000"/>
              </a:lnSpc>
            </a:pPr>
            <a:r>
              <a:rPr kumimoji="1" lang="ko-KR" altLang="en-US" sz="2000" b="1" spc="-100" dirty="0">
                <a:solidFill>
                  <a:schemeClr val="bg1"/>
                </a:solidFill>
                <a:latin typeface="Malgun Gothic" panose="020B0503020000020004" pitchFamily="34" charset="-127"/>
                <a:ea typeface="Malgun Gothic" panose="020B0503020000020004" pitchFamily="34" charset="-127"/>
              </a:rPr>
              <a:t>석사과정 윤정민</a:t>
            </a:r>
            <a:endParaRPr kumimoji="1" lang="en-US" altLang="ko-Kore-KR" sz="2000" b="1" spc="-100" dirty="0">
              <a:solidFill>
                <a:schemeClr val="bg1"/>
              </a:solidFill>
              <a:latin typeface="Malgun Gothic" panose="020B0503020000020004" pitchFamily="34" charset="-127"/>
              <a:ea typeface="Malgun Gothic" panose="020B0503020000020004" pitchFamily="34" charset="-12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보충 자료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A1. LI-600 보정: 선형 PAR + 기온</a:t>
            </a:r>
          </a:p>
          <a:p>
            <a:pPr marL="0" indent="0" algn="l">
              <a:spcBef>
                <a:spcPts val="800"/>
              </a:spcBef>
              <a:buNone/>
            </a:pPr>
            <a:r>
              <a:rPr lang="ko-KR" altLang="en-US" sz="1600" dirty="0">
                <a:solidFill>
                  <a:srgbClr val="000000"/>
                </a:solidFill>
              </a:rPr>
              <a:t>A2. LI-6800 광-광합성 곡선 (A-Q)</a:t>
            </a:r>
          </a:p>
          <a:p>
            <a:pPr marL="0" indent="0" algn="l">
              <a:spcBef>
                <a:spcPts val="800"/>
              </a:spcBef>
              <a:buNone/>
            </a:pPr>
            <a:r>
              <a:rPr lang="ko-KR" altLang="en-US" sz="1600" dirty="0">
                <a:solidFill>
                  <a:srgbClr val="000000"/>
                </a:solidFill>
              </a:rPr>
              <a:t>A3. 정상 상태 형광 (F</a:t>
            </a:r>
            <a:r>
              <a:rPr lang="ko-KR" altLang="en-US" sz="1600" dirty="0" baseline="-25000">
                <a:solidFill>
                  <a:srgbClr val="000000"/>
                </a:solidFill>
              </a:rPr>
              <a:t>s</a:t>
            </a:r>
            <a:r>
              <a:rPr lang="ko-KR" altLang="en-US" sz="1600" dirty="0">
                <a:solidFill>
                  <a:srgbClr val="000000"/>
                </a:solidFill>
              </a:rPr>
              <a:t>)</a:t>
            </a:r>
          </a:p>
          <a:p>
            <a:pPr marL="0" indent="0" algn="l">
              <a:spcBef>
                <a:spcPts val="800"/>
              </a:spcBef>
              <a:buNone/>
            </a:pPr>
            <a:r>
              <a:rPr lang="ko-KR" altLang="en-US" sz="1600" dirty="0">
                <a:solidFill>
                  <a:srgbClr val="000000"/>
                </a:solidFill>
              </a:rPr>
              <a:t>A4. 전자전달속도 (ETR)</a:t>
            </a:r>
          </a:p>
          <a:p>
            <a:pPr marL="0" indent="0" algn="l">
              <a:spcBef>
                <a:spcPts val="800"/>
              </a:spcBef>
              <a:buNone/>
            </a:pPr>
            <a:r>
              <a:rPr lang="ko-KR" altLang="en-US" sz="1600" dirty="0">
                <a:solidFill>
                  <a:srgbClr val="000000"/>
                </a:solidFill>
              </a:rPr>
              <a:t>A5. 측정 당시 일사 조건: 흐린 날 표시</a:t>
            </a:r>
          </a:p>
          <a:p>
            <a:pPr marL="0" indent="0" algn="l">
              <a:spcBef>
                <a:spcPts val="800"/>
              </a:spcBef>
              <a:buNone/>
            </a:pPr>
            <a:r>
              <a:rPr lang="ko-KR" altLang="en-US" sz="1600" dirty="0">
                <a:solidFill>
                  <a:srgbClr val="000000"/>
                </a:solidFill>
              </a:rPr>
              <a:t>A6. 참고문헌</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A1. LI-600 보정: 선형 PAR(Q</a:t>
            </a:r>
            <a:r>
              <a:rPr lang="ko-KR" altLang="en-US" sz="2800" baseline="-25000" dirty="0"/>
              <a:t>amb</a:t>
            </a:r>
            <a:r>
              <a:rPr lang="ko-KR" altLang="en-US" sz="2800" dirty="0"/>
              <a:t>) + 기온(T</a:t>
            </a:r>
            <a:r>
              <a:rPr lang="ko-KR" altLang="en-US" sz="2800" baseline="-25000" dirty="0"/>
              <a:t>air</a:t>
            </a:r>
            <a:r>
              <a:rPr lang="ko-KR" altLang="en-US" sz="2800" dirty="0"/>
              <a:t>)</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21</a:t>
            </a:fld>
            <a:endParaRPr lang="ko-KR" altLang="en-US"/>
          </a:p>
        </p:txBody>
      </p:sp>
      <p:pic>
        <p:nvPicPr>
          <p:cNvPr id="14" name="Picture 13" descr="s7.png"/>
          <p:cNvPicPr>
            <a:picLocks noChangeAspect="1"/>
          </p:cNvPicPr>
          <p:nvPr/>
        </p:nvPicPr>
        <p:blipFill>
          <a:blip r:embed="rId4"/>
          <a:stretch>
            <a:fillRect/>
          </a:stretch>
        </p:blipFill>
        <p:spPr>
          <a:xfrm>
            <a:off x="457200" y="1188720"/>
            <a:ext cx="6903720" cy="2083018"/>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지표</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콩 P1 PAR만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콩 P1 + 기온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로메인 P1 PAR만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로메인 P1 + 기온 P</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Φ</a:t>
                      </a:r>
                      <a:r>
                        <a:rPr sz="800" b="0" baseline="-25000">
                          <a:solidFill>
                            <a:srgbClr val="000000"/>
                          </a:solidFill>
                        </a:rPr>
                        <a:t>PSII</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0.10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0.099</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ETR</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0.081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0.021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0.070</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0.060</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sz="800" b="0">
                          <a:solidFill>
                            <a:srgbClr val="000000"/>
                          </a:solidFill>
                        </a:rPr>
                        <a:t>F</a:t>
                      </a:r>
                      <a:r>
                        <a:rPr sz="800" b="0" baseline="-25000">
                          <a:solidFill>
                            <a:srgbClr val="000000"/>
                          </a:solidFill>
                        </a:rPr>
                        <a:t>s</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0.002</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0.66</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sz="800" b="0">
                          <a:solidFill>
                            <a:srgbClr val="000000"/>
                          </a:solidFill>
                        </a:rPr>
                        <a:t>g</a:t>
                      </a:r>
                      <a:r>
                        <a:rPr sz="800" b="0" baseline="-25000">
                          <a:solidFill>
                            <a:srgbClr val="000000"/>
                          </a:solidFill>
                        </a:rPr>
                        <a:t>sw</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0.19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0.20</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b="0">
                <a:solidFill>
                  <a:srgbClr val="000000"/>
                </a:solidFill>
              </a:rPr>
              <a:t>이유: 같은 날에도 처리 간 PAR·기온이 달랐음 (콩 8/13 PAR 970 vs 632, 기온 33.3 vs 34.0 °C; 로메인 PAR 약 30~1,250)</a:t>
            </a:r>
          </a:p>
          <a:p>
            <a:pPr marL="201168" indent="-201168">
              <a:spcBef>
                <a:spcPts val="0"/>
              </a:spcBef>
              <a:buFont typeface="Arial"/>
              <a:buChar char="•"/>
            </a:pPr>
            <a:r>
              <a:rPr sz="1400" b="0">
                <a:solidFill>
                  <a:srgbClr val="000000"/>
                </a:solidFill>
              </a:rPr>
              <a:t>모형: y = μ + 처리 + 측정일 + β</a:t>
            </a:r>
            <a:r>
              <a:rPr sz="1400" b="0" baseline="-25000">
                <a:solidFill>
                  <a:srgbClr val="000000"/>
                </a:solidFill>
              </a:rPr>
              <a:t>1</a:t>
            </a:r>
            <a:r>
              <a:rPr sz="1400" b="0">
                <a:solidFill>
                  <a:srgbClr val="000000"/>
                </a:solidFill>
              </a:rPr>
              <a:t>·Q</a:t>
            </a:r>
            <a:r>
              <a:rPr sz="1400" b="0" baseline="-25000">
                <a:solidFill>
                  <a:srgbClr val="000000"/>
                </a:solidFill>
              </a:rPr>
              <a:t>amb</a:t>
            </a:r>
            <a:r>
              <a:rPr sz="1400" b="0">
                <a:solidFill>
                  <a:srgbClr val="000000"/>
                </a:solidFill>
              </a:rPr>
              <a:t> + β</a:t>
            </a:r>
            <a:r>
              <a:rPr sz="1400" b="0" baseline="-25000">
                <a:solidFill>
                  <a:srgbClr val="000000"/>
                </a:solidFill>
              </a:rPr>
              <a:t>2</a:t>
            </a:r>
            <a:r>
              <a:rPr sz="1400" b="0">
                <a:solidFill>
                  <a:srgbClr val="000000"/>
                </a:solidFill>
              </a:rPr>
              <a:t>·T</a:t>
            </a:r>
            <a:r>
              <a:rPr sz="1400" b="0" baseline="-25000">
                <a:solidFill>
                  <a:srgbClr val="000000"/>
                </a:solidFill>
              </a:rPr>
              <a:t>air</a:t>
            </a:r>
            <a:r>
              <a:rPr sz="1400" b="0">
                <a:solidFill>
                  <a:srgbClr val="000000"/>
                </a:solidFill>
              </a:rPr>
              <a:t> + ε (Ali et al. 2025; Gao et al. 2024)</a:t>
            </a:r>
          </a:p>
          <a:p>
            <a:pPr marL="201168" indent="-201168">
              <a:spcBef>
                <a:spcPts val="0"/>
              </a:spcBef>
              <a:buFont typeface="Arial"/>
              <a:buChar char="•"/>
            </a:pPr>
            <a:r>
              <a:rPr sz="1400" b="0">
                <a:solidFill>
                  <a:srgbClr val="000000"/>
                </a:solidFill>
              </a:rPr>
              <a:t>선형 PAR이 AIC 최소, Φ</a:t>
            </a:r>
            <a:r>
              <a:rPr sz="1400" b="0" baseline="-25000">
                <a:solidFill>
                  <a:srgbClr val="000000"/>
                </a:solidFill>
              </a:rPr>
              <a:t>PSII</a:t>
            </a:r>
            <a:r>
              <a:rPr sz="1400" b="0">
                <a:solidFill>
                  <a:srgbClr val="000000"/>
                </a:solidFill>
              </a:rPr>
              <a:t>는 PAR 100당 콩 −0.022, 로메인 −0.029 감소, 기온 기울기는 비유의</a:t>
            </a:r>
          </a:p>
          <a:p>
            <a:pPr marL="201168" indent="-201168">
              <a:spcBef>
                <a:spcPts val="0"/>
              </a:spcBef>
              <a:buFont typeface="Arial"/>
              <a:buChar char="•"/>
            </a:pPr>
            <a:r>
              <a:rPr sz="1400" b="0">
                <a:solidFill>
                  <a:srgbClr val="000000"/>
                </a:solidFill>
              </a:rPr>
              <a:t>로메인: g</a:t>
            </a:r>
            <a:r>
              <a:rPr sz="1400" b="0" baseline="-25000">
                <a:solidFill>
                  <a:srgbClr val="000000"/>
                </a:solidFill>
              </a:rPr>
              <a:t>sw</a:t>
            </a:r>
            <a:r>
              <a:rPr sz="1400" b="0">
                <a:solidFill>
                  <a:srgbClr val="000000"/>
                </a:solidFill>
              </a:rPr>
              <a:t>·Φ</a:t>
            </a:r>
            <a:r>
              <a:rPr sz="1400" b="0" baseline="-25000">
                <a:solidFill>
                  <a:srgbClr val="000000"/>
                </a:solidFill>
              </a:rPr>
              <a:t>PSII</a:t>
            </a:r>
            <a:r>
              <a:rPr sz="1400" b="0">
                <a:solidFill>
                  <a:srgbClr val="000000"/>
                </a:solidFill>
              </a:rPr>
              <a:t>·F</a:t>
            </a:r>
            <a:r>
              <a:rPr sz="1400" b="0" baseline="-25000">
                <a:solidFill>
                  <a:srgbClr val="000000"/>
                </a:solidFill>
              </a:rPr>
              <a:t>s</a:t>
            </a:r>
            <a:r>
              <a:rPr sz="1400" b="0">
                <a:solidFill>
                  <a:srgbClr val="000000"/>
                </a:solidFill>
              </a:rPr>
              <a:t>·ETR 모두 PAR만 보정과 PAR+기온 보정의 판정이 같음</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큰 차이(g</a:t>
            </a:r>
            <a:r>
              <a:rPr sz="1600" baseline="-25000">
                <a:solidFill>
                  <a:srgbClr val="E97132"/>
                </a:solidFill>
              </a:rPr>
              <a:t>sw</a:t>
            </a:r>
            <a:r>
              <a:rPr sz="1600">
                <a:solidFill>
                  <a:srgbClr val="E97132"/>
                </a:solidFill>
              </a:rPr>
              <a:t>, F</a:t>
            </a:r>
            <a:r>
              <a:rPr sz="1600" baseline="-25000">
                <a:solidFill>
                  <a:srgbClr val="E97132"/>
                </a:solidFill>
              </a:rPr>
              <a:t>s</a:t>
            </a:r>
            <a:r>
              <a:rPr sz="1600">
                <a:solidFill>
                  <a:srgbClr val="E97132"/>
                </a:solidFill>
              </a:rPr>
              <a:t>, 콩 P2)는 보정에 안정적 — 작은 차이(콩 P1 Φ</a:t>
            </a:r>
            <a:r>
              <a:rPr sz="1600" baseline="-25000">
                <a:solidFill>
                  <a:srgbClr val="E97132"/>
                </a:solidFill>
              </a:rPr>
              <a:t>PSII</a:t>
            </a:r>
            <a:r>
              <a:rPr sz="1600">
                <a:solidFill>
                  <a:srgbClr val="E97132"/>
                </a:solidFill>
              </a:rPr>
              <a:t>, ETR)는 보정 방식에 민감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그림 A: 콩 P2 개별 잎, 선 = 보정 후 PAR 기울기. B·C: 같은 날 처리별 PAR·기온. 표: 콩 P1(P2는 4처리) 처리 P, Wald F. Ali et al. (2025) J. Exp. Bot. 76:4141; Gao et al. (2024) J. Exp. Bot. 75:4904.</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A2. LI-6800 광-광합성 곡선 (A-Q)</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22</a:t>
            </a:fld>
            <a:endParaRPr lang="ko-KR" altLang="en-US"/>
          </a:p>
        </p:txBody>
      </p:sp>
      <p:pic>
        <p:nvPicPr>
          <p:cNvPr id="14" name="Picture 13" descr="image.png"/>
          <p:cNvPicPr>
            <a:picLocks noChangeAspect="1"/>
          </p:cNvPicPr>
          <p:nvPr/>
        </p:nvPicPr>
        <p:blipFill>
          <a:blip r:embed="rId4"/>
          <a:stretch>
            <a:fillRect/>
          </a:stretch>
        </p:blipFill>
        <p:spPr>
          <a:xfrm>
            <a:off x="457199" y="1364948"/>
            <a:ext cx="6766560" cy="2258198"/>
          </a:xfrm>
          <a:prstGeom prst="rect">
            <a:avLst/>
          </a:prstGeom>
        </p:spPr>
      </p:pic>
      <p:sp>
        <p:nvSpPr>
          <p:cNvPr id="8" name="Card PPFD별 Dunc"/>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Header PPFD별 Dunc"/>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PPFD 1,500에서의 A</a:t>
            </a:r>
          </a:p>
        </p:txBody>
      </p:sp>
      <p:graphicFrame>
        <p:nvGraphicFramePr>
          <p:cNvPr id="10" name="Table 9"/>
          <p:cNvGraphicFramePr>
            <a:graphicFrameLocks noGrp="1"/>
          </p:cNvGraphicFramePr>
          <p:nvPr/>
        </p:nvGraphicFramePr>
        <p:xfrm>
          <a:off x="7680960" y="1783080"/>
          <a:ext cx="3749040" cy="1901952"/>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37744">
                <a:tc>
                  <a:txBody>
                    <a:bodyPr/>
                    <a:lstStyle/>
                    <a:p>
                      <a:pPr algn="l"/>
                      <a:r>
                        <a:rPr sz="1050" b="1">
                          <a:solidFill>
                            <a:srgbClr val="000000"/>
                          </a:solidFill>
                        </a:rPr>
                        <a:t>A (PPFD 1500)</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Soybean</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1050" b="1">
                          <a:solidFill>
                            <a:srgbClr val="000000"/>
                          </a:solidFill>
                        </a:rPr>
                        <a:t>Romaine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37744">
                <a:tc>
                  <a:txBody>
                    <a:bodyPr/>
                    <a:lstStyle/>
                    <a:p>
                      <a:pPr algn="l"/>
                      <a:r>
                        <a:rPr sz="1050" b="0">
                          <a:solidFill>
                            <a:srgbClr val="000000"/>
                          </a:solidFill>
                        </a:rPr>
                        <a:t>Pre-treatment</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12.9</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1050" b="0">
                          <a:solidFill>
                            <a:srgbClr val="000000"/>
                          </a:solidFill>
                        </a:rPr>
                        <a:t>22.6</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37744">
                <a:tc>
                  <a:txBody>
                    <a:bodyPr/>
                    <a:lstStyle/>
                    <a:p>
                      <a:pPr algn="l"/>
                      <a:r>
                        <a:rPr sz="1050" b="0">
                          <a:solidFill>
                            <a:srgbClr val="000000"/>
                          </a:solidFill>
                        </a:rPr>
                        <a:t>Control</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16.4</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37744">
                <a:tc>
                  <a:txBody>
                    <a:bodyPr/>
                    <a:lstStyle/>
                    <a:p>
                      <a:pPr algn="l"/>
                      <a:r>
                        <a:rPr sz="105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16.7</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19.5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37744">
                <a:tc>
                  <a:txBody>
                    <a:bodyPr/>
                    <a:lstStyle/>
                    <a:p>
                      <a:pPr algn="l"/>
                      <a:r>
                        <a:rPr sz="1050" b="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12.5</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21.2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37744">
                <a:tc>
                  <a:txBody>
                    <a:bodyPr/>
                    <a:lstStyle/>
                    <a:p>
                      <a:pPr algn="l"/>
                      <a:r>
                        <a:rPr sz="1050" b="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15.8</a:t>
                      </a:r>
                    </a:p>
                  </a:txBody>
                  <a:tcPr marL="54864" marR="54864" marT="18288" marB="18288" anchor="ctr">
                    <a:lnL w="12700">
                      <a:noFill/>
                    </a:lnL>
                    <a:lnR w="12700">
                      <a:noFill/>
                    </a:lnR>
                    <a:lnT w="12700">
                      <a:noFill/>
                    </a:lnT>
                    <a:lnB w="12700">
                      <a:noFill/>
                    </a:lnB>
                    <a:noFill/>
                  </a:tcPr>
                </a:tc>
                <a:tc>
                  <a:txBody>
                    <a:bodyPr/>
                    <a:lstStyle/>
                    <a:p>
                      <a:pPr algn="ctr"/>
                      <a:r>
                        <a:rPr sz="1050" b="0">
                          <a:solidFill>
                            <a:srgbClr val="000000"/>
                          </a:solidFill>
                        </a:rPr>
                        <a:t>17.7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7680960" y="3749039"/>
            <a:ext cx="3886200" cy="1737360"/>
          </a:xfrm>
          <a:prstGeom prst="rect">
            <a:avLst/>
          </a:prstGeom>
          <a:noFill/>
        </p:spPr>
        <p:txBody>
          <a:bodyPr wrap="square">
            <a:spAutoFit/>
          </a:bodyPr>
          <a:lstStyle/>
          <a:p>
            <a:pPr marL="201168" indent="-201168">
              <a:buFont typeface="Arial"/>
              <a:buChar char="•"/>
            </a:pPr>
            <a:r>
              <a:rPr sz="1100" b="0">
                <a:solidFill>
                  <a:srgbClr val="000000"/>
                </a:solidFill>
              </a:rPr>
              <a:t>PPFD 8개 수준 모두에서 처리 간 유의차 없음 (최소 P: 콩 0.057, 로메인 0.533)</a:t>
            </a:r>
          </a:p>
          <a:p>
            <a:pPr marL="201168" indent="-201168">
              <a:buFont typeface="Arial"/>
              <a:buChar char="•"/>
            </a:pPr>
            <a:r>
              <a:rPr sz="1100" b="0">
                <a:solidFill>
                  <a:srgbClr val="000000"/>
                </a:solidFill>
              </a:rPr>
              <a:t>처리 전 곡선은 콩에서 처리 후보다 낮고(약 13), 로메인은 처리 전 약 23으로 처리 후(18~21)보다 높음</a:t>
            </a:r>
          </a:p>
          <a:p>
            <a:pPr marL="201168" indent="-201168">
              <a:buFont typeface="Arial"/>
              <a:buChar char="•"/>
            </a:pPr>
            <a:r>
              <a:rPr sz="1100" b="0">
                <a:solidFill>
                  <a:srgbClr val="000000"/>
                </a:solidFill>
              </a:rPr>
              <a:t>콩 침수구 12.5는 대조구 16.4보다 낮은 경향 (P≈0.06), 로메인 복합구 17.7도 낮은 경향 (n.s.)</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두 작물 모두 처리 간 A-Q 곡선 차이는 없음</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값: 평균 ± SE (µmol CO</a:t>
            </a:r>
            <a:r>
              <a:rPr sz="1000" b="0" baseline="-25000">
                <a:solidFill>
                  <a:srgbClr val="595959"/>
                </a:solidFill>
              </a:rPr>
              <a:t>2</a:t>
            </a:r>
            <a:r>
              <a:rPr sz="1000" b="0">
                <a:solidFill>
                  <a:srgbClr val="595959"/>
                </a:solidFill>
              </a:rPr>
              <a:t> m</a:t>
            </a:r>
            <a:r>
              <a:rPr sz="1000" b="0" baseline="30000">
                <a:solidFill>
                  <a:srgbClr val="595959"/>
                </a:solidFill>
              </a:rPr>
              <a:t>−2</a:t>
            </a:r>
            <a:r>
              <a:rPr sz="1000" b="0">
                <a:solidFill>
                  <a:srgbClr val="595959"/>
                </a:solidFill>
              </a:rPr>
              <a:t>·s</a:t>
            </a:r>
            <a:r>
              <a:rPr sz="1000" b="0" baseline="30000">
                <a:solidFill>
                  <a:srgbClr val="595959"/>
                </a:solidFill>
              </a:rPr>
              <a:t>−1</a:t>
            </a:r>
            <a:r>
              <a:rPr sz="1000" b="0">
                <a:solidFill>
                  <a:srgbClr val="595959"/>
                </a:solidFill>
              </a:rPr>
              <a:t>). 콩 처리 전 7/22~23(3곡선), 로메인 처리 전 10/4(3곡선), 처리 후 처리당 3곡선(10/16~19). PPFD 수준별 Tukey.</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A3. 정상 상태 형광 (F</a:t>
            </a:r>
            <a:r>
              <a:rPr lang="ko-KR" altLang="en-US" sz="2800" dirty="0" baseline="-25000"/>
              <a:t>s</a:t>
            </a:r>
            <a:r>
              <a:rPr lang="ko-KR" altLang="en-US" sz="2800" dirty="0"/>
              <a:t>): 실제 값 비교</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25</a:t>
            </a:fld>
            <a:endParaRPr lang="ko-KR" altLang="en-US"/>
          </a:p>
        </p:txBody>
      </p:sp>
      <p:pic>
        <p:nvPicPr>
          <p:cNvPr id="14" name="Picture 13" descr="image.png"/>
          <p:cNvPicPr>
            <a:picLocks noChangeAspect="1"/>
          </p:cNvPicPr>
          <p:nvPr/>
        </p:nvPicPr>
        <p:blipFill>
          <a:blip r:embed="rId4"/>
          <a:stretch>
            <a:fillRect/>
          </a:stretch>
        </p:blipFill>
        <p:spPr>
          <a:xfrm>
            <a:off x="484774" y="1188720"/>
            <a:ext cx="6848571" cy="2549999"/>
          </a:xfrm>
          <a:prstGeom prst="rect">
            <a:avLst/>
          </a:prstGeom>
        </p:spPr>
      </p:pic>
      <p:graphicFrame>
        <p:nvGraphicFramePr>
          <p:cNvPr id="8" name="Table 7"/>
          <p:cNvGraphicFramePr>
            <a:graphicFrameLocks noGrp="1"/>
          </p:cNvGraphicFramePr>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129 b (130; 130)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113 b (114; 110)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157.3 a (157.1;158.3)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142.1 a (142.8;143.2)</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 a (133; 134)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161.0 a (161.0;159.3)</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141.8 a (142.5;142.7)</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139 a (139; 138)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131 a (131; 129)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158.0 a (158.0;157.7)</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141.6 a (142.1;141.2)</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134 a (133; 131)</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161.6 a (161.7;162.6)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144.5 a (144.7;143.4)</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190000">
                <a:tc>
                  <a:txBody>
                    <a:bodyPr/>
                    <a:lstStyle/>
                    <a:p>
                      <a:pPr algn="l"/>
                      <a:r>
                        <a:rPr sz="800" b="0">
                          <a:solidFill>
                            <a:srgbClr val="000000"/>
                          </a:solidFill>
                        </a:rPr>
                        <a:t>W × I P</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0.059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0.99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0.63</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190000">
                <a:tc>
                  <a:txBody>
                    <a:bodyPr/>
                    <a:lstStyle/>
                    <a:p>
                      <a:pPr algn="l"/>
                      <a:r>
                        <a:rPr sz="800" b="0">
                          <a:solidFill>
                            <a:srgbClr val="000000"/>
                          </a:solidFill>
                        </a:rPr>
                        <a:t>Treatment P</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0.002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0.66</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0.92</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F</a:t>
            </a:r>
            <a:r>
              <a:rPr sz="1400" baseline="-25000">
                <a:solidFill>
                  <a:srgbClr val="000000"/>
                </a:solidFill>
              </a:rPr>
              <a:t>s</a:t>
            </a:r>
            <a:r>
              <a:rPr sz="1400">
                <a:solidFill>
                  <a:srgbClr val="000000"/>
                </a:solidFill>
              </a:rPr>
              <a:t>: 콩 118, 로메인 154</a:t>
            </a:r>
          </a:p>
          <a:p>
            <a:pPr marL="201168" indent="-201168">
              <a:spcBef>
                <a:spcPts val="700"/>
              </a:spcBef>
              <a:buFont typeface="Arial"/>
              <a:buChar char="•"/>
            </a:pPr>
            <a:r>
              <a:rPr sz="1400">
                <a:solidFill>
                  <a:srgbClr val="000000"/>
                </a:solidFill>
              </a:rPr>
              <a:t>콩 P1 침수 139 (a) &gt; 대조구 129 (b), P2 건조·침수·복합 131~134 (a) &gt; 대조구 113 (b)</a:t>
            </a:r>
          </a:p>
          <a:p>
            <a:pPr marL="201168" indent="-201168">
              <a:spcBef>
                <a:spcPts val="700"/>
              </a:spcBef>
              <a:buFont typeface="Arial"/>
              <a:buChar char="•"/>
            </a:pPr>
            <a:r>
              <a:rPr sz="1400">
                <a:solidFill>
                  <a:srgbClr val="000000"/>
                </a:solidFill>
              </a:rPr>
              <a:t>로메인 P1 155~162, P2 142~145: 처리 간 차이 없음 (P=0.66, 0.92)</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F</a:t>
            </a:r>
            <a:r>
              <a:rPr sz="1600" baseline="-25000">
                <a:solidFill>
                  <a:srgbClr val="E97132"/>
                </a:solidFill>
              </a:rPr>
              <a:t>s</a:t>
            </a:r>
            <a:r>
              <a:rPr sz="1600">
                <a:solidFill>
                  <a:srgbClr val="E97132"/>
                </a:solidFill>
              </a:rPr>
              <a:t> 절대값 차이는 형광 신호 크기 변화를 포함 — 생리 해석은 비율 지표(Φ</a:t>
            </a:r>
            <a:r>
              <a:rPr sz="1600" baseline="-25000">
                <a:solidFill>
                  <a:srgbClr val="E97132"/>
                </a:solidFill>
              </a:rPr>
              <a:t>PSII</a:t>
            </a:r>
            <a:r>
              <a:rPr sz="1600">
                <a:solidFill>
                  <a:srgbClr val="E97132"/>
                </a:solidFill>
              </a:rPr>
              <a:t>)로</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괄호 = (PAR만 보정; 원 평균). 공통 측정일만 사용(로메인 P1 = DAT 5~10). W × I = 침수 × 관수 상호작용. 그림(보정 일평균): 음영 ± SE, 점선 P1/P2 경계, 회색 띠 흐린 날, * 당일 P&lt;0.05(Holm), X 처리 전.</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A4. 전자전달속도 (ETR): 실제 값 비교</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26</a:t>
            </a:fld>
            <a:endParaRPr lang="ko-KR" altLang="en-US"/>
          </a:p>
        </p:txBody>
      </p:sp>
      <p:pic>
        <p:nvPicPr>
          <p:cNvPr id="14" name="Picture 13" descr="image.png"/>
          <p:cNvPicPr>
            <a:picLocks noChangeAspect="1"/>
          </p:cNvPicPr>
          <p:nvPr/>
        </p:nvPicPr>
        <p:blipFill>
          <a:blip r:embed="rId4"/>
          <a:stretch>
            <a:fillRect/>
          </a:stretch>
        </p:blipFill>
        <p:spPr>
          <a:xfrm>
            <a:off x="484774" y="1188720"/>
            <a:ext cx="6848571" cy="2549999"/>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4152298316"/>
              </p:ext>
            </p:extLst>
          </p:nvPr>
        </p:nvGraphicFramePr>
        <p:xfrm>
          <a:off x="457200" y="3790000"/>
          <a:ext cx="6858000" cy="133000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190000">
                <a:tc>
                  <a:txBody>
                    <a:bodyPr/>
                    <a:lstStyle/>
                    <a:p>
                      <a:pPr algn="l"/>
                      <a:r>
                        <a:rPr sz="800" b="1" dirty="0">
                          <a:solidFill>
                            <a:srgbClr val="000000"/>
                          </a:solidFill>
                        </a:rPr>
                        <a:t>Treatment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lang="en-US" sz="800" b="1" dirty="0">
                          <a:solidFill>
                            <a:srgbClr val="000000"/>
                          </a:solidFill>
                        </a:rPr>
                        <a:t>Soybean</a:t>
                      </a:r>
                      <a:r>
                        <a:rPr sz="800" b="1" dirty="0">
                          <a:solidFill>
                            <a:srgbClr val="000000"/>
                          </a:solidFill>
                        </a:rPr>
                        <a:t>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P1</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800" b="1">
                          <a:solidFill>
                            <a:srgbClr val="000000"/>
                          </a:solidFill>
                        </a:rPr>
                        <a:t>Romaine P2</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190000">
                <a:tc>
                  <a:txBody>
                    <a:bodyPr/>
                    <a:lstStyle/>
                    <a:p>
                      <a:pPr algn="l"/>
                      <a:r>
                        <a:rPr sz="800" b="0">
                          <a:solidFill>
                            <a:srgbClr val="000000"/>
                          </a:solidFill>
                        </a:rPr>
                        <a:t>Control</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119 a (116; 121)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190 a (189; 170)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141.7 a (141.5;147.1)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800" b="0">
                          <a:solidFill>
                            <a:srgbClr val="000000"/>
                          </a:solidFill>
                        </a:rPr>
                        <a:t>75.6 a (76.4;72.3)</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190000">
                <a:tc>
                  <a:txBody>
                    <a:bodyPr/>
                    <a:lstStyle/>
                    <a:p>
                      <a:pPr algn="l"/>
                      <a:r>
                        <a:rPr sz="800" b="0">
                          <a:solidFill>
                            <a:srgbClr val="000000"/>
                          </a:solidFill>
                        </a:rPr>
                        <a:t>Drought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146 c (146; 154)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137.8 a (137.8;129.8)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78.3 a (79.0;75.5)</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190000">
                <a:tc>
                  <a:txBody>
                    <a:bodyPr/>
                    <a:lstStyle/>
                    <a:p>
                      <a:pPr algn="l"/>
                      <a:r>
                        <a:rPr lang="en-US" sz="800" b="0" dirty="0">
                          <a:solidFill>
                            <a:srgbClr val="000000"/>
                          </a:solidFill>
                        </a:rPr>
                        <a:t>Waterlogging</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110 b (111; 109)</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180 ab (180; 175)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132.7 a (132.7;130.8)</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72.7 a (73.2;75.6)</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190000">
                <a:tc>
                  <a:txBody>
                    <a:bodyPr/>
                    <a:lstStyle/>
                    <a:p>
                      <a:pPr algn="l"/>
                      <a:r>
                        <a:rPr lang="en-US" sz="800" b="0" dirty="0">
                          <a:solidFill>
                            <a:srgbClr val="000000"/>
                          </a:solidFill>
                        </a:rPr>
                        <a:t>Combined</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165 bc (165; 152)</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130.1 a (130.2;134.5)</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80.4 a (80.5;85.6)</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190000">
                <a:tc>
                  <a:txBody>
                    <a:bodyPr/>
                    <a:lstStyle/>
                    <a:p>
                      <a:pPr algn="l"/>
                      <a:r>
                        <a:rPr sz="800" b="0">
                          <a:solidFill>
                            <a:srgbClr val="000000"/>
                          </a:solidFill>
                        </a:rPr>
                        <a:t>W × I P</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0.036</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0.84</a:t>
                      </a:r>
                    </a:p>
                  </a:txBody>
                  <a:tcPr marL="54864" marR="54864" marT="18288" marB="18288" anchor="ctr">
                    <a:lnL w="12700">
                      <a:noFill/>
                    </a:lnL>
                    <a:lnR w="12700">
                      <a:noFill/>
                    </a:lnR>
                    <a:lnT w="12700">
                      <a:noFill/>
                    </a:lnT>
                    <a:lnB w="12700">
                      <a:noFill/>
                    </a:lnB>
                    <a:noFill/>
                  </a:tcPr>
                </a:tc>
                <a:tc>
                  <a:txBody>
                    <a:bodyPr/>
                    <a:lstStyle/>
                    <a:p>
                      <a:pPr algn="ctr"/>
                      <a:r>
                        <a:rPr sz="800" b="0">
                          <a:solidFill>
                            <a:srgbClr val="000000"/>
                          </a:solidFill>
                        </a:rPr>
                        <a:t>0.56</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190000">
                <a:tc>
                  <a:txBody>
                    <a:bodyPr/>
                    <a:lstStyle/>
                    <a:p>
                      <a:pPr algn="l"/>
                      <a:r>
                        <a:rPr sz="800" b="0">
                          <a:solidFill>
                            <a:srgbClr val="000000"/>
                          </a:solidFill>
                        </a:rPr>
                        <a:t>Treatment P</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0.021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&lt;0.001</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0.060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800" b="0">
                          <a:solidFill>
                            <a:srgbClr val="000000"/>
                          </a:solidFill>
                        </a:rPr>
                        <a:t>0.61</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06"/>
                  </a:ext>
                </a:extLst>
              </a:tr>
            </a:tbl>
          </a:graphicData>
        </a:graphic>
      </p:graphicFrame>
      <p:sp>
        <p:nvSpPr>
          <p:cNvPr id="9" name="Card 요점"/>
          <p:cNvSpPr/>
          <p:nvPr/>
        </p:nvSpPr>
        <p:spPr>
          <a:xfrm>
            <a:off x="7498079" y="1399032"/>
            <a:ext cx="4206240" cy="4133087"/>
          </a:xfrm>
          <a:prstGeom prst="roundRect">
            <a:avLst>
              <a:gd name="adj" fmla="val 3400"/>
            </a:avLst>
          </a:prstGeom>
          <a:solidFill>
            <a:srgbClr val="FBFBFB"/>
          </a:solidFill>
          <a:ln w="12700">
            <a:solidFill>
              <a:srgbClr val="AFA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ader 요점"/>
          <p:cNvSpPr/>
          <p:nvPr/>
        </p:nvSpPr>
        <p:spPr>
          <a:xfrm>
            <a:off x="7680959" y="1188720"/>
            <a:ext cx="3840479" cy="420624"/>
          </a:xfrm>
          <a:prstGeom prst="roundRect">
            <a:avLst>
              <a:gd name="adj" fmla="val 2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lIns="73152" tIns="27432" rIns="73152" bIns="27432" rtlCol="0" anchor="ctr"/>
          <a:lstStyle/>
          <a:p>
            <a:pPr algn="ctr"/>
            <a:r>
              <a:rPr sz="1600" b="1">
                <a:solidFill>
                  <a:srgbClr val="FFFFFF"/>
                </a:solidFill>
              </a:rPr>
              <a:t>요점</a:t>
            </a:r>
          </a:p>
        </p:txBody>
      </p:sp>
      <p:sp>
        <p:nvSpPr>
          <p:cNvPr id="11" name="TextBox 10"/>
          <p:cNvSpPr txBox="1"/>
          <p:nvPr/>
        </p:nvSpPr>
        <p:spPr>
          <a:xfrm>
            <a:off x="7680959" y="1783080"/>
            <a:ext cx="3886200" cy="3657600"/>
          </a:xfrm>
          <a:prstGeom prst="rect">
            <a:avLst/>
          </a:prstGeom>
          <a:noFill/>
        </p:spPr>
        <p:txBody>
          <a:bodyPr wrap="square">
            <a:spAutoFit/>
          </a:bodyPr>
          <a:lstStyle/>
          <a:p>
            <a:pPr marL="201168" indent="-201168">
              <a:spcBef>
                <a:spcPts val="0"/>
              </a:spcBef>
              <a:buFont typeface="Arial"/>
              <a:buChar char="•"/>
            </a:pPr>
            <a:r>
              <a:rPr sz="1400">
                <a:solidFill>
                  <a:srgbClr val="000000"/>
                </a:solidFill>
              </a:rPr>
              <a:t>처리 전 ETR: 콩 187</a:t>
            </a:r>
          </a:p>
          <a:p>
            <a:pPr marL="201168" indent="-201168">
              <a:spcBef>
                <a:spcPts val="700"/>
              </a:spcBef>
              <a:buFont typeface="Arial"/>
              <a:buChar char="•"/>
            </a:pPr>
            <a:r>
              <a:rPr sz="1400">
                <a:solidFill>
                  <a:srgbClr val="000000"/>
                </a:solidFill>
              </a:rPr>
              <a:t>콩 P1 대조구 119 (a) vs 침수 110 (b) (P=0.021, 보정 방식에 따라 유의성이 달라짐), P2 대조구 190 (a) &gt; 복합 165 (bc) &gt; 건조 146 (c) (W × I P=0.036)</a:t>
            </a:r>
          </a:p>
          <a:p>
            <a:pPr marL="201168" indent="-201168">
              <a:spcBef>
                <a:spcPts val="700"/>
              </a:spcBef>
              <a:buFont typeface="Arial"/>
              <a:buChar char="•"/>
            </a:pPr>
            <a:r>
              <a:rPr sz="1400">
                <a:solidFill>
                  <a:srgbClr val="000000"/>
                </a:solidFill>
              </a:rPr>
              <a:t>로메인 P1 대조구 142 &gt; 침수 133·복합 130 (침수 효과 P=0.011, 처리 P=0.060; 측정일 반복 n.s., P=0.46), P2 차이 없음 (P=0.61)</a:t>
            </a:r>
          </a:p>
        </p:txBody>
      </p:sp>
      <p:sp>
        <p:nvSpPr>
          <p:cNvPr id="12"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ETR은 광도에 비례 — 콩 P2 처리 차이는 Φ</a:t>
            </a:r>
            <a:r>
              <a:rPr sz="1600" baseline="-25000">
                <a:solidFill>
                  <a:srgbClr val="E97132"/>
                </a:solidFill>
              </a:rPr>
              <a:t>PSII</a:t>
            </a:r>
            <a:r>
              <a:rPr sz="1600">
                <a:solidFill>
                  <a:srgbClr val="E97132"/>
                </a:solidFill>
              </a:rPr>
              <a:t>와 같이 고광도에서 커짐</a:t>
            </a:r>
          </a:p>
        </p:txBody>
      </p:sp>
      <p:sp>
        <p:nvSpPr>
          <p:cNvPr id="13"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표: 측정일·선형 PAR(Q</a:t>
            </a:r>
            <a:r>
              <a:rPr sz="1000" baseline="-25000">
                <a:solidFill>
                  <a:srgbClr val="595959"/>
                </a:solidFill>
              </a:rPr>
              <a:t>amb</a:t>
            </a:r>
            <a:r>
              <a:rPr sz="1000">
                <a:solidFill>
                  <a:srgbClr val="595959"/>
                </a:solidFill>
              </a:rPr>
              <a:t>)·기온(T</a:t>
            </a:r>
            <a:r>
              <a:rPr sz="1000" baseline="-25000">
                <a:solidFill>
                  <a:srgbClr val="595959"/>
                </a:solidFill>
              </a:rPr>
              <a:t>air</a:t>
            </a:r>
            <a:r>
              <a:rPr sz="1000">
                <a:solidFill>
                  <a:srgbClr val="595959"/>
                </a:solidFill>
              </a:rPr>
              <a:t>) 보정 평균, Tukey 문자, 괄호 = (PAR만 보정; 원 평균). 공통 측정일만 사용(로메인 P1 = DAT 5~10). W × I = 침수 × 관수 상호작용.</a:t>
            </a:r>
          </a:p>
        </p:txBody>
      </p:sp>
      <p:sp>
        <p:nvSpPr>
          <p:cNvPr id="15"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6"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7"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8"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9"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20"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A7. 측정 당시 일사 조건: 흐린 날 표시</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27</a:t>
            </a:fld>
            <a:endParaRPr lang="ko-KR" altLang="en-US"/>
          </a:p>
        </p:txBody>
      </p:sp>
      <p:sp>
        <p:nvSpPr>
          <p:cNvPr id="7" name="Rounded Rectangle 6"/>
          <p:cNvSpPr/>
          <p:nvPr/>
        </p:nvSpPr>
        <p:spPr>
          <a:xfrm>
            <a:off x="457200" y="1188720"/>
            <a:ext cx="5394960" cy="274320"/>
          </a:xfrm>
          <a:prstGeom prst="roundRect">
            <a:avLst>
              <a:gd name="adj" fmla="val 20000"/>
            </a:avLst>
          </a:prstGeom>
          <a:solidFill>
            <a:srgbClr val="0B76A0"/>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콩</a:t>
            </a:r>
          </a:p>
        </p:txBody>
      </p:sp>
      <p:graphicFrame>
        <p:nvGraphicFramePr>
          <p:cNvPr id="8" name="Table 7"/>
          <p:cNvGraphicFramePr>
            <a:graphicFrameLocks noGrp="1"/>
          </p:cNvGraphicFramePr>
          <p:nvPr/>
        </p:nvGraphicFramePr>
        <p:xfrm>
          <a:off x="45720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08/13</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10:31–11:01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348</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0.61</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08/14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10:19–10:36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08/15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08:31–08:40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08/16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08:43–08:57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08/17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08:37–08:51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08/18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08:54–09:05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08/19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09:42–10:01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08/20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09:32–09:45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162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08/21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08:18–08:25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52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08/29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11:39–12:32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76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09/04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10:25–11:02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09/11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10:16–10:43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09/25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09:19–09:59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129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10/02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10:25–11:06</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338</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0.92</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9" name="Rounded Rectangle 8"/>
          <p:cNvSpPr/>
          <p:nvPr/>
        </p:nvSpPr>
        <p:spPr>
          <a:xfrm>
            <a:off x="6309360" y="1188720"/>
            <a:ext cx="5394960" cy="274320"/>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tIns="0" bIns="0" rtlCol="0" anchor="ctr"/>
          <a:lstStyle/>
          <a:p>
            <a:pPr algn="ctr"/>
            <a:r>
              <a:rPr sz="1300" b="1">
                <a:solidFill>
                  <a:srgbClr val="FFFFFF"/>
                </a:solidFill>
              </a:rPr>
              <a:t>로메인 상추</a:t>
            </a:r>
          </a:p>
        </p:txBody>
      </p:sp>
      <p:graphicFrame>
        <p:nvGraphicFramePr>
          <p:cNvPr id="10" name="Table 9"/>
          <p:cNvGraphicFramePr>
            <a:graphicFrameLocks noGrp="1"/>
          </p:cNvGraphicFramePr>
          <p:nvPr/>
        </p:nvGraphicFramePr>
        <p:xfrm>
          <a:off x="6309360" y="1508760"/>
          <a:ext cx="5394960" cy="3634740"/>
        </p:xfrm>
        <a:graphic>
          <a:graphicData uri="http://schemas.openxmlformats.org/drawingml/2006/table">
            <a:tbl>
              <a:tblPr>
                <a:tableStyleId>{2D5ABB26-0587-4C30-8999-92F81FD0307C}</a:tableStyleId>
              </a:tblPr>
              <a:tblGrid>
                <a:gridCol w="7315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242316">
                <a:tc>
                  <a:txBody>
                    <a:bodyPr/>
                    <a:lstStyle/>
                    <a:p>
                      <a:pPr algn="l"/>
                      <a:r>
                        <a:rPr sz="950" b="1">
                          <a:solidFill>
                            <a:srgbClr val="000000"/>
                          </a:solidFill>
                        </a:rPr>
                        <a:t>Date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Time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SW (W·m</a:t>
                      </a:r>
                      <a:r>
                        <a:rPr sz="950" b="1" baseline="30000">
                          <a:solidFill>
                            <a:srgbClr val="000000"/>
                          </a:solidFill>
                        </a:rPr>
                        <a:t>−2</a:t>
                      </a:r>
                      <a:r>
                        <a:rPr sz="950" b="1">
                          <a:solidFill>
                            <a:srgbClr val="000000"/>
                          </a:solidFill>
                        </a:rPr>
                        <a:t>)</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CI</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tc>
                  <a:txBody>
                    <a:bodyPr/>
                    <a:lstStyle/>
                    <a:p>
                      <a:pPr algn="ctr"/>
                      <a:r>
                        <a:rPr sz="950" b="1">
                          <a:solidFill>
                            <a:srgbClr val="000000"/>
                          </a:solidFill>
                        </a:rPr>
                        <a:t>Use</a:t>
                      </a:r>
                    </a:p>
                  </a:txBody>
                  <a:tcPr marL="54864" marR="54864" marT="18288" marB="18288" anchor="ctr">
                    <a:lnL w="12700">
                      <a:noFill/>
                    </a:lnL>
                    <a:lnR w="12700">
                      <a:noFill/>
                    </a:lnR>
                    <a:lnT w="19050" cap="flat" cmpd="sng" algn="ctr">
                      <a:solidFill>
                        <a:srgbClr val="000000"/>
                      </a:solidFill>
                      <a:prstDash val="solid"/>
                    </a:lnT>
                    <a:lnB w="9525" cap="flat" cmpd="sng" algn="ctr">
                      <a:solidFill>
                        <a:srgbClr val="000000"/>
                      </a:solidFill>
                      <a:prstDash val="solid"/>
                    </a:lnB>
                    <a:noFill/>
                  </a:tcPr>
                </a:tc>
                <a:extLst>
                  <a:ext uri="{0D108BD9-81ED-4DB2-BD59-A6C34878D82A}">
                    <a16:rowId xmlns:a16="http://schemas.microsoft.com/office/drawing/2014/main" val="10000"/>
                  </a:ext>
                </a:extLst>
              </a:tr>
              <a:tr h="242316">
                <a:tc>
                  <a:txBody>
                    <a:bodyPr/>
                    <a:lstStyle/>
                    <a:p>
                      <a:pPr algn="l"/>
                      <a:r>
                        <a:rPr sz="950" b="0">
                          <a:solidFill>
                            <a:srgbClr val="000000"/>
                          </a:solidFill>
                        </a:rPr>
                        <a:t>10/06</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10:20–10:22</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214</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0.50</a:t>
                      </a:r>
                    </a:p>
                  </a:txBody>
                  <a:tcPr marL="54864" marR="54864" marT="18288" marB="18288" anchor="ctr">
                    <a:lnL w="12700">
                      <a:noFill/>
                    </a:lnL>
                    <a:lnR w="12700">
                      <a:noFill/>
                    </a:lnR>
                    <a:lnT w="9525" cap="flat" cmpd="sng" algn="ctr">
                      <a:solidFill>
                        <a:srgbClr val="000000"/>
                      </a:solidFill>
                      <a:prstDash val="solid"/>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9525" cap="flat" cmpd="sng" algn="ctr">
                      <a:solidFill>
                        <a:srgbClr val="000000"/>
                      </a:solidFill>
                      <a:prstDash val="solid"/>
                    </a:lnT>
                    <a:lnB w="12700">
                      <a:noFill/>
                    </a:lnB>
                    <a:noFill/>
                  </a:tcPr>
                </a:tc>
                <a:extLst>
                  <a:ext uri="{0D108BD9-81ED-4DB2-BD59-A6C34878D82A}">
                    <a16:rowId xmlns:a16="http://schemas.microsoft.com/office/drawing/2014/main" val="10001"/>
                  </a:ext>
                </a:extLst>
              </a:tr>
              <a:tr h="242316">
                <a:tc>
                  <a:txBody>
                    <a:bodyPr/>
                    <a:lstStyle/>
                    <a:p>
                      <a:pPr algn="l"/>
                      <a:r>
                        <a:rPr sz="950" b="0">
                          <a:solidFill>
                            <a:srgbClr val="000000"/>
                          </a:solidFill>
                        </a:rPr>
                        <a:t>10/08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09:29–09:36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2"/>
                  </a:ext>
                </a:extLst>
              </a:tr>
              <a:tr h="242316">
                <a:tc>
                  <a:txBody>
                    <a:bodyPr/>
                    <a:lstStyle/>
                    <a:p>
                      <a:pPr algn="l"/>
                      <a:r>
                        <a:rPr sz="950" b="0">
                          <a:solidFill>
                            <a:srgbClr val="000000"/>
                          </a:solidFill>
                        </a:rPr>
                        <a:t>10/09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10:53–10:59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0.45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3"/>
                  </a:ext>
                </a:extLst>
              </a:tr>
              <a:tr h="242316">
                <a:tc>
                  <a:txBody>
                    <a:bodyPr/>
                    <a:lstStyle/>
                    <a:p>
                      <a:pPr algn="l"/>
                      <a:r>
                        <a:rPr sz="950" b="0">
                          <a:solidFill>
                            <a:srgbClr val="000000"/>
                          </a:solidFill>
                        </a:rPr>
                        <a:t>10/10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09:44–09:53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354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4"/>
                  </a:ext>
                </a:extLst>
              </a:tr>
              <a:tr h="242316">
                <a:tc>
                  <a:txBody>
                    <a:bodyPr/>
                    <a:lstStyle/>
                    <a:p>
                      <a:pPr algn="l"/>
                      <a:r>
                        <a:rPr sz="950" b="0">
                          <a:solidFill>
                            <a:srgbClr val="000000"/>
                          </a:solidFill>
                        </a:rPr>
                        <a:t>10/11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11:17–11:28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366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0.74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5"/>
                  </a:ext>
                </a:extLst>
              </a:tr>
              <a:tr h="242316">
                <a:tc>
                  <a:txBody>
                    <a:bodyPr/>
                    <a:lstStyle/>
                    <a:p>
                      <a:pPr algn="l"/>
                      <a:r>
                        <a:rPr sz="950" b="0">
                          <a:solidFill>
                            <a:srgbClr val="000000"/>
                          </a:solidFill>
                        </a:rPr>
                        <a:t>10/12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10:36–10:57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484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6"/>
                  </a:ext>
                </a:extLst>
              </a:tr>
              <a:tr h="242316">
                <a:tc>
                  <a:txBody>
                    <a:bodyPr/>
                    <a:lstStyle/>
                    <a:p>
                      <a:pPr algn="l"/>
                      <a:r>
                        <a:rPr sz="950" b="0">
                          <a:solidFill>
                            <a:srgbClr val="000000"/>
                          </a:solidFill>
                        </a:rPr>
                        <a:t>10/13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09:33–10:06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7"/>
                  </a:ext>
                </a:extLst>
              </a:tr>
              <a:tr h="242316">
                <a:tc>
                  <a:txBody>
                    <a:bodyPr/>
                    <a:lstStyle/>
                    <a:p>
                      <a:pPr algn="l"/>
                      <a:r>
                        <a:rPr sz="950" b="0">
                          <a:solidFill>
                            <a:srgbClr val="000000"/>
                          </a:solidFill>
                        </a:rPr>
                        <a:t>10/14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09:28–09:53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378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1.10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8"/>
                  </a:ext>
                </a:extLst>
              </a:tr>
              <a:tr h="242316">
                <a:tc>
                  <a:txBody>
                    <a:bodyPr/>
                    <a:lstStyle/>
                    <a:p>
                      <a:pPr algn="l"/>
                      <a:r>
                        <a:rPr sz="950" b="0">
                          <a:solidFill>
                            <a:srgbClr val="000000"/>
                          </a:solidFill>
                        </a:rPr>
                        <a:t>10/15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09:31–09:51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342</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0.98</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09"/>
                  </a:ext>
                </a:extLst>
              </a:tr>
              <a:tr h="242316">
                <a:tc>
                  <a:txBody>
                    <a:bodyPr/>
                    <a:lstStyle/>
                    <a:p>
                      <a:pPr algn="l"/>
                      <a:r>
                        <a:rPr sz="950" b="0">
                          <a:solidFill>
                            <a:srgbClr val="000000"/>
                          </a:solidFill>
                        </a:rPr>
                        <a:t>10/16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09:40–09:56</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334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0"/>
                  </a:ext>
                </a:extLst>
              </a:tr>
              <a:tr h="242316">
                <a:tc>
                  <a:txBody>
                    <a:bodyPr/>
                    <a:lstStyle/>
                    <a:p>
                      <a:pPr algn="l"/>
                      <a:r>
                        <a:rPr sz="950" b="0">
                          <a:solidFill>
                            <a:srgbClr val="000000"/>
                          </a:solidFill>
                        </a:rPr>
                        <a:t>10/17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08:59–09:33</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1"/>
                  </a:ext>
                </a:extLst>
              </a:tr>
              <a:tr h="242316">
                <a:tc>
                  <a:txBody>
                    <a:bodyPr/>
                    <a:lstStyle/>
                    <a:p>
                      <a:pPr algn="l"/>
                      <a:r>
                        <a:rPr sz="950" b="0">
                          <a:solidFill>
                            <a:srgbClr val="000000"/>
                          </a:solidFill>
                        </a:rPr>
                        <a:t>10/19</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08:28–09:27</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134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0.60</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2"/>
                  </a:ext>
                </a:extLst>
              </a:tr>
              <a:tr h="242316">
                <a:tc>
                  <a:txBody>
                    <a:bodyPr/>
                    <a:lstStyle/>
                    <a:p>
                      <a:pPr algn="l"/>
                      <a:r>
                        <a:rPr sz="950" b="0">
                          <a:solidFill>
                            <a:srgbClr val="000000"/>
                          </a:solidFill>
                        </a:rPr>
                        <a:t>10/21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09:47–10:04</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21</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0.05</a:t>
                      </a:r>
                    </a:p>
                  </a:txBody>
                  <a:tcPr marL="54864" marR="54864" marT="18288" marB="18288" anchor="ctr">
                    <a:lnL w="12700">
                      <a:noFill/>
                    </a:lnL>
                    <a:lnR w="12700">
                      <a:noFill/>
                    </a:lnR>
                    <a:lnT w="12700">
                      <a:noFill/>
                    </a:lnT>
                    <a:lnB w="12700">
                      <a:noFill/>
                    </a:lnB>
                    <a:noFill/>
                  </a:tcPr>
                </a:tc>
                <a:tc>
                  <a:txBody>
                    <a:bodyPr/>
                    <a:lstStyle/>
                    <a:p>
                      <a:pPr algn="ctr"/>
                      <a:r>
                        <a:rPr sz="950" b="0">
                          <a:solidFill>
                            <a:srgbClr val="000000"/>
                          </a:solidFill>
                        </a:rPr>
                        <a:t>사용 (흐림)</a:t>
                      </a:r>
                    </a:p>
                  </a:txBody>
                  <a:tcPr marL="54864" marR="54864" marT="18288" marB="18288" anchor="ctr">
                    <a:lnL w="12700">
                      <a:noFill/>
                    </a:lnL>
                    <a:lnR w="12700">
                      <a:noFill/>
                    </a:lnR>
                    <a:lnT w="12700">
                      <a:noFill/>
                    </a:lnT>
                    <a:lnB w="12700">
                      <a:noFill/>
                    </a:lnB>
                    <a:noFill/>
                  </a:tcPr>
                </a:tc>
                <a:extLst>
                  <a:ext uri="{0D108BD9-81ED-4DB2-BD59-A6C34878D82A}">
                    <a16:rowId xmlns:a16="http://schemas.microsoft.com/office/drawing/2014/main" val="10013"/>
                  </a:ext>
                </a:extLst>
              </a:tr>
              <a:tr h="242316">
                <a:tc>
                  <a:txBody>
                    <a:bodyPr/>
                    <a:lstStyle/>
                    <a:p>
                      <a:pPr algn="l"/>
                      <a:r>
                        <a:rPr sz="950" b="0">
                          <a:solidFill>
                            <a:srgbClr val="000000"/>
                          </a:solidFill>
                        </a:rPr>
                        <a:t>10/23</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09:33–09:55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340</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0.95</a:t>
                      </a:r>
                    </a:p>
                  </a:txBody>
                  <a:tcPr marL="54864" marR="54864" marT="18288" marB="18288" anchor="ctr">
                    <a:lnL w="12700">
                      <a:noFill/>
                    </a:lnL>
                    <a:lnR w="12700">
                      <a:noFill/>
                    </a:lnR>
                    <a:lnT w="12700">
                      <a:noFill/>
                    </a:lnT>
                    <a:lnB w="19050" cap="flat" cmpd="sng" algn="ctr">
                      <a:solidFill>
                        <a:srgbClr val="000000"/>
                      </a:solidFill>
                      <a:prstDash val="solid"/>
                    </a:lnB>
                    <a:noFill/>
                  </a:tcPr>
                </a:tc>
                <a:tc>
                  <a:txBody>
                    <a:bodyPr/>
                    <a:lstStyle/>
                    <a:p>
                      <a:pPr algn="ctr"/>
                      <a:r>
                        <a:rPr sz="950" b="0">
                          <a:solidFill>
                            <a:srgbClr val="000000"/>
                          </a:solidFill>
                        </a:rPr>
                        <a:t>사용</a:t>
                      </a:r>
                    </a:p>
                  </a:txBody>
                  <a:tcPr marL="54864" marR="54864" marT="18288" marB="18288" anchor="ctr">
                    <a:lnL w="12700">
                      <a:noFill/>
                    </a:lnL>
                    <a:lnR w="12700">
                      <a:noFill/>
                    </a:lnR>
                    <a:lnT w="12700">
                      <a:noFill/>
                    </a:lnT>
                    <a:lnB w="19050" cap="flat" cmpd="sng" algn="ctr">
                      <a:solidFill>
                        <a:srgbClr val="000000"/>
                      </a:solidFill>
                      <a:prstDash val="solid"/>
                    </a:lnB>
                    <a:noFill/>
                  </a:tcPr>
                </a:tc>
                <a:extLst>
                  <a:ext uri="{0D108BD9-81ED-4DB2-BD59-A6C34878D82A}">
                    <a16:rowId xmlns:a16="http://schemas.microsoft.com/office/drawing/2014/main" val="10014"/>
                  </a:ext>
                </a:extLst>
              </a:tr>
            </a:tbl>
          </a:graphicData>
        </a:graphic>
      </p:graphicFrame>
      <p:sp>
        <p:nvSpPr>
          <p:cNvPr id="11" name="Conclusion Box"/>
          <p:cNvSpPr/>
          <p:nvPr/>
        </p:nvSpPr>
        <p:spPr>
          <a:xfrm>
            <a:off x="841248" y="5715000"/>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모든 측정일을 포함하고 측정일·선형 PAR·기온으로 보정 — CI &lt; 0.5인 날은 회색 띠로 표시</a:t>
            </a:r>
          </a:p>
        </p:txBody>
      </p:sp>
      <p:sp>
        <p:nvSpPr>
          <p:cNvPr id="12" name="Footnote"/>
          <p:cNvSpPr txBox="1"/>
          <p:nvPr/>
        </p:nvSpPr>
        <p:spPr>
          <a:xfrm>
            <a:off x="457200" y="6355080"/>
            <a:ext cx="8138160" cy="310896"/>
          </a:xfrm>
          <a:prstGeom prst="rect">
            <a:avLst/>
          </a:prstGeom>
          <a:noFill/>
        </p:spPr>
        <p:txBody>
          <a:bodyPr wrap="square" lIns="45720" tIns="0" rIns="45720" bIns="0" anchor="t">
            <a:spAutoFit/>
          </a:bodyPr>
          <a:lstStyle/>
          <a:p>
            <a:r>
              <a:rPr sz="1000">
                <a:solidFill>
                  <a:srgbClr val="595959"/>
                </a:solidFill>
              </a:rPr>
              <a:t>CI = 측정 구간 평균 SW / 같은 시각대 ±10일 90분위수 SW(맑은 날 기준). 날짜별 예외 없이 한 규칙으로 통일. 로메인 10/13은 SW 자료가 4분뿐(결측).</a:t>
            </a:r>
          </a:p>
        </p:txBody>
      </p:sp>
      <p:sp>
        <p:nvSpPr>
          <p:cNvPr id="13"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14"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15"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16"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17"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18"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환경 조건: 처리 기간의 기온과 일사</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로메인은 저온·중간 일사 조건에서 처리되어 증발산 부하와 건조 스트레스 강도가 다름</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밭콩: CR1000X 기상 센서, 로메인: 26번 온실 환경 데이터(CR300; 10/13·10/18 결측일 제외). 로메인 DLI = 일사량(MJ) × 2.02 mol/MJ 추정.</a:t>
            </a:r>
          </a:p>
        </p:txBody>
      </p:sp>
      <p:pic>
        <p:nvPicPr>
          <p:cNvPr id="27" name="Picture 26" descr="image.png"/>
          <p:cNvPicPr>
            <a:picLocks noChangeAspect="1"/>
          </p:cNvPicPr>
          <p:nvPr/>
        </p:nvPicPr>
        <p:blipFill>
          <a:blip r:embed="rId2"/>
          <a:stretch>
            <a:fillRect/>
          </a:stretch>
        </p:blipFill>
        <p:spPr>
          <a:xfrm>
            <a:off x="457200" y="1280160"/>
            <a:ext cx="7040880" cy="2651760"/>
          </a:xfrm>
          <a:prstGeom prst="rect">
            <a:avLst/>
          </a:prstGeom>
        </p:spPr>
      </p:pic>
      <p:sp>
        <p:nvSpPr>
          <p:cNvPr id="28" name="Stat box"/>
          <p:cNvSpPr/>
          <p:nvPr/>
        </p:nvSpPr>
        <p:spPr>
          <a:xfrm>
            <a:off x="841248" y="4224528"/>
            <a:ext cx="3154680" cy="1280160"/>
          </a:xfrm>
          <a:prstGeom prst="roundRect">
            <a:avLst>
              <a:gd name="adj" fmla="val 12000"/>
            </a:avLst>
          </a:prstGeom>
          <a:solidFill>
            <a:srgbClr val="FFFFFF"/>
          </a:solidFill>
          <a:ln w="19050">
            <a:solidFill>
              <a:srgbClr val="2E6B3F"/>
            </a:solidFill>
          </a:ln>
        </p:spPr>
        <p:txBody>
          <a:bodyPr wrap="square" lIns="73152" tIns="36576" rIns="73152" bIns="36576" rtlCol="0" anchor="ctr">
            <a:noAutofit/>
          </a:bodyPr>
          <a:lstStyle/>
          <a:p>
            <a:endParaRPr lang="ko-KR"/>
          </a:p>
        </p:txBody>
      </p:sp>
      <p:sp>
        <p:nvSpPr>
          <p:cNvPr id="29" name="Stat value"/>
          <p:cNvSpPr txBox="1"/>
          <p:nvPr/>
        </p:nvSpPr>
        <p:spPr>
          <a:xfrm>
            <a:off x="886968"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800" dirty="0">
                <a:solidFill>
                  <a:srgbClr val="2E6B3F"/>
                </a:solidFill>
              </a:rPr>
              <a:t>18.2 vs 28.4 °C</a:t>
            </a:r>
          </a:p>
        </p:txBody>
      </p:sp>
      <p:sp>
        <p:nvSpPr>
          <p:cNvPr id="30" name="Stat label"/>
          <p:cNvSpPr txBox="1"/>
          <p:nvPr/>
        </p:nvSpPr>
        <p:spPr>
          <a:xfrm>
            <a:off x="914400"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dirty="0">
                <a:solidFill>
                  <a:srgbClr val="595959"/>
                </a:solidFill>
              </a:rPr>
              <a:t>처리 기간 평균 기온 (로메인 vs 콩 DAT 0~16)</a:t>
            </a:r>
          </a:p>
        </p:txBody>
      </p:sp>
      <p:sp>
        <p:nvSpPr>
          <p:cNvPr id="31" name="Stat box"/>
          <p:cNvSpPr/>
          <p:nvPr/>
        </p:nvSpPr>
        <p:spPr>
          <a:xfrm>
            <a:off x="4206240" y="4224528"/>
            <a:ext cx="3154680" cy="1280160"/>
          </a:xfrm>
          <a:prstGeom prst="roundRect">
            <a:avLst>
              <a:gd name="adj" fmla="val 12000"/>
            </a:avLst>
          </a:prstGeom>
          <a:solidFill>
            <a:srgbClr val="FFFFFF"/>
          </a:solidFill>
          <a:ln w="19050">
            <a:solidFill>
              <a:srgbClr val="156082"/>
            </a:solidFill>
          </a:ln>
        </p:spPr>
        <p:txBody>
          <a:bodyPr wrap="square" lIns="73152" tIns="36576" rIns="73152" bIns="36576" rtlCol="0" anchor="ctr">
            <a:noAutofit/>
          </a:bodyPr>
          <a:lstStyle/>
          <a:p>
            <a:endParaRPr lang="ko-KR"/>
          </a:p>
        </p:txBody>
      </p:sp>
      <p:sp>
        <p:nvSpPr>
          <p:cNvPr id="32" name="Stat value"/>
          <p:cNvSpPr txBox="1"/>
          <p:nvPr/>
        </p:nvSpPr>
        <p:spPr>
          <a:xfrm>
            <a:off x="4251960" y="4297680"/>
            <a:ext cx="3063240" cy="704088"/>
          </a:xfrm>
          <a:prstGeom prst="rect">
            <a:avLst/>
          </a:prstGeom>
          <a:noFill/>
          <a:ln>
            <a:noFill/>
          </a:ln>
        </p:spPr>
        <p:txBody>
          <a:bodyPr wrap="square" lIns="18288" tIns="18288" rIns="18288" bIns="18288" rtlCol="0" anchor="ctr">
            <a:noAutofit/>
          </a:bodyPr>
          <a:lstStyle/>
          <a:p>
            <a:pPr marL="0" indent="0" algn="ctr">
              <a:spcBef>
                <a:spcPts val="0"/>
              </a:spcBef>
              <a:buNone/>
            </a:pPr>
            <a:r>
              <a:rPr lang="ko-KR" altLang="en-US" sz="2400" b="1" dirty="0">
                <a:solidFill>
                  <a:srgbClr val="156082"/>
                </a:solidFill>
              </a:rPr>
              <a:t>17.5 vs 22.0</a:t>
            </a:r>
          </a:p>
        </p:txBody>
      </p:sp>
      <p:sp>
        <p:nvSpPr>
          <p:cNvPr id="33" name="Stat label"/>
          <p:cNvSpPr txBox="1"/>
          <p:nvPr/>
        </p:nvSpPr>
        <p:spPr>
          <a:xfrm>
            <a:off x="4279392" y="4992624"/>
            <a:ext cx="3008376" cy="486461"/>
          </a:xfrm>
          <a:prstGeom prst="rect">
            <a:avLst/>
          </a:prstGeom>
          <a:noFill/>
          <a:ln>
            <a:noFill/>
          </a:ln>
        </p:spPr>
        <p:txBody>
          <a:bodyPr wrap="square" lIns="18288" tIns="18288" rIns="18288" bIns="18288" rtlCol="0" anchor="t">
            <a:noAutofit/>
          </a:bodyPr>
          <a:lstStyle/>
          <a:p>
            <a:pPr marL="0" indent="0" algn="ctr">
              <a:spcBef>
                <a:spcPts val="0"/>
              </a:spcBef>
              <a:buNone/>
            </a:pPr>
            <a:r>
              <a:rPr lang="ko-KR" altLang="en-US" sz="1100" b="0" dirty="0">
                <a:solidFill>
                  <a:srgbClr val="595959"/>
                </a:solidFill>
              </a:rPr>
              <a:t>DLI (mol·m</a:t>
            </a:r>
            <a:r>
              <a:rPr lang="ko-KR" altLang="en-US" sz="1100" b="0" dirty="0" baseline="30000">
                <a:solidFill>
                  <a:srgbClr val="595959"/>
                </a:solidFill>
              </a:rPr>
              <a:t>−2</a:t>
            </a:r>
            <a:r>
              <a:rPr lang="ko-KR" altLang="en-US" sz="1100" b="0" dirty="0">
                <a:solidFill>
                  <a:srgbClr val="595959"/>
                </a:solidFill>
              </a:rPr>
              <a:t>·d</a:t>
            </a:r>
            <a:r>
              <a:rPr lang="ko-KR" altLang="en-US" sz="1100" b="0" dirty="0" baseline="30000">
                <a:solidFill>
                  <a:srgbClr val="595959"/>
                </a:solidFill>
              </a:rPr>
              <a:t>−1</a:t>
            </a:r>
            <a:r>
              <a:rPr lang="ko-KR" altLang="en-US" sz="1100" b="0" dirty="0">
                <a:solidFill>
                  <a:srgbClr val="595959"/>
                </a:solidFill>
              </a:rPr>
              <a:t>, 로메인 vs 콩 DAT 0~16)</a:t>
            </a:r>
          </a:p>
        </p:txBody>
      </p:sp>
      <p:sp>
        <p:nvSpPr>
          <p:cNvPr id="34" name="Card 요점"/>
          <p:cNvSpPr/>
          <p:nvPr/>
        </p:nvSpPr>
        <p:spPr>
          <a:xfrm>
            <a:off x="7863840" y="1481328"/>
            <a:ext cx="3493008" cy="402336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5" name="Header 요점"/>
          <p:cNvSpPr/>
          <p:nvPr/>
        </p:nvSpPr>
        <p:spPr>
          <a:xfrm>
            <a:off x="8046720" y="1271016"/>
            <a:ext cx="3127248"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FFFFFF"/>
                </a:solidFill>
              </a:rPr>
              <a:t>요점</a:t>
            </a:r>
          </a:p>
        </p:txBody>
      </p:sp>
      <p:sp>
        <p:nvSpPr>
          <p:cNvPr id="36" name="Text 요점"/>
          <p:cNvSpPr txBox="1"/>
          <p:nvPr/>
        </p:nvSpPr>
        <p:spPr>
          <a:xfrm>
            <a:off x="8046720" y="1865376"/>
            <a:ext cx="3172968" cy="352044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400" b="0" dirty="0">
                <a:solidFill>
                  <a:srgbClr val="000000"/>
                </a:solidFill>
              </a:rPr>
              <a:t>로메인 처리 기간(10/7~10/23): 평균 기온 18.2 °C, 최저 5.0 °C, 상대습도 71%</a:t>
            </a:r>
          </a:p>
          <a:p>
            <a:pPr marL="201168" indent="-201168" algn="l">
              <a:spcBef>
                <a:spcPts val="1000"/>
              </a:spcBef>
              <a:buFont typeface="Arial"/>
              <a:buChar char="•"/>
            </a:pPr>
            <a:r>
              <a:rPr lang="ko-KR" altLang="en-US" sz="1400" dirty="0" b="0">
                <a:solidFill>
                  <a:srgbClr val="000000"/>
                </a:solidFill>
              </a:rPr>
              <a:t>콩 처리 초기(DAT 0~16): 평균 기온 28.4 °C — 로메인보다 약 10 °C 높음</a:t>
            </a:r>
          </a:p>
          <a:p>
            <a:pPr marL="201168" indent="-201168" algn="l">
              <a:spcBef>
                <a:spcPts val="1000"/>
              </a:spcBef>
              <a:buFont typeface="Arial"/>
              <a:buChar char="•"/>
            </a:pPr>
            <a:r>
              <a:rPr lang="ko-KR" altLang="en-US" sz="1400" dirty="0" b="0">
                <a:solidFill>
                  <a:srgbClr val="000000"/>
                </a:solidFill>
              </a:rPr>
              <a:t>DLI도 로메인이 낮음 (17.5 vs 22.0)</a:t>
            </a:r>
          </a:p>
          <a:p>
            <a:pPr marL="201168" indent="-201168" algn="l">
              <a:spcBef>
                <a:spcPts val="1000"/>
              </a:spcBef>
              <a:buFont typeface="Arial"/>
              <a:buChar char="•"/>
            </a:pPr>
            <a:r>
              <a:rPr lang="ko-KR" altLang="en-US" sz="1400" b="0" dirty="0">
                <a:solidFill>
                  <a:srgbClr val="000000"/>
                </a:solidFill>
              </a:rPr>
              <a:t>10월에는 기온 하강이 뚜렷해 증산 요구량 자체가 낮음</a:t>
            </a:r>
          </a:p>
          <a:p>
            <a:pPr marL="201168" indent="-201168" algn="l">
              <a:spcBef>
                <a:spcPts val="1000"/>
              </a:spcBef>
              <a:buFont typeface="Arial"/>
              <a:buChar char="•"/>
            </a:pPr>
            <a:r>
              <a:rPr lang="ko-KR" altLang="en-US" sz="1400" b="0" dirty="0">
                <a:solidFill>
                  <a:srgbClr val="000000"/>
                </a:solidFill>
              </a:rPr>
              <a:t>두 실험은 계절·온실·생육단계가 달라 병렬 사례로 해석</a:t>
            </a:r>
          </a:p>
        </p:txBody>
      </p:sp>
      <p:sp>
        <p:nvSpPr>
          <p:cNvPr id="44"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45"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450" b="1" u="sng">
                <a:solidFill>
                  <a:srgbClr val="1A1A1A"/>
                </a:solidFill>
              </a:rPr>
              <a:t>재료 및 방법</a:t>
            </a:r>
          </a:p>
        </p:txBody>
      </p:sp>
      <p:sp>
        <p:nvSpPr>
          <p:cNvPr id="46"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7"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8"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고찰 ②: 생리 회복에도 생육이 감소하는 이유와 작물 간 차이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17</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로메인의 생육 감소는 침수 중 잎 확장 정지로, 콩의 수량 유지는 생식 구조 보상 가능성으로 해석 (모두 가설)</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Körner 2015 Curr Opin Plant Biol 25:107; Tardieu et al. 2018 Annu Rev Plant Biol; Hilker et al. 2016 Biol Rev 91:1118 (참고문헌: 보충 자료)</a:t>
            </a:r>
          </a:p>
        </p:txBody>
      </p:sp>
      <p:sp>
        <p:nvSpPr>
          <p:cNvPr id="27" name="Card ① 피해가 나타난 부위"/>
          <p:cNvSpPr/>
          <p:nvPr/>
        </p:nvSpPr>
        <p:spPr>
          <a:xfrm>
            <a:off x="841248" y="1463040"/>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28" name="Header ① 피해가 나타난 부위"/>
          <p:cNvSpPr/>
          <p:nvPr/>
        </p:nvSpPr>
        <p:spPr>
          <a:xfrm>
            <a:off x="1024128" y="1252728"/>
            <a:ext cx="4800600" cy="420624"/>
          </a:xfrm>
          <a:prstGeom prst="roundRect">
            <a:avLst>
              <a:gd name="adj" fmla="val 25000"/>
            </a:avLst>
          </a:prstGeom>
          <a:solidFill>
            <a:srgbClr val="2E6B3F"/>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① 로메인: 공급원보다 수용부(잎 확장) 제한</a:t>
            </a:r>
          </a:p>
        </p:txBody>
      </p:sp>
      <p:sp>
        <p:nvSpPr>
          <p:cNvPr id="29" name="Text ① 피해가 나타난 부위"/>
          <p:cNvSpPr txBox="1"/>
          <p:nvPr/>
        </p:nvSpPr>
        <p:spPr>
          <a:xfrm>
            <a:off x="1024128" y="1847088"/>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침수 중 투영 엽면적 증가가 멈춤(DAT 5 69~72%) → 건물중 생장 손실 2.7일분 vs 기공 제한 탄소 손실 ≈ 1.2일분</a:t>
            </a:r>
          </a:p>
          <a:p>
            <a:pPr marL="201168" indent="-201168" algn="l">
              <a:spcBef>
                <a:spcPts val="1000"/>
              </a:spcBef>
              <a:buFont typeface="Arial"/>
              <a:buChar char="•"/>
            </a:pPr>
            <a:r>
              <a:rPr lang="ko-KR" altLang="en-US" sz="1350" dirty="0">
                <a:solidFill>
                  <a:srgbClr val="000000"/>
                </a:solidFill>
              </a:rPr>
              <a:t>식물 생장은 광합성(탄소 공급)보다 조직 성장과 세포 팽압이 먼저 제한됨 (Körner 2015; Tardieu 2018)</a:t>
            </a:r>
          </a:p>
        </p:txBody>
      </p:sp>
      <p:sp>
        <p:nvSpPr>
          <p:cNvPr id="30" name="Card ② 회복에 쓸 수 있는 시간"/>
          <p:cNvSpPr/>
          <p:nvPr/>
        </p:nvSpPr>
        <p:spPr>
          <a:xfrm>
            <a:off x="6190488" y="1463040"/>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1" name="Header ② 회복에 쓸 수 있는 시간"/>
          <p:cNvSpPr/>
          <p:nvPr/>
        </p:nvSpPr>
        <p:spPr>
          <a:xfrm>
            <a:off x="6373368" y="1252728"/>
            <a:ext cx="4800600" cy="420624"/>
          </a:xfrm>
          <a:prstGeom prst="roundRect">
            <a:avLst>
              <a:gd name="adj" fmla="val 25000"/>
            </a:avLst>
          </a:prstGeom>
          <a:solidFill>
            <a:srgbClr val="6B4226"/>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② 로메인: 수확물이 잎 → 생육 손실이 곧 수량</a:t>
            </a:r>
          </a:p>
        </p:txBody>
      </p:sp>
      <p:sp>
        <p:nvSpPr>
          <p:cNvPr id="32" name="Text ② 회복에 쓸 수 있는 시간"/>
          <p:cNvSpPr txBox="1"/>
          <p:nvPr/>
        </p:nvSpPr>
        <p:spPr>
          <a:xfrm>
            <a:off x="6373368" y="1847088"/>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영양생장기에 처리했고 수확물이 지상부라 잎 확장 정지가 수량 감소로 직결 (건물중 −34~43%)</a:t>
            </a:r>
          </a:p>
          <a:p>
            <a:pPr marL="201168" indent="-201168" algn="l">
              <a:spcBef>
                <a:spcPts val="1000"/>
              </a:spcBef>
              <a:buFont typeface="Arial"/>
              <a:buChar char="•"/>
            </a:pPr>
            <a:r>
              <a:rPr lang="ko-KR" altLang="en-US" sz="1350" dirty="0">
                <a:solidFill>
                  <a:srgbClr val="000000"/>
                </a:solidFill>
              </a:rPr>
              <a:t>배수 후 확장 속도는 회복했으나(RGR 0.031 vs 0.015 d</a:t>
            </a:r>
            <a:r>
              <a:rPr lang="ko-KR" altLang="en-US" sz="1350" dirty="0" baseline="30000">
                <a:solidFill>
                  <a:srgbClr val="000000"/>
                </a:solidFill>
              </a:rPr>
              <a:t>−1</a:t>
            </a:r>
            <a:r>
              <a:rPr lang="ko-KR" altLang="en-US" sz="1350" dirty="0">
                <a:solidFill>
                  <a:srgbClr val="000000"/>
                </a:solidFill>
              </a:rPr>
              <a:t>) 초기 손실을 만회하지 못함</a:t>
            </a:r>
          </a:p>
        </p:txBody>
      </p:sp>
      <p:sp>
        <p:nvSpPr>
          <p:cNvPr id="33" name="Card ③ 생육 단계와 근계"/>
          <p:cNvSpPr/>
          <p:nvPr/>
        </p:nvSpPr>
        <p:spPr>
          <a:xfrm>
            <a:off x="841248" y="3675888"/>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4" name="Header ③ 생육 단계와 근계"/>
          <p:cNvSpPr/>
          <p:nvPr/>
        </p:nvSpPr>
        <p:spPr>
          <a:xfrm>
            <a:off x="1024128" y="3465576"/>
            <a:ext cx="4800600" cy="420624"/>
          </a:xfrm>
          <a:prstGeom prst="roundRect">
            <a:avLst>
              <a:gd name="adj" fmla="val 25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③ 콩: 느린 회복에도 수량 차이 없음</a:t>
            </a:r>
          </a:p>
        </p:txBody>
      </p:sp>
      <p:sp>
        <p:nvSpPr>
          <p:cNvPr id="35" name="Text ③ 생육 단계와 근계"/>
          <p:cNvSpPr txBox="1"/>
          <p:nvPr/>
        </p:nvSpPr>
        <p:spPr>
          <a:xfrm>
            <a:off x="1024128" y="4059936"/>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개화기 처리 후 55일 관찰: DAT 20 꼬투리+종실 65% 지연이 DAT 55에는 차이 없음 → 생식 구조의 보상 가능성 (가설)</a:t>
            </a:r>
          </a:p>
          <a:p>
            <a:pPr marL="201168" indent="-201168" algn="l">
              <a:spcBef>
                <a:spcPts val="1000"/>
              </a:spcBef>
              <a:buFont typeface="Arial"/>
              <a:buChar char="•"/>
            </a:pPr>
            <a:r>
              <a:rPr lang="ko-KR" altLang="en-US" sz="1350" dirty="0">
                <a:solidFill>
                  <a:srgbClr val="000000"/>
                </a:solidFill>
              </a:rPr>
              <a:t>검출 한계 약 40~50%이고 포트 밖 뿌리로 건조 강도가 희석됐을 수 있음</a:t>
            </a:r>
          </a:p>
        </p:txBody>
      </p:sp>
      <p:sp>
        <p:nvSpPr>
          <p:cNvPr id="36" name="Card ④ 처리 강도와 환경"/>
          <p:cNvSpPr/>
          <p:nvPr/>
        </p:nvSpPr>
        <p:spPr>
          <a:xfrm>
            <a:off x="6190488" y="3675888"/>
            <a:ext cx="5166360" cy="1920240"/>
          </a:xfrm>
          <a:prstGeom prst="roundRect">
            <a:avLst>
              <a:gd name="adj" fmla="val 3400"/>
            </a:avLst>
          </a:prstGeom>
          <a:solidFill>
            <a:srgbClr val="FBFBFB"/>
          </a:solidFill>
          <a:ln w="12700">
            <a:solidFill>
              <a:srgbClr val="AFAFB0"/>
            </a:solidFill>
          </a:ln>
        </p:spPr>
        <p:txBody>
          <a:bodyPr wrap="square" lIns="73152" tIns="36576" rIns="73152" bIns="36576" rtlCol="0" anchor="ctr">
            <a:noAutofit/>
          </a:bodyPr>
          <a:lstStyle/>
          <a:p>
            <a:endParaRPr lang="ko-KR"/>
          </a:p>
        </p:txBody>
      </p:sp>
      <p:sp>
        <p:nvSpPr>
          <p:cNvPr id="37" name="Header ④ 처리 강도와 환경"/>
          <p:cNvSpPr/>
          <p:nvPr/>
        </p:nvSpPr>
        <p:spPr>
          <a:xfrm>
            <a:off x="6373368" y="3465576"/>
            <a:ext cx="4800600" cy="420624"/>
          </a:xfrm>
          <a:prstGeom prst="roundRect">
            <a:avLst>
              <a:gd name="adj" fmla="val 25000"/>
            </a:avLst>
          </a:prstGeom>
          <a:solidFill>
            <a:srgbClr val="AF5524"/>
          </a:solidFill>
          <a:ln>
            <a:noFill/>
          </a:ln>
        </p:spPr>
        <p:txBody>
          <a:bodyPr wrap="square" lIns="73152" tIns="36576" rIns="73152" bIns="36576" rtlCol="0" anchor="ctr">
            <a:noAutofit/>
          </a:bodyPr>
          <a:lstStyle/>
          <a:p>
            <a:pPr marL="0" indent="0" algn="ctr">
              <a:spcBef>
                <a:spcPts val="0"/>
              </a:spcBef>
              <a:buNone/>
            </a:pPr>
            <a:r>
              <a:rPr lang="ko-KR" altLang="en-US" sz="1600" dirty="0">
                <a:solidFill>
                  <a:srgbClr val="FFFFFF"/>
                </a:solidFill>
              </a:rPr>
              <a:t>④ 수분 스트레스 반응은 작물마다 다름</a:t>
            </a:r>
          </a:p>
        </p:txBody>
      </p:sp>
      <p:sp>
        <p:nvSpPr>
          <p:cNvPr id="38" name="Text ④ 처리 강도와 환경"/>
          <p:cNvSpPr txBox="1"/>
          <p:nvPr/>
        </p:nvSpPr>
        <p:spPr>
          <a:xfrm>
            <a:off x="6373368" y="4059936"/>
            <a:ext cx="4846320" cy="1417320"/>
          </a:xfrm>
          <a:prstGeom prst="rect">
            <a:avLst/>
          </a:prstGeom>
          <a:noFill/>
          <a:ln>
            <a:noFill/>
          </a:ln>
        </p:spPr>
        <p:txBody>
          <a:bodyPr wrap="square" lIns="18288" tIns="18288" rIns="18288" bIns="18288" rtlCol="0" anchor="t">
            <a:noAutofit/>
          </a:bodyPr>
          <a:lstStyle/>
          <a:p>
            <a:pPr marL="201168" indent="-201168" algn="l">
              <a:spcBef>
                <a:spcPts val="0"/>
              </a:spcBef>
              <a:buFont typeface="Arial"/>
              <a:buChar char="•"/>
            </a:pPr>
            <a:r>
              <a:rPr lang="ko-KR" altLang="en-US" sz="1350" dirty="0">
                <a:solidFill>
                  <a:srgbClr val="000000"/>
                </a:solidFill>
              </a:rPr>
              <a:t>로메인: 생리 회복 빠름 + 생육 감소 / 콩: 생리 회복 느림 + 수량 차이 없음</a:t>
            </a:r>
          </a:p>
          <a:p>
            <a:pPr marL="201168" indent="-201168" algn="l">
              <a:spcBef>
                <a:spcPts val="1000"/>
              </a:spcBef>
              <a:buFont typeface="Arial"/>
              <a:buChar char="•"/>
            </a:pPr>
            <a:r>
              <a:rPr lang="ko-KR" altLang="en-US" sz="1350" dirty="0">
                <a:solidFill>
                  <a:srgbClr val="000000"/>
                </a:solidFill>
              </a:rPr>
              <a:t>재해 진단에는 잎 생리 지표와 함께 잎 신장·생장 지표가 필요하며, 선행 스트레스 효과는 뿌리 영향을 분리한 뒤 검증 필요 (Hilker 2016)</a:t>
            </a:r>
          </a:p>
        </p:txBody>
      </p:sp>
      <p:sp>
        <p:nvSpPr>
          <p:cNvPr id="52"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53"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54"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55" name="Nav 고찰"/>
          <p:cNvSpPr txBox="1"/>
          <p:nvPr/>
        </p:nvSpPr>
        <p:spPr>
          <a:xfrm>
            <a:off x="4956048" y="100584"/>
            <a:ext cx="1371600" cy="329184"/>
          </a:xfrm>
          <a:prstGeom prst="rect">
            <a:avLst/>
          </a:prstGeom>
          <a:noFill/>
        </p:spPr>
        <p:txBody>
          <a:bodyPr wrap="none" lIns="0" tIns="0" rIns="0" bIns="0" anchor="ctr">
            <a:spAutoFit/>
          </a:bodyPr>
          <a:lstStyle/>
          <a:p>
            <a:pPr algn="ctr"/>
            <a:r>
              <a:rPr sz="1450" b="1" u="sng">
                <a:solidFill>
                  <a:srgbClr val="1A1A1A"/>
                </a:solidFill>
              </a:rPr>
              <a:t>고찰</a:t>
            </a:r>
          </a:p>
        </p:txBody>
      </p:sp>
      <p:sp>
        <p:nvSpPr>
          <p:cNvPr id="56"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fade">
                                      <p:cBhvr>
                                        <p:cTn id="46" dur="500"/>
                                        <p:tgtEl>
                                          <p:spTgt spid="3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fade">
                                      <p:cBhvr>
                                        <p:cTn id="5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A6. 참고문헌</a:t>
            </a:r>
          </a:p>
        </p:txBody>
      </p:sp>
      <p:pic>
        <p:nvPicPr>
          <p:cNvPr id="3" name="Logo" descr="image.png"/>
          <p:cNvPicPr>
            <a:picLocks noChangeAspect="1"/>
          </p:cNvPicPr>
          <p:nvPr/>
        </p:nvPicPr>
        <p:blipFill>
          <a:blip r:embed="rId2"/>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20</a:t>
            </a:fld>
            <a:endParaRPr lang="ko-KR" altLang="en-US"/>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질의응답용 보충 자료.</a:t>
            </a:r>
          </a:p>
        </p:txBody>
      </p:sp>
      <p:sp>
        <p:nvSpPr>
          <p:cNvPr id="27" name="Appendix list"/>
          <p:cNvSpPr txBox="1"/>
          <p:nvPr/>
        </p:nvSpPr>
        <p:spPr>
          <a:xfrm>
            <a:off x="1280160" y="1463040"/>
            <a:ext cx="9601200" cy="4114800"/>
          </a:xfrm>
          <a:prstGeom prst="rect">
            <a:avLst/>
          </a:prstGeom>
          <a:noFill/>
          <a:ln>
            <a:noFill/>
          </a:ln>
        </p:spPr>
        <p:txBody>
          <a:bodyPr wrap="square" lIns="18288" tIns="18288" rIns="18288" bIns="18288" rtlCol="0" anchor="t">
            <a:noAutofit/>
          </a:bodyPr>
          <a:lstStyle/>
          <a:p>
            <a:pPr marL="0" indent="0" algn="l">
              <a:spcBef>
                <a:spcPts val="0"/>
              </a:spcBef>
              <a:buNone/>
            </a:pPr>
            <a:r>
              <a:rPr lang="ko-KR" altLang="en-US" sz="1600" dirty="0">
                <a:solidFill>
                  <a:srgbClr val="000000"/>
                </a:solidFill>
              </a:rPr>
              <a:t>Ali et al. (2025) J Exp Bot 76:4141.</a:t>
            </a:r>
          </a:p>
          <a:p>
            <a:pPr marL="0" indent="0" algn="l">
              <a:spcBef>
                <a:spcPts val="800"/>
              </a:spcBef>
              <a:buNone/>
            </a:pPr>
            <a:r>
              <a:rPr lang="ko-KR" altLang="en-US" sz="1600" dirty="0">
                <a:solidFill>
                  <a:srgbClr val="000000"/>
                </a:solidFill>
              </a:rPr>
              <a:t>Buckley TN (2019) New Phytol 224 (doi:10.1111/nph.15899).</a:t>
            </a:r>
          </a:p>
          <a:p>
            <a:pPr marL="0" indent="0" algn="l">
              <a:spcBef>
                <a:spcPts val="800"/>
              </a:spcBef>
              <a:buNone/>
            </a:pPr>
            <a:r>
              <a:rPr lang="ko-KR" altLang="en-US" sz="1600" dirty="0">
                <a:solidFill>
                  <a:srgbClr val="000000"/>
                </a:solidFill>
              </a:rPr>
              <a:t>Gao et al. (2024) J Exp Bot 75:4904.</a:t>
            </a:r>
          </a:p>
          <a:p>
            <a:pPr marL="0" indent="0" algn="l">
              <a:spcBef>
                <a:spcPts val="800"/>
              </a:spcBef>
              <a:buNone/>
            </a:pPr>
            <a:r>
              <a:rPr lang="ko-KR" altLang="en-US" sz="1600" dirty="0">
                <a:solidFill>
                  <a:srgbClr val="000000"/>
                </a:solidFill>
              </a:rPr>
              <a:t>Haverroth EJ et al. (2024) Plant Physiol 197(1):kiae336.</a:t>
            </a:r>
          </a:p>
          <a:p>
            <a:pPr marL="0" indent="0" algn="l">
              <a:spcBef>
                <a:spcPts val="800"/>
              </a:spcBef>
              <a:buNone/>
            </a:pPr>
            <a:r>
              <a:rPr lang="ko-KR" altLang="en-US" sz="1600" dirty="0">
                <a:solidFill>
                  <a:srgbClr val="000000"/>
                </a:solidFill>
              </a:rPr>
              <a:t>Hilker M et al. (2016) Biol Rev 91:1118–1133.</a:t>
            </a:r>
          </a:p>
          <a:p>
            <a:pPr marL="0" indent="0" algn="l">
              <a:spcBef>
                <a:spcPts val="800"/>
              </a:spcBef>
              <a:buNone/>
            </a:pPr>
            <a:r>
              <a:rPr lang="ko-KR" altLang="en-US" sz="1600" dirty="0">
                <a:solidFill>
                  <a:srgbClr val="000000"/>
                </a:solidFill>
              </a:rPr>
              <a:t>Körner C (2015) Curr Opin Plant Biol 25:107–114.</a:t>
            </a:r>
          </a:p>
          <a:p>
            <a:pPr marL="0" indent="0" algn="l">
              <a:spcBef>
                <a:spcPts val="800"/>
              </a:spcBef>
              <a:buNone/>
            </a:pPr>
            <a:r>
              <a:rPr lang="ko-KR" altLang="en-US" sz="1600" dirty="0">
                <a:solidFill>
                  <a:srgbClr val="000000"/>
                </a:solidFill>
              </a:rPr>
              <a:t>Sasidharan R et al. (2018) Plant Physiol 176:1106–1117.</a:t>
            </a:r>
          </a:p>
          <a:p>
            <a:pPr marL="0" indent="0" algn="l">
              <a:spcBef>
                <a:spcPts val="800"/>
              </a:spcBef>
              <a:buNone/>
            </a:pPr>
            <a:r>
              <a:rPr lang="ko-KR" altLang="en-US" sz="1600" dirty="0">
                <a:solidFill>
                  <a:srgbClr val="000000"/>
                </a:solidFill>
              </a:rPr>
              <a:t>Swain DL et al. (2018) Nat Clim Change 8:427–433.</a:t>
            </a:r>
          </a:p>
          <a:p>
            <a:pPr marL="0" indent="0" algn="l">
              <a:spcBef>
                <a:spcPts val="800"/>
              </a:spcBef>
              <a:buNone/>
            </a:pPr>
            <a:r>
              <a:rPr lang="ko-KR" altLang="en-US" sz="1600" dirty="0">
                <a:solidFill>
                  <a:srgbClr val="000000"/>
                </a:solidFill>
              </a:rPr>
              <a:t>Tan X et al. (2018) J Plant Physiol 227:20–30.</a:t>
            </a:r>
          </a:p>
          <a:p>
            <a:pPr marL="0" indent="0" algn="l">
              <a:spcBef>
                <a:spcPts val="800"/>
              </a:spcBef>
              <a:buNone/>
            </a:pPr>
            <a:r>
              <a:rPr lang="ko-KR" altLang="en-US" sz="1600" dirty="0">
                <a:solidFill>
                  <a:srgbClr val="000000"/>
                </a:solidFill>
              </a:rPr>
              <a:t>Tardieu F, Simonneau T, Muller B (2018) Annu Rev Plant Biol 69.</a:t>
            </a:r>
          </a:p>
          <a:p>
            <a:pPr marL="0" indent="0" algn="l">
              <a:spcBef>
                <a:spcPts val="800"/>
              </a:spcBef>
              <a:buNone/>
            </a:pPr>
            <a:r>
              <a:rPr lang="ko-KR" altLang="en-US" sz="1600" dirty="0">
                <a:solidFill>
                  <a:srgbClr val="000000"/>
                </a:solidFill>
              </a:rPr>
              <a:t>Yeung E et al. (2018) PNAS 115:E6085–E6094.</a:t>
            </a:r>
          </a:p>
          <a:p>
            <a:pPr marL="0" indent="0" algn="l">
              <a:spcBef>
                <a:spcPts val="800"/>
              </a:spcBef>
              <a:buNone/>
            </a:pPr>
            <a:r>
              <a:rPr lang="ko-KR" altLang="en-US" sz="1600" dirty="0">
                <a:solidFill>
                  <a:srgbClr val="000000"/>
                </a:solidFill>
              </a:rPr>
              <a:t>Zandalinas SI, Mittler R (2022) New Phytol 234:1161–1167.</a:t>
            </a:r>
          </a:p>
        </p:txBody>
      </p:sp>
      <p:sp>
        <p:nvSpPr>
          <p:cNvPr id="28" name="Nav 서론"/>
          <p:cNvSpPr txBox="1"/>
          <p:nvPr/>
        </p:nvSpPr>
        <p:spPr>
          <a:xfrm>
            <a:off x="841248" y="100584"/>
            <a:ext cx="1371600" cy="329184"/>
          </a:xfrm>
          <a:prstGeom prst="rect">
            <a:avLst/>
          </a:prstGeom>
          <a:noFill/>
        </p:spPr>
        <p:txBody>
          <a:bodyPr wrap="none" lIns="0" tIns="0" rIns="0" bIns="0" anchor="ctr">
            <a:spAutoFit/>
          </a:bodyPr>
          <a:lstStyle/>
          <a:p>
            <a:pPr algn="ctr"/>
            <a:r>
              <a:rPr sz="1200" b="0" u="none">
                <a:solidFill>
                  <a:srgbClr val="595959"/>
                </a:solidFill>
              </a:rPr>
              <a:t>서론</a:t>
            </a:r>
          </a:p>
        </p:txBody>
      </p:sp>
      <p:sp>
        <p:nvSpPr>
          <p:cNvPr id="2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3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3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3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sp>
        <p:nvSpPr>
          <p:cNvPr id="33" name="Nav 부록"/>
          <p:cNvSpPr txBox="1"/>
          <p:nvPr/>
        </p:nvSpPr>
        <p:spPr>
          <a:xfrm>
            <a:off x="7699248" y="100584"/>
            <a:ext cx="1371600" cy="329184"/>
          </a:xfrm>
          <a:prstGeom prst="rect">
            <a:avLst/>
          </a:prstGeom>
          <a:noFill/>
        </p:spPr>
        <p:txBody>
          <a:bodyPr wrap="none" lIns="0" tIns="0" rIns="0" bIns="0" anchor="ctr">
            <a:spAutoFit/>
          </a:bodyPr>
          <a:lstStyle/>
          <a:p>
            <a:pPr algn="ctr"/>
            <a:r>
              <a:rPr sz="1450" b="1" u="sng">
                <a:solidFill>
                  <a:srgbClr val="1A1A1A"/>
                </a:solidFill>
              </a:rPr>
              <a:t>부록</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