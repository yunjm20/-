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7.png&amp;w=3840&amp;q=75" ContentType="image/pn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415" r:id="rId3"/>
    <p:sldId id="416" r:id="rId4"/>
    <p:sldId id="392" r:id="rId5"/>
    <p:sldId id="373" r:id="rId6"/>
    <p:sldId id="393" r:id="rId7"/>
    <p:sldId id="412" r:id="rId8"/>
    <p:sldId id="394" r:id="rId9"/>
    <p:sldId id="376" r:id="rId10"/>
    <p:sldId id="377" r:id="rId11"/>
    <p:sldId id="381" r:id="rId13"/>
    <p:sldId id="397" r:id="rId14"/>
    <p:sldId id="399" r:id="rId16"/>
    <p:sldId id="413" r:id="rId17"/>
    <p:sldId id="400" r:id="rId18"/>
    <p:sldId id="301" r:id="rId19"/>
    <p:sldId id="401" r:id="rId20"/>
    <p:sldId id="407" r:id="rId21"/>
    <p:sldId id="383" r:id="rId22"/>
    <p:sldId id="378" r:id="rId23"/>
    <p:sldId id="379" r:id="rId24"/>
    <p:sldId id="375" r:id="rId25"/>
    <p:sldId id="414" r:id="rId26"/>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5738"/>
    <a:srgbClr val="76502F"/>
    <a:srgbClr val="7E5635"/>
    <a:srgbClr val="7A5431"/>
    <a:srgbClr val="6B4226"/>
    <a:srgbClr val="0F9ED5"/>
    <a:srgbClr val="136331"/>
    <a:srgbClr val="1E3A8A"/>
    <a:srgbClr val="991B1B"/>
    <a:srgbClr val="8D711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82E6A3-3933-46C6-8CCE-9C72A2FAB6E1}" v="21" dt="2026-11-02T01:50:44.181"/>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7" autoAdjust="0"/>
    <p:restoredTop sz="91273" autoAdjust="0"/>
  </p:normalViewPr>
  <p:slideViewPr>
    <p:cSldViewPr snapToGrid="0">
      <p:cViewPr varScale="1">
        <p:scale>
          <a:sx n="110" d="100"/>
          <a:sy n="110" d="100"/>
        </p:scale>
        <p:origin x="630" y="78"/>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3" Type="http://schemas.openxmlformats.org/officeDocument/2006/relationships/slide" Target="slides/slide12.xml"/><Relationship Id="rId14" Type="http://schemas.openxmlformats.org/officeDocument/2006/relationships/slide" Target="slides/slide13.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microsoft.com/office/2016/11/relationships/changesInfo" Target="changesInfos/changesInfo1.xml"/><Relationship Id="rId3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윤정민" userId="6b15c765-da21-42d7-95fe-61eaef7495af" providerId="ADAL" clId="{5C7C66C6-67D0-439D-9B00-412197ADBF19}"/>
    <pc:docChg chg="undo custSel addSld delSld modSld sldOrd">
      <pc:chgData name="윤정민" userId="6b15c765-da21-42d7-95fe-61eaef7495af" providerId="ADAL" clId="{5C7C66C6-67D0-439D-9B00-412197ADBF19}" dt="2026-11-02T02:01:37.186" v="4089" actId="1076"/>
      <pc:docMkLst>
        <pc:docMk/>
      </pc:docMkLst>
      <pc:sldChg chg="modSp mod">
        <pc:chgData name="윤정민" userId="6b15c765-da21-42d7-95fe-61eaef7495af" providerId="ADAL" clId="{5C7C66C6-67D0-439D-9B00-412197ADBF19}" dt="2026-11-02T01:41:39.204" v="3411" actId="1036"/>
        <pc:sldMkLst>
          <pc:docMk/>
          <pc:sldMk cId="0" sldId="373"/>
        </pc:sldMkLst>
        <pc:spChg chg="mod">
          <ac:chgData name="윤정민" userId="6b15c765-da21-42d7-95fe-61eaef7495af" providerId="ADAL" clId="{5C7C66C6-67D0-439D-9B00-412197ADBF19}" dt="2026-11-02T01:33:34.153" v="3296" actId="11530"/>
          <ac:spMkLst>
            <pc:docMk/>
            <pc:sldMk cId="0" sldId="373"/>
            <ac:spMk id="22" creationId="{00000000-0000-0000-0000-000000000000}"/>
          </ac:spMkLst>
        </pc:spChg>
        <pc:spChg chg="mod">
          <ac:chgData name="윤정민" userId="6b15c765-da21-42d7-95fe-61eaef7495af" providerId="ADAL" clId="{5C7C66C6-67D0-439D-9B00-412197ADBF19}" dt="2026-11-02T01:33:34.153" v="3296" actId="11530"/>
          <ac:spMkLst>
            <pc:docMk/>
            <pc:sldMk cId="0" sldId="373"/>
            <ac:spMk id="23" creationId="{00000000-0000-0000-0000-000000000000}"/>
          </ac:spMkLst>
        </pc:spChg>
        <pc:spChg chg="mod">
          <ac:chgData name="윤정민" userId="6b15c765-da21-42d7-95fe-61eaef7495af" providerId="ADAL" clId="{5C7C66C6-67D0-439D-9B00-412197ADBF19}" dt="2026-11-02T01:33:34.153" v="3296" actId="11530"/>
          <ac:spMkLst>
            <pc:docMk/>
            <pc:sldMk cId="0" sldId="373"/>
            <ac:spMk id="40" creationId="{00000000-0000-0000-0000-000000000000}"/>
          </ac:spMkLst>
        </pc:spChg>
        <pc:spChg chg="mod">
          <ac:chgData name="윤정민" userId="6b15c765-da21-42d7-95fe-61eaef7495af" providerId="ADAL" clId="{5C7C66C6-67D0-439D-9B00-412197ADBF19}" dt="2026-11-02T01:33:34.153" v="3296" actId="11530"/>
          <ac:spMkLst>
            <pc:docMk/>
            <pc:sldMk cId="0" sldId="373"/>
            <ac:spMk id="42" creationId="{00000000-0000-0000-0000-000000000000}"/>
          </ac:spMkLst>
        </pc:spChg>
        <pc:spChg chg="mod">
          <ac:chgData name="윤정민" userId="6b15c765-da21-42d7-95fe-61eaef7495af" providerId="ADAL" clId="{5C7C66C6-67D0-439D-9B00-412197ADBF19}" dt="2026-11-02T01:41:39.204" v="3411" actId="1036"/>
          <ac:spMkLst>
            <pc:docMk/>
            <pc:sldMk cId="0" sldId="373"/>
            <ac:spMk id="58" creationId="{00000000-0000-0000-0000-000000000000}"/>
          </ac:spMkLst>
        </pc:spChg>
        <pc:spChg chg="mod">
          <ac:chgData name="윤정민" userId="6b15c765-da21-42d7-95fe-61eaef7495af" providerId="ADAL" clId="{5C7C66C6-67D0-439D-9B00-412197ADBF19}" dt="2026-11-02T01:33:41.602" v="3297" actId="11530"/>
          <ac:spMkLst>
            <pc:docMk/>
            <pc:sldMk cId="0" sldId="373"/>
            <ac:spMk id="65" creationId="{00000000-0000-0000-0000-000000000000}"/>
          </ac:spMkLst>
        </pc:spChg>
        <pc:spChg chg="mod">
          <ac:chgData name="윤정민" userId="6b15c765-da21-42d7-95fe-61eaef7495af" providerId="ADAL" clId="{5C7C66C6-67D0-439D-9B00-412197ADBF19}" dt="2026-11-02T01:33:41.602" v="3297" actId="11530"/>
          <ac:spMkLst>
            <pc:docMk/>
            <pc:sldMk cId="0" sldId="373"/>
            <ac:spMk id="66" creationId="{00000000-0000-0000-0000-000000000000}"/>
          </ac:spMkLst>
        </pc:spChg>
        <pc:spChg chg="mod">
          <ac:chgData name="윤정민" userId="6b15c765-da21-42d7-95fe-61eaef7495af" providerId="ADAL" clId="{5C7C66C6-67D0-439D-9B00-412197ADBF19}" dt="2026-11-02T01:33:41.602" v="3297" actId="11530"/>
          <ac:spMkLst>
            <pc:docMk/>
            <pc:sldMk cId="0" sldId="373"/>
            <ac:spMk id="67" creationId="{00000000-0000-0000-0000-000000000000}"/>
          </ac:spMkLst>
        </pc:spChg>
        <pc:spChg chg="mod">
          <ac:chgData name="윤정민" userId="6b15c765-da21-42d7-95fe-61eaef7495af" providerId="ADAL" clId="{5C7C66C6-67D0-439D-9B00-412197ADBF19}" dt="2026-11-02T01:33:41.602" v="3297" actId="11530"/>
          <ac:spMkLst>
            <pc:docMk/>
            <pc:sldMk cId="0" sldId="373"/>
            <ac:spMk id="68" creationId="{00000000-0000-0000-0000-000000000000}"/>
          </ac:spMkLst>
        </pc:spChg>
        <pc:spChg chg="mod">
          <ac:chgData name="윤정민" userId="6b15c765-da21-42d7-95fe-61eaef7495af" providerId="ADAL" clId="{5C7C66C6-67D0-439D-9B00-412197ADBF19}" dt="2026-11-02T01:33:48.438" v="3298" actId="11530"/>
          <ac:spMkLst>
            <pc:docMk/>
            <pc:sldMk cId="0" sldId="373"/>
            <ac:spMk id="69" creationId="{00000000-0000-0000-0000-000000000000}"/>
          </ac:spMkLst>
        </pc:spChg>
        <pc:spChg chg="mod">
          <ac:chgData name="윤정민" userId="6b15c765-da21-42d7-95fe-61eaef7495af" providerId="ADAL" clId="{5C7C66C6-67D0-439D-9B00-412197ADBF19}" dt="2026-11-02T01:33:48.438" v="3298" actId="11530"/>
          <ac:spMkLst>
            <pc:docMk/>
            <pc:sldMk cId="0" sldId="373"/>
            <ac:spMk id="70" creationId="{00000000-0000-0000-0000-000000000000}"/>
          </ac:spMkLst>
        </pc:spChg>
        <pc:spChg chg="mod">
          <ac:chgData name="윤정민" userId="6b15c765-da21-42d7-95fe-61eaef7495af" providerId="ADAL" clId="{5C7C66C6-67D0-439D-9B00-412197ADBF19}" dt="2026-11-02T01:33:48.438" v="3298" actId="11530"/>
          <ac:spMkLst>
            <pc:docMk/>
            <pc:sldMk cId="0" sldId="373"/>
            <ac:spMk id="71" creationId="{00000000-0000-0000-0000-000000000000}"/>
          </ac:spMkLst>
        </pc:spChg>
        <pc:spChg chg="mod">
          <ac:chgData name="윤정민" userId="6b15c765-da21-42d7-95fe-61eaef7495af" providerId="ADAL" clId="{5C7C66C6-67D0-439D-9B00-412197ADBF19}" dt="2026-11-02T01:33:48.438" v="3298" actId="11530"/>
          <ac:spMkLst>
            <pc:docMk/>
            <pc:sldMk cId="0" sldId="373"/>
            <ac:spMk id="74" creationId="{00000000-0000-0000-0000-000000000000}"/>
          </ac:spMkLst>
        </pc:spChg>
        <pc:spChg chg="mod">
          <ac:chgData name="윤정민" userId="6b15c765-da21-42d7-95fe-61eaef7495af" providerId="ADAL" clId="{5C7C66C6-67D0-439D-9B00-412197ADBF19}" dt="2026-11-02T01:33:48.438" v="3298" actId="11530"/>
          <ac:spMkLst>
            <pc:docMk/>
            <pc:sldMk cId="0" sldId="373"/>
            <ac:spMk id="77" creationId="{00000000-0000-0000-0000-000000000000}"/>
          </ac:spMkLst>
        </pc:spChg>
      </pc:sldChg>
      <pc:sldChg chg="addSp delSp modSp mod">
        <pc:chgData name="윤정민" userId="6b15c765-da21-42d7-95fe-61eaef7495af" providerId="ADAL" clId="{5C7C66C6-67D0-439D-9B00-412197ADBF19}" dt="2026-11-02T01:39:06.673" v="3390" actId="14100"/>
        <pc:sldMkLst>
          <pc:docMk/>
          <pc:sldMk cId="0" sldId="376"/>
        </pc:sldMkLst>
        <pc:spChg chg="mod">
          <ac:chgData name="윤정민" userId="6b15c765-da21-42d7-95fe-61eaef7495af" providerId="ADAL" clId="{5C7C66C6-67D0-439D-9B00-412197ADBF19}" dt="2026-11-02T01:33:12.325" v="3295" actId="20577"/>
          <ac:spMkLst>
            <pc:docMk/>
            <pc:sldMk cId="0" sldId="376"/>
            <ac:spMk id="2" creationId="{00000000-0000-0000-0000-000000000000}"/>
          </ac:spMkLst>
        </pc:spChg>
        <pc:spChg chg="add mod">
          <ac:chgData name="윤정민" userId="6b15c765-da21-42d7-95fe-61eaef7495af" providerId="ADAL" clId="{5C7C66C6-67D0-439D-9B00-412197ADBF19}" dt="2026-11-02T01:39:06.673" v="3390" actId="14100"/>
          <ac:spMkLst>
            <pc:docMk/>
            <pc:sldMk cId="0" sldId="376"/>
            <ac:spMk id="9" creationId="{94A385AD-D659-736C-4E2F-D511B8D61E1C}"/>
          </ac:spMkLst>
        </pc:spChg>
        <pc:spChg chg="del">
          <ac:chgData name="윤정민" userId="6b15c765-da21-42d7-95fe-61eaef7495af" providerId="ADAL" clId="{5C7C66C6-67D0-439D-9B00-412197ADBF19}" dt="2026-11-02T01:38:18.750" v="3383" actId="478"/>
          <ac:spMkLst>
            <pc:docMk/>
            <pc:sldMk cId="0" sldId="376"/>
            <ac:spMk id="13" creationId="{00000000-0000-0000-0000-000000000000}"/>
          </ac:spMkLst>
        </pc:spChg>
        <pc:spChg chg="mod">
          <ac:chgData name="윤정민" userId="6b15c765-da21-42d7-95fe-61eaef7495af" providerId="ADAL" clId="{5C7C66C6-67D0-439D-9B00-412197ADBF19}" dt="2026-11-02T01:36:25.485" v="3328" actId="164"/>
          <ac:spMkLst>
            <pc:docMk/>
            <pc:sldMk cId="0" sldId="376"/>
            <ac:spMk id="30" creationId="{00000000-0000-0000-0000-000000000000}"/>
          </ac:spMkLst>
        </pc:spChg>
        <pc:spChg chg="mod">
          <ac:chgData name="윤정민" userId="6b15c765-da21-42d7-95fe-61eaef7495af" providerId="ADAL" clId="{5C7C66C6-67D0-439D-9B00-412197ADBF19}" dt="2026-11-02T01:37:05.822" v="3338" actId="113"/>
          <ac:spMkLst>
            <pc:docMk/>
            <pc:sldMk cId="0" sldId="376"/>
            <ac:spMk id="31" creationId="{00000000-0000-0000-0000-000000000000}"/>
          </ac:spMkLst>
        </pc:spChg>
        <pc:spChg chg="mod">
          <ac:chgData name="윤정민" userId="6b15c765-da21-42d7-95fe-61eaef7495af" providerId="ADAL" clId="{5C7C66C6-67D0-439D-9B00-412197ADBF19}" dt="2026-11-02T01:36:30.358" v="3332" actId="1076"/>
          <ac:spMkLst>
            <pc:docMk/>
            <pc:sldMk cId="0" sldId="376"/>
            <ac:spMk id="32" creationId="{00000000-0000-0000-0000-000000000000}"/>
          </ac:spMkLst>
        </pc:spChg>
        <pc:spChg chg="mod">
          <ac:chgData name="윤정민" userId="6b15c765-da21-42d7-95fe-61eaef7495af" providerId="ADAL" clId="{5C7C66C6-67D0-439D-9B00-412197ADBF19}" dt="2026-11-02T01:36:23.780" v="3327" actId="164"/>
          <ac:spMkLst>
            <pc:docMk/>
            <pc:sldMk cId="0" sldId="376"/>
            <ac:spMk id="33" creationId="{00000000-0000-0000-0000-000000000000}"/>
          </ac:spMkLst>
        </pc:spChg>
        <pc:spChg chg="mod">
          <ac:chgData name="윤정민" userId="6b15c765-da21-42d7-95fe-61eaef7495af" providerId="ADAL" clId="{5C7C66C6-67D0-439D-9B00-412197ADBF19}" dt="2026-11-02T01:37:05.822" v="3338" actId="113"/>
          <ac:spMkLst>
            <pc:docMk/>
            <pc:sldMk cId="0" sldId="376"/>
            <ac:spMk id="34" creationId="{00000000-0000-0000-0000-000000000000}"/>
          </ac:spMkLst>
        </pc:spChg>
        <pc:spChg chg="mod">
          <ac:chgData name="윤정민" userId="6b15c765-da21-42d7-95fe-61eaef7495af" providerId="ADAL" clId="{5C7C66C6-67D0-439D-9B00-412197ADBF19}" dt="2026-11-02T01:36:23.780" v="3327" actId="164"/>
          <ac:spMkLst>
            <pc:docMk/>
            <pc:sldMk cId="0" sldId="376"/>
            <ac:spMk id="35" creationId="{00000000-0000-0000-0000-000000000000}"/>
          </ac:spMkLst>
        </pc:spChg>
        <pc:grpChg chg="add mod">
          <ac:chgData name="윤정민" userId="6b15c765-da21-42d7-95fe-61eaef7495af" providerId="ADAL" clId="{5C7C66C6-67D0-439D-9B00-412197ADBF19}" dt="2026-11-02T01:36:28.232" v="3330" actId="1076"/>
          <ac:grpSpMkLst>
            <pc:docMk/>
            <pc:sldMk cId="0" sldId="376"/>
            <ac:grpSpMk id="5" creationId="{81741FFE-9ABA-B3CC-3766-4D49424A24AF}"/>
          </ac:grpSpMkLst>
        </pc:grpChg>
        <pc:grpChg chg="add mod">
          <ac:chgData name="윤정민" userId="6b15c765-da21-42d7-95fe-61eaef7495af" providerId="ADAL" clId="{5C7C66C6-67D0-439D-9B00-412197ADBF19}" dt="2026-11-02T01:36:37.672" v="3333" actId="1076"/>
          <ac:grpSpMkLst>
            <pc:docMk/>
            <pc:sldMk cId="0" sldId="376"/>
            <ac:grpSpMk id="7" creationId="{6DFFF5F8-0689-8718-2088-863FA9323D0A}"/>
          </ac:grpSpMkLst>
        </pc:grpChg>
      </pc:sldChg>
      <pc:sldChg chg="addSp delSp modSp mod">
        <pc:chgData name="윤정민" userId="6b15c765-da21-42d7-95fe-61eaef7495af" providerId="ADAL" clId="{5C7C66C6-67D0-439D-9B00-412197ADBF19}" dt="2026-11-02T01:54:57.767" v="3994" actId="14100"/>
        <pc:sldMkLst>
          <pc:docMk/>
          <pc:sldMk cId="0" sldId="377"/>
        </pc:sldMkLst>
        <pc:spChg chg="mod">
          <ac:chgData name="윤정민" userId="6b15c765-da21-42d7-95fe-61eaef7495af" providerId="ADAL" clId="{5C7C66C6-67D0-439D-9B00-412197ADBF19}" dt="2026-10-30T01:33:35.113" v="2956" actId="14100"/>
          <ac:spMkLst>
            <pc:docMk/>
            <pc:sldMk cId="0" sldId="377"/>
            <ac:spMk id="2" creationId="{00000000-0000-0000-0000-000000000000}"/>
          </ac:spMkLst>
        </pc:spChg>
        <pc:spChg chg="add del mod">
          <ac:chgData name="윤정민" userId="6b15c765-da21-42d7-95fe-61eaef7495af" providerId="ADAL" clId="{5C7C66C6-67D0-439D-9B00-412197ADBF19}" dt="2026-11-02T01:38:35.950" v="3386"/>
          <ac:spMkLst>
            <pc:docMk/>
            <pc:sldMk cId="0" sldId="377"/>
            <ac:spMk id="5" creationId="{75D2F8DE-52D4-C32C-79F2-F83861A8649C}"/>
          </ac:spMkLst>
        </pc:spChg>
        <pc:spChg chg="del mod">
          <ac:chgData name="윤정민" userId="6b15c765-da21-42d7-95fe-61eaef7495af" providerId="ADAL" clId="{5C7C66C6-67D0-439D-9B00-412197ADBF19}" dt="2026-11-02T01:42:08.979" v="3414" actId="478"/>
          <ac:spMkLst>
            <pc:docMk/>
            <pc:sldMk cId="0" sldId="377"/>
            <ac:spMk id="9" creationId="{00000000-0000-0000-0000-000000000000}"/>
          </ac:spMkLst>
        </pc:spChg>
        <pc:spChg chg="del">
          <ac:chgData name="윤정민" userId="6b15c765-da21-42d7-95fe-61eaef7495af" providerId="ADAL" clId="{5C7C66C6-67D0-439D-9B00-412197ADBF19}" dt="2026-11-02T01:42:08.062" v="3413" actId="478"/>
          <ac:spMkLst>
            <pc:docMk/>
            <pc:sldMk cId="0" sldId="377"/>
            <ac:spMk id="10" creationId="{00000000-0000-0000-0000-000000000000}"/>
          </ac:spMkLst>
        </pc:spChg>
        <pc:spChg chg="mod">
          <ac:chgData name="윤정민" userId="6b15c765-da21-42d7-95fe-61eaef7495af" providerId="ADAL" clId="{5C7C66C6-67D0-439D-9B00-412197ADBF19}" dt="2026-11-02T01:54:57.767" v="3994" actId="14100"/>
          <ac:spMkLst>
            <pc:docMk/>
            <pc:sldMk cId="0" sldId="377"/>
            <ac:spMk id="11" creationId="{00000000-0000-0000-0000-000000000000}"/>
          </ac:spMkLst>
        </pc:spChg>
        <pc:spChg chg="del">
          <ac:chgData name="윤정민" userId="6b15c765-da21-42d7-95fe-61eaef7495af" providerId="ADAL" clId="{5C7C66C6-67D0-439D-9B00-412197ADBF19}" dt="2026-11-02T01:43:10.609" v="3475" actId="478"/>
          <ac:spMkLst>
            <pc:docMk/>
            <pc:sldMk cId="0" sldId="377"/>
            <ac:spMk id="13" creationId="{00000000-0000-0000-0000-000000000000}"/>
          </ac:spMkLst>
        </pc:spChg>
      </pc:sldChg>
      <pc:sldChg chg="delSp modSp mod">
        <pc:chgData name="윤정민" userId="6b15c765-da21-42d7-95fe-61eaef7495af" providerId="ADAL" clId="{5C7C66C6-67D0-439D-9B00-412197ADBF19}" dt="2026-11-02T01:58:58.269" v="4009" actId="1076"/>
        <pc:sldMkLst>
          <pc:docMk/>
          <pc:sldMk cId="0" sldId="381"/>
        </pc:sldMkLst>
        <pc:spChg chg="mod">
          <ac:chgData name="윤정민" userId="6b15c765-da21-42d7-95fe-61eaef7495af" providerId="ADAL" clId="{5C7C66C6-67D0-439D-9B00-412197ADBF19}" dt="2026-11-02T01:42:46.218" v="3451" actId="113"/>
          <ac:spMkLst>
            <pc:docMk/>
            <pc:sldMk cId="0" sldId="381"/>
            <ac:spMk id="2" creationId="{00000000-0000-0000-0000-000000000000}"/>
          </ac:spMkLst>
        </pc:spChg>
        <pc:spChg chg="mod">
          <ac:chgData name="윤정민" userId="6b15c765-da21-42d7-95fe-61eaef7495af" providerId="ADAL" clId="{5C7C66C6-67D0-439D-9B00-412197ADBF19}" dt="2026-11-02T01:42:46.218" v="3451" actId="113"/>
          <ac:spMkLst>
            <pc:docMk/>
            <pc:sldMk cId="0" sldId="381"/>
            <ac:spMk id="4" creationId="{ED96D3AE-CC3D-A909-29AD-1EF41A97CFCC}"/>
          </ac:spMkLst>
        </pc:spChg>
        <pc:spChg chg="del mod">
          <ac:chgData name="윤정민" userId="6b15c765-da21-42d7-95fe-61eaef7495af" providerId="ADAL" clId="{5C7C66C6-67D0-439D-9B00-412197ADBF19}" dt="2026-11-02T01:42:42.510" v="3448" actId="478"/>
          <ac:spMkLst>
            <pc:docMk/>
            <pc:sldMk cId="0" sldId="381"/>
            <ac:spMk id="9" creationId="{00000000-0000-0000-0000-000000000000}"/>
          </ac:spMkLst>
        </pc:spChg>
        <pc:spChg chg="del">
          <ac:chgData name="윤정민" userId="6b15c765-da21-42d7-95fe-61eaef7495af" providerId="ADAL" clId="{5C7C66C6-67D0-439D-9B00-412197ADBF19}" dt="2026-11-02T01:42:43.027" v="3449" actId="478"/>
          <ac:spMkLst>
            <pc:docMk/>
            <pc:sldMk cId="0" sldId="381"/>
            <ac:spMk id="10" creationId="{00000000-0000-0000-0000-000000000000}"/>
          </ac:spMkLst>
        </pc:spChg>
        <pc:spChg chg="mod">
          <ac:chgData name="윤정민" userId="6b15c765-da21-42d7-95fe-61eaef7495af" providerId="ADAL" clId="{5C7C66C6-67D0-439D-9B00-412197ADBF19}" dt="2026-11-02T01:42:54.425" v="3472" actId="20577"/>
          <ac:spMkLst>
            <pc:docMk/>
            <pc:sldMk cId="0" sldId="381"/>
            <ac:spMk id="11" creationId="{00000000-0000-0000-0000-000000000000}"/>
          </ac:spMkLst>
        </pc:spChg>
        <pc:spChg chg="mod">
          <ac:chgData name="윤정민" userId="6b15c765-da21-42d7-95fe-61eaef7495af" providerId="ADAL" clId="{5C7C66C6-67D0-439D-9B00-412197ADBF19}" dt="2026-11-02T01:42:46.218" v="3451" actId="113"/>
          <ac:spMkLst>
            <pc:docMk/>
            <pc:sldMk cId="0" sldId="381"/>
            <ac:spMk id="12" creationId="{00000000-0000-0000-0000-000000000000}"/>
          </ac:spMkLst>
        </pc:spChg>
        <pc:spChg chg="del mod">
          <ac:chgData name="윤정민" userId="6b15c765-da21-42d7-95fe-61eaef7495af" providerId="ADAL" clId="{5C7C66C6-67D0-439D-9B00-412197ADBF19}" dt="2026-11-02T01:42:58.464" v="3473" actId="478"/>
          <ac:spMkLst>
            <pc:docMk/>
            <pc:sldMk cId="0" sldId="381"/>
            <ac:spMk id="13" creationId="{00000000-0000-0000-0000-000000000000}"/>
          </ac:spMkLst>
        </pc:spChg>
        <pc:spChg chg="mod">
          <ac:chgData name="윤정민" userId="6b15c765-da21-42d7-95fe-61eaef7495af" providerId="ADAL" clId="{5C7C66C6-67D0-439D-9B00-412197ADBF19}" dt="2026-11-02T01:42:46.218" v="3451" actId="113"/>
          <ac:spMkLst>
            <pc:docMk/>
            <pc:sldMk cId="0" sldId="381"/>
            <ac:spMk id="15" creationId="{00000000-0000-0000-0000-000000000000}"/>
          </ac:spMkLst>
        </pc:spChg>
        <pc:spChg chg="mod">
          <ac:chgData name="윤정민" userId="6b15c765-da21-42d7-95fe-61eaef7495af" providerId="ADAL" clId="{5C7C66C6-67D0-439D-9B00-412197ADBF19}" dt="2026-11-02T01:42:46.218" v="3451" actId="113"/>
          <ac:spMkLst>
            <pc:docMk/>
            <pc:sldMk cId="0" sldId="381"/>
            <ac:spMk id="16" creationId="{00000000-0000-0000-0000-000000000000}"/>
          </ac:spMkLst>
        </pc:spChg>
        <pc:spChg chg="mod">
          <ac:chgData name="윤정민" userId="6b15c765-da21-42d7-95fe-61eaef7495af" providerId="ADAL" clId="{5C7C66C6-67D0-439D-9B00-412197ADBF19}" dt="2026-11-02T01:42:46.218" v="3451" actId="113"/>
          <ac:spMkLst>
            <pc:docMk/>
            <pc:sldMk cId="0" sldId="381"/>
            <ac:spMk id="17" creationId="{00000000-0000-0000-0000-000000000000}"/>
          </ac:spMkLst>
        </pc:spChg>
        <pc:spChg chg="mod">
          <ac:chgData name="윤정민" userId="6b15c765-da21-42d7-95fe-61eaef7495af" providerId="ADAL" clId="{5C7C66C6-67D0-439D-9B00-412197ADBF19}" dt="2026-11-02T01:42:46.218" v="3451" actId="113"/>
          <ac:spMkLst>
            <pc:docMk/>
            <pc:sldMk cId="0" sldId="381"/>
            <ac:spMk id="18" creationId="{00000000-0000-0000-0000-000000000000}"/>
          </ac:spMkLst>
        </pc:spChg>
        <pc:spChg chg="mod">
          <ac:chgData name="윤정민" userId="6b15c765-da21-42d7-95fe-61eaef7495af" providerId="ADAL" clId="{5C7C66C6-67D0-439D-9B00-412197ADBF19}" dt="2026-11-02T01:42:46.218" v="3451" actId="113"/>
          <ac:spMkLst>
            <pc:docMk/>
            <pc:sldMk cId="0" sldId="381"/>
            <ac:spMk id="19" creationId="{00000000-0000-0000-0000-000000000000}"/>
          </ac:spMkLst>
        </pc:spChg>
        <pc:graphicFrameChg chg="mod">
          <ac:chgData name="윤정민" userId="6b15c765-da21-42d7-95fe-61eaef7495af" providerId="ADAL" clId="{5C7C66C6-67D0-439D-9B00-412197ADBF19}" dt="2026-11-02T01:58:58.269" v="4009" actId="1076"/>
          <ac:graphicFrameMkLst>
            <pc:docMk/>
            <pc:sldMk cId="0" sldId="381"/>
            <ac:graphicFrameMk id="8" creationId="{00000000-0000-0000-0000-000000000000}"/>
          </ac:graphicFrameMkLst>
        </pc:graphicFrameChg>
        <pc:graphicFrameChg chg="mod">
          <ac:chgData name="윤정민" userId="6b15c765-da21-42d7-95fe-61eaef7495af" providerId="ADAL" clId="{5C7C66C6-67D0-439D-9B00-412197ADBF19}" dt="2026-11-02T01:58:58.269" v="4009" actId="1076"/>
          <ac:graphicFrameMkLst>
            <pc:docMk/>
            <pc:sldMk cId="0" sldId="381"/>
            <ac:graphicFrameMk id="20" creationId="{00000000-0000-0000-0000-000000000000}"/>
          </ac:graphicFrameMkLst>
        </pc:graphicFrameChg>
        <pc:picChg chg="mod">
          <ac:chgData name="윤정민" userId="6b15c765-da21-42d7-95fe-61eaef7495af" providerId="ADAL" clId="{5C7C66C6-67D0-439D-9B00-412197ADBF19}" dt="2026-11-02T01:58:53.277" v="4008" actId="1076"/>
          <ac:picMkLst>
            <pc:docMk/>
            <pc:sldMk cId="0" sldId="381"/>
            <ac:picMk id="14" creationId="{00000000-0000-0000-0000-000000000000}"/>
          </ac:picMkLst>
        </pc:picChg>
      </pc:sldChg>
      <pc:sldChg chg="addSp delSp modSp mod delAnim">
        <pc:chgData name="윤정민" userId="6b15c765-da21-42d7-95fe-61eaef7495af" providerId="ADAL" clId="{5C7C66C6-67D0-439D-9B00-412197ADBF19}" dt="2026-11-02T01:51:23.175" v="3868" actId="20577"/>
        <pc:sldMkLst>
          <pc:docMk/>
          <pc:sldMk cId="0" sldId="392"/>
        </pc:sldMkLst>
        <pc:spChg chg="add mod">
          <ac:chgData name="윤정민" userId="6b15c765-da21-42d7-95fe-61eaef7495af" providerId="ADAL" clId="{5C7C66C6-67D0-439D-9B00-412197ADBF19}" dt="2026-11-02T01:51:23.175" v="3868" actId="20577"/>
          <ac:spMkLst>
            <pc:docMk/>
            <pc:sldMk cId="0" sldId="392"/>
            <ac:spMk id="5" creationId="{98AB2F6A-CBE5-269A-804E-6B9AC06A28C0}"/>
          </ac:spMkLst>
        </pc:spChg>
        <pc:spChg chg="del">
          <ac:chgData name="윤정민" userId="6b15c765-da21-42d7-95fe-61eaef7495af" providerId="ADAL" clId="{5C7C66C6-67D0-439D-9B00-412197ADBF19}" dt="2026-11-02T01:32:11.956" v="3223" actId="478"/>
          <ac:spMkLst>
            <pc:docMk/>
            <pc:sldMk cId="0" sldId="392"/>
            <ac:spMk id="25" creationId="{00000000-0000-0000-0000-000000000000}"/>
          </ac:spMkLst>
        </pc:spChg>
      </pc:sldChg>
      <pc:sldChg chg="modSp mod">
        <pc:chgData name="윤정민" userId="6b15c765-da21-42d7-95fe-61eaef7495af" providerId="ADAL" clId="{5C7C66C6-67D0-439D-9B00-412197ADBF19}" dt="2026-11-02T01:52:29.640" v="3884" actId="14100"/>
        <pc:sldMkLst>
          <pc:docMk/>
          <pc:sldMk cId="0" sldId="393"/>
        </pc:sldMkLst>
        <pc:spChg chg="mod">
          <ac:chgData name="윤정민" userId="6b15c765-da21-42d7-95fe-61eaef7495af" providerId="ADAL" clId="{5C7C66C6-67D0-439D-9B00-412197ADBF19}" dt="2026-11-02T01:52:29.640" v="3884" actId="14100"/>
          <ac:spMkLst>
            <pc:docMk/>
            <pc:sldMk cId="0" sldId="393"/>
            <ac:spMk id="16" creationId="{8047BECD-13AC-34B4-648E-3F786D1CA844}"/>
          </ac:spMkLst>
        </pc:spChg>
        <pc:spChg chg="mod">
          <ac:chgData name="윤정민" userId="6b15c765-da21-42d7-95fe-61eaef7495af" providerId="ADAL" clId="{5C7C66C6-67D0-439D-9B00-412197ADBF19}" dt="2026-11-02T01:34:30.488" v="3320" actId="1076"/>
          <ac:spMkLst>
            <pc:docMk/>
            <pc:sldMk cId="0" sldId="393"/>
            <ac:spMk id="17" creationId="{2CEDB320-84EB-5AE7-2DBA-8591CC594407}"/>
          </ac:spMkLst>
        </pc:spChg>
        <pc:spChg chg="mod">
          <ac:chgData name="윤정민" userId="6b15c765-da21-42d7-95fe-61eaef7495af" providerId="ADAL" clId="{5C7C66C6-67D0-439D-9B00-412197ADBF19}" dt="2026-11-02T01:34:20.566" v="3318" actId="14100"/>
          <ac:spMkLst>
            <pc:docMk/>
            <pc:sldMk cId="0" sldId="393"/>
            <ac:spMk id="18" creationId="{95189CE0-F7CA-C1ED-F747-0D0B0B86823B}"/>
          </ac:spMkLst>
        </pc:spChg>
        <pc:spChg chg="mod">
          <ac:chgData name="윤정민" userId="6b15c765-da21-42d7-95fe-61eaef7495af" providerId="ADAL" clId="{5C7C66C6-67D0-439D-9B00-412197ADBF19}" dt="2026-11-02T01:27:24.880" v="2969" actId="20577"/>
          <ac:spMkLst>
            <pc:docMk/>
            <pc:sldMk cId="0" sldId="393"/>
            <ac:spMk id="42" creationId="{00000000-0000-0000-0000-000000000000}"/>
          </ac:spMkLst>
        </pc:spChg>
      </pc:sldChg>
      <pc:sldChg chg="delSp modSp mod delAnim">
        <pc:chgData name="윤정민" userId="6b15c765-da21-42d7-95fe-61eaef7495af" providerId="ADAL" clId="{5C7C66C6-67D0-439D-9B00-412197ADBF19}" dt="2026-11-02T01:54:31.042" v="3993" actId="1076"/>
        <pc:sldMkLst>
          <pc:docMk/>
          <pc:sldMk cId="0" sldId="394"/>
        </pc:sldMkLst>
        <pc:spChg chg="mod">
          <ac:chgData name="윤정민" userId="6b15c765-da21-42d7-95fe-61eaef7495af" providerId="ADAL" clId="{5C7C66C6-67D0-439D-9B00-412197ADBF19}" dt="2026-11-02T01:54:20.491" v="3992" actId="20577"/>
          <ac:spMkLst>
            <pc:docMk/>
            <pc:sldMk cId="0" sldId="394"/>
            <ac:spMk id="2" creationId="{00000000-0000-0000-0000-000000000000}"/>
          </ac:spMkLst>
        </pc:spChg>
        <pc:spChg chg="mod">
          <ac:chgData name="윤정민" userId="6b15c765-da21-42d7-95fe-61eaef7495af" providerId="ADAL" clId="{5C7C66C6-67D0-439D-9B00-412197ADBF19}" dt="2026-11-02T01:54:31.042" v="3993" actId="1076"/>
          <ac:spMkLst>
            <pc:docMk/>
            <pc:sldMk cId="0" sldId="394"/>
            <ac:spMk id="5" creationId="{0F15D703-4D61-BD63-2766-9017B752BD5F}"/>
          </ac:spMkLst>
        </pc:spChg>
        <pc:spChg chg="del">
          <ac:chgData name="윤정민" userId="6b15c765-da21-42d7-95fe-61eaef7495af" providerId="ADAL" clId="{5C7C66C6-67D0-439D-9B00-412197ADBF19}" dt="2026-11-02T01:35:15.975" v="3322" actId="478"/>
          <ac:spMkLst>
            <pc:docMk/>
            <pc:sldMk cId="0" sldId="394"/>
            <ac:spMk id="25" creationId="{00000000-0000-0000-0000-000000000000}"/>
          </ac:spMkLst>
        </pc:spChg>
        <pc:spChg chg="del">
          <ac:chgData name="윤정민" userId="6b15c765-da21-42d7-95fe-61eaef7495af" providerId="ADAL" clId="{5C7C66C6-67D0-439D-9B00-412197ADBF19}" dt="2026-11-02T01:32:39.031" v="3291" actId="478"/>
          <ac:spMkLst>
            <pc:docMk/>
            <pc:sldMk cId="0" sldId="394"/>
            <ac:spMk id="26" creationId="{00000000-0000-0000-0000-000000000000}"/>
          </ac:spMkLst>
        </pc:spChg>
        <pc:spChg chg="del">
          <ac:chgData name="윤정민" userId="6b15c765-da21-42d7-95fe-61eaef7495af" providerId="ADAL" clId="{5C7C66C6-67D0-439D-9B00-412197ADBF19}" dt="2026-11-02T01:42:16.979" v="3427" actId="478"/>
          <ac:spMkLst>
            <pc:docMk/>
            <pc:sldMk cId="0" sldId="394"/>
            <ac:spMk id="34" creationId="{00000000-0000-0000-0000-000000000000}"/>
          </ac:spMkLst>
        </pc:spChg>
        <pc:spChg chg="del">
          <ac:chgData name="윤정민" userId="6b15c765-da21-42d7-95fe-61eaef7495af" providerId="ADAL" clId="{5C7C66C6-67D0-439D-9B00-412197ADBF19}" dt="2026-11-02T01:42:16.273" v="3426" actId="478"/>
          <ac:spMkLst>
            <pc:docMk/>
            <pc:sldMk cId="0" sldId="394"/>
            <ac:spMk id="35" creationId="{00000000-0000-0000-0000-000000000000}"/>
          </ac:spMkLst>
        </pc:spChg>
        <pc:spChg chg="mod">
          <ac:chgData name="윤정민" userId="6b15c765-da21-42d7-95fe-61eaef7495af" providerId="ADAL" clId="{5C7C66C6-67D0-439D-9B00-412197ADBF19}" dt="2026-11-02T01:42:26.285" v="3445" actId="403"/>
          <ac:spMkLst>
            <pc:docMk/>
            <pc:sldMk cId="0" sldId="394"/>
            <ac:spMk id="36" creationId="{00000000-0000-0000-0000-000000000000}"/>
          </ac:spMkLst>
        </pc:spChg>
      </pc:sldChg>
      <pc:sldChg chg="addSp delSp modSp mod delAnim">
        <pc:chgData name="윤정민" userId="6b15c765-da21-42d7-95fe-61eaef7495af" providerId="ADAL" clId="{5C7C66C6-67D0-439D-9B00-412197ADBF19}" dt="2026-11-02T02:00:14.540" v="4084" actId="20577"/>
        <pc:sldMkLst>
          <pc:docMk/>
          <pc:sldMk cId="0" sldId="397"/>
        </pc:sldMkLst>
        <pc:spChg chg="mod">
          <ac:chgData name="윤정민" userId="6b15c765-da21-42d7-95fe-61eaef7495af" providerId="ADAL" clId="{5C7C66C6-67D0-439D-9B00-412197ADBF19}" dt="2026-10-30T01:34:00.518" v="2957" actId="14100"/>
          <ac:spMkLst>
            <pc:docMk/>
            <pc:sldMk cId="0" sldId="397"/>
            <ac:spMk id="2" creationId="{00000000-0000-0000-0000-000000000000}"/>
          </ac:spMkLst>
        </pc:spChg>
        <pc:spChg chg="add mod">
          <ac:chgData name="윤정민" userId="6b15c765-da21-42d7-95fe-61eaef7495af" providerId="ADAL" clId="{5C7C66C6-67D0-439D-9B00-412197ADBF19}" dt="2026-11-02T02:00:14.540" v="4084" actId="20577"/>
          <ac:spMkLst>
            <pc:docMk/>
            <pc:sldMk cId="0" sldId="397"/>
            <ac:spMk id="5" creationId="{1D033586-424C-359C-062B-77D0EF336D1B}"/>
          </ac:spMkLst>
        </pc:spChg>
        <pc:spChg chg="del">
          <ac:chgData name="윤정민" userId="6b15c765-da21-42d7-95fe-61eaef7495af" providerId="ADAL" clId="{5C7C66C6-67D0-439D-9B00-412197ADBF19}" dt="2026-11-02T01:48:11.479" v="3481" actId="478"/>
          <ac:spMkLst>
            <pc:docMk/>
            <pc:sldMk cId="0" sldId="397"/>
            <ac:spMk id="26" creationId="{00000000-0000-0000-0000-000000000000}"/>
          </ac:spMkLst>
        </pc:spChg>
        <pc:spChg chg="del">
          <ac:chgData name="윤정민" userId="6b15c765-da21-42d7-95fe-61eaef7495af" providerId="ADAL" clId="{5C7C66C6-67D0-439D-9B00-412197ADBF19}" dt="2026-11-02T01:47:51.666" v="3476" actId="478"/>
          <ac:spMkLst>
            <pc:docMk/>
            <pc:sldMk cId="0" sldId="397"/>
            <ac:spMk id="34" creationId="{00000000-0000-0000-0000-000000000000}"/>
          </ac:spMkLst>
        </pc:spChg>
        <pc:spChg chg="del">
          <ac:chgData name="윤정민" userId="6b15c765-da21-42d7-95fe-61eaef7495af" providerId="ADAL" clId="{5C7C66C6-67D0-439D-9B00-412197ADBF19}" dt="2026-11-02T01:47:52.102" v="3477" actId="478"/>
          <ac:spMkLst>
            <pc:docMk/>
            <pc:sldMk cId="0" sldId="397"/>
            <ac:spMk id="35" creationId="{00000000-0000-0000-0000-000000000000}"/>
          </ac:spMkLst>
        </pc:spChg>
        <pc:spChg chg="mod">
          <ac:chgData name="윤정민" userId="6b15c765-da21-42d7-95fe-61eaef7495af" providerId="ADAL" clId="{5C7C66C6-67D0-439D-9B00-412197ADBF19}" dt="2026-11-02T01:48:19.965" v="3497" actId="1035"/>
          <ac:spMkLst>
            <pc:docMk/>
            <pc:sldMk cId="0" sldId="397"/>
            <ac:spMk id="36" creationId="{00000000-0000-0000-0000-000000000000}"/>
          </ac:spMkLst>
        </pc:spChg>
        <pc:graphicFrameChg chg="mod">
          <ac:chgData name="윤정민" userId="6b15c765-da21-42d7-95fe-61eaef7495af" providerId="ADAL" clId="{5C7C66C6-67D0-439D-9B00-412197ADBF19}" dt="2026-11-02T01:48:04.830" v="3480"/>
          <ac:graphicFrameMkLst>
            <pc:docMk/>
            <pc:sldMk cId="0" sldId="397"/>
            <ac:graphicFrameMk id="8" creationId="{00000000-0000-0000-0000-000000000000}"/>
          </ac:graphicFrameMkLst>
        </pc:graphicFrameChg>
      </pc:sldChg>
      <pc:sldChg chg="addSp delSp modSp mod">
        <pc:chgData name="윤정민" userId="6b15c765-da21-42d7-95fe-61eaef7495af" providerId="ADAL" clId="{5C7C66C6-67D0-439D-9B00-412197ADBF19}" dt="2026-11-02T02:01:37.186" v="4089" actId="1076"/>
        <pc:sldMkLst>
          <pc:docMk/>
          <pc:sldMk cId="0" sldId="398"/>
        </pc:sldMkLst>
        <pc:spChg chg="add del mod">
          <ac:chgData name="윤정민" userId="6b15c765-da21-42d7-95fe-61eaef7495af" providerId="ADAL" clId="{5C7C66C6-67D0-439D-9B00-412197ADBF19}" dt="2026-11-02T01:48:52.147" v="3501"/>
          <ac:spMkLst>
            <pc:docMk/>
            <pc:sldMk cId="0" sldId="398"/>
            <ac:spMk id="5" creationId="{7E15454B-F059-5B92-7BCC-CBDD5A160EBB}"/>
          </ac:spMkLst>
        </pc:spChg>
        <pc:spChg chg="add mod">
          <ac:chgData name="윤정민" userId="6b15c765-da21-42d7-95fe-61eaef7495af" providerId="ADAL" clId="{5C7C66C6-67D0-439D-9B00-412197ADBF19}" dt="2026-11-02T02:01:37.186" v="4089" actId="1076"/>
          <ac:spMkLst>
            <pc:docMk/>
            <pc:sldMk cId="0" sldId="398"/>
            <ac:spMk id="7" creationId="{71BA781D-4F2A-A482-9BAC-AA3150E40E32}"/>
          </ac:spMkLst>
        </pc:spChg>
        <pc:spChg chg="del">
          <ac:chgData name="윤정민" userId="6b15c765-da21-42d7-95fe-61eaef7495af" providerId="ADAL" clId="{5C7C66C6-67D0-439D-9B00-412197ADBF19}" dt="2026-11-02T01:48:36.791" v="3498" actId="478"/>
          <ac:spMkLst>
            <pc:docMk/>
            <pc:sldMk cId="0" sldId="398"/>
            <ac:spMk id="26" creationId="{00000000-0000-0000-0000-000000000000}"/>
          </ac:spMkLst>
        </pc:spChg>
      </pc:sldChg>
      <pc:sldChg chg="delSp mod">
        <pc:chgData name="윤정민" userId="6b15c765-da21-42d7-95fe-61eaef7495af" providerId="ADAL" clId="{5C7C66C6-67D0-439D-9B00-412197ADBF19}" dt="2026-11-02T01:56:56.279" v="3996" actId="478"/>
        <pc:sldMkLst>
          <pc:docMk/>
          <pc:sldMk cId="0" sldId="399"/>
        </pc:sldMkLst>
        <pc:spChg chg="del">
          <ac:chgData name="윤정민" userId="6b15c765-da21-42d7-95fe-61eaef7495af" providerId="ADAL" clId="{5C7C66C6-67D0-439D-9B00-412197ADBF19}" dt="2026-11-02T01:56:56.279" v="3996" actId="478"/>
          <ac:spMkLst>
            <pc:docMk/>
            <pc:sldMk cId="0" sldId="399"/>
            <ac:spMk id="26" creationId="{00000000-0000-0000-0000-000000000000}"/>
          </ac:spMkLst>
        </pc:spChg>
      </pc:sldChg>
      <pc:sldChg chg="addSp delSp modSp mod delAnim">
        <pc:chgData name="윤정민" userId="6b15c765-da21-42d7-95fe-61eaef7495af" providerId="ADAL" clId="{5C7C66C6-67D0-439D-9B00-412197ADBF19}" dt="2026-11-02T01:53:53.772" v="3987" actId="14100"/>
        <pc:sldMkLst>
          <pc:docMk/>
          <pc:sldMk cId="0" sldId="412"/>
        </pc:sldMkLst>
        <pc:spChg chg="add mod">
          <ac:chgData name="윤정민" userId="6b15c765-da21-42d7-95fe-61eaef7495af" providerId="ADAL" clId="{5C7C66C6-67D0-439D-9B00-412197ADBF19}" dt="2026-11-02T01:28:34.985" v="3016" actId="20577"/>
          <ac:spMkLst>
            <pc:docMk/>
            <pc:sldMk cId="0" sldId="412"/>
            <ac:spMk id="5" creationId="{293BF952-5CBE-9DFF-EDF4-EEBCECA32F62}"/>
          </ac:spMkLst>
        </pc:spChg>
        <pc:spChg chg="add del mod">
          <ac:chgData name="윤정민" userId="6b15c765-da21-42d7-95fe-61eaef7495af" providerId="ADAL" clId="{5C7C66C6-67D0-439D-9B00-412197ADBF19}" dt="2026-11-02T01:30:55.648" v="3196" actId="478"/>
          <ac:spMkLst>
            <pc:docMk/>
            <pc:sldMk cId="0" sldId="412"/>
            <ac:spMk id="7" creationId="{A5AA356F-985F-908B-053A-75484418798F}"/>
          </ac:spMkLst>
        </pc:spChg>
        <pc:spChg chg="add mod">
          <ac:chgData name="윤정민" userId="6b15c765-da21-42d7-95fe-61eaef7495af" providerId="ADAL" clId="{5C7C66C6-67D0-439D-9B00-412197ADBF19}" dt="2026-11-02T01:53:53.772" v="3987" actId="14100"/>
          <ac:spMkLst>
            <pc:docMk/>
            <pc:sldMk cId="0" sldId="412"/>
            <ac:spMk id="8" creationId="{E2D85033-6542-1444-4923-ED97A1BC94D0}"/>
          </ac:spMkLst>
        </pc:spChg>
        <pc:spChg chg="add mod">
          <ac:chgData name="윤정민" userId="6b15c765-da21-42d7-95fe-61eaef7495af" providerId="ADAL" clId="{5C7C66C6-67D0-439D-9B00-412197ADBF19}" dt="2026-11-02T01:53:12.291" v="3969" actId="20577"/>
          <ac:spMkLst>
            <pc:docMk/>
            <pc:sldMk cId="0" sldId="412"/>
            <ac:spMk id="9" creationId="{0797C480-80C3-A5FA-E06F-4EC67AFFAD20}"/>
          </ac:spMkLst>
        </pc:spChg>
        <pc:spChg chg="add del mod">
          <ac:chgData name="윤정민" userId="6b15c765-da21-42d7-95fe-61eaef7495af" providerId="ADAL" clId="{5C7C66C6-67D0-439D-9B00-412197ADBF19}" dt="2026-11-02T01:50:44.471" v="3787"/>
          <ac:spMkLst>
            <pc:docMk/>
            <pc:sldMk cId="0" sldId="412"/>
            <ac:spMk id="10" creationId="{D676E7F6-AA0B-8BEF-F480-6E5F5688964D}"/>
          </ac:spMkLst>
        </pc:spChg>
        <pc:spChg chg="del">
          <ac:chgData name="윤정민" userId="6b15c765-da21-42d7-95fe-61eaef7495af" providerId="ADAL" clId="{5C7C66C6-67D0-439D-9B00-412197ADBF19}" dt="2026-11-02T01:30:56.529" v="3197" actId="478"/>
          <ac:spMkLst>
            <pc:docMk/>
            <pc:sldMk cId="0" sldId="412"/>
            <ac:spMk id="25" creationId="{00000000-0000-0000-0000-000000000000}"/>
          </ac:spMkLst>
        </pc:spChg>
        <pc:spChg chg="del">
          <ac:chgData name="윤정민" userId="6b15c765-da21-42d7-95fe-61eaef7495af" providerId="ADAL" clId="{5C7C66C6-67D0-439D-9B00-412197ADBF19}" dt="2026-11-02T01:28:42.616" v="3017" actId="478"/>
          <ac:spMkLst>
            <pc:docMk/>
            <pc:sldMk cId="0" sldId="412"/>
            <ac:spMk id="26" creationId="{00000000-0000-0000-0000-000000000000}"/>
          </ac:spMkLst>
        </pc:spChg>
        <pc:spChg chg="mod">
          <ac:chgData name="윤정민" userId="6b15c765-da21-42d7-95fe-61eaef7495af" providerId="ADAL" clId="{5C7C66C6-67D0-439D-9B00-412197ADBF19}" dt="2026-11-02T01:27:56.897" v="2970" actId="113"/>
          <ac:spMkLst>
            <pc:docMk/>
            <pc:sldMk cId="0" sldId="412"/>
            <ac:spMk id="36" creationId="{00000000-0000-0000-0000-000000000000}"/>
          </ac:spMkLst>
        </pc:spChg>
      </pc:sldChg>
      <pc:sldChg chg="delSp mod">
        <pc:chgData name="윤정민" userId="6b15c765-da21-42d7-95fe-61eaef7495af" providerId="ADAL" clId="{5C7C66C6-67D0-439D-9B00-412197ADBF19}" dt="2026-11-02T01:56:50.006" v="3995" actId="478"/>
        <pc:sldMkLst>
          <pc:docMk/>
          <pc:sldMk cId="0" sldId="413"/>
        </pc:sldMkLst>
        <pc:spChg chg="del">
          <ac:chgData name="윤정민" userId="6b15c765-da21-42d7-95fe-61eaef7495af" providerId="ADAL" clId="{5C7C66C6-67D0-439D-9B00-412197ADBF19}" dt="2026-11-02T01:56:50.006" v="3995" actId="478"/>
          <ac:spMkLst>
            <pc:docMk/>
            <pc:sldMk cId="0" sldId="413"/>
            <ac:spMk id="26" creationId="{00000000-0000-0000-0000-000000000000}"/>
          </ac:spMkLst>
        </pc:spChg>
      </pc:sldChg>
      <pc:sldChg chg="ord">
        <pc:chgData name="윤정민" userId="6b15c765-da21-42d7-95fe-61eaef7495af" providerId="ADAL" clId="{5C7C66C6-67D0-439D-9B00-412197ADBF19}" dt="2026-11-02T01:26:16.622" v="2959"/>
        <pc:sldMkLst>
          <pc:docMk/>
          <pc:sldMk cId="0" sldId="416"/>
        </pc:sldMkLst>
      </pc:sldChg>
      <pc:sldChg chg="delSp modSp mod">
        <pc:chgData name="윤정민" userId="6b15c765-da21-42d7-95fe-61eaef7495af" providerId="ADAL" clId="{5C7C66C6-67D0-439D-9B00-412197ADBF19}" dt="2026-11-02T01:58:20.869" v="4006" actId="14100"/>
        <pc:sldMkLst>
          <pc:docMk/>
          <pc:sldMk cId="0" sldId="417"/>
        </pc:sldMkLst>
        <pc:spChg chg="del">
          <ac:chgData name="윤정민" userId="6b15c765-da21-42d7-95fe-61eaef7495af" providerId="ADAL" clId="{5C7C66C6-67D0-439D-9B00-412197ADBF19}" dt="2026-11-02T01:43:00.903" v="3474" actId="478"/>
          <ac:spMkLst>
            <pc:docMk/>
            <pc:sldMk cId="0" sldId="417"/>
            <ac:spMk id="13" creationId="{00000000-0000-0000-0000-000000000000}"/>
          </ac:spMkLst>
        </pc:spChg>
        <pc:graphicFrameChg chg="mod modGraphic">
          <ac:chgData name="윤정민" userId="6b15c765-da21-42d7-95fe-61eaef7495af" providerId="ADAL" clId="{5C7C66C6-67D0-439D-9B00-412197ADBF19}" dt="2026-11-02T01:58:20.869" v="4006" actId="14100"/>
          <ac:graphicFrameMkLst>
            <pc:docMk/>
            <pc:sldMk cId="0" sldId="417"/>
            <ac:graphicFrameMk id="8" creationId="{00000000-0000-0000-0000-000000000000}"/>
          </ac:graphicFrameMkLst>
        </pc:graphicFrameChg>
        <pc:graphicFrameChg chg="mod modGraphic">
          <ac:chgData name="윤정민" userId="6b15c765-da21-42d7-95fe-61eaef7495af" providerId="ADAL" clId="{5C7C66C6-67D0-439D-9B00-412197ADBF19}" dt="2026-11-02T01:58:18.483" v="4005" actId="14100"/>
          <ac:graphicFrameMkLst>
            <pc:docMk/>
            <pc:sldMk cId="0" sldId="417"/>
            <ac:graphicFrameMk id="22"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FC7B71-203A-44A4-BF64-F0E05ABB4A10}" type="datetimeFigureOut">
              <a:rPr lang="ko-KR" altLang="en-US" smtClean="0"/>
              <a:t>2026-11-02</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34595A-DD79-43DB-8171-24D3E6EC3B6F}" type="slidenum">
              <a:rPr lang="ko-KR" altLang="en-US" smtClean="0"/>
              <a:t>‹#›</a:t>
            </a:fld>
            <a:endParaRPr lang="ko-KR" altLang="en-US"/>
          </a:p>
        </p:txBody>
      </p:sp>
    </p:spTree>
    <p:extLst>
      <p:ext uri="{BB962C8B-B14F-4D97-AF65-F5344CB8AC3E}">
        <p14:creationId xmlns:p14="http://schemas.microsoft.com/office/powerpoint/2010/main" val="43043718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(약 10초) 안녕하십니까. 전북대학교 스마트농업AI융합학과 윤정민입니다. 오늘은 침수와 건조, 그리고 두 재해가 연속으로 발생한 복합재해 조건에서 콩과 상추의 생리 및 생육 반응을 비교한 결과를 발표하겠습니다. (발표 10분, 질의응답 2분)</a:t>
            </a:r>
          </a:p>
        </p:txBody>
      </p:sp>
      <p:sp>
        <p:nvSpPr>
          <p:cNvPr id="4" name="슬라이드 번호 개체 틀 3"/>
          <p:cNvSpPr>
            <a:spLocks noGrp="1"/>
          </p:cNvSpPr>
          <p:nvPr>
            <p:ph type="sldNum" sz="quarter" idx="5"/>
          </p:nvPr>
        </p:nvSpPr>
        <p:spPr/>
        <p:txBody>
          <a:bodyPr/>
          <a:lstStyle/>
          <a:p>
            <a:fld id="{9334595A-DD79-43DB-8171-24D3E6EC3B6F}" type="slidenum">
              <a:rPr lang="ko-KR" altLang="en-US" smtClean="0"/>
              <a:t>1</a:t>
            </a:fld>
            <a:endParaRPr lang="ko-KR" altLang="en-US"/>
          </a:p>
        </p:txBody>
      </p:sp>
    </p:spTree>
    <p:extLst>
      <p:ext uri="{BB962C8B-B14F-4D97-AF65-F5344CB8AC3E}">
        <p14:creationId xmlns:p14="http://schemas.microsoft.com/office/powerpoint/2010/main" val="23691803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35초) 최근에는 집중호우와 폭염·가뭄이 짧은 간격으로 반복되면서 한 작물이 한 생육기 안에서 침수와 건조를 연이어 겪는 복합재해가 늘고 있습니다. 2025년 7월 중순에도 남부지방에 집중호우가 내린 뒤 폭염이 이어졌습니다. 왼쪽 그림처럼 침수는 뿌리의 산소 결핍으로 기공을 닫게 하고 배수 후에도 회복에 시간이 걸립니다. 가운데 그림처럼 건조는 토양 수분 부족으로 엽의 수분 상태를 떨어뜨려 증산과 광합성을 줄입니다. 오른쪽 그림처럼 두 재해가 이어지면 피해가 누적될 수도, 앞선 스트레스가 순화 효과를 줄 수도 있는데, 작물과 생육 단계별로 어떻게 다른지 비교한 연구는 충분하지 않습니다.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30초) 이 연구는 수분 재해의 영향을 단계별로 나누어 보았습니다. 잎에서는 수분 스트레스에 가장 먼저 기공이 닫혀 이산화탄소 공급이 줄고, 그 뒤 두 경로가 병렬로 영향을 받습니다. 하나는 틸라코이드 막의 PSII 전자전달, 즉 명반응이고, 다른 하나는 루비스코 카르복실화와 재생 능력, 즉 광합성 능력입니다. 이 세 단계의 영향이 누적되어 생육과 수량 감소로 이어지는지를 콩과 상추에 침수, 건조, 복합 처리를 적용하여 비교했습니다.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20초) 공시 작물은 상추와 콩 두 종이며, 각각 대조, 건조, 침수, 복합 네 처리구를 설정했습니다. 관수는 식물체가 전날 증산한 만큼 다음날 관수했고, 건조와 복합 처리는 그 50%만 관수했습니다. 침수는 포트를 물에 담가 72시간, 즉 3일간 처리했고 복합 처리는 침수 직후 건조 처리를 이어서 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15초) 두 실험은 시기와 기간이 달라 침수 시작일을 DAT 0으로 맞추어 정렬했습니다. 상추는 처리 후 16일, 콩은 55일까지 관찰했습니다. LI-600은 초기에는 매일, 이후에는 콩은 1~2주 간격, 상추는 이틀 간격으로 측정했고 LI-6800 광합성 곡선은 콩은 9월 중순, 상추는 10월 중순에 측정했습니다. 결과는 침수 시작부터 종료 후 7일까지를 P1, 그 이후를 P2로 나누어 제시합니다.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30초) 측정 항목은 네 단계입니다. 기공은 온도 보정한 기공전도도로 보았습니다. 명반응은 LI-600 형광으로 광계 II 양자수율 ΦPSII를 얻고, 암적응 Fo와 Fm을 이용해 NPQ, ΦNO, ΦNPQ를 계산했습니다. 형광 지표는 측정 당시의 PAR과 기온을 양적 공변량으로, 측정일을 임의효과로 넣은 모형으로 보정했습니다. 광합성 능력은 A-Ci 곡선에서 Vcmax, Jmax, Rd를, 광-광합성 곡선에 비직각쌍곡선 모형을 적합해 Amax와 α를 구했고, 마지막으로 생육과 수량을 조사했습니다.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25초) 재배 환경입니다. 두 실험 모두 전북대학교 부속농장 온실에서 진행했고, 그래프는 측정된 전체 재배 기간의 기온과 일적산광량입니다. 처리 기간인 DAT 0~16의 평균 기온은 콩이 28.4도, 상추가 18.2도로 약 10도 차이가 났고 일적산광량, 최고·최저 기온과 상대습도도 달랐습니다. 같은 처리라도 스트레스 강도가 다를 수 있어서 두 작물은 병렬 사례로 비교하겠습니다.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30초) 결과를 보기 전에 처리가 실제로 어떻게 들어갔는지 누적 관수량으로 확인했습니다. 대조구 대비 건조구는 상추 43%, 콩 40%로 설계인 50%에 가까웠고, 복합구도 각각 37%, 44%였습니다. 주목할 점은 침수구입니다. 콩은 침수구가 대조구의 87%로 대조구와 큰 차이가 없어 3일 침수가 콩에는 큰 타격을 주지 못한 것으로 추정됩니다. 반대로 상추는 침수구가 56%로 대조구와 차이가 커서, 침수가 상추의 생육에 직접적인 타격을 입혔을 가능성이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70초) 첫 번째 단계인 기공입니다. 위 그래프는 기공전도도의 일별 변화이고, 아래 그래프는 각 처리를 같은 날 대조구에 대한 비율로 나타낸 것입니다. 두 작물 모두 침수 기간 동안 기공전도도가 크게 감소했습니다. 상추는 침수 3일째에 대조구의 10%까지 떨어졌다가 배수 직후 DAT 5~6에 대조구 수준으로 회복했습니다. 반면 콩은 침수가 끝나고 6일이 지난 DAT 9에도 대조구의 48%였고 DAT 23에 대조구 수준으로 돌아왔습니다. P2에서는 건조와 복합 처리가 두 작물 모두 후반에 기공전도도를 낮췄습니다. 건조와 복합은 회색으로 두고 침수 위주로 설명했습니다.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55초) 명반응입니다. 흡수한 빛에너지는 광화학에 쓰이는 ΦPSII, 조절된 열소산 ΦNPQ, 조절되지 않는 소산 ΦNO로 나뉘고 세 값의 합은 1입니다. 콩은 P1부터 침수구의 ΦPSII가 대조구보다 낮았고, P2에서는 건조구가 가장 낮았으며 복합구도 낮았습니다. ΦNPQ는 P1에서 침수구가, P2에서 건조구가 높았고 복합구는 높은 경향이었습니다. ΦNO는 P2에서 대조구만 낮고 건조, 침수, 복합 처리가 모두 높았는데, ΦNO는 광계 손상의 위험을 나타내므로 콩은 처리 전반에서 명반응이 타격을 입은 것으로 추정됩니다. 반면 상추는 세 지표 모두 전 구간에서 처리 간 차이가 없었습니다.</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35초) 세 번째 단계인 광합성 능력입니다. 콩은 9월 측정에서 건조구와 복합구의 최대 카르복실화 속도와 최대 전자전달 속도가 낮았고, 상추도 복합구에서 가장 낮은 경향을 보였습니다. 암호흡, 최대 광합성 속도, 양자수율은 두 작물 모두 처리 간 차이가 없었습니다.</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50초) 네 번째 단계인 생육과 수량입니다. 상추는 건조구 16%, 침수구 34%, 복합구 43%의 지상부 건물중 감소를 보였습니다. 콩은 종실 생체중, 종실 건조중, 종실 수, 꼬투리 수 모두 처리 간 유의한 차이가 없었습니다. 표에 대조구 대비 감소율을 같이 적었는데, 종실 생체중은 건조 5%, 침수 5%, 복합 14% 감소했고 종실 건조중은 복합구에서 18%까지 감소하는 경향이 있었습니다.</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75초) 지표를 연결해서 콩부터 정리하겠습니다. 침수 직후 뿌리가 저산소 상태가 되면 수분 흡수가 떨어져 기공이 닫히고 CO2 공급이 줄어드는데, 콩은 이 회복에 2~3주가 걸렸고 건조와 복합은 낮게 유지되었습니다. 기공이 닫혀도 빛은 계속 흡수되므로 두 번째 그래프처럼 광화학에 쓰이는 ΦPSII는 줄고 ΦNPQ와 ΦNO의 비율이 늘었습니다. 건조구는 ΦNPQ를 높여 열로 보호하려 했지만 ΦNO도 높아 광계에 부담이 있었고, 세 번째 그래프처럼 Vcmax와 Jmax도 건조구에서 낮았습니다. 그런데도 수확량에 큰 차이가 없었던 것은, 대조구와 침수구의 관수량 차이가 작아 3일 침수의 타격이 작았고, 처리 후 회복 기간 동안 종자 크기로 보상되었을 수 있으며, 조기 수확과 적은 반복으로 차이를 검출하기 어려웠기 때문으로 해석합니다. 다만 기공, 명반응, 광합성 능력이 모두 나빴던 복합구에서 수확량이 가장 낮았다는 점은 생리 지표와 같은 방향입니다.</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70초) 다음은 상추입니다. 첫 번째 그래프처럼 침수 중 기공이 대조구의 10%까지 떨어졌지만 배수 후 2~3일 만에 회복했고, 두 번째 그래프처럼 흡수한 에너지의 분배는 처리 간 차이가 없어 명반응은 영향을 받지 않았습니다. 광합성 능력은 복합구에서만 Vcmax와 Jmax가 낮았습니다. 그런데도 생육은 크게 줄었는데, 대조구와 침수구의 관수량 차이가 컸다는 점에서 침수가 생육에 직접적인 타격을 주었을 가능성이 있습니다. 상추는 영양생장기에 잎이 수확부라서 침수 3일 동안 멈춘 탄소 고정과 잎 생장의 손실이 회복 후에도 만회되지 않고 남은 것으로 해석됩니다. 식물의 생장은 탄소 공급보다 조직 성장이 먼저 제한되는 경우가 많아 기공이 회복되어도 이미 멈춘 생장은 따라잡기 어렵습니다. 복합구는 여기에 건조 후반의 기공 감소와 Vcmax, Jmax 저하가 더해져 가장 크게 감소했습니다.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40초) 결론입니다. 첫째, 침수는 두 작물에서 기공을 먼저 제한했고 상추는 배수 2~3일 만에, 콩은 DAT 9 이후에 회복했습니다. 둘째, 상추는 명반응에 변화가 없었고, 콩은 건조구에서 ΦPSII가 낮고 ΦNPQ와 ΦNO가 높아 명반응에 타격을 입은 것으로 추정됩니다. 셋째, 상추는 대조구와 침수구의 차이가 커 침수가 생육에 직접 타격을 입혔을 가능성이 있고 건물중이 감소했습니다. 콩은 대조구와 침수구의 차이가 작아 3일 침수의 타격이 작았던 것으로 보이며 수량은 감소하는 경향이었지만 큰 차이는 없었습니다. 따라서 수분 스트레스에 대한 반응은 작물마다 다르며, 피해를 진단할 때는 잎 생리 지표와 생장 지표를 함께 봐야 합니다. 감사합니다.</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이상으로 발표를 마치겠습니다. 감사합니다. (질의응답 2분)</a:t>
            </a:r>
          </a:p>
        </p:txBody>
      </p:sp>
      <p:sp>
        <p:nvSpPr>
          <p:cNvPr id="4" name="슬라이드 번호 개체 틀 3"/>
          <p:cNvSpPr>
            <a:spLocks noGrp="1"/>
          </p:cNvSpPr>
          <p:nvPr>
            <p:ph type="sldNum" sz="quarter" idx="5"/>
          </p:nvPr>
        </p:nvSpPr>
        <p:spPr/>
        <p:txBody>
          <a:bodyPr/>
          <a:lstStyle/>
          <a:p>
            <a:fld id="{9334595A-DD79-43DB-8171-24D3E6EC3B6F}" type="slidenum">
              <a:rPr lang="ko-KR" altLang="en-US" smtClean="0"/>
              <a:t>18</a:t>
            </a:fld>
            <a:endParaRPr lang="ko-KR" altLang="en-US"/>
          </a:p>
        </p:txBody>
      </p:sp>
    </p:spTree>
    <p:extLst>
      <p:ext uri="{BB962C8B-B14F-4D97-AF65-F5344CB8AC3E}">
        <p14:creationId xmlns:p14="http://schemas.microsoft.com/office/powerpoint/2010/main" val="34955834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질의응답용 보충 자료 목록입니다.</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질의응답용 자료입니다. LI-600은 야외 광에서 측정하기 때문에 같은 날에도 처리마다 측정 광도와 기온이 달랐습니다. 그래서 Ali 등과 Gao 등의 방법에 따라 PAR과 기온을 양적 공변량으로, 측정일을 임의효과로 넣은 혼합모형으로 처리별 보정 평균을 구했습니다. 기공전도도는 온도 보정 gsw를 그대로 사용했습니다.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질의응답용 자료입니다. 광합성 광반응 곡선은 PPFD 8개 수준 모두에서 두 작물 모두 처리 간 유의한 차이가 없었습니다.</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질의응답용 자료입니다. 정상 상태 형광 Fs의 절대값은 상추에서 처리 간 차이가 없었고, 콩에서는 침수·건조 처리구가 대조구보다 높았습니다.</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질의응답용 자료입니다. 전자전달속도는 측정 광도에 비례하므로 광도를 보정한 평균으로 비교했고, 상추에서는 침수구가 약 6~8% 낮은 경향을 보였지만 측정일 반복 기준으로는 유의하지 않았습니다.</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질의응답용 자료입니다. 흐린 날은 제외하지 않고 측정 광도와 기온으로 보정했으며, 맑음지수 0.5 미만인 날을 그림에 회색 띠로 표시했습니다.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발표에 인용한 참고문헌입니다.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B8072F4-2873-FA64-1793-1B59A9006EAB}"/>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35C725AA-7A3D-1E01-136A-BA5E31AAFA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333D4592-A7B5-1B8E-7084-C40EC53F029F}"/>
              </a:ext>
            </a:extLst>
          </p:cNvPr>
          <p:cNvSpPr>
            <a:spLocks noGrp="1"/>
          </p:cNvSpPr>
          <p:nvPr>
            <p:ph type="dt" sz="half" idx="10"/>
          </p:nvPr>
        </p:nvSpPr>
        <p:spPr/>
        <p:txBody>
          <a:bodyPr/>
          <a:lstStyle/>
          <a:p>
            <a:fld id="{23B7423D-07B6-40C2-A3B1-DE84ED9F9226}" type="datetime1">
              <a:rPr lang="ko-KR" altLang="en-US" smtClean="0"/>
              <a:t>2026-11-02</a:t>
            </a:fld>
            <a:endParaRPr lang="ko-KR" altLang="en-US"/>
          </a:p>
        </p:txBody>
      </p:sp>
      <p:sp>
        <p:nvSpPr>
          <p:cNvPr id="5" name="바닥글 개체 틀 4">
            <a:extLst>
              <a:ext uri="{FF2B5EF4-FFF2-40B4-BE49-F238E27FC236}">
                <a16:creationId xmlns:a16="http://schemas.microsoft.com/office/drawing/2014/main" id="{5648F786-E4C0-F7C0-32CD-34E91CEF7B7C}"/>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E5BECFB-E902-EC85-FEC1-E4AB644B19F1}"/>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7104303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50C47BA-E2E9-69D7-F6E0-02DC3B986CED}"/>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4A97C6CC-8DA3-FD4D-87B4-868FAA53564E}"/>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4702C51B-FB8D-E7C1-6733-5EC2ECA1CBAC}"/>
              </a:ext>
            </a:extLst>
          </p:cNvPr>
          <p:cNvSpPr>
            <a:spLocks noGrp="1"/>
          </p:cNvSpPr>
          <p:nvPr>
            <p:ph type="dt" sz="half" idx="10"/>
          </p:nvPr>
        </p:nvSpPr>
        <p:spPr/>
        <p:txBody>
          <a:bodyPr/>
          <a:lstStyle/>
          <a:p>
            <a:fld id="{9D045C9A-BDB9-48A9-9066-A45ABF71364F}" type="datetime1">
              <a:rPr lang="ko-KR" altLang="en-US" smtClean="0"/>
              <a:t>2026-11-02</a:t>
            </a:fld>
            <a:endParaRPr lang="ko-KR" altLang="en-US"/>
          </a:p>
        </p:txBody>
      </p:sp>
      <p:sp>
        <p:nvSpPr>
          <p:cNvPr id="5" name="바닥글 개체 틀 4">
            <a:extLst>
              <a:ext uri="{FF2B5EF4-FFF2-40B4-BE49-F238E27FC236}">
                <a16:creationId xmlns:a16="http://schemas.microsoft.com/office/drawing/2014/main" id="{A98E2A7E-4A0C-FD9F-1ED0-7811F3E13D7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FC65C28-2F83-31A3-5148-349E65E68D7E}"/>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437119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19FBAAD-2832-D2E6-9201-28DBD75909FF}"/>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A763489E-C9A3-CFD5-E26E-C4F2F9B4076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DB9888C3-0185-B4BB-FE7C-08442FC7E7ED}"/>
              </a:ext>
            </a:extLst>
          </p:cNvPr>
          <p:cNvSpPr>
            <a:spLocks noGrp="1"/>
          </p:cNvSpPr>
          <p:nvPr>
            <p:ph type="dt" sz="half" idx="10"/>
          </p:nvPr>
        </p:nvSpPr>
        <p:spPr/>
        <p:txBody>
          <a:bodyPr/>
          <a:lstStyle/>
          <a:p>
            <a:fld id="{8DF124EE-B7C9-47F6-AC19-1FC82632F435}" type="datetime1">
              <a:rPr lang="ko-KR" altLang="en-US" smtClean="0"/>
              <a:t>2026-11-02</a:t>
            </a:fld>
            <a:endParaRPr lang="ko-KR" altLang="en-US"/>
          </a:p>
        </p:txBody>
      </p:sp>
      <p:sp>
        <p:nvSpPr>
          <p:cNvPr id="5" name="바닥글 개체 틀 4">
            <a:extLst>
              <a:ext uri="{FF2B5EF4-FFF2-40B4-BE49-F238E27FC236}">
                <a16:creationId xmlns:a16="http://schemas.microsoft.com/office/drawing/2014/main" id="{370C6D9C-5A42-E114-6EA7-D4D918C2ED4E}"/>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8AB716F0-7AC5-35C9-215B-75DBDDF026EB}"/>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916143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48125F4-6D71-334C-84D5-A1ACC974BC79}"/>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ACA27950-5013-95BA-AFC7-A8A163281073}"/>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08FFBEAB-A7F2-2965-ACDF-C78C8B766434}"/>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87428652-A26B-FC7B-C0DE-C56897C8B859}"/>
              </a:ext>
            </a:extLst>
          </p:cNvPr>
          <p:cNvSpPr>
            <a:spLocks noGrp="1"/>
          </p:cNvSpPr>
          <p:nvPr>
            <p:ph type="dt" sz="half" idx="10"/>
          </p:nvPr>
        </p:nvSpPr>
        <p:spPr/>
        <p:txBody>
          <a:bodyPr/>
          <a:lstStyle/>
          <a:p>
            <a:fld id="{36F2CE93-FFF2-48C5-876B-C29D334070AC}" type="datetime1">
              <a:rPr lang="ko-KR" altLang="en-US" smtClean="0"/>
              <a:t>2026-11-02</a:t>
            </a:fld>
            <a:endParaRPr lang="ko-KR" altLang="en-US"/>
          </a:p>
        </p:txBody>
      </p:sp>
      <p:sp>
        <p:nvSpPr>
          <p:cNvPr id="6" name="바닥글 개체 틀 5">
            <a:extLst>
              <a:ext uri="{FF2B5EF4-FFF2-40B4-BE49-F238E27FC236}">
                <a16:creationId xmlns:a16="http://schemas.microsoft.com/office/drawing/2014/main" id="{2854ECFA-AB42-AC1C-4117-09D00A9DBF22}"/>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1583EDE-A663-AC4C-23CA-8E1840BC53A0}"/>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18233861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9D429BE-5249-9056-163C-74FA9783FB17}"/>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B23B763C-22D9-C80F-CCDE-0707C6AC9A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DB574F77-2209-A440-F7AB-3060E96F4A81}"/>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DD1B2901-98D7-6D8A-F650-669806F465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71FDDB69-9C13-7002-F81F-1C1EFD7B74AB}"/>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7A01F8E8-08B1-62D8-B503-4283DFACB61C}"/>
              </a:ext>
            </a:extLst>
          </p:cNvPr>
          <p:cNvSpPr>
            <a:spLocks noGrp="1"/>
          </p:cNvSpPr>
          <p:nvPr>
            <p:ph type="dt" sz="half" idx="10"/>
          </p:nvPr>
        </p:nvSpPr>
        <p:spPr/>
        <p:txBody>
          <a:bodyPr/>
          <a:lstStyle/>
          <a:p>
            <a:fld id="{F1614133-4840-4F08-BA32-D57CA94E303C}" type="datetime1">
              <a:rPr lang="ko-KR" altLang="en-US" smtClean="0"/>
              <a:t>2026-11-02</a:t>
            </a:fld>
            <a:endParaRPr lang="ko-KR" altLang="en-US"/>
          </a:p>
        </p:txBody>
      </p:sp>
      <p:sp>
        <p:nvSpPr>
          <p:cNvPr id="8" name="바닥글 개체 틀 7">
            <a:extLst>
              <a:ext uri="{FF2B5EF4-FFF2-40B4-BE49-F238E27FC236}">
                <a16:creationId xmlns:a16="http://schemas.microsoft.com/office/drawing/2014/main" id="{BF9B74BF-BE22-63C7-48D7-C09BC9875D32}"/>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AE248C76-A4AD-26F0-801B-E0C228FD7DD7}"/>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959302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0262E28-2DBA-605A-BECA-20063F14785B}"/>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738E0772-E95D-EF89-1540-90BAF501D61D}"/>
              </a:ext>
            </a:extLst>
          </p:cNvPr>
          <p:cNvSpPr>
            <a:spLocks noGrp="1"/>
          </p:cNvSpPr>
          <p:nvPr>
            <p:ph type="dt" sz="half" idx="10"/>
          </p:nvPr>
        </p:nvSpPr>
        <p:spPr/>
        <p:txBody>
          <a:bodyPr/>
          <a:lstStyle/>
          <a:p>
            <a:fld id="{2A691F09-6923-414B-A1FA-93B7B6B05A06}" type="datetime1">
              <a:rPr lang="ko-KR" altLang="en-US" smtClean="0"/>
              <a:t>2026-11-02</a:t>
            </a:fld>
            <a:endParaRPr lang="ko-KR" altLang="en-US"/>
          </a:p>
        </p:txBody>
      </p:sp>
      <p:sp>
        <p:nvSpPr>
          <p:cNvPr id="4" name="바닥글 개체 틀 3">
            <a:extLst>
              <a:ext uri="{FF2B5EF4-FFF2-40B4-BE49-F238E27FC236}">
                <a16:creationId xmlns:a16="http://schemas.microsoft.com/office/drawing/2014/main" id="{AA18BA7F-B0B9-9AEB-CFFF-E6BB717243A1}"/>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D9C7F523-2E13-CF6D-4554-8D965EA1A8C2}"/>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9871634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1FBE8BF9-A354-4992-F8C2-90BF87854A8F}"/>
              </a:ext>
            </a:extLst>
          </p:cNvPr>
          <p:cNvSpPr>
            <a:spLocks noGrp="1"/>
          </p:cNvSpPr>
          <p:nvPr>
            <p:ph type="dt" sz="half" idx="10"/>
          </p:nvPr>
        </p:nvSpPr>
        <p:spPr/>
        <p:txBody>
          <a:bodyPr/>
          <a:lstStyle/>
          <a:p>
            <a:fld id="{F061528D-0A4B-4725-BECB-0A804A98733B}" type="datetime1">
              <a:rPr lang="ko-KR" altLang="en-US" smtClean="0"/>
              <a:t>2026-11-02</a:t>
            </a:fld>
            <a:endParaRPr lang="ko-KR" altLang="en-US"/>
          </a:p>
        </p:txBody>
      </p:sp>
      <p:sp>
        <p:nvSpPr>
          <p:cNvPr id="3" name="바닥글 개체 틀 2">
            <a:extLst>
              <a:ext uri="{FF2B5EF4-FFF2-40B4-BE49-F238E27FC236}">
                <a16:creationId xmlns:a16="http://schemas.microsoft.com/office/drawing/2014/main" id="{300C3AA4-8FE3-F53A-0F4F-13CDD6F77C2D}"/>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79ECA705-4832-583C-C769-782684C72C2A}"/>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19712289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334CB40-F222-33F8-2930-F8C8F170FB72}"/>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DF683CDC-0D06-E8FF-5CB6-AD0E41A04E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345D3C8C-90E8-FE3F-941F-50AF76CE21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184B14FF-82AA-1021-E783-8543CC459F1B}"/>
              </a:ext>
            </a:extLst>
          </p:cNvPr>
          <p:cNvSpPr>
            <a:spLocks noGrp="1"/>
          </p:cNvSpPr>
          <p:nvPr>
            <p:ph type="dt" sz="half" idx="10"/>
          </p:nvPr>
        </p:nvSpPr>
        <p:spPr/>
        <p:txBody>
          <a:bodyPr/>
          <a:lstStyle/>
          <a:p>
            <a:fld id="{D9BA0492-4290-4283-8041-C72F2A3FD572}" type="datetime1">
              <a:rPr lang="ko-KR" altLang="en-US" smtClean="0"/>
              <a:t>2026-11-02</a:t>
            </a:fld>
            <a:endParaRPr lang="ko-KR" altLang="en-US"/>
          </a:p>
        </p:txBody>
      </p:sp>
      <p:sp>
        <p:nvSpPr>
          <p:cNvPr id="6" name="바닥글 개체 틀 5">
            <a:extLst>
              <a:ext uri="{FF2B5EF4-FFF2-40B4-BE49-F238E27FC236}">
                <a16:creationId xmlns:a16="http://schemas.microsoft.com/office/drawing/2014/main" id="{D71E3FCC-569A-6CE6-D4EF-75FFC816590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BA45CEF7-23C1-61E3-0CB0-E857E9E82381}"/>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2252816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18FDFA6-91D5-3744-B2AE-8AD520F1E024}"/>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E68EC9AF-67D0-C116-F5BD-AFF40AB496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2E4B042C-7642-FF7C-B5B2-E432270BB5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C518D809-019A-150B-309F-5E84A5321D96}"/>
              </a:ext>
            </a:extLst>
          </p:cNvPr>
          <p:cNvSpPr>
            <a:spLocks noGrp="1"/>
          </p:cNvSpPr>
          <p:nvPr>
            <p:ph type="dt" sz="half" idx="10"/>
          </p:nvPr>
        </p:nvSpPr>
        <p:spPr/>
        <p:txBody>
          <a:bodyPr/>
          <a:lstStyle/>
          <a:p>
            <a:fld id="{3933010E-CE60-4360-8079-7BED3621D0DA}" type="datetime1">
              <a:rPr lang="ko-KR" altLang="en-US" smtClean="0"/>
              <a:t>2026-11-02</a:t>
            </a:fld>
            <a:endParaRPr lang="ko-KR" altLang="en-US"/>
          </a:p>
        </p:txBody>
      </p:sp>
      <p:sp>
        <p:nvSpPr>
          <p:cNvPr id="6" name="바닥글 개체 틀 5">
            <a:extLst>
              <a:ext uri="{FF2B5EF4-FFF2-40B4-BE49-F238E27FC236}">
                <a16:creationId xmlns:a16="http://schemas.microsoft.com/office/drawing/2014/main" id="{138F648C-2B44-F25B-BA65-0F0EA93209C6}"/>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BC610761-27DA-5D7F-A72E-03EC8DD59948}"/>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025844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6FABC10-DCAE-3EA5-9B62-E982FA39E5A7}"/>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0DB3CE13-292C-C63A-86DA-B62C68FA0395}"/>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8A5F8A6-B9F4-6134-3C3F-3B42A7DB1090}"/>
              </a:ext>
            </a:extLst>
          </p:cNvPr>
          <p:cNvSpPr>
            <a:spLocks noGrp="1"/>
          </p:cNvSpPr>
          <p:nvPr>
            <p:ph type="dt" sz="half" idx="10"/>
          </p:nvPr>
        </p:nvSpPr>
        <p:spPr/>
        <p:txBody>
          <a:bodyPr/>
          <a:lstStyle/>
          <a:p>
            <a:fld id="{F199F8C8-AD83-442B-B306-C2E74F989BB3}" type="datetime1">
              <a:rPr lang="ko-KR" altLang="en-US" smtClean="0"/>
              <a:t>2026-11-02</a:t>
            </a:fld>
            <a:endParaRPr lang="ko-KR" altLang="en-US"/>
          </a:p>
        </p:txBody>
      </p:sp>
      <p:sp>
        <p:nvSpPr>
          <p:cNvPr id="5" name="바닥글 개체 틀 4">
            <a:extLst>
              <a:ext uri="{FF2B5EF4-FFF2-40B4-BE49-F238E27FC236}">
                <a16:creationId xmlns:a16="http://schemas.microsoft.com/office/drawing/2014/main" id="{8749D320-0180-2E7B-CB63-6406A988DB7A}"/>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32DEF9D-4DBA-4D73-41B0-D03A47769FBC}"/>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5067091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91EA5634-B559-9843-AFE5-E5585D0EF465}"/>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41F5A501-6259-5E2A-4E7B-7823242DCDE2}"/>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AC7567E4-4880-C0C0-8932-6BF750727C4E}"/>
              </a:ext>
            </a:extLst>
          </p:cNvPr>
          <p:cNvSpPr>
            <a:spLocks noGrp="1"/>
          </p:cNvSpPr>
          <p:nvPr>
            <p:ph type="dt" sz="half" idx="10"/>
          </p:nvPr>
        </p:nvSpPr>
        <p:spPr/>
        <p:txBody>
          <a:bodyPr/>
          <a:lstStyle/>
          <a:p>
            <a:fld id="{26090C41-AFF9-488A-8C02-EEA924D341C6}" type="datetime1">
              <a:rPr lang="ko-KR" altLang="en-US" smtClean="0"/>
              <a:t>2026-11-02</a:t>
            </a:fld>
            <a:endParaRPr lang="ko-KR" altLang="en-US"/>
          </a:p>
        </p:txBody>
      </p:sp>
      <p:sp>
        <p:nvSpPr>
          <p:cNvPr id="5" name="바닥글 개체 틀 4">
            <a:extLst>
              <a:ext uri="{FF2B5EF4-FFF2-40B4-BE49-F238E27FC236}">
                <a16:creationId xmlns:a16="http://schemas.microsoft.com/office/drawing/2014/main" id="{6148955D-85B0-2FB5-B2D9-EFD9AE0F0D0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2F28678-A0B9-C385-2F24-B9CE6337BEF3}"/>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20203379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B28C9D72-72B9-1829-B00B-B4FFF7CBCD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DC67C0B4-28E8-F572-9FD7-8D8C462D97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B9ED7AAD-7768-C084-52A6-0F737C0AE9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219DF18-70C5-4E96-87E8-EA7D036EB1FB}" type="datetime1">
              <a:rPr lang="ko-KR" altLang="en-US" smtClean="0"/>
              <a:t>2026-11-02</a:t>
            </a:fld>
            <a:endParaRPr lang="ko-KR" altLang="en-US"/>
          </a:p>
        </p:txBody>
      </p:sp>
      <p:sp>
        <p:nvSpPr>
          <p:cNvPr id="5" name="바닥글 개체 틀 4">
            <a:extLst>
              <a:ext uri="{FF2B5EF4-FFF2-40B4-BE49-F238E27FC236}">
                <a16:creationId xmlns:a16="http://schemas.microsoft.com/office/drawing/2014/main" id="{13DBE269-CA62-A3AD-C7CF-3E5EB58183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398E5383-3E5C-18D7-E7DF-D4D2293271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16037627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7.png&amp;w=3840&amp;q=75"/><Relationship Id="rId5"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26.png"/><Relationship Id="rId7" Type="http://schemas.openxmlformats.org/officeDocument/2006/relationships/image" Target="../media/image2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2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7.png"/><Relationship Id="rId5"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1.png"/><Relationship Id="rId5"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9.png"/><Relationship Id="rId4" Type="http://schemas.openxmlformats.org/officeDocument/2006/relationships/image" Target="../media/image1.png"/><Relationship Id="rId5" Type="http://schemas.openxmlformats.org/officeDocument/2006/relationships/image" Target="../media/image3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21.png"/><Relationship Id="rId5" Type="http://schemas.openxmlformats.org/officeDocument/2006/relationships/image" Target="../media/image3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22.png"/><Relationship Id="rId5" Type="http://schemas.openxmlformats.org/officeDocument/2006/relationships/image" Target="../media/image3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23.png"/><Relationship Id="rId5" Type="http://schemas.openxmlformats.org/officeDocument/2006/relationships/image" Target="../media/image3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E2CE28E-68F2-8698-8327-B6D337810C4C}"/>
              </a:ext>
            </a:extLst>
          </p:cNvPr>
          <p:cNvSpPr>
            <a:spLocks noGrp="1"/>
          </p:cNvSpPr>
          <p:nvPr>
            <p:ph type="ctrTitle"/>
          </p:nvPr>
        </p:nvSpPr>
        <p:spPr>
          <a:xfrm>
            <a:off x="1480457" y="1367249"/>
            <a:ext cx="9231086" cy="2475807"/>
          </a:xfrm>
        </p:spPr>
        <p:txBody>
          <a:bodyPr>
            <a:normAutofit/>
          </a:bodyPr>
          <a:lstStyle/>
          <a:p>
            <a:r>
              <a:rPr lang="ko-KR" altLang="ko-KR" sz="4400" b="1" dirty="0"/>
              <a:t>침수 및 건조 복합재해에 대한 </a:t>
            </a:r>
            <a:br>
              <a:rPr lang="en-US" altLang="ko-KR" sz="4400" b="1" dirty="0"/>
            </a:br>
            <a:r>
              <a:rPr lang="ko-KR" altLang="ko-KR" sz="4400" b="1" dirty="0"/>
              <a:t>생육 및 생리 반응 비교</a:t>
            </a:r>
            <a:br>
              <a:rPr lang="en-US" altLang="ko-KR" sz="4000" b="1" dirty="0"/>
            </a:br>
            <a:br>
              <a:rPr lang="en-US" altLang="ko-KR" sz="1600" b="1" dirty="0"/>
            </a:br>
            <a:r>
              <a:rPr lang="en-US" altLang="ko-KR" sz="1600" b="1" dirty="0">
                <a:latin typeface="Times New Roman" panose="02020603050405020304" pitchFamily="18" charset="0"/>
                <a:cs typeface="Times New Roman" panose="02020603050405020304" pitchFamily="18" charset="0"/>
              </a:rPr>
              <a:t>Comparison of Growth and Physiological Responses of Soybean and Lettuce to Flooding, Drought, and Combined Stress</a:t>
            </a:r>
            <a:endParaRPr lang="ko-KR" altLang="en-US" sz="2700" b="1" dirty="0">
              <a:latin typeface="Times New Roman" panose="02020603050405020304" pitchFamily="18" charset="0"/>
              <a:cs typeface="Times New Roman" panose="02020603050405020304" pitchFamily="18" charset="0"/>
            </a:endParaRPr>
          </a:p>
        </p:txBody>
      </p:sp>
      <p:sp>
        <p:nvSpPr>
          <p:cNvPr id="3" name="부제목 2">
            <a:extLst>
              <a:ext uri="{FF2B5EF4-FFF2-40B4-BE49-F238E27FC236}">
                <a16:creationId xmlns:a16="http://schemas.microsoft.com/office/drawing/2014/main" id="{1CE9F5BD-D28B-5F96-2E69-88270E8FFD15}"/>
              </a:ext>
            </a:extLst>
          </p:cNvPr>
          <p:cNvSpPr>
            <a:spLocks noGrp="1"/>
          </p:cNvSpPr>
          <p:nvPr>
            <p:ph type="subTitle" idx="1"/>
          </p:nvPr>
        </p:nvSpPr>
        <p:spPr>
          <a:xfrm>
            <a:off x="1524000" y="4255580"/>
            <a:ext cx="9144000" cy="2344850"/>
          </a:xfrm>
        </p:spPr>
        <p:txBody>
          <a:bodyPr>
            <a:normAutofit/>
          </a:bodyPr>
          <a:lstStyle/>
          <a:p>
            <a:pPr>
              <a:lnSpc>
                <a:spcPct val="80000"/>
              </a:lnSpc>
            </a:pPr>
            <a:endParaRPr lang="en-US" altLang="ko-KR" sz="2000" dirty="0"/>
          </a:p>
          <a:p>
            <a:pPr>
              <a:lnSpc>
                <a:spcPct val="80000"/>
              </a:lnSpc>
            </a:pPr>
            <a:endParaRPr lang="en-US" altLang="ko-KR" sz="1800" dirty="0"/>
          </a:p>
          <a:p>
            <a:endParaRPr lang="en-US" altLang="ko-KR" sz="1800" dirty="0"/>
          </a:p>
          <a:p>
            <a:endParaRPr lang="ko-KR" altLang="en-US" sz="1800" dirty="0"/>
          </a:p>
        </p:txBody>
      </p:sp>
      <p:pic>
        <p:nvPicPr>
          <p:cNvPr id="1026" name="Picture 2" descr="폰트, 그래픽, 로고, 텍스트이(가) 표시된 사진&#10;&#10;자동 생성된 설명">
            <a:extLst>
              <a:ext uri="{FF2B5EF4-FFF2-40B4-BE49-F238E27FC236}">
                <a16:creationId xmlns:a16="http://schemas.microsoft.com/office/drawing/2014/main" id="{1F5D21A4-5CE8-CA11-3AC9-D4DA2CEEAE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1381" y="5788448"/>
            <a:ext cx="2213666" cy="720000"/>
          </a:xfrm>
          <a:prstGeom prst="rect">
            <a:avLst/>
          </a:prstGeom>
          <a:noFill/>
          <a:extLst>
            <a:ext uri="{909E8E84-426E-40DD-AFC4-6F175D3DCCD1}">
              <a14:hiddenFill xmlns:a14="http://schemas.microsoft.com/office/drawing/2010/main">
                <a:solidFill>
                  <a:srgbClr val="FFFFFF"/>
                </a:solidFill>
              </a14:hiddenFill>
            </a:ext>
          </a:extLst>
        </p:spPr>
      </p:pic>
      <p:cxnSp>
        <p:nvCxnSpPr>
          <p:cNvPr id="9" name="직선 연결선 8">
            <a:extLst>
              <a:ext uri="{FF2B5EF4-FFF2-40B4-BE49-F238E27FC236}">
                <a16:creationId xmlns:a16="http://schemas.microsoft.com/office/drawing/2014/main" id="{98A2E225-EF8F-F661-C3B4-5EE926C3C211}"/>
              </a:ext>
            </a:extLst>
          </p:cNvPr>
          <p:cNvCxnSpPr>
            <a:cxnSpLocks/>
          </p:cNvCxnSpPr>
          <p:nvPr/>
        </p:nvCxnSpPr>
        <p:spPr>
          <a:xfrm>
            <a:off x="783772" y="89376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cxnSp>
        <p:nvCxnSpPr>
          <p:cNvPr id="11" name="직선 연결선 10">
            <a:extLst>
              <a:ext uri="{FF2B5EF4-FFF2-40B4-BE49-F238E27FC236}">
                <a16:creationId xmlns:a16="http://schemas.microsoft.com/office/drawing/2014/main" id="{F25E478C-FA31-1F67-05B3-34C5962519CF}"/>
              </a:ext>
            </a:extLst>
          </p:cNvPr>
          <p:cNvCxnSpPr>
            <a:cxnSpLocks/>
          </p:cNvCxnSpPr>
          <p:nvPr/>
        </p:nvCxnSpPr>
        <p:spPr>
          <a:xfrm>
            <a:off x="1480457" y="4014412"/>
            <a:ext cx="9231086" cy="0"/>
          </a:xfrm>
          <a:prstGeom prst="line">
            <a:avLst/>
          </a:prstGeom>
          <a:ln w="28575"/>
        </p:spPr>
        <p:style>
          <a:lnRef idx="2">
            <a:schemeClr val="accent1"/>
          </a:lnRef>
          <a:fillRef idx="0">
            <a:schemeClr val="accent1"/>
          </a:fillRef>
          <a:effectRef idx="1">
            <a:schemeClr val="accent1"/>
          </a:effectRef>
          <a:fontRef idx="minor">
            <a:schemeClr val="tx1"/>
          </a:fontRef>
        </p:style>
      </p:cxnSp>
      <p:pic>
        <p:nvPicPr>
          <p:cNvPr id="4" name="Picture 2" descr="사)한국원예학회">
            <a:extLst>
              <a:ext uri="{FF2B5EF4-FFF2-40B4-BE49-F238E27FC236}">
                <a16:creationId xmlns:a16="http://schemas.microsoft.com/office/drawing/2014/main" id="{4869A5E8-6B1D-FCB7-158B-34C00508FE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3772" y="88083"/>
            <a:ext cx="317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전북대학교 로고 브랜드 시그니처 마크 상징물 다운로드 LOGO UI MI CI AI BI JPG">
            <a:extLst>
              <a:ext uri="{FF2B5EF4-FFF2-40B4-BE49-F238E27FC236}">
                <a16:creationId xmlns:a16="http://schemas.microsoft.com/office/drawing/2014/main" id="{6B76D25D-FBEA-3892-9D2A-4667E65B44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59410" y="5788448"/>
            <a:ext cx="2936590" cy="720000"/>
          </a:xfrm>
          <a:prstGeom prst="rect">
            <a:avLst/>
          </a:prstGeom>
          <a:noFill/>
          <a:extLst>
            <a:ext uri="{909E8E84-426E-40DD-AFC4-6F175D3DCCD1}">
              <a14:hiddenFill xmlns:a14="http://schemas.microsoft.com/office/drawing/2010/main">
                <a:solidFill>
                  <a:srgbClr val="FFFFFF"/>
                </a:solidFill>
              </a14:hiddenFill>
            </a:ext>
          </a:extLst>
        </p:spPr>
      </p:pic>
      <p:sp>
        <p:nvSpPr>
          <p:cNvPr id="5" name="부제목 2">
            <a:extLst>
              <a:ext uri="{FF2B5EF4-FFF2-40B4-BE49-F238E27FC236}">
                <a16:creationId xmlns:a16="http://schemas.microsoft.com/office/drawing/2014/main" id="{510EA85C-DDC4-B272-8D57-37B6606FB19D}"/>
              </a:ext>
            </a:extLst>
          </p:cNvPr>
          <p:cNvSpPr txBox="1">
            <a:spLocks/>
          </p:cNvSpPr>
          <p:nvPr/>
        </p:nvSpPr>
        <p:spPr>
          <a:xfrm>
            <a:off x="1676400" y="4407980"/>
            <a:ext cx="9144000" cy="2344850"/>
          </a:xfrm>
          <a:prstGeom prst="rect">
            <a:avLst/>
          </a:prstGeom>
        </p:spPr>
        <p:txBody>
          <a:bodyPr vert="horz" lIns="91440" tIns="45720" rIns="91440" bIns="45720" rtlCol="0">
            <a:norm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80000"/>
              </a:lnSpc>
            </a:pPr>
            <a:r>
              <a:rPr lang="ko-KR" altLang="en-US" sz="2000" dirty="0"/>
              <a:t>전북대학교</a:t>
            </a:r>
            <a:r>
              <a:rPr lang="en-US" altLang="ko-KR" sz="2000" dirty="0"/>
              <a:t> </a:t>
            </a:r>
            <a:r>
              <a:rPr lang="ko-KR" altLang="en-US" sz="2000" dirty="0" err="1"/>
              <a:t>스마트농업AI융합학과</a:t>
            </a:r>
            <a:endParaRPr lang="en-US" altLang="ko-KR" sz="2000" dirty="0"/>
          </a:p>
          <a:p>
            <a:pPr>
              <a:lnSpc>
                <a:spcPct val="80000"/>
              </a:lnSpc>
            </a:pPr>
            <a:r>
              <a:rPr lang="ko-KR" altLang="en-US" sz="1800" dirty="0"/>
              <a:t>석사과정 윤정민</a:t>
            </a:r>
            <a:endParaRPr lang="en-US" altLang="ko-KR" sz="1800" dirty="0"/>
          </a:p>
          <a:p>
            <a:endParaRPr lang="en-US" altLang="ko-KR" sz="800" dirty="0"/>
          </a:p>
          <a:p>
            <a:r>
              <a:rPr lang="en-US" altLang="ko-KR" sz="1800" dirty="0"/>
              <a:t>2026. 11. 4.</a:t>
            </a:r>
            <a:endParaRPr lang="ko-KR" altLang="en-US" sz="1800" dirty="0"/>
          </a:p>
        </p:txBody>
      </p:sp>
    </p:spTree>
    <p:extLst>
      <p:ext uri="{BB962C8B-B14F-4D97-AF65-F5344CB8AC3E}">
        <p14:creationId xmlns:p14="http://schemas.microsoft.com/office/powerpoint/2010/main" val="2396855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연구 배경</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0">
                <a:solidFill>
                  <a:srgbClr val="E97132"/>
                </a:solidFill>
              </a:rPr>
              <a:t>수분 재해 유형에 따라 </a:t>
            </a:r>
            <a:r>
              <a:rPr sz="1600" b="1">
                <a:solidFill>
                  <a:srgbClr val="E97132"/>
                </a:solidFill>
              </a:rPr>
              <a:t>생리 반응이 어느 단계에서 제한되는지</a:t>
            </a:r>
            <a:r>
              <a:rPr sz="1600" b="0">
                <a:solidFill>
                  <a:srgbClr val="E97132"/>
                </a:solidFill>
              </a:rPr>
              <a:t> 비교한 연구는 충분하지 않음</a:t>
            </a:r>
          </a:p>
        </p:txBody>
      </p:sp>
      <p:sp>
        <p:nvSpPr>
          <p:cNvPr id="27" name="Flow 1"/>
          <p:cNvSpPr/>
          <p:nvPr/>
        </p:nvSpPr>
        <p:spPr>
          <a:xfrm>
            <a:off x="1123614" y="1188720"/>
            <a:ext cx="3017520" cy="713232"/>
          </a:xfrm>
          <a:prstGeom prst="roundRect">
            <a:avLst>
              <a:gd name="adj" fmla="val 20000"/>
            </a:avLst>
          </a:prstGeom>
          <a:solidFill>
            <a:srgbClr val="DCEBF7"/>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0B76A0"/>
                </a:solidFill>
              </a:rPr>
              <a:t>집중호우</a:t>
            </a:r>
          </a:p>
          <a:p>
            <a:pPr marL="0" indent="0" algn="ctr">
              <a:spcBef>
                <a:spcPts val="0"/>
              </a:spcBef>
              <a:buNone/>
            </a:pPr>
            <a:r>
              <a:rPr lang="ko-KR" altLang="en-US" sz="1250" b="0" dirty="0">
                <a:solidFill>
                  <a:srgbClr val="000000"/>
                </a:solidFill>
              </a:rPr>
              <a:t>→ 침수 (근권 산소 결핍)</a:t>
            </a:r>
          </a:p>
        </p:txBody>
      </p:sp>
      <p:sp>
        <p:nvSpPr>
          <p:cNvPr id="29" name="Flow 2"/>
          <p:cNvSpPr/>
          <p:nvPr/>
        </p:nvSpPr>
        <p:spPr>
          <a:xfrm>
            <a:off x="4580046" y="1188720"/>
            <a:ext cx="3017520" cy="713232"/>
          </a:xfrm>
          <a:prstGeom prst="roundRect">
            <a:avLst>
              <a:gd name="adj" fmla="val 20000"/>
            </a:avLst>
          </a:prstGeom>
          <a:solidFill>
            <a:srgbClr val="F8E1D3"/>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AF5524"/>
                </a:solidFill>
              </a:rPr>
              <a:t>폭염·가뭄</a:t>
            </a:r>
          </a:p>
          <a:p>
            <a:pPr marL="0" indent="0" algn="ctr">
              <a:spcBef>
                <a:spcPts val="0"/>
              </a:spcBef>
              <a:buNone/>
            </a:pPr>
            <a:r>
              <a:rPr lang="ko-KR" altLang="en-US" sz="1250" b="0" dirty="0">
                <a:solidFill>
                  <a:srgbClr val="000000"/>
                </a:solidFill>
              </a:rPr>
              <a:t>→ 건조 (토양 수분 부족)</a:t>
            </a:r>
          </a:p>
        </p:txBody>
      </p:sp>
      <p:sp>
        <p:nvSpPr>
          <p:cNvPr id="31" name="Flow 3"/>
          <p:cNvSpPr/>
          <p:nvPr/>
        </p:nvSpPr>
        <p:spPr>
          <a:xfrm>
            <a:off x="8051840" y="1188720"/>
            <a:ext cx="3017520" cy="713232"/>
          </a:xfrm>
          <a:prstGeom prst="roundRect">
            <a:avLst>
              <a:gd name="adj" fmla="val 20000"/>
            </a:avLst>
          </a:prstGeom>
          <a:solidFill>
            <a:srgbClr val="E3E9F1"/>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156082"/>
                </a:solidFill>
              </a:rPr>
              <a:t>짧은 간격으로 반복</a:t>
            </a:r>
          </a:p>
          <a:p>
            <a:pPr marL="0" indent="0" algn="ctr">
              <a:spcBef>
                <a:spcPts val="0"/>
              </a:spcBef>
              <a:buNone/>
            </a:pPr>
            <a:r>
              <a:rPr lang="ko-KR" altLang="en-US" sz="1250" b="0" dirty="0">
                <a:solidFill>
                  <a:srgbClr val="000000"/>
                </a:solidFill>
              </a:rPr>
              <a:t>→ 한 생육기 내 복합재해</a:t>
            </a:r>
          </a:p>
        </p:txBody>
      </p:sp>
      <p:sp>
        <p:nvSpPr>
          <p:cNvPr id="58" name="Nav 서론"/>
          <p:cNvSpPr txBox="1"/>
          <p:nvPr/>
        </p:nvSpPr>
        <p:spPr>
          <a:xfrm>
            <a:off x="841248" y="100584"/>
            <a:ext cx="1371600" cy="329184"/>
          </a:xfrm>
          <a:prstGeom prst="rect">
            <a:avLst/>
          </a:prstGeom>
          <a:noFill/>
        </p:spPr>
        <p:txBody>
          <a:bodyPr wrap="none" lIns="0" tIns="0" rIns="0" bIns="0" anchor="ctr">
            <a:spAutoFit/>
          </a:bodyPr>
          <a:lstStyle/>
          <a:p>
            <a:pPr algn="ctr"/>
            <a:r>
              <a:rPr sz="1450" b="1" u="sng">
                <a:solidFill>
                  <a:srgbClr val="1A1A1A"/>
                </a:solidFill>
              </a:rPr>
              <a:t>서론</a:t>
            </a:r>
          </a:p>
        </p:txBody>
      </p:sp>
      <p:sp>
        <p:nvSpPr>
          <p:cNvPr id="59"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60"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61"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62"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pic>
        <p:nvPicPr>
          <p:cNvPr id="63" name="Picture 62" descr="triptych.png"/>
          <p:cNvPicPr>
            <a:picLocks noChangeAspect="1"/>
          </p:cNvPicPr>
          <p:nvPr/>
        </p:nvPicPr>
        <p:blipFill>
          <a:blip r:embed="rId4"/>
          <a:stretch>
            <a:fillRect/>
          </a:stretch>
        </p:blipFill>
        <p:spPr>
          <a:xfrm>
            <a:off x="978408" y="1965960"/>
            <a:ext cx="10241280" cy="3071794"/>
          </a:xfrm>
          <a:prstGeom prst="rect">
            <a:avLst/>
          </a:prstGeom>
        </p:spPr>
      </p:pic>
      <p:sp>
        <p:nvSpPr>
          <p:cNvPr id="64" name="TextBox 63"/>
          <p:cNvSpPr txBox="1"/>
          <p:nvPr/>
        </p:nvSpPr>
        <p:spPr>
          <a:xfrm>
            <a:off x="1032174" y="5105010"/>
            <a:ext cx="3200400" cy="640080"/>
          </a:xfrm>
          <a:prstGeom prst="rect">
            <a:avLst/>
          </a:prstGeom>
          <a:noFill/>
        </p:spPr>
        <p:txBody>
          <a:bodyPr wrap="square">
            <a:spAutoFit/>
          </a:bodyPr>
          <a:lstStyle/>
          <a:p>
            <a:pPr algn="ctr"/>
            <a:r>
              <a:rPr sz="1200" b="1">
                <a:solidFill>
                  <a:srgbClr val="333333"/>
                </a:solidFill>
              </a:rPr>
              <a:t>근권 산소 결핍 → 기공 닫힘</a:t>
            </a:r>
          </a:p>
          <a:p>
            <a:pPr algn="ctr"/>
            <a:r>
              <a:rPr sz="1200">
                <a:solidFill>
                  <a:srgbClr val="333333"/>
                </a:solidFill>
              </a:rPr>
              <a:t>엽 내 CO</a:t>
            </a:r>
            <a:r>
              <a:rPr sz="1200" baseline="-25000">
                <a:solidFill>
                  <a:srgbClr val="333333"/>
                </a:solidFill>
              </a:rPr>
              <a:t>2</a:t>
            </a:r>
            <a:r>
              <a:rPr sz="1200">
                <a:solidFill>
                  <a:srgbClr val="333333"/>
                </a:solidFill>
              </a:rPr>
              <a:t> 공급 감소, 회복 지연</a:t>
            </a:r>
          </a:p>
        </p:txBody>
      </p:sp>
      <p:sp>
        <p:nvSpPr>
          <p:cNvPr id="65" name="TextBox 64"/>
          <p:cNvSpPr txBox="1"/>
          <p:nvPr/>
        </p:nvSpPr>
        <p:spPr>
          <a:xfrm>
            <a:off x="4488606" y="5105010"/>
            <a:ext cx="3200400" cy="640080"/>
          </a:xfrm>
          <a:prstGeom prst="rect">
            <a:avLst/>
          </a:prstGeom>
          <a:noFill/>
        </p:spPr>
        <p:txBody>
          <a:bodyPr wrap="square">
            <a:spAutoFit/>
          </a:bodyPr>
          <a:lstStyle/>
          <a:p>
            <a:pPr algn="ctr"/>
            <a:r>
              <a:rPr sz="1200" b="1">
                <a:solidFill>
                  <a:srgbClr val="333333"/>
                </a:solidFill>
              </a:rPr>
              <a:t>토양 수분 부족 → 엽 수분 저하</a:t>
            </a:r>
          </a:p>
          <a:p>
            <a:pPr algn="ctr"/>
            <a:r>
              <a:rPr sz="1200">
                <a:solidFill>
                  <a:srgbClr val="333333"/>
                </a:solidFill>
              </a:rPr>
              <a:t>증산·광합성 감소</a:t>
            </a:r>
          </a:p>
        </p:txBody>
      </p:sp>
      <p:sp>
        <p:nvSpPr>
          <p:cNvPr id="66" name="TextBox 65"/>
          <p:cNvSpPr txBox="1"/>
          <p:nvPr/>
        </p:nvSpPr>
        <p:spPr>
          <a:xfrm>
            <a:off x="7960400" y="5105010"/>
            <a:ext cx="3200400" cy="640080"/>
          </a:xfrm>
          <a:prstGeom prst="rect">
            <a:avLst/>
          </a:prstGeom>
          <a:noFill/>
        </p:spPr>
        <p:txBody>
          <a:bodyPr wrap="square">
            <a:spAutoFit/>
          </a:bodyPr>
          <a:lstStyle/>
          <a:p>
            <a:pPr algn="ctr"/>
            <a:r>
              <a:rPr sz="1200" b="1">
                <a:solidFill>
                  <a:srgbClr val="333333"/>
                </a:solidFill>
              </a:rPr>
              <a:t>침수 회복 전 건조 노출</a:t>
            </a:r>
          </a:p>
          <a:p>
            <a:pPr algn="ctr"/>
            <a:r>
              <a:rPr sz="1200">
                <a:solidFill>
                  <a:srgbClr val="333333"/>
                </a:solidFill>
              </a:rPr>
              <a:t>피해 누적 또는 순화 가능</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500"/>
                                        <p:tgtEl>
                                          <p:spTgt spid="2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500"/>
                                        <p:tgtEl>
                                          <p:spTgt spid="3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fade">
                                      <p:cBhvr>
                                        <p:cTn id="18"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9" grpId="0" animBg="1"/>
      <p:bldP spid="3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연구 목적</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3</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dirty="0" err="1">
                <a:solidFill>
                  <a:srgbClr val="E97132"/>
                </a:solidFill>
              </a:rPr>
              <a:t>핵심 질문: 같은 침수·건조 재해에 콩과 상추의 생리·생육 반응은 어떻게 다른가?</a:t>
            </a:r>
          </a:p>
        </p:txBody>
      </p:sp>
      <p:sp>
        <p:nvSpPr>
          <p:cNvPr id="27" name="Step 1"/>
          <p:cNvSpPr/>
          <p:nvPr/>
        </p:nvSpPr>
        <p:spPr>
          <a:xfrm>
            <a:off x="7406640" y="1188720"/>
            <a:ext cx="1691640" cy="786384"/>
          </a:xfrm>
          <a:prstGeom prst="roundRect">
            <a:avLst>
              <a:gd name="adj" fmla="val 14000"/>
            </a:avLst>
          </a:prstGeom>
          <a:solidFill>
            <a:srgbClr val="E8F1F8"/>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000000"/>
                </a:solidFill>
              </a:rPr>
              <a:t>기공</a:t>
            </a:r>
          </a:p>
          <a:p>
            <a:pPr marL="0" indent="0" algn="ctr">
              <a:spcBef>
                <a:spcPts val="0"/>
              </a:spcBef>
              <a:buNone/>
            </a:pPr>
            <a:r>
              <a:rPr lang="ko-KR" altLang="en-US" sz="1100" b="0" dirty="0">
                <a:solidFill>
                  <a:srgbClr val="000000"/>
                </a:solidFill>
              </a:rPr>
              <a:t>g</a:t>
            </a:r>
            <a:r>
              <a:rPr lang="ko-KR" altLang="en-US" sz="1100" b="0" baseline="-25000" dirty="0">
                <a:solidFill>
                  <a:srgbClr val="000000"/>
                </a:solidFill>
              </a:rPr>
              <a:t>sw</a:t>
            </a:r>
          </a:p>
        </p:txBody>
      </p:sp>
      <p:sp>
        <p:nvSpPr>
          <p:cNvPr id="28" name="Step 2"/>
          <p:cNvSpPr/>
          <p:nvPr/>
        </p:nvSpPr>
        <p:spPr>
          <a:xfrm>
            <a:off x="7406640" y="2084832"/>
            <a:ext cx="1691640" cy="786384"/>
          </a:xfrm>
          <a:prstGeom prst="roundRect">
            <a:avLst>
              <a:gd name="adj" fmla="val 14000"/>
            </a:avLst>
          </a:prstGeom>
          <a:solidFill>
            <a:srgbClr val="C9DFEE"/>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000000"/>
                </a:solidFill>
              </a:rPr>
              <a:t>명반응</a:t>
            </a:r>
          </a:p>
          <a:p>
            <a:pPr marL="0" indent="0" algn="ctr">
              <a:spcBef>
                <a:spcPts val="0"/>
              </a:spcBef>
              <a:buNone/>
            </a:pPr>
            <a:r>
              <a:rPr lang="ko-KR" altLang="en-US" sz="1100" b="0" dirty="0">
                <a:solidFill>
                  <a:srgbClr val="000000"/>
                </a:solidFill>
              </a:rPr>
              <a:t>Φ</a:t>
            </a:r>
            <a:r>
              <a:rPr lang="ko-KR" altLang="en-US" sz="1100" b="0" baseline="-25000" dirty="0">
                <a:solidFill>
                  <a:srgbClr val="000000"/>
                </a:solidFill>
              </a:rPr>
              <a:t>PSII</a:t>
            </a:r>
            <a:r>
              <a:rPr lang="ko-KR" altLang="en-US" sz="1100" b="0" dirty="0">
                <a:solidFill>
                  <a:srgbClr val="000000"/>
                </a:solidFill>
              </a:rPr>
              <a:t> · Φ</a:t>
            </a:r>
            <a:r>
              <a:rPr lang="ko-KR" altLang="en-US" sz="1100" b="0" baseline="-25000" dirty="0">
                <a:solidFill>
                  <a:srgbClr val="000000"/>
                </a:solidFill>
              </a:rPr>
              <a:t>NPQ</a:t>
            </a:r>
            <a:r>
              <a:rPr lang="ko-KR" altLang="en-US" sz="1100" b="0" dirty="0">
                <a:solidFill>
                  <a:srgbClr val="000000"/>
                </a:solidFill>
              </a:rPr>
              <a:t> · Φ</a:t>
            </a:r>
            <a:r>
              <a:rPr lang="ko-KR" altLang="en-US" sz="1100" b="0" baseline="-25000" dirty="0">
                <a:solidFill>
                  <a:srgbClr val="000000"/>
                </a:solidFill>
              </a:rPr>
              <a:t>NO</a:t>
            </a:r>
          </a:p>
        </p:txBody>
      </p:sp>
      <p:sp>
        <p:nvSpPr>
          <p:cNvPr id="30" name="Step 4"/>
          <p:cNvSpPr/>
          <p:nvPr/>
        </p:nvSpPr>
        <p:spPr>
          <a:xfrm>
            <a:off x="7406640" y="2980944"/>
            <a:ext cx="1691640" cy="786384"/>
          </a:xfrm>
          <a:prstGeom prst="roundRect">
            <a:avLst>
              <a:gd name="adj" fmla="val 14000"/>
            </a:avLst>
          </a:prstGeom>
          <a:solidFill>
            <a:srgbClr val="5E9CC6"/>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FFFFFF"/>
                </a:solidFill>
              </a:rPr>
              <a:t>광합성 능력</a:t>
            </a:r>
          </a:p>
          <a:p>
            <a:pPr marL="0" indent="0" algn="ctr">
              <a:spcBef>
                <a:spcPts val="0"/>
              </a:spcBef>
              <a:buNone/>
            </a:pPr>
            <a:r>
              <a:rPr lang="ko-KR" altLang="en-US" sz="1100" b="0" dirty="0">
                <a:solidFill>
                  <a:srgbClr val="FFFFFF"/>
                </a:solidFill>
              </a:rPr>
              <a:t>V</a:t>
            </a:r>
            <a:r>
              <a:rPr lang="ko-KR" altLang="en-US" sz="1100" b="0" baseline="-25000" dirty="0">
                <a:solidFill>
                  <a:srgbClr val="FFFFFF"/>
                </a:solidFill>
              </a:rPr>
              <a:t>cmax</a:t>
            </a:r>
            <a:r>
              <a:rPr lang="ko-KR" altLang="en-US" sz="1100" b="0" dirty="0">
                <a:solidFill>
                  <a:srgbClr val="FFFFFF"/>
                </a:solidFill>
              </a:rPr>
              <a:t> · J</a:t>
            </a:r>
            <a:r>
              <a:rPr lang="ko-KR" altLang="en-US" sz="1100" b="0" baseline="-25000" dirty="0">
                <a:solidFill>
                  <a:srgbClr val="FFFFFF"/>
                </a:solidFill>
              </a:rPr>
              <a:t>max</a:t>
            </a:r>
            <a:r>
              <a:rPr lang="ko-KR" altLang="en-US" sz="1100" b="0" dirty="0">
                <a:solidFill>
                  <a:srgbClr val="FFFFFF"/>
                </a:solidFill>
              </a:rPr>
              <a:t> · A</a:t>
            </a:r>
            <a:r>
              <a:rPr lang="ko-KR" altLang="en-US" sz="1100" b="0" baseline="-25000" dirty="0">
                <a:solidFill>
                  <a:srgbClr val="FFFFFF"/>
                </a:solidFill>
              </a:rPr>
              <a:t>max</a:t>
            </a:r>
          </a:p>
        </p:txBody>
      </p:sp>
      <p:sp>
        <p:nvSpPr>
          <p:cNvPr id="31" name="Step 5"/>
          <p:cNvSpPr/>
          <p:nvPr/>
        </p:nvSpPr>
        <p:spPr>
          <a:xfrm>
            <a:off x="7406640" y="3877056"/>
            <a:ext cx="1691640" cy="786384"/>
          </a:xfrm>
          <a:prstGeom prst="roundRect">
            <a:avLst>
              <a:gd name="adj" fmla="val 14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500" b="1" dirty="0" err="1">
                <a:solidFill>
                  <a:srgbClr val="FFFFFF"/>
                </a:solidFill>
              </a:rPr>
              <a:t>생육·수량</a:t>
            </a:r>
            <a:endParaRPr lang="ko-KR" altLang="en-US" sz="1500" b="1" dirty="0">
              <a:solidFill>
                <a:srgbClr val="FFFFFF"/>
              </a:solidFill>
            </a:endParaRPr>
          </a:p>
          <a:p>
            <a:pPr marL="0" indent="0" algn="ctr">
              <a:spcBef>
                <a:spcPts val="0"/>
              </a:spcBef>
              <a:buNone/>
            </a:pPr>
            <a:r>
              <a:rPr lang="ko-KR" altLang="en-US" sz="1100" b="0" dirty="0">
                <a:solidFill>
                  <a:srgbClr val="FFFFFF"/>
                </a:solidFill>
              </a:rPr>
              <a:t>수량 · 지상부 건물중</a:t>
            </a:r>
          </a:p>
        </p:txBody>
      </p:sp>
      <p:sp>
        <p:nvSpPr>
          <p:cNvPr id="33" name="Objective"/>
          <p:cNvSpPr/>
          <p:nvPr/>
        </p:nvSpPr>
        <p:spPr>
          <a:xfrm>
            <a:off x="841248" y="4846320"/>
            <a:ext cx="10515600" cy="868680"/>
          </a:xfrm>
          <a:prstGeom prst="roundRect">
            <a:avLst>
              <a:gd name="adj" fmla="val 10000"/>
            </a:avLst>
          </a:prstGeom>
          <a:solidFill>
            <a:srgbClr val="F2F6F9"/>
          </a:solidFill>
          <a:ln w="15875">
            <a:solidFill>
              <a:srgbClr val="156082"/>
            </a:solidFill>
          </a:ln>
        </p:spPr>
        <p:txBody>
          <a:bodyPr wrap="square" lIns="228600" tIns="73152" rIns="228600" bIns="73152" rtlCol="0" anchor="ctr">
            <a:noAutofit/>
          </a:bodyPr>
          <a:lstStyle/>
          <a:p>
            <a:pPr marL="0" indent="0" algn="l">
              <a:spcBef>
                <a:spcPts val="0"/>
              </a:spcBef>
              <a:buNone/>
            </a:pPr>
            <a:r>
              <a:rPr lang="ko-KR" altLang="en-US" sz="1400" b="1" dirty="0">
                <a:solidFill>
                  <a:srgbClr val="000000"/>
                </a:solidFill>
              </a:rPr>
              <a:t>연구 목적</a:t>
            </a:r>
            <a:r>
              <a:rPr lang="ko-KR" altLang="en-US" sz="1400" dirty="0">
                <a:solidFill>
                  <a:srgbClr val="000000"/>
                </a:solidFill>
              </a:rPr>
              <a:t>  콩과 상추에 침수·건조·복합 처리를 적용하여</a:t>
            </a:r>
          </a:p>
          <a:p>
            <a:pPr marL="0" indent="0" algn="l">
              <a:spcBef>
                <a:spcPts val="400"/>
              </a:spcBef>
              <a:buNone/>
            </a:pPr>
            <a:r>
              <a:rPr lang="ko-KR" altLang="en-US" sz="1400" dirty="0" b="0">
                <a:solidFill>
                  <a:srgbClr val="000000"/>
                </a:solidFill>
              </a:rPr>
              <a:t>잎 생리 지표 중 </a:t>
            </a:r>
            <a:r>
              <a:rPr lang="ko-KR" altLang="en-US" sz="1400" dirty="0" b="1">
                <a:solidFill>
                  <a:srgbClr val="000000"/>
                </a:solidFill>
              </a:rPr>
              <a:t>어느 지표가 먼저 손상되는지</a:t>
            </a:r>
            <a:r>
              <a:rPr lang="ko-KR" altLang="en-US" sz="1400" dirty="0" b="0">
                <a:solidFill>
                  <a:srgbClr val="000000"/>
                </a:solidFill>
              </a:rPr>
              <a:t>, </a:t>
            </a:r>
            <a:r>
              <a:rPr lang="ko-KR" altLang="en-US" sz="1400" dirty="0" b="1">
                <a:solidFill>
                  <a:srgbClr val="000000"/>
                </a:solidFill>
              </a:rPr>
              <a:t>어느 지표가 회복되는지</a:t>
            </a:r>
            <a:r>
              <a:rPr lang="ko-KR" altLang="en-US" sz="1400" dirty="0" b="0">
                <a:solidFill>
                  <a:srgbClr val="000000"/>
                </a:solidFill>
              </a:rPr>
              <a:t>, </a:t>
            </a:r>
            <a:r>
              <a:rPr lang="ko-KR" altLang="en-US" sz="1400" dirty="0" b="1">
                <a:solidFill>
                  <a:srgbClr val="000000"/>
                </a:solidFill>
              </a:rPr>
              <a:t>생육·수량 감소로 이어지는지</a:t>
            </a:r>
            <a:r>
              <a:rPr lang="ko-KR" altLang="en-US" sz="1400" dirty="0" b="0">
                <a:solidFill>
                  <a:srgbClr val="000000"/>
                </a:solidFill>
              </a:rPr>
              <a:t> 비교</a:t>
            </a:r>
          </a:p>
        </p:txBody>
      </p:sp>
      <p:sp>
        <p:nvSpPr>
          <p:cNvPr id="41" name="Nav 서론"/>
          <p:cNvSpPr txBox="1"/>
          <p:nvPr/>
        </p:nvSpPr>
        <p:spPr>
          <a:xfrm>
            <a:off x="841248" y="100584"/>
            <a:ext cx="1371600" cy="329184"/>
          </a:xfrm>
          <a:prstGeom prst="rect">
            <a:avLst/>
          </a:prstGeom>
          <a:noFill/>
        </p:spPr>
        <p:txBody>
          <a:bodyPr wrap="none" lIns="0" tIns="0" rIns="0" bIns="0" anchor="ctr">
            <a:spAutoFit/>
          </a:bodyPr>
          <a:lstStyle/>
          <a:p>
            <a:pPr algn="ctr"/>
            <a:r>
              <a:rPr sz="1450" b="1" u="sng">
                <a:solidFill>
                  <a:srgbClr val="1A1A1A"/>
                </a:solidFill>
              </a:rPr>
              <a:t>서론</a:t>
            </a:r>
          </a:p>
        </p:txBody>
      </p:sp>
      <p:sp>
        <p:nvSpPr>
          <p:cNvPr id="42"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43"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44"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45"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pic>
        <p:nvPicPr>
          <p:cNvPr id="46" name="Picture 45" descr="mechanism.png"/>
          <p:cNvPicPr>
            <a:picLocks noChangeAspect="1"/>
          </p:cNvPicPr>
          <p:nvPr/>
        </p:nvPicPr>
        <p:blipFill>
          <a:blip r:embed="rId4"/>
          <a:stretch>
            <a:fillRect/>
          </a:stretch>
        </p:blipFill>
        <p:spPr>
          <a:xfrm>
            <a:off x="841248" y="1188720"/>
            <a:ext cx="6400800" cy="3575898"/>
          </a:xfrm>
          <a:prstGeom prst="rect">
            <a:avLst/>
          </a:prstGeom>
        </p:spPr>
      </p:pic>
      <p:sp>
        <p:nvSpPr>
          <p:cNvPr id="47" name="TextBox 46"/>
          <p:cNvSpPr txBox="1"/>
          <p:nvPr/>
        </p:nvSpPr>
        <p:spPr>
          <a:xfrm>
            <a:off x="9189720" y="1188720"/>
            <a:ext cx="2240280" cy="786384"/>
          </a:xfrm>
          <a:prstGeom prst="rect">
            <a:avLst/>
          </a:prstGeom>
          <a:noFill/>
        </p:spPr>
        <p:txBody>
          <a:bodyPr wrap="square" lIns="45720" tIns="18288" rIns="45720" bIns="18288" anchor="ctr">
            <a:spAutoFit/>
          </a:bodyPr>
          <a:lstStyle/>
          <a:p>
            <a:pPr algn="l"/>
            <a:r>
              <a:rPr sz="1050">
                <a:solidFill>
                  <a:srgbClr val="333333"/>
                </a:solidFill>
              </a:rPr>
              <a:t>수분 스트레스에 가장 먼저 반응해 닫히고, 엽 내 CO</a:t>
            </a:r>
            <a:r>
              <a:rPr sz="1050" baseline="-25000">
                <a:solidFill>
                  <a:srgbClr val="333333"/>
                </a:solidFill>
              </a:rPr>
              <a:t>2</a:t>
            </a:r>
            <a:r>
              <a:rPr sz="1050">
                <a:solidFill>
                  <a:srgbClr val="333333"/>
                </a:solidFill>
              </a:rPr>
              <a:t> 공급이 감소</a:t>
            </a:r>
          </a:p>
        </p:txBody>
      </p:sp>
      <p:sp>
        <p:nvSpPr>
          <p:cNvPr id="48" name="TextBox 47"/>
          <p:cNvSpPr txBox="1"/>
          <p:nvPr/>
        </p:nvSpPr>
        <p:spPr>
          <a:xfrm>
            <a:off x="9189720" y="2217183"/>
            <a:ext cx="2240280" cy="521681"/>
          </a:xfrm>
          <a:prstGeom prst="rect">
            <a:avLst/>
          </a:prstGeom>
          <a:noFill/>
        </p:spPr>
        <p:txBody>
          <a:bodyPr wrap="square" lIns="45720" tIns="18288" rIns="45720" bIns="18288" anchor="ctr">
            <a:spAutoFit/>
          </a:bodyPr>
          <a:lstStyle/>
          <a:p>
            <a:pPr algn="l"/>
            <a:r>
              <a:rPr sz="1050" b="0" dirty="0" err="1">
                <a:solidFill>
                  <a:srgbClr val="333333"/>
                </a:solidFill>
              </a:rPr>
              <a:t>틸라코이드</a:t>
            </a:r>
            <a:r>
              <a:rPr sz="1050" b="0" dirty="0">
                <a:solidFill>
                  <a:srgbClr val="333333"/>
                </a:solidFill>
              </a:rPr>
              <a:t> 막 PSII </a:t>
            </a:r>
            <a:r>
              <a:rPr sz="1050" b="0" dirty="0" err="1">
                <a:solidFill>
                  <a:srgbClr val="333333"/>
                </a:solidFill>
              </a:rPr>
              <a:t>전자전달</a:t>
            </a:r>
            <a:r>
              <a:rPr sz="1050" b="0" dirty="0">
                <a:solidFill>
                  <a:srgbClr val="333333"/>
                </a:solidFill>
              </a:rPr>
              <a:t> </a:t>
            </a:r>
            <a:r>
              <a:rPr sz="1050" b="0" dirty="0" err="1">
                <a:solidFill>
                  <a:srgbClr val="333333"/>
                </a:solidFill>
              </a:rPr>
              <a:t>저해</a:t>
            </a:r>
            <a:r>
              <a:rPr sz="1050" b="0" dirty="0">
                <a:solidFill>
                  <a:srgbClr val="333333"/>
                </a:solidFill>
              </a:rPr>
              <a:t>: </a:t>
            </a:r>
            <a:r>
              <a:rPr sz="1050" b="0" dirty="0" err="1">
                <a:solidFill>
                  <a:srgbClr val="333333"/>
                </a:solidFill>
              </a:rPr>
              <a:t>광화학</a:t>
            </a:r>
            <a:r>
              <a:rPr sz="1050" b="0" dirty="0">
                <a:solidFill>
                  <a:srgbClr val="333333"/>
                </a:solidFill>
              </a:rPr>
              <a:t> </a:t>
            </a:r>
            <a:r>
              <a:rPr sz="1050" b="0" dirty="0" err="1">
                <a:solidFill>
                  <a:srgbClr val="333333"/>
                </a:solidFill>
              </a:rPr>
              <a:t>효율</a:t>
            </a:r>
            <a:r>
              <a:rPr sz="1050" b="0" dirty="0">
                <a:solidFill>
                  <a:srgbClr val="333333"/>
                </a:solidFill>
              </a:rPr>
              <a:t>(Φ</a:t>
            </a:r>
            <a:r>
              <a:rPr sz="1050" b="0" baseline="-25000" dirty="0">
                <a:solidFill>
                  <a:srgbClr val="333333"/>
                </a:solidFill>
              </a:rPr>
              <a:t>PSII</a:t>
            </a:r>
            <a:r>
              <a:rPr sz="1050" b="0" dirty="0">
                <a:solidFill>
                  <a:srgbClr val="333333"/>
                </a:solidFill>
              </a:rPr>
              <a:t>)과 </a:t>
            </a:r>
            <a:r>
              <a:rPr sz="1050" b="0" dirty="0" err="1">
                <a:solidFill>
                  <a:srgbClr val="333333"/>
                </a:solidFill>
              </a:rPr>
              <a:t>에너지</a:t>
            </a:r>
            <a:r>
              <a:rPr sz="1050" b="0" dirty="0">
                <a:solidFill>
                  <a:srgbClr val="333333"/>
                </a:solidFill>
              </a:rPr>
              <a:t> </a:t>
            </a:r>
            <a:r>
              <a:rPr sz="1050" b="0" dirty="0" err="1">
                <a:solidFill>
                  <a:srgbClr val="333333"/>
                </a:solidFill>
              </a:rPr>
              <a:t>소산</a:t>
            </a:r>
            <a:r>
              <a:rPr sz="1050" b="0" dirty="0">
                <a:solidFill>
                  <a:srgbClr val="333333"/>
                </a:solidFill>
              </a:rPr>
              <a:t>(Φ</a:t>
            </a:r>
            <a:r>
              <a:rPr sz="1050" b="0" baseline="-25000" dirty="0">
                <a:solidFill>
                  <a:srgbClr val="333333"/>
                </a:solidFill>
              </a:rPr>
              <a:t>NPQ</a:t>
            </a:r>
            <a:r>
              <a:rPr sz="1050" b="0" dirty="0">
                <a:solidFill>
                  <a:srgbClr val="333333"/>
                </a:solidFill>
              </a:rPr>
              <a:t>·Φ</a:t>
            </a:r>
            <a:r>
              <a:rPr sz="1050" b="0" baseline="-25000" dirty="0">
                <a:solidFill>
                  <a:srgbClr val="333333"/>
                </a:solidFill>
              </a:rPr>
              <a:t>NO</a:t>
            </a:r>
            <a:r>
              <a:rPr sz="1050" b="0" dirty="0">
                <a:solidFill>
                  <a:srgbClr val="333333"/>
                </a:solidFill>
              </a:rPr>
              <a:t>) </a:t>
            </a:r>
            <a:r>
              <a:rPr sz="1050" b="0" dirty="0" err="1">
                <a:solidFill>
                  <a:srgbClr val="333333"/>
                </a:solidFill>
              </a:rPr>
              <a:t>변화</a:t>
            </a:r>
            <a:endParaRPr sz="1050" b="0" dirty="0">
              <a:solidFill>
                <a:srgbClr val="333333"/>
              </a:solidFill>
            </a:endParaRPr>
          </a:p>
        </p:txBody>
      </p:sp>
      <p:sp>
        <p:nvSpPr>
          <p:cNvPr id="49" name="TextBox 48"/>
          <p:cNvSpPr txBox="1"/>
          <p:nvPr/>
        </p:nvSpPr>
        <p:spPr>
          <a:xfrm>
            <a:off x="9189720" y="3194086"/>
            <a:ext cx="2240280" cy="360099"/>
          </a:xfrm>
          <a:prstGeom prst="rect">
            <a:avLst/>
          </a:prstGeom>
          <a:noFill/>
        </p:spPr>
        <p:txBody>
          <a:bodyPr wrap="square" lIns="45720" tIns="18288" rIns="45720" bIns="18288" anchor="ctr">
            <a:spAutoFit/>
          </a:bodyPr>
          <a:lstStyle/>
          <a:p>
            <a:pPr algn="l"/>
            <a:r>
              <a:rPr sz="1050" b="0" dirty="0" err="1">
                <a:solidFill>
                  <a:srgbClr val="333333"/>
                </a:solidFill>
              </a:rPr>
              <a:t>루비스코</a:t>
            </a:r>
            <a:r>
              <a:rPr sz="1050" b="0" dirty="0">
                <a:solidFill>
                  <a:srgbClr val="333333"/>
                </a:solidFill>
              </a:rPr>
              <a:t> </a:t>
            </a:r>
            <a:r>
              <a:rPr sz="1050" b="0" dirty="0" err="1">
                <a:solidFill>
                  <a:srgbClr val="333333"/>
                </a:solidFill>
              </a:rPr>
              <a:t>카르복실화와</a:t>
            </a:r>
            <a:r>
              <a:rPr sz="1050" b="0" dirty="0">
                <a:solidFill>
                  <a:srgbClr val="333333"/>
                </a:solidFill>
              </a:rPr>
              <a:t> RuBP </a:t>
            </a:r>
            <a:r>
              <a:rPr sz="1050" b="0" dirty="0" err="1">
                <a:solidFill>
                  <a:srgbClr val="333333"/>
                </a:solidFill>
              </a:rPr>
              <a:t>재생</a:t>
            </a:r>
            <a:r>
              <a:rPr sz="1050" b="0" dirty="0">
                <a:solidFill>
                  <a:srgbClr val="333333"/>
                </a:solidFill>
              </a:rPr>
              <a:t> </a:t>
            </a:r>
            <a:r>
              <a:rPr sz="1050" b="0" dirty="0" err="1">
                <a:solidFill>
                  <a:srgbClr val="333333"/>
                </a:solidFill>
              </a:rPr>
              <a:t>능력</a:t>
            </a:r>
            <a:r>
              <a:rPr sz="1050" b="0" dirty="0">
                <a:solidFill>
                  <a:srgbClr val="333333"/>
                </a:solidFill>
              </a:rPr>
              <a:t> </a:t>
            </a:r>
            <a:r>
              <a:rPr sz="1050" b="0" dirty="0" err="1">
                <a:solidFill>
                  <a:srgbClr val="333333"/>
                </a:solidFill>
              </a:rPr>
              <a:t>저하</a:t>
            </a:r>
            <a:endParaRPr sz="1050" b="0" dirty="0">
              <a:solidFill>
                <a:srgbClr val="333333"/>
              </a:solidFill>
            </a:endParaRPr>
          </a:p>
        </p:txBody>
      </p:sp>
      <p:sp>
        <p:nvSpPr>
          <p:cNvPr id="50" name="TextBox 49"/>
          <p:cNvSpPr txBox="1"/>
          <p:nvPr/>
        </p:nvSpPr>
        <p:spPr>
          <a:xfrm>
            <a:off x="9189720" y="4090198"/>
            <a:ext cx="2240280" cy="360099"/>
          </a:xfrm>
          <a:prstGeom prst="rect">
            <a:avLst/>
          </a:prstGeom>
          <a:noFill/>
        </p:spPr>
        <p:txBody>
          <a:bodyPr wrap="square" lIns="45720" tIns="18288" rIns="45720" bIns="18288" anchor="ctr">
            <a:spAutoFit/>
          </a:bodyPr>
          <a:lstStyle/>
          <a:p>
            <a:pPr algn="l"/>
            <a:r>
              <a:rPr lang="ko-KR" altLang="en-US" sz="1050" dirty="0">
                <a:solidFill>
                  <a:srgbClr val="333333"/>
                </a:solidFill>
              </a:rPr>
              <a:t>생리 반응</a:t>
            </a:r>
            <a:r>
              <a:rPr sz="1050" b="0" dirty="0">
                <a:solidFill>
                  <a:srgbClr val="333333"/>
                </a:solidFill>
              </a:rPr>
              <a:t>의 </a:t>
            </a:r>
            <a:r>
              <a:rPr sz="1050" b="0" dirty="0" err="1">
                <a:solidFill>
                  <a:srgbClr val="333333"/>
                </a:solidFill>
              </a:rPr>
              <a:t>영향이</a:t>
            </a:r>
            <a:r>
              <a:rPr sz="1050" b="0" dirty="0">
                <a:solidFill>
                  <a:srgbClr val="333333"/>
                </a:solidFill>
              </a:rPr>
              <a:t> </a:t>
            </a:r>
            <a:r>
              <a:rPr sz="1050" b="0" dirty="0" err="1">
                <a:solidFill>
                  <a:srgbClr val="333333"/>
                </a:solidFill>
              </a:rPr>
              <a:t>누적되어</a:t>
            </a:r>
            <a:r>
              <a:rPr sz="1050" b="0" dirty="0">
                <a:solidFill>
                  <a:srgbClr val="333333"/>
                </a:solidFill>
              </a:rPr>
              <a:t> </a:t>
            </a:r>
            <a:r>
              <a:rPr sz="1050" b="0" dirty="0" err="1">
                <a:solidFill>
                  <a:srgbClr val="333333"/>
                </a:solidFill>
              </a:rPr>
              <a:t>생육·수량</a:t>
            </a:r>
            <a:r>
              <a:rPr sz="1050" b="0" dirty="0">
                <a:solidFill>
                  <a:srgbClr val="333333"/>
                </a:solidFill>
              </a:rPr>
              <a:t> </a:t>
            </a:r>
            <a:r>
              <a:rPr sz="1050" b="0" dirty="0" err="1">
                <a:solidFill>
                  <a:srgbClr val="333333"/>
                </a:solidFill>
              </a:rPr>
              <a:t>감소로</a:t>
            </a:r>
            <a:r>
              <a:rPr sz="1050" b="0" dirty="0">
                <a:solidFill>
                  <a:srgbClr val="333333"/>
                </a:solidFill>
              </a:rPr>
              <a:t> </a:t>
            </a:r>
            <a:r>
              <a:rPr sz="1050" b="0" dirty="0" err="1">
                <a:solidFill>
                  <a:srgbClr val="333333"/>
                </a:solidFill>
              </a:rPr>
              <a:t>이어지는지</a:t>
            </a:r>
            <a:r>
              <a:rPr sz="1050" b="0" dirty="0">
                <a:solidFill>
                  <a:srgbClr val="333333"/>
                </a:solidFill>
              </a:rPr>
              <a:t> </a:t>
            </a:r>
            <a:r>
              <a:rPr sz="1050" b="0" dirty="0" err="1">
                <a:solidFill>
                  <a:srgbClr val="333333"/>
                </a:solidFill>
              </a:rPr>
              <a:t>평가</a:t>
            </a:r>
            <a:endParaRPr sz="1050" b="0" dirty="0">
              <a:solidFill>
                <a:srgbClr val="333333"/>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5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30" grpId="0" animBg="1"/>
      <p:bldP spid="31" grpId="0" animBg="1"/>
      <p:bldP spid="3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공시 작물 및 수분 처리</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4</a:t>
            </a:fld>
            <a:endParaRPr lang="ko-KR" altLang="en-US"/>
          </a:p>
        </p:txBody>
      </p:sp>
      <p:sp>
        <p:nvSpPr>
          <p:cNvPr id="27" name="Card 상추"/>
          <p:cNvSpPr/>
          <p:nvPr/>
        </p:nvSpPr>
        <p:spPr>
          <a:xfrm>
            <a:off x="841248" y="1508760"/>
            <a:ext cx="4892040" cy="155448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28" name="Header 상추"/>
          <p:cNvSpPr/>
          <p:nvPr/>
        </p:nvSpPr>
        <p:spPr>
          <a:xfrm>
            <a:off x="1024128" y="1298448"/>
            <a:ext cx="4526280" cy="420624"/>
          </a:xfrm>
          <a:prstGeom prst="roundRect">
            <a:avLst>
              <a:gd name="adj" fmla="val 25000"/>
            </a:avLst>
          </a:prstGeom>
          <a:solidFill>
            <a:srgbClr val="2E6B3F"/>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상추</a:t>
            </a:r>
          </a:p>
        </p:txBody>
      </p:sp>
      <p:sp>
        <p:nvSpPr>
          <p:cNvPr id="29" name="Text 상추"/>
          <p:cNvSpPr txBox="1"/>
          <p:nvPr/>
        </p:nvSpPr>
        <p:spPr>
          <a:xfrm>
            <a:off x="1024128" y="1892808"/>
            <a:ext cx="4572000" cy="105156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300" b="0" i="1" dirty="0">
                <a:solidFill>
                  <a:srgbClr val="000000"/>
                </a:solidFill>
              </a:rPr>
              <a:t>Lactuca sativa</a:t>
            </a:r>
            <a:r>
              <a:rPr lang="ko-KR" altLang="en-US" sz="1300" b="0" i="0" dirty="0">
                <a:solidFill>
                  <a:srgbClr val="000000"/>
                </a:solidFill>
              </a:rPr>
              <a:t> L. cv. Claudius</a:t>
            </a:r>
          </a:p>
          <a:p>
            <a:pPr marL="201168" indent="-201168" algn="l">
              <a:spcBef>
                <a:spcPts val="600"/>
              </a:spcBef>
              <a:buFont typeface="Arial"/>
              <a:buChar char="•"/>
            </a:pPr>
            <a:r>
              <a:rPr lang="ko-KR" altLang="en-US" sz="1300" b="0" dirty="0">
                <a:solidFill>
                  <a:srgbClr val="000000"/>
                </a:solidFill>
              </a:rPr>
              <a:t>정식일 </a:t>
            </a:r>
            <a:r>
              <a:rPr lang="en-US" altLang="ko-KR" sz="1300" b="0" dirty="0">
                <a:solidFill>
                  <a:srgbClr val="000000"/>
                </a:solidFill>
              </a:rPr>
              <a:t>: 26. 9. 15.</a:t>
            </a:r>
          </a:p>
          <a:p>
            <a:pPr marL="201168" indent="-201168" algn="l">
              <a:spcBef>
                <a:spcPts val="600"/>
              </a:spcBef>
              <a:buFont typeface="Arial"/>
              <a:buChar char="•"/>
            </a:pPr>
            <a:r>
              <a:rPr lang="ko-KR" altLang="en-US" sz="1300" b="0" dirty="0">
                <a:solidFill>
                  <a:srgbClr val="000000"/>
                </a:solidFill>
              </a:rPr>
              <a:t>처리 개시 : </a:t>
            </a:r>
            <a:r>
              <a:rPr lang="en-US" altLang="ko-KR" sz="1300" b="0" dirty="0">
                <a:solidFill>
                  <a:srgbClr val="000000"/>
                </a:solidFill>
              </a:rPr>
              <a:t>26. 10. 7.</a:t>
            </a:r>
            <a:endParaRPr lang="ko-KR" altLang="en-US" sz="1300" b="0" dirty="0">
              <a:solidFill>
                <a:srgbClr val="000000"/>
              </a:solidFill>
            </a:endParaRPr>
          </a:p>
          <a:p>
            <a:pPr marL="201168" indent="-201168" algn="l">
              <a:spcBef>
                <a:spcPts val="600"/>
              </a:spcBef>
              <a:buFont typeface="Arial"/>
              <a:buChar char="•"/>
            </a:pPr>
            <a:r>
              <a:rPr lang="ko-KR" altLang="en-US" sz="1300" b="0" dirty="0">
                <a:solidFill>
                  <a:srgbClr val="000000"/>
                </a:solidFill>
              </a:rPr>
              <a:t>관찰 : 처리 후 16일 (DAT 0~16)</a:t>
            </a:r>
          </a:p>
        </p:txBody>
      </p:sp>
      <p:sp>
        <p:nvSpPr>
          <p:cNvPr id="30" name="Card 콩"/>
          <p:cNvSpPr/>
          <p:nvPr/>
        </p:nvSpPr>
        <p:spPr>
          <a:xfrm>
            <a:off x="841248" y="3611880"/>
            <a:ext cx="4892040" cy="155448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1" name="Header 콩"/>
          <p:cNvSpPr/>
          <p:nvPr/>
        </p:nvSpPr>
        <p:spPr>
          <a:xfrm>
            <a:off x="1024128" y="3401568"/>
            <a:ext cx="4526280" cy="420624"/>
          </a:xfrm>
          <a:prstGeom prst="roundRect">
            <a:avLst>
              <a:gd name="adj" fmla="val 25000"/>
            </a:avLst>
          </a:prstGeom>
          <a:solidFill>
            <a:srgbClr val="6B4226"/>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콩</a:t>
            </a:r>
          </a:p>
        </p:txBody>
      </p:sp>
      <p:sp>
        <p:nvSpPr>
          <p:cNvPr id="32" name="Text 콩"/>
          <p:cNvSpPr txBox="1"/>
          <p:nvPr/>
        </p:nvSpPr>
        <p:spPr>
          <a:xfrm>
            <a:off x="1024128" y="3995928"/>
            <a:ext cx="4572000" cy="105156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300" b="0" i="1" dirty="0">
                <a:solidFill>
                  <a:srgbClr val="000000"/>
                </a:solidFill>
              </a:rPr>
              <a:t>Glycine max</a:t>
            </a:r>
            <a:r>
              <a:rPr lang="ko-KR" altLang="en-US" sz="1300" b="0" i="0" dirty="0">
                <a:solidFill>
                  <a:srgbClr val="000000"/>
                </a:solidFill>
              </a:rPr>
              <a:t> (L.) Merr. cv. </a:t>
            </a:r>
            <a:r>
              <a:rPr lang="ko-KR" altLang="en-US" sz="1300" b="0" i="0" dirty="0" err="1">
                <a:solidFill>
                  <a:srgbClr val="000000"/>
                </a:solidFill>
              </a:rPr>
              <a:t>Daewonkong</a:t>
            </a:r>
            <a:endParaRPr lang="ko-KR" altLang="en-US" sz="1300" b="0" i="0" dirty="0">
              <a:solidFill>
                <a:srgbClr val="000000"/>
              </a:solidFill>
            </a:endParaRPr>
          </a:p>
          <a:p>
            <a:pPr marL="201168" indent="-201168" algn="l">
              <a:spcBef>
                <a:spcPts val="600"/>
              </a:spcBef>
              <a:buFont typeface="Arial"/>
              <a:buChar char="•"/>
            </a:pPr>
            <a:r>
              <a:rPr lang="ko-KR" altLang="en-US" sz="1300" b="0" dirty="0">
                <a:solidFill>
                  <a:srgbClr val="000000"/>
                </a:solidFill>
              </a:rPr>
              <a:t>파종일 </a:t>
            </a:r>
            <a:r>
              <a:rPr lang="en-US" altLang="ko-KR" sz="1300" b="0" dirty="0">
                <a:solidFill>
                  <a:srgbClr val="000000"/>
                </a:solidFill>
              </a:rPr>
              <a:t>: 26. 6. 26.</a:t>
            </a:r>
          </a:p>
          <a:p>
            <a:pPr marL="201168" indent="-201168" algn="l">
              <a:spcBef>
                <a:spcPts val="600"/>
              </a:spcBef>
              <a:buFont typeface="Arial"/>
              <a:buChar char="•"/>
            </a:pPr>
            <a:r>
              <a:rPr lang="ko-KR" altLang="en-US" sz="1300" b="0" dirty="0">
                <a:solidFill>
                  <a:srgbClr val="000000"/>
                </a:solidFill>
              </a:rPr>
              <a:t>처리 개시 : </a:t>
            </a:r>
            <a:r>
              <a:rPr lang="en-US" altLang="ko-KR" sz="1300" b="0" dirty="0">
                <a:solidFill>
                  <a:srgbClr val="000000"/>
                </a:solidFill>
              </a:rPr>
              <a:t>26. 8. 12. (R1)</a:t>
            </a:r>
            <a:endParaRPr lang="ko-KR" altLang="en-US" sz="1300" b="0" dirty="0">
              <a:solidFill>
                <a:srgbClr val="000000"/>
              </a:solidFill>
            </a:endParaRPr>
          </a:p>
          <a:p>
            <a:pPr marL="201168" indent="-201168" algn="l">
              <a:spcBef>
                <a:spcPts val="600"/>
              </a:spcBef>
              <a:buFont typeface="Arial"/>
              <a:buChar char="•"/>
            </a:pPr>
            <a:r>
              <a:rPr lang="ko-KR" altLang="en-US" sz="1300" b="0" dirty="0">
                <a:solidFill>
                  <a:srgbClr val="000000"/>
                </a:solidFill>
              </a:rPr>
              <a:t>관찰 : 처리 후 55일 (DAT 0~55)</a:t>
            </a:r>
          </a:p>
        </p:txBody>
      </p:sp>
      <p:sp>
        <p:nvSpPr>
          <p:cNvPr id="33" name="Pot label"/>
          <p:cNvSpPr txBox="1"/>
          <p:nvPr/>
        </p:nvSpPr>
        <p:spPr>
          <a:xfrm>
            <a:off x="6080760" y="1349832"/>
            <a:ext cx="1234440" cy="36576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3A3A3A"/>
                </a:solidFill>
              </a:rPr>
              <a:t>대조구</a:t>
            </a:r>
          </a:p>
        </p:txBody>
      </p:sp>
      <p:sp>
        <p:nvSpPr>
          <p:cNvPr id="38" name="Pot desc"/>
          <p:cNvSpPr txBox="1"/>
          <p:nvPr/>
        </p:nvSpPr>
        <p:spPr>
          <a:xfrm>
            <a:off x="6035040" y="4187952"/>
            <a:ext cx="1325880" cy="64008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150" b="0" dirty="0">
                <a:solidFill>
                  <a:srgbClr val="000000"/>
                </a:solidFill>
              </a:rPr>
              <a:t>ET 100% 관수</a:t>
            </a:r>
          </a:p>
        </p:txBody>
      </p:sp>
      <p:sp>
        <p:nvSpPr>
          <p:cNvPr id="39" name="Pot label"/>
          <p:cNvSpPr txBox="1"/>
          <p:nvPr/>
        </p:nvSpPr>
        <p:spPr>
          <a:xfrm>
            <a:off x="7406640" y="1349832"/>
            <a:ext cx="1234440" cy="36576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8A7F70"/>
                </a:solidFill>
              </a:rPr>
              <a:t>건조</a:t>
            </a:r>
          </a:p>
        </p:txBody>
      </p:sp>
      <p:sp>
        <p:nvSpPr>
          <p:cNvPr id="44" name="Pot desc"/>
          <p:cNvSpPr txBox="1"/>
          <p:nvPr/>
        </p:nvSpPr>
        <p:spPr>
          <a:xfrm>
            <a:off x="7360920" y="4187952"/>
            <a:ext cx="1325880" cy="64008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150" b="0" dirty="0">
                <a:solidFill>
                  <a:srgbClr val="000000"/>
                </a:solidFill>
              </a:rPr>
              <a:t>ET 50% 관수</a:t>
            </a:r>
          </a:p>
        </p:txBody>
      </p:sp>
      <p:sp>
        <p:nvSpPr>
          <p:cNvPr id="45" name="Pot label"/>
          <p:cNvSpPr txBox="1"/>
          <p:nvPr/>
        </p:nvSpPr>
        <p:spPr>
          <a:xfrm>
            <a:off x="8732520" y="1349832"/>
            <a:ext cx="1234440" cy="36576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1F4E79"/>
                </a:solidFill>
              </a:rPr>
              <a:t>침수</a:t>
            </a:r>
          </a:p>
        </p:txBody>
      </p:sp>
      <p:sp>
        <p:nvSpPr>
          <p:cNvPr id="51" name="Pot desc"/>
          <p:cNvSpPr txBox="1"/>
          <p:nvPr/>
        </p:nvSpPr>
        <p:spPr>
          <a:xfrm>
            <a:off x="8686800" y="4187952"/>
            <a:ext cx="1325880" cy="64008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150" b="0" dirty="0">
                <a:solidFill>
                  <a:srgbClr val="000000"/>
                </a:solidFill>
              </a:rPr>
              <a:t>3일 침수 →</a:t>
            </a:r>
          </a:p>
          <a:p>
            <a:pPr marL="0" indent="0" algn="ctr">
              <a:spcBef>
                <a:spcPts val="0"/>
              </a:spcBef>
              <a:buNone/>
            </a:pPr>
            <a:r>
              <a:rPr lang="ko-KR" altLang="en-US" sz="1150" b="0" dirty="0">
                <a:solidFill>
                  <a:srgbClr val="000000"/>
                </a:solidFill>
              </a:rPr>
              <a:t>ET 100%</a:t>
            </a:r>
          </a:p>
        </p:txBody>
      </p:sp>
      <p:sp>
        <p:nvSpPr>
          <p:cNvPr id="52" name="Pot label"/>
          <p:cNvSpPr txBox="1"/>
          <p:nvPr/>
        </p:nvSpPr>
        <p:spPr>
          <a:xfrm>
            <a:off x="10058400" y="1349832"/>
            <a:ext cx="1234440" cy="36576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6F93B8"/>
                </a:solidFill>
              </a:rPr>
              <a:t>복합</a:t>
            </a:r>
          </a:p>
        </p:txBody>
      </p:sp>
      <p:sp>
        <p:nvSpPr>
          <p:cNvPr id="58" name="Pot desc"/>
          <p:cNvSpPr txBox="1"/>
          <p:nvPr/>
        </p:nvSpPr>
        <p:spPr>
          <a:xfrm>
            <a:off x="10012680" y="4187952"/>
            <a:ext cx="1325880" cy="64008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150" b="0" dirty="0">
                <a:solidFill>
                  <a:srgbClr val="000000"/>
                </a:solidFill>
              </a:rPr>
              <a:t>3</a:t>
            </a:r>
            <a:r>
              <a:rPr lang="ko-KR" altLang="en-US" sz="1150" b="0">
                <a:solidFill>
                  <a:srgbClr val="000000"/>
                </a:solidFill>
              </a:rPr>
              <a:t>일 침수 </a:t>
            </a:r>
            <a:r>
              <a:rPr lang="ko-KR" altLang="en-US" sz="1150" b="0" dirty="0">
                <a:solidFill>
                  <a:srgbClr val="000000"/>
                </a:solidFill>
              </a:rPr>
              <a:t>→</a:t>
            </a:r>
          </a:p>
          <a:p>
            <a:pPr marL="0" indent="0" algn="ctr">
              <a:spcBef>
                <a:spcPts val="0"/>
              </a:spcBef>
              <a:buNone/>
            </a:pPr>
            <a:r>
              <a:rPr lang="ko-KR" altLang="en-US" sz="1150" b="0" dirty="0">
                <a:solidFill>
                  <a:srgbClr val="000000"/>
                </a:solidFill>
              </a:rPr>
              <a:t>ET 50%</a:t>
            </a:r>
          </a:p>
        </p:txBody>
      </p:sp>
      <p:sp>
        <p:nvSpPr>
          <p:cNvPr id="117"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18"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450" b="1" u="sng">
                <a:solidFill>
                  <a:srgbClr val="1A1A1A"/>
                </a:solidFill>
              </a:rPr>
              <a:t>재료 및 방법</a:t>
            </a:r>
          </a:p>
        </p:txBody>
      </p:sp>
      <p:sp>
        <p:nvSpPr>
          <p:cNvPr id="119"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20"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21"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pic>
        <p:nvPicPr>
          <p:cNvPr id="7" name="그림 6">
            <a:extLst>
              <a:ext uri="{FF2B5EF4-FFF2-40B4-BE49-F238E27FC236}">
                <a16:creationId xmlns:a16="http://schemas.microsoft.com/office/drawing/2014/main" id="{92F3155C-81E1-9801-E207-EE433DDEBFEA}"/>
              </a:ext>
            </a:extLst>
          </p:cNvPr>
          <p:cNvPicPr>
            <a:picLocks noChangeAspect="1"/>
          </p:cNvPicPr>
          <p:nvPr/>
        </p:nvPicPr>
        <p:blipFill>
          <a:blip r:embed="rId4">
            <a:extLst>
              <a:ext uri="{28A0092B-C50C-407E-A947-70E740481C1C}">
                <a14:useLocalDpi xmlns:a14="http://schemas.microsoft.com/office/drawing/2010/main" val="0"/>
              </a:ext>
            </a:extLst>
          </a:blip>
          <a:srcRect l="3749" t="18150" r="3281" b="13259"/>
          <a:stretch>
            <a:fillRect/>
          </a:stretch>
        </p:blipFill>
        <p:spPr>
          <a:xfrm>
            <a:off x="6042333" y="1965954"/>
            <a:ext cx="5365896" cy="1957698"/>
          </a:xfrm>
          <a:prstGeom prst="rect">
            <a:avLst/>
          </a:prstGeom>
        </p:spPr>
      </p:pic>
      <p:sp>
        <p:nvSpPr>
          <p:cNvPr id="122" name="TextBox 121"/>
          <p:cNvSpPr txBox="1"/>
          <p:nvPr/>
        </p:nvSpPr>
        <p:spPr>
          <a:xfrm>
            <a:off x="6126480" y="4846320"/>
            <a:ext cx="5303520" cy="914400"/>
          </a:xfrm>
          <a:prstGeom prst="rect">
            <a:avLst/>
          </a:prstGeom>
          <a:noFill/>
        </p:spPr>
        <p:txBody>
          <a:bodyPr wrap="square">
            <a:spAutoFit/>
          </a:bodyPr>
          <a:lstStyle/>
          <a:p>
            <a:r>
              <a:rPr sz="1300" b="1">
                <a:solidFill>
                  <a:srgbClr val="333333"/>
                </a:solidFill>
              </a:rPr>
              <a:t>관수 : </a:t>
            </a:r>
            <a:r>
              <a:rPr sz="1300" b="0">
                <a:solidFill>
                  <a:srgbClr val="333333"/>
                </a:solidFill>
              </a:rPr>
              <a:t>전날 증산한 만큼을 다음날 관수 (건조·복합은 50%)</a:t>
            </a:r>
          </a:p>
          <a:p>
            <a:r>
              <a:rPr sz="1300" b="1">
                <a:solidFill>
                  <a:srgbClr val="333333"/>
                </a:solidFill>
              </a:rPr>
              <a:t>침수 : </a:t>
            </a:r>
            <a:r>
              <a:rPr sz="1300" b="0">
                <a:solidFill>
                  <a:srgbClr val="333333"/>
                </a:solidFill>
              </a:rPr>
              <a:t>포트를 물에 담가 72시간 침지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500"/>
                                        <p:tgtEl>
                                          <p:spTgt spid="3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5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500"/>
                                        <p:tgtEl>
                                          <p:spTgt spid="3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fade">
                                      <p:cBhvr>
                                        <p:cTn id="35" dur="500"/>
                                        <p:tgtEl>
                                          <p:spTgt spid="3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4"/>
                                        </p:tgtEl>
                                        <p:attrNameLst>
                                          <p:attrName>style.visibility</p:attrName>
                                        </p:attrNameLst>
                                      </p:cBhvr>
                                      <p:to>
                                        <p:strVal val="visible"/>
                                      </p:to>
                                    </p:set>
                                    <p:animEffect transition="in" filter="fade">
                                      <p:cBhvr>
                                        <p:cTn id="38" dur="500"/>
                                        <p:tgtEl>
                                          <p:spTgt spid="44"/>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45"/>
                                        </p:tgtEl>
                                        <p:attrNameLst>
                                          <p:attrName>style.visibility</p:attrName>
                                        </p:attrNameLst>
                                      </p:cBhvr>
                                      <p:to>
                                        <p:strVal val="visible"/>
                                      </p:to>
                                    </p:set>
                                    <p:animEffect transition="in" filter="fade">
                                      <p:cBhvr>
                                        <p:cTn id="43" dur="500"/>
                                        <p:tgtEl>
                                          <p:spTgt spid="4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51"/>
                                        </p:tgtEl>
                                        <p:attrNameLst>
                                          <p:attrName>style.visibility</p:attrName>
                                        </p:attrNameLst>
                                      </p:cBhvr>
                                      <p:to>
                                        <p:strVal val="visible"/>
                                      </p:to>
                                    </p:set>
                                    <p:animEffect transition="in" filter="fade">
                                      <p:cBhvr>
                                        <p:cTn id="46" dur="500"/>
                                        <p:tgtEl>
                                          <p:spTgt spid="51"/>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52"/>
                                        </p:tgtEl>
                                        <p:attrNameLst>
                                          <p:attrName>style.visibility</p:attrName>
                                        </p:attrNameLst>
                                      </p:cBhvr>
                                      <p:to>
                                        <p:strVal val="visible"/>
                                      </p:to>
                                    </p:set>
                                    <p:animEffect transition="in" filter="fade">
                                      <p:cBhvr>
                                        <p:cTn id="51" dur="500"/>
                                        <p:tgtEl>
                                          <p:spTgt spid="52"/>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58"/>
                                        </p:tgtEl>
                                        <p:attrNameLst>
                                          <p:attrName>style.visibility</p:attrName>
                                        </p:attrNameLst>
                                      </p:cBhvr>
                                      <p:to>
                                        <p:strVal val="visible"/>
                                      </p:to>
                                    </p:set>
                                    <p:animEffect transition="in" filter="fade">
                                      <p:cBhvr>
                                        <p:cTn id="54"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32" grpId="0" animBg="1"/>
      <p:bldP spid="33" grpId="0" animBg="1"/>
      <p:bldP spid="38" grpId="0" animBg="1"/>
      <p:bldP spid="39" grpId="0" animBg="1"/>
      <p:bldP spid="44" grpId="0" animBg="1"/>
      <p:bldP spid="45" grpId="0" animBg="1"/>
      <p:bldP spid="51" grpId="0" animBg="1"/>
      <p:bldP spid="52" grpId="0" animBg="1"/>
      <p:bldP spid="5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처리 일정과 측정 시기 (DAT 기준 정렬)</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5</a:t>
            </a:fld>
            <a:endParaRPr lang="ko-KR" altLang="en-US"/>
          </a:p>
        </p:txBody>
      </p:sp>
      <p:sp>
        <p:nvSpPr>
          <p:cNvPr id="7" name="TextBox 6"/>
          <p:cNvSpPr txBox="1"/>
          <p:nvPr/>
        </p:nvSpPr>
        <p:spPr>
          <a:xfrm>
            <a:off x="457200" y="1371600"/>
            <a:ext cx="1097280" cy="274320"/>
          </a:xfrm>
          <a:prstGeom prst="rect">
            <a:avLst/>
          </a:prstGeom>
          <a:noFill/>
        </p:spPr>
        <p:txBody>
          <a:bodyPr wrap="square" lIns="0" tIns="0" rIns="0" bIns="0">
            <a:spAutoFit/>
          </a:bodyPr>
          <a:lstStyle/>
          <a:p>
            <a:r>
              <a:rPr sz="1100" b="0">
                <a:solidFill>
                  <a:srgbClr val="595959"/>
                </a:solidFill>
              </a:rPr>
              <a:t>DAT (일)</a:t>
            </a:r>
          </a:p>
        </p:txBody>
      </p:sp>
      <p:sp>
        <p:nvSpPr>
          <p:cNvPr id="8" name="TextBox 7"/>
          <p:cNvSpPr txBox="1"/>
          <p:nvPr/>
        </p:nvSpPr>
        <p:spPr>
          <a:xfrm>
            <a:off x="1691640" y="1371600"/>
            <a:ext cx="457200" cy="274320"/>
          </a:xfrm>
          <a:prstGeom prst="rect">
            <a:avLst/>
          </a:prstGeom>
          <a:noFill/>
        </p:spPr>
        <p:txBody>
          <a:bodyPr wrap="square" lIns="0" tIns="0" rIns="0" bIns="0">
            <a:spAutoFit/>
          </a:bodyPr>
          <a:lstStyle/>
          <a:p>
            <a:pPr algn="ctr"/>
            <a:r>
              <a:rPr sz="1100" b="0">
                <a:solidFill>
                  <a:srgbClr val="595959"/>
                </a:solidFill>
              </a:rPr>
              <a:t>0</a:t>
            </a:r>
          </a:p>
        </p:txBody>
      </p:sp>
      <p:sp>
        <p:nvSpPr>
          <p:cNvPr id="9" name="TextBox 8"/>
          <p:cNvSpPr txBox="1"/>
          <p:nvPr/>
        </p:nvSpPr>
        <p:spPr>
          <a:xfrm>
            <a:off x="2560320" y="1371600"/>
            <a:ext cx="457200" cy="274320"/>
          </a:xfrm>
          <a:prstGeom prst="rect">
            <a:avLst/>
          </a:prstGeom>
          <a:noFill/>
        </p:spPr>
        <p:txBody>
          <a:bodyPr wrap="square" lIns="0" tIns="0" rIns="0" bIns="0">
            <a:spAutoFit/>
          </a:bodyPr>
          <a:lstStyle/>
          <a:p>
            <a:pPr algn="ctr"/>
            <a:r>
              <a:rPr sz="1100" b="0">
                <a:solidFill>
                  <a:srgbClr val="595959"/>
                </a:solidFill>
              </a:rPr>
              <a:t>5</a:t>
            </a:r>
          </a:p>
        </p:txBody>
      </p:sp>
      <p:sp>
        <p:nvSpPr>
          <p:cNvPr id="10" name="TextBox 9"/>
          <p:cNvSpPr txBox="1"/>
          <p:nvPr/>
        </p:nvSpPr>
        <p:spPr>
          <a:xfrm>
            <a:off x="3429000" y="1371600"/>
            <a:ext cx="457200" cy="274320"/>
          </a:xfrm>
          <a:prstGeom prst="rect">
            <a:avLst/>
          </a:prstGeom>
          <a:noFill/>
        </p:spPr>
        <p:txBody>
          <a:bodyPr wrap="square" lIns="0" tIns="0" rIns="0" bIns="0">
            <a:spAutoFit/>
          </a:bodyPr>
          <a:lstStyle/>
          <a:p>
            <a:pPr algn="ctr"/>
            <a:r>
              <a:rPr sz="1100" b="0">
                <a:solidFill>
                  <a:srgbClr val="595959"/>
                </a:solidFill>
              </a:rPr>
              <a:t>10</a:t>
            </a:r>
          </a:p>
        </p:txBody>
      </p:sp>
      <p:sp>
        <p:nvSpPr>
          <p:cNvPr id="11" name="TextBox 10"/>
          <p:cNvSpPr txBox="1"/>
          <p:nvPr/>
        </p:nvSpPr>
        <p:spPr>
          <a:xfrm>
            <a:off x="4297680" y="1371600"/>
            <a:ext cx="457200" cy="274320"/>
          </a:xfrm>
          <a:prstGeom prst="rect">
            <a:avLst/>
          </a:prstGeom>
          <a:noFill/>
        </p:spPr>
        <p:txBody>
          <a:bodyPr wrap="square" lIns="0" tIns="0" rIns="0" bIns="0">
            <a:spAutoFit/>
          </a:bodyPr>
          <a:lstStyle/>
          <a:p>
            <a:pPr algn="ctr"/>
            <a:r>
              <a:rPr sz="1100" b="0">
                <a:solidFill>
                  <a:srgbClr val="595959"/>
                </a:solidFill>
              </a:rPr>
              <a:t>15</a:t>
            </a:r>
          </a:p>
        </p:txBody>
      </p:sp>
      <p:sp>
        <p:nvSpPr>
          <p:cNvPr id="12" name="TextBox 11"/>
          <p:cNvSpPr txBox="1"/>
          <p:nvPr/>
        </p:nvSpPr>
        <p:spPr>
          <a:xfrm>
            <a:off x="5166360" y="1371600"/>
            <a:ext cx="457200" cy="274320"/>
          </a:xfrm>
          <a:prstGeom prst="rect">
            <a:avLst/>
          </a:prstGeom>
          <a:noFill/>
        </p:spPr>
        <p:txBody>
          <a:bodyPr wrap="square" lIns="0" tIns="0" rIns="0" bIns="0">
            <a:spAutoFit/>
          </a:bodyPr>
          <a:lstStyle/>
          <a:p>
            <a:pPr algn="ctr"/>
            <a:r>
              <a:rPr sz="1100" b="0">
                <a:solidFill>
                  <a:srgbClr val="595959"/>
                </a:solidFill>
              </a:rPr>
              <a:t>20</a:t>
            </a:r>
          </a:p>
        </p:txBody>
      </p:sp>
      <p:sp>
        <p:nvSpPr>
          <p:cNvPr id="13" name="TextBox 12"/>
          <p:cNvSpPr txBox="1"/>
          <p:nvPr/>
        </p:nvSpPr>
        <p:spPr>
          <a:xfrm>
            <a:off x="6035040" y="1371600"/>
            <a:ext cx="457200" cy="274320"/>
          </a:xfrm>
          <a:prstGeom prst="rect">
            <a:avLst/>
          </a:prstGeom>
          <a:noFill/>
        </p:spPr>
        <p:txBody>
          <a:bodyPr wrap="square" lIns="0" tIns="0" rIns="0" bIns="0">
            <a:spAutoFit/>
          </a:bodyPr>
          <a:lstStyle/>
          <a:p>
            <a:pPr algn="ctr"/>
            <a:r>
              <a:rPr sz="1100" b="0">
                <a:solidFill>
                  <a:srgbClr val="595959"/>
                </a:solidFill>
              </a:rPr>
              <a:t>25</a:t>
            </a:r>
          </a:p>
        </p:txBody>
      </p:sp>
      <p:sp>
        <p:nvSpPr>
          <p:cNvPr id="14" name="TextBox 13"/>
          <p:cNvSpPr txBox="1"/>
          <p:nvPr/>
        </p:nvSpPr>
        <p:spPr>
          <a:xfrm>
            <a:off x="6903720" y="1371600"/>
            <a:ext cx="457200" cy="274320"/>
          </a:xfrm>
          <a:prstGeom prst="rect">
            <a:avLst/>
          </a:prstGeom>
          <a:noFill/>
        </p:spPr>
        <p:txBody>
          <a:bodyPr wrap="square" lIns="0" tIns="0" rIns="0" bIns="0">
            <a:spAutoFit/>
          </a:bodyPr>
          <a:lstStyle/>
          <a:p>
            <a:pPr algn="ctr"/>
            <a:r>
              <a:rPr sz="1100" b="0">
                <a:solidFill>
                  <a:srgbClr val="595959"/>
                </a:solidFill>
              </a:rPr>
              <a:t>30</a:t>
            </a:r>
          </a:p>
        </p:txBody>
      </p:sp>
      <p:sp>
        <p:nvSpPr>
          <p:cNvPr id="15" name="TextBox 14"/>
          <p:cNvSpPr txBox="1"/>
          <p:nvPr/>
        </p:nvSpPr>
        <p:spPr>
          <a:xfrm>
            <a:off x="7772400" y="1371600"/>
            <a:ext cx="457200" cy="274320"/>
          </a:xfrm>
          <a:prstGeom prst="rect">
            <a:avLst/>
          </a:prstGeom>
          <a:noFill/>
        </p:spPr>
        <p:txBody>
          <a:bodyPr wrap="square" lIns="0" tIns="0" rIns="0" bIns="0">
            <a:spAutoFit/>
          </a:bodyPr>
          <a:lstStyle/>
          <a:p>
            <a:pPr algn="ctr"/>
            <a:r>
              <a:rPr sz="1100" b="0">
                <a:solidFill>
                  <a:srgbClr val="595959"/>
                </a:solidFill>
              </a:rPr>
              <a:t>35</a:t>
            </a:r>
          </a:p>
        </p:txBody>
      </p:sp>
      <p:sp>
        <p:nvSpPr>
          <p:cNvPr id="16" name="TextBox 15"/>
          <p:cNvSpPr txBox="1"/>
          <p:nvPr/>
        </p:nvSpPr>
        <p:spPr>
          <a:xfrm>
            <a:off x="8641080" y="1371600"/>
            <a:ext cx="457200" cy="274320"/>
          </a:xfrm>
          <a:prstGeom prst="rect">
            <a:avLst/>
          </a:prstGeom>
          <a:noFill/>
        </p:spPr>
        <p:txBody>
          <a:bodyPr wrap="square" lIns="0" tIns="0" rIns="0" bIns="0">
            <a:spAutoFit/>
          </a:bodyPr>
          <a:lstStyle/>
          <a:p>
            <a:pPr algn="ctr"/>
            <a:r>
              <a:rPr sz="1100" b="0">
                <a:solidFill>
                  <a:srgbClr val="595959"/>
                </a:solidFill>
              </a:rPr>
              <a:t>40</a:t>
            </a:r>
          </a:p>
        </p:txBody>
      </p:sp>
      <p:sp>
        <p:nvSpPr>
          <p:cNvPr id="17" name="TextBox 16"/>
          <p:cNvSpPr txBox="1"/>
          <p:nvPr/>
        </p:nvSpPr>
        <p:spPr>
          <a:xfrm>
            <a:off x="9509760" y="1371600"/>
            <a:ext cx="457200" cy="274320"/>
          </a:xfrm>
          <a:prstGeom prst="rect">
            <a:avLst/>
          </a:prstGeom>
          <a:noFill/>
        </p:spPr>
        <p:txBody>
          <a:bodyPr wrap="square" lIns="0" tIns="0" rIns="0" bIns="0">
            <a:spAutoFit/>
          </a:bodyPr>
          <a:lstStyle/>
          <a:p>
            <a:pPr algn="ctr"/>
            <a:r>
              <a:rPr sz="1100" b="0">
                <a:solidFill>
                  <a:srgbClr val="595959"/>
                </a:solidFill>
              </a:rPr>
              <a:t>45</a:t>
            </a:r>
          </a:p>
        </p:txBody>
      </p:sp>
      <p:sp>
        <p:nvSpPr>
          <p:cNvPr id="18" name="TextBox 17"/>
          <p:cNvSpPr txBox="1"/>
          <p:nvPr/>
        </p:nvSpPr>
        <p:spPr>
          <a:xfrm>
            <a:off x="10378440" y="1371600"/>
            <a:ext cx="457200" cy="274320"/>
          </a:xfrm>
          <a:prstGeom prst="rect">
            <a:avLst/>
          </a:prstGeom>
          <a:noFill/>
        </p:spPr>
        <p:txBody>
          <a:bodyPr wrap="square" lIns="0" tIns="0" rIns="0" bIns="0">
            <a:spAutoFit/>
          </a:bodyPr>
          <a:lstStyle/>
          <a:p>
            <a:pPr algn="ctr"/>
            <a:r>
              <a:rPr sz="1100" b="0">
                <a:solidFill>
                  <a:srgbClr val="595959"/>
                </a:solidFill>
              </a:rPr>
              <a:t>50</a:t>
            </a:r>
          </a:p>
        </p:txBody>
      </p:sp>
      <p:sp>
        <p:nvSpPr>
          <p:cNvPr id="19" name="TextBox 18"/>
          <p:cNvSpPr txBox="1"/>
          <p:nvPr/>
        </p:nvSpPr>
        <p:spPr>
          <a:xfrm>
            <a:off x="11247119" y="1371600"/>
            <a:ext cx="457200" cy="274320"/>
          </a:xfrm>
          <a:prstGeom prst="rect">
            <a:avLst/>
          </a:prstGeom>
          <a:noFill/>
        </p:spPr>
        <p:txBody>
          <a:bodyPr wrap="square" lIns="0" tIns="0" rIns="0" bIns="0">
            <a:spAutoFit/>
          </a:bodyPr>
          <a:lstStyle/>
          <a:p>
            <a:pPr algn="ctr"/>
            <a:r>
              <a:rPr sz="1100" b="0">
                <a:solidFill>
                  <a:srgbClr val="595959"/>
                </a:solidFill>
              </a:rPr>
              <a:t>55</a:t>
            </a:r>
          </a:p>
        </p:txBody>
      </p:sp>
      <p:cxnSp>
        <p:nvCxnSpPr>
          <p:cNvPr id="20" name="Connector 19"/>
          <p:cNvCxnSpPr/>
          <p:nvPr/>
        </p:nvCxnSpPr>
        <p:spPr>
          <a:xfrm>
            <a:off x="1920240" y="1691640"/>
            <a:ext cx="9555479" cy="0"/>
          </a:xfrm>
          <a:prstGeom prst="line">
            <a:avLst/>
          </a:prstGeom>
          <a:ln>
            <a:solidFill>
              <a:srgbClr val="7F7F7F"/>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57200" y="2103120"/>
            <a:ext cx="1371600" cy="276999"/>
          </a:xfrm>
          <a:prstGeom prst="rect">
            <a:avLst/>
          </a:prstGeom>
          <a:noFill/>
        </p:spPr>
        <p:txBody>
          <a:bodyPr wrap="square" lIns="0" tIns="0" rIns="0" bIns="0">
            <a:spAutoFit/>
          </a:bodyPr>
          <a:lstStyle/>
          <a:p>
            <a:r>
              <a:rPr sz="1800" b="1">
                <a:solidFill>
                  <a:srgbClr val="6B4226"/>
                </a:solidFill>
              </a:rPr>
              <a:t>콩</a:t>
            </a:r>
          </a:p>
        </p:txBody>
      </p:sp>
      <p:sp>
        <p:nvSpPr>
          <p:cNvPr id="22" name="Rounded Rectangle 21"/>
          <p:cNvSpPr/>
          <p:nvPr/>
        </p:nvSpPr>
        <p:spPr>
          <a:xfrm>
            <a:off x="1920240" y="2011680"/>
            <a:ext cx="521207" cy="457200"/>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sz="900" b="1">
                <a:solidFill>
                  <a:srgbClr val="FFFFFF"/>
                </a:solidFill>
              </a:rPr>
              <a:t>침수</a:t>
            </a:r>
          </a:p>
        </p:txBody>
      </p:sp>
      <p:sp>
        <p:nvSpPr>
          <p:cNvPr id="23" name="Rounded Rectangle 22"/>
          <p:cNvSpPr/>
          <p:nvPr/>
        </p:nvSpPr>
        <p:spPr>
          <a:xfrm>
            <a:off x="2441448" y="2011680"/>
            <a:ext cx="9034272" cy="457200"/>
          </a:xfrm>
          <a:prstGeom prst="rect">
            <a:avLst/>
          </a:prstGeom>
          <a:solidFill>
            <a:srgbClr val="AF5524"/>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lang="ko-KR" altLang="en-US" sz="1100" b="1" dirty="0">
                <a:solidFill>
                  <a:srgbClr val="FFFFFF"/>
                </a:solidFill>
              </a:rPr>
              <a:t>처리 기간</a:t>
            </a:r>
            <a:endParaRPr sz="1100" b="1" dirty="0">
              <a:solidFill>
                <a:srgbClr val="FFFFFF"/>
              </a:solidFill>
            </a:endParaRPr>
          </a:p>
        </p:txBody>
      </p:sp>
      <p:sp>
        <p:nvSpPr>
          <p:cNvPr id="39" name="TextBox 38"/>
          <p:cNvSpPr txBox="1"/>
          <p:nvPr/>
        </p:nvSpPr>
        <p:spPr>
          <a:xfrm>
            <a:off x="457200" y="2926080"/>
            <a:ext cx="1371600" cy="276999"/>
          </a:xfrm>
          <a:prstGeom prst="rect">
            <a:avLst/>
          </a:prstGeom>
          <a:noFill/>
        </p:spPr>
        <p:txBody>
          <a:bodyPr wrap="square" lIns="0" tIns="0" rIns="0" bIns="0">
            <a:spAutoFit/>
          </a:bodyPr>
          <a:lstStyle/>
          <a:p>
            <a:r>
              <a:rPr lang="ko-KR" altLang="en-US" b="1" dirty="0">
                <a:solidFill>
                  <a:srgbClr val="2E7D32"/>
                </a:solidFill>
              </a:rPr>
              <a:t>상추</a:t>
            </a:r>
            <a:endParaRPr sz="1800" b="1" dirty="0">
              <a:solidFill>
                <a:srgbClr val="2E7D32"/>
              </a:solidFill>
            </a:endParaRPr>
          </a:p>
        </p:txBody>
      </p:sp>
      <p:sp>
        <p:nvSpPr>
          <p:cNvPr id="40" name="Rounded Rectangle 39"/>
          <p:cNvSpPr/>
          <p:nvPr/>
        </p:nvSpPr>
        <p:spPr>
          <a:xfrm>
            <a:off x="1920240" y="2834640"/>
            <a:ext cx="521207" cy="457200"/>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sz="900" b="1">
                <a:solidFill>
                  <a:srgbClr val="FFFFFF"/>
                </a:solidFill>
              </a:rPr>
              <a:t>침수</a:t>
            </a:r>
          </a:p>
        </p:txBody>
      </p:sp>
      <p:sp>
        <p:nvSpPr>
          <p:cNvPr id="42" name="Rounded Rectangle 41"/>
          <p:cNvSpPr/>
          <p:nvPr/>
        </p:nvSpPr>
        <p:spPr>
          <a:xfrm>
            <a:off x="2441447" y="2834640"/>
            <a:ext cx="2258569" cy="457200"/>
          </a:xfrm>
          <a:prstGeom prst="rect">
            <a:avLst/>
          </a:prstGeom>
          <a:solidFill>
            <a:srgbClr val="AF5524"/>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lang="ko-KR" altLang="en-US" sz="1100" b="1" dirty="0">
                <a:solidFill>
                  <a:srgbClr val="FFFFFF"/>
                </a:solidFill>
              </a:rPr>
              <a:t>처리 기간</a:t>
            </a:r>
          </a:p>
        </p:txBody>
      </p:sp>
      <p:sp>
        <p:nvSpPr>
          <p:cNvPr id="58" name="Conclusion Box"/>
          <p:cNvSpPr/>
          <p:nvPr/>
        </p:nvSpPr>
        <p:spPr>
          <a:xfrm>
            <a:off x="841248" y="5749838"/>
            <a:ext cx="10570464" cy="502920"/>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0">
                <a:solidFill>
                  <a:srgbClr val="E97132"/>
                </a:solidFill>
              </a:rPr>
              <a:t>P1 : 침수 시작 ~ 종료 후 7일 (초기 반응·회복 시작)  ·  P2 : 이후 (회복 후기·건조 영향)</a:t>
            </a:r>
          </a:p>
        </p:txBody>
      </p:sp>
      <p:sp>
        <p:nvSpPr>
          <p:cNvPr id="60"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61"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450" b="1" u="sng">
                <a:solidFill>
                  <a:srgbClr val="1A1A1A"/>
                </a:solidFill>
              </a:rPr>
              <a:t>재료 및 방법</a:t>
            </a:r>
          </a:p>
        </p:txBody>
      </p:sp>
      <p:sp>
        <p:nvSpPr>
          <p:cNvPr id="62"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63"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64"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65" name="Rounded Rectangle 64"/>
          <p:cNvSpPr/>
          <p:nvPr/>
        </p:nvSpPr>
        <p:spPr>
          <a:xfrm>
            <a:off x="1920240" y="2505456"/>
            <a:ext cx="1824228" cy="201168"/>
          </a:xfrm>
          <a:prstGeom prst="rect">
            <a:avLst/>
          </a:prstGeom>
          <a:solidFill>
            <a:srgbClr val="5B9BD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000" b="1">
                <a:solidFill>
                  <a:srgbClr val="FFFFFF"/>
                </a:solidFill>
              </a:rPr>
              <a:t>P1</a:t>
            </a:r>
          </a:p>
        </p:txBody>
      </p:sp>
      <p:sp>
        <p:nvSpPr>
          <p:cNvPr id="66" name="Rounded Rectangle 65"/>
          <p:cNvSpPr/>
          <p:nvPr/>
        </p:nvSpPr>
        <p:spPr>
          <a:xfrm>
            <a:off x="3744468" y="2505456"/>
            <a:ext cx="7731252" cy="201168"/>
          </a:xfrm>
          <a:prstGeom prst="rect">
            <a:avLst/>
          </a:prstGeom>
          <a:solidFill>
            <a:srgbClr val="2F559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000" b="1">
                <a:solidFill>
                  <a:srgbClr val="FFFFFF"/>
                </a:solidFill>
              </a:rPr>
              <a:t>P2</a:t>
            </a:r>
          </a:p>
        </p:txBody>
      </p:sp>
      <p:sp>
        <p:nvSpPr>
          <p:cNvPr id="67" name="Rounded Rectangle 66"/>
          <p:cNvSpPr/>
          <p:nvPr/>
        </p:nvSpPr>
        <p:spPr>
          <a:xfrm>
            <a:off x="1920240" y="3328416"/>
            <a:ext cx="1824228" cy="201168"/>
          </a:xfrm>
          <a:prstGeom prst="rect">
            <a:avLst/>
          </a:prstGeom>
          <a:solidFill>
            <a:srgbClr val="5B9BD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000" b="1">
                <a:solidFill>
                  <a:srgbClr val="FFFFFF"/>
                </a:solidFill>
              </a:rPr>
              <a:t>P1</a:t>
            </a:r>
          </a:p>
        </p:txBody>
      </p:sp>
      <p:sp>
        <p:nvSpPr>
          <p:cNvPr id="68" name="Rounded Rectangle 67"/>
          <p:cNvSpPr/>
          <p:nvPr/>
        </p:nvSpPr>
        <p:spPr>
          <a:xfrm>
            <a:off x="3744468" y="3328416"/>
            <a:ext cx="955547" cy="201168"/>
          </a:xfrm>
          <a:prstGeom prst="rect">
            <a:avLst/>
          </a:prstGeom>
          <a:solidFill>
            <a:srgbClr val="2F559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000" b="1">
                <a:solidFill>
                  <a:srgbClr val="FFFFFF"/>
                </a:solidFill>
              </a:rPr>
              <a:t>P2</a:t>
            </a:r>
          </a:p>
        </p:txBody>
      </p:sp>
      <p:sp>
        <p:nvSpPr>
          <p:cNvPr id="69" name="Rounded Rectangle 68"/>
          <p:cNvSpPr/>
          <p:nvPr/>
        </p:nvSpPr>
        <p:spPr>
          <a:xfrm>
            <a:off x="3423780" y="3703320"/>
            <a:ext cx="3960000" cy="365760"/>
          </a:xfrm>
          <a:prstGeom prst="roundRect">
            <a:avLst/>
          </a:prstGeom>
          <a:solidFill>
            <a:srgbClr val="6B422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200" b="1">
                <a:solidFill>
                  <a:srgbClr val="FFFFFF"/>
                </a:solidFill>
              </a:rPr>
              <a:t>콩</a:t>
            </a:r>
          </a:p>
        </p:txBody>
      </p:sp>
      <p:sp>
        <p:nvSpPr>
          <p:cNvPr id="70" name="Rounded Rectangle 69"/>
          <p:cNvSpPr/>
          <p:nvPr/>
        </p:nvSpPr>
        <p:spPr>
          <a:xfrm>
            <a:off x="7515720" y="3703320"/>
            <a:ext cx="3960000" cy="365760"/>
          </a:xfrm>
          <a:prstGeom prst="roundRect">
            <a:avLst/>
          </a:prstGeom>
          <a:solidFill>
            <a:srgbClr val="2E6B3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200" b="1" dirty="0" err="1">
                <a:solidFill>
                  <a:srgbClr val="FFFFFF"/>
                </a:solidFill>
              </a:rPr>
              <a:t>상추</a:t>
            </a:r>
            <a:endParaRPr sz="1200" b="1" dirty="0">
              <a:solidFill>
                <a:srgbClr val="FFFFFF"/>
              </a:solidFill>
            </a:endParaRPr>
          </a:p>
        </p:txBody>
      </p:sp>
      <p:sp>
        <p:nvSpPr>
          <p:cNvPr id="71" name="Rounded Rectangle 70"/>
          <p:cNvSpPr/>
          <p:nvPr/>
        </p:nvSpPr>
        <p:spPr>
          <a:xfrm>
            <a:off x="1920240" y="4114800"/>
            <a:ext cx="1371600" cy="402336"/>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dirty="0">
                <a:solidFill>
                  <a:srgbClr val="FFFFFF"/>
                </a:solidFill>
              </a:rPr>
              <a:t>LI-600</a:t>
            </a:r>
          </a:p>
        </p:txBody>
      </p:sp>
      <p:sp>
        <p:nvSpPr>
          <p:cNvPr id="72" name="Rounded Rectangle 71"/>
          <p:cNvSpPr/>
          <p:nvPr/>
        </p:nvSpPr>
        <p:spPr>
          <a:xfrm>
            <a:off x="3423780" y="4114800"/>
            <a:ext cx="3960000" cy="402336"/>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150" b="0" dirty="0">
                <a:solidFill>
                  <a:srgbClr val="1F2D3A"/>
                </a:solidFill>
              </a:rPr>
              <a:t>P1 : </a:t>
            </a:r>
            <a:r>
              <a:rPr sz="1150" b="0" dirty="0" err="1">
                <a:solidFill>
                  <a:srgbClr val="1F2D3A"/>
                </a:solidFill>
              </a:rPr>
              <a:t>매일</a:t>
            </a:r>
            <a:r>
              <a:rPr sz="1150" b="0" dirty="0">
                <a:solidFill>
                  <a:srgbClr val="1F2D3A"/>
                </a:solidFill>
              </a:rPr>
              <a:t> (DAT 1~</a:t>
            </a:r>
            <a:r>
              <a:rPr lang="en-US" sz="1150" b="0" dirty="0">
                <a:solidFill>
                  <a:srgbClr val="1F2D3A"/>
                </a:solidFill>
              </a:rPr>
              <a:t>10</a:t>
            </a:r>
            <a:r>
              <a:rPr sz="1150" b="0" dirty="0">
                <a:solidFill>
                  <a:srgbClr val="1F2D3A"/>
                </a:solidFill>
              </a:rPr>
              <a:t>)  /  P2 : 1~2주 </a:t>
            </a:r>
            <a:r>
              <a:rPr sz="1150" b="0" dirty="0" err="1">
                <a:solidFill>
                  <a:srgbClr val="1F2D3A"/>
                </a:solidFill>
              </a:rPr>
              <a:t>간격</a:t>
            </a:r>
            <a:endParaRPr sz="1150" b="0" dirty="0">
              <a:solidFill>
                <a:srgbClr val="1F2D3A"/>
              </a:solidFill>
            </a:endParaRPr>
          </a:p>
        </p:txBody>
      </p:sp>
      <p:sp>
        <p:nvSpPr>
          <p:cNvPr id="73" name="Rounded Rectangle 72"/>
          <p:cNvSpPr/>
          <p:nvPr/>
        </p:nvSpPr>
        <p:spPr>
          <a:xfrm>
            <a:off x="7515720" y="4114800"/>
            <a:ext cx="3960000" cy="402336"/>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150" b="0">
                <a:solidFill>
                  <a:srgbClr val="1F2D3A"/>
                </a:solidFill>
              </a:rPr>
              <a:t>P1 : 매일 (DAT 1~10)  /  P2 : 이틀 간격</a:t>
            </a:r>
          </a:p>
        </p:txBody>
      </p:sp>
      <p:sp>
        <p:nvSpPr>
          <p:cNvPr id="74" name="Rounded Rectangle 73"/>
          <p:cNvSpPr/>
          <p:nvPr/>
        </p:nvSpPr>
        <p:spPr>
          <a:xfrm>
            <a:off x="1920240" y="4572000"/>
            <a:ext cx="1371600" cy="402336"/>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a:solidFill>
                  <a:srgbClr val="FFFFFF"/>
                </a:solidFill>
              </a:rPr>
              <a:t>LI-6800</a:t>
            </a:r>
          </a:p>
        </p:txBody>
      </p:sp>
      <p:sp>
        <p:nvSpPr>
          <p:cNvPr id="75" name="Rounded Rectangle 74"/>
          <p:cNvSpPr/>
          <p:nvPr/>
        </p:nvSpPr>
        <p:spPr>
          <a:xfrm>
            <a:off x="3423780" y="4572000"/>
            <a:ext cx="3960000" cy="402336"/>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150" b="0" dirty="0">
                <a:solidFill>
                  <a:srgbClr val="1F2D3A"/>
                </a:solidFill>
              </a:rPr>
              <a:t>9/2~9/17, DAT 21~36</a:t>
            </a:r>
          </a:p>
        </p:txBody>
      </p:sp>
      <p:sp>
        <p:nvSpPr>
          <p:cNvPr id="76" name="Rounded Rectangle 75"/>
          <p:cNvSpPr/>
          <p:nvPr/>
        </p:nvSpPr>
        <p:spPr>
          <a:xfrm>
            <a:off x="7515720" y="4572000"/>
            <a:ext cx="3960000" cy="402336"/>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150" b="0" dirty="0">
                <a:solidFill>
                  <a:srgbClr val="1F2D3A"/>
                </a:solidFill>
              </a:rPr>
              <a:t>10/16~10/19, DAT 9~1</a:t>
            </a:r>
            <a:r>
              <a:rPr lang="en-US" altLang="ko-KR" sz="1150" b="0" dirty="0">
                <a:solidFill>
                  <a:srgbClr val="1F2D3A"/>
                </a:solidFill>
              </a:rPr>
              <a:t>2</a:t>
            </a:r>
            <a:endParaRPr sz="1150" b="0" dirty="0">
              <a:solidFill>
                <a:srgbClr val="1F2D3A"/>
              </a:solidFill>
            </a:endParaRPr>
          </a:p>
        </p:txBody>
      </p:sp>
      <p:sp>
        <p:nvSpPr>
          <p:cNvPr id="77" name="Rounded Rectangle 76"/>
          <p:cNvSpPr/>
          <p:nvPr/>
        </p:nvSpPr>
        <p:spPr>
          <a:xfrm>
            <a:off x="1920240" y="5029200"/>
            <a:ext cx="1371600" cy="402336"/>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a:solidFill>
                  <a:srgbClr val="FFFFFF"/>
                </a:solidFill>
              </a:rPr>
              <a:t>생육 조사</a:t>
            </a:r>
          </a:p>
        </p:txBody>
      </p:sp>
      <p:sp>
        <p:nvSpPr>
          <p:cNvPr id="78" name="Rounded Rectangle 77"/>
          <p:cNvSpPr/>
          <p:nvPr/>
        </p:nvSpPr>
        <p:spPr>
          <a:xfrm>
            <a:off x="3423780" y="5029200"/>
            <a:ext cx="3960000" cy="402336"/>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150" b="0" dirty="0">
                <a:solidFill>
                  <a:srgbClr val="1F2D3A"/>
                </a:solidFill>
              </a:rPr>
              <a:t>10/6 (DAT 55)</a:t>
            </a:r>
          </a:p>
        </p:txBody>
      </p:sp>
      <p:sp>
        <p:nvSpPr>
          <p:cNvPr id="79" name="Rounded Rectangle 78"/>
          <p:cNvSpPr/>
          <p:nvPr/>
        </p:nvSpPr>
        <p:spPr>
          <a:xfrm>
            <a:off x="7515720" y="5029200"/>
            <a:ext cx="3960000" cy="402336"/>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150" b="0">
                <a:solidFill>
                  <a:srgbClr val="1F2D3A"/>
                </a:solidFill>
              </a:rPr>
              <a:t>10/23 (DAT 16)</a:t>
            </a:r>
          </a:p>
        </p:txBody>
      </p:sp>
      <p:pic>
        <p:nvPicPr>
          <p:cNvPr id="5" name="그림 4" descr="LI-6800 Portable Photosynthesis System | LI-COR">
            <a:extLst>
              <a:ext uri="{FF2B5EF4-FFF2-40B4-BE49-F238E27FC236}">
                <a16:creationId xmlns:a16="http://schemas.microsoft.com/office/drawing/2014/main" id="{A30E5B42-BC1B-8BD5-4F88-7EA44E6BF7CF}"/>
              </a:ext>
            </a:extLst>
          </p:cNvPr>
          <p:cNvPicPr>
            <a:picLocks noChangeAspect="1"/>
          </p:cNvPicPr>
          <p:nvPr/>
        </p:nvPicPr>
        <p:blipFill>
          <a:blip r:embed="rId4"/>
          <a:stretch>
            <a:fillRect/>
          </a:stretch>
        </p:blipFill>
        <p:spPr>
          <a:xfrm>
            <a:off x="249468" y="4697495"/>
            <a:ext cx="1598382" cy="747576"/>
          </a:xfrm>
          <a:prstGeom prst="rect">
            <a:avLst/>
          </a:prstGeom>
        </p:spPr>
      </p:pic>
      <p:pic>
        <p:nvPicPr>
          <p:cNvPr id="24" name="그림 23" descr="쏠단SOLDAN">
            <a:extLst>
              <a:ext uri="{FF2B5EF4-FFF2-40B4-BE49-F238E27FC236}">
                <a16:creationId xmlns:a16="http://schemas.microsoft.com/office/drawing/2014/main" id="{F9DBD302-26CB-DB06-D5A6-DC7738374A9E}"/>
              </a:ext>
            </a:extLst>
          </p:cNvPr>
          <p:cNvPicPr>
            <a:picLocks noChangeAspect="1"/>
          </p:cNvPicPr>
          <p:nvPr/>
        </p:nvPicPr>
        <p:blipFill>
          <a:blip r:embed="rId5"/>
          <a:srcRect/>
          <a:stretch>
            <a:fillRect/>
          </a:stretch>
        </p:blipFill>
        <p:spPr>
          <a:xfrm rot="808707">
            <a:off x="494207" y="3639655"/>
            <a:ext cx="1163996" cy="116399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측정 항목: 제한 단계별 지표</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6</a:t>
            </a:fld>
            <a:endParaRPr lang="ko-KR" altLang="en-US"/>
          </a:p>
        </p:txBody>
      </p:sp>
      <p:sp>
        <p:nvSpPr>
          <p:cNvPr id="27" name="Row bg"/>
          <p:cNvSpPr/>
          <p:nvPr/>
        </p:nvSpPr>
        <p:spPr>
          <a:xfrm>
            <a:off x="841248" y="1234440"/>
            <a:ext cx="10515600" cy="960120"/>
          </a:xfrm>
          <a:prstGeom prst="roundRect">
            <a:avLst>
              <a:gd name="adj" fmla="val 12000"/>
            </a:avLst>
          </a:prstGeom>
          <a:solidFill>
            <a:srgbClr val="F2F6F9"/>
          </a:solidFill>
          <a:ln>
            <a:noFill/>
          </a:ln>
        </p:spPr>
        <p:txBody>
          <a:bodyPr wrap="square" lIns="73152" tIns="36576" rIns="73152" bIns="36576" rtlCol="0" anchor="ctr">
            <a:noAutofit/>
          </a:bodyPr>
          <a:lstStyle/>
          <a:p>
            <a:endParaRPr lang="ko-KR"/>
          </a:p>
        </p:txBody>
      </p:sp>
      <p:sp>
        <p:nvSpPr>
          <p:cNvPr id="28" name="Row chip"/>
          <p:cNvSpPr/>
          <p:nvPr/>
        </p:nvSpPr>
        <p:spPr>
          <a:xfrm>
            <a:off x="841248" y="1234440"/>
            <a:ext cx="2148840" cy="960120"/>
          </a:xfrm>
          <a:prstGeom prst="roundRect">
            <a:avLst>
              <a:gd name="adj" fmla="val 12000"/>
            </a:avLst>
          </a:prstGeom>
          <a:solidFill>
            <a:srgbClr val="E8F1F8"/>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000000"/>
                </a:solidFill>
              </a:rPr>
              <a:t>기공</a:t>
            </a:r>
          </a:p>
        </p:txBody>
      </p:sp>
      <p:sp>
        <p:nvSpPr>
          <p:cNvPr id="29" name="Row ind"/>
          <p:cNvSpPr txBox="1"/>
          <p:nvPr/>
        </p:nvSpPr>
        <p:spPr>
          <a:xfrm>
            <a:off x="3200400" y="1234440"/>
            <a:ext cx="2743200" cy="960120"/>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400" b="1" dirty="0">
                <a:solidFill>
                  <a:srgbClr val="000000"/>
                </a:solidFill>
              </a:rPr>
              <a:t>g</a:t>
            </a:r>
            <a:r>
              <a:rPr lang="ko-KR" altLang="en-US" sz="1400" b="1" baseline="-25000" dirty="0">
                <a:solidFill>
                  <a:srgbClr val="000000"/>
                </a:solidFill>
              </a:rPr>
              <a:t>sw</a:t>
            </a:r>
          </a:p>
        </p:txBody>
      </p:sp>
      <p:sp>
        <p:nvSpPr>
          <p:cNvPr id="30" name="Row method"/>
          <p:cNvSpPr txBox="1"/>
          <p:nvPr/>
        </p:nvSpPr>
        <p:spPr>
          <a:xfrm>
            <a:off x="6035040" y="1234440"/>
            <a:ext cx="5257800" cy="960120"/>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100" b="0" dirty="0">
                <a:solidFill>
                  <a:srgbClr val="595959"/>
                </a:solidFill>
              </a:rPr>
              <a:t>LI-600 포로미터, 처리 개시 후 반복 측정</a:t>
            </a:r>
            <a:br>
              <a:rPr lang="en-US" altLang="ko-KR" sz="1250" b="0" dirty="0">
                <a:solidFill>
                  <a:srgbClr val="595959"/>
                </a:solidFill>
              </a:rPr>
            </a:br>
          </a:p>
          <a:p>
            <a:pPr marL="0" indent="0" algn="l">
              <a:spcBef>
                <a:spcPts val="0"/>
              </a:spcBef>
              <a:buNone/>
            </a:pPr>
            <a:r>
              <a:rPr lang="ko-KR" altLang="en-US" sz="1100" b="0" dirty="0">
                <a:solidFill>
                  <a:srgbClr val="595959"/>
                </a:solidFill>
              </a:rPr>
              <a:t>온도 보정 gsw (Rizzo &amp; Bailey, 2026)</a:t>
            </a:r>
            <a:br>
              <a:rPr lang="en-US" altLang="ko-KR" sz="1250" b="0" dirty="0">
                <a:solidFill>
                  <a:srgbClr val="595959"/>
                </a:solidFill>
              </a:rPr>
            </a:br>
          </a:p>
        </p:txBody>
      </p:sp>
      <p:sp>
        <p:nvSpPr>
          <p:cNvPr id="31" name="Row bg"/>
          <p:cNvSpPr/>
          <p:nvPr/>
        </p:nvSpPr>
        <p:spPr>
          <a:xfrm>
            <a:off x="841248" y="2286000"/>
            <a:ext cx="10515600" cy="1143000"/>
          </a:xfrm>
          <a:prstGeom prst="roundRect">
            <a:avLst>
              <a:gd name="adj" fmla="val 12000"/>
            </a:avLst>
          </a:prstGeom>
          <a:solidFill>
            <a:srgbClr val="F2F6F9"/>
          </a:solidFill>
          <a:ln>
            <a:noFill/>
          </a:ln>
        </p:spPr>
        <p:txBody>
          <a:bodyPr wrap="square" lIns="73152" tIns="36576" rIns="73152" bIns="36576" rtlCol="0" anchor="ctr">
            <a:noAutofit/>
          </a:bodyPr>
          <a:lstStyle/>
          <a:p>
            <a:endParaRPr lang="ko-KR"/>
          </a:p>
        </p:txBody>
      </p:sp>
      <p:sp>
        <p:nvSpPr>
          <p:cNvPr id="32" name="Row chip"/>
          <p:cNvSpPr/>
          <p:nvPr/>
        </p:nvSpPr>
        <p:spPr>
          <a:xfrm>
            <a:off x="841248" y="2286000"/>
            <a:ext cx="2148840" cy="1143000"/>
          </a:xfrm>
          <a:prstGeom prst="roundRect">
            <a:avLst>
              <a:gd name="adj" fmla="val 12000"/>
            </a:avLst>
          </a:prstGeom>
          <a:solidFill>
            <a:srgbClr val="C9DFEE"/>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000000"/>
                </a:solidFill>
              </a:rPr>
              <a:t>명반응</a:t>
            </a:r>
          </a:p>
        </p:txBody>
      </p:sp>
      <p:sp>
        <p:nvSpPr>
          <p:cNvPr id="33" name="Row ind"/>
          <p:cNvSpPr txBox="1"/>
          <p:nvPr/>
        </p:nvSpPr>
        <p:spPr>
          <a:xfrm>
            <a:off x="3200400" y="2286000"/>
            <a:ext cx="2743200" cy="1143000"/>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400" b="1" dirty="0">
                <a:solidFill>
                  <a:srgbClr val="000000"/>
                </a:solidFill>
              </a:rPr>
              <a:t>Φ</a:t>
            </a:r>
            <a:r>
              <a:rPr lang="ko-KR" altLang="en-US" sz="1400" b="1" baseline="-25000" dirty="0">
                <a:solidFill>
                  <a:srgbClr val="000000"/>
                </a:solidFill>
              </a:rPr>
              <a:t>PSII</a:t>
            </a:r>
            <a:r>
              <a:rPr lang="ko-KR" altLang="en-US" sz="1400" b="1" dirty="0">
                <a:solidFill>
                  <a:srgbClr val="000000"/>
                </a:solidFill>
              </a:rPr>
              <a:t>, Φ</a:t>
            </a:r>
            <a:r>
              <a:rPr lang="ko-KR" altLang="en-US" sz="1400" b="1" baseline="-25000" dirty="0">
                <a:solidFill>
                  <a:srgbClr val="000000"/>
                </a:solidFill>
              </a:rPr>
              <a:t>NPQ</a:t>
            </a:r>
            <a:r>
              <a:rPr lang="ko-KR" altLang="en-US" sz="1400" b="1" dirty="0">
                <a:solidFill>
                  <a:srgbClr val="000000"/>
                </a:solidFill>
              </a:rPr>
              <a:t>, Φ</a:t>
            </a:r>
            <a:r>
              <a:rPr lang="ko-KR" altLang="en-US" sz="1400" b="1" baseline="-25000" dirty="0">
                <a:solidFill>
                  <a:srgbClr val="000000"/>
                </a:solidFill>
              </a:rPr>
              <a:t>NO</a:t>
            </a:r>
          </a:p>
        </p:txBody>
      </p:sp>
      <p:sp>
        <p:nvSpPr>
          <p:cNvPr id="34" name="Row method"/>
          <p:cNvSpPr txBox="1"/>
          <p:nvPr/>
        </p:nvSpPr>
        <p:spPr>
          <a:xfrm>
            <a:off x="6035040" y="2286000"/>
            <a:ext cx="5257800" cy="1143000"/>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000" b="0" dirty="0">
                <a:solidFill>
                  <a:srgbClr val="595959"/>
                </a:solidFill>
              </a:rPr>
              <a:t>LI-600 명적응 형광 (Fs, Fm′) + 암적응 Fo, Fm</a:t>
            </a:r>
            <a:br>
              <a:rPr lang="en-US" altLang="ko-KR" sz="1250" b="0" dirty="0">
                <a:solidFill>
                  <a:srgbClr val="595959"/>
                </a:solidFill>
              </a:rPr>
            </a:br>
          </a:p>
          <a:p>
            <a:pPr marL="0" indent="0" algn="l">
              <a:spcBef>
                <a:spcPts val="0"/>
              </a:spcBef>
              <a:buNone/>
            </a:pPr>
            <a:r>
              <a:rPr lang="ko-KR" altLang="en-US" sz="1000" b="0" dirty="0">
                <a:solidFill>
                  <a:srgbClr val="595959"/>
                </a:solidFill>
              </a:rPr>
              <a:t>ΦNO = 1/(NPQ+1+qL(Fm/Fo−1)), ΦNPQ = 1−ΦPSII−ΦNO (Kramer et al., 2004)</a:t>
            </a:r>
            <a:br>
              <a:rPr lang="en-US" altLang="ko-KR" sz="1250" b="0" dirty="0">
                <a:solidFill>
                  <a:srgbClr val="595959"/>
                </a:solidFill>
              </a:rPr>
            </a:br>
          </a:p>
          <a:p>
            <a:pPr marL="0" indent="0" algn="l">
              <a:spcBef>
                <a:spcPts val="0"/>
              </a:spcBef>
              <a:buNone/>
            </a:pPr>
            <a:r>
              <a:rPr lang="ko-KR" altLang="en-US" sz="1000" b="0" dirty="0">
                <a:solidFill>
                  <a:srgbClr val="595959"/>
                </a:solidFill>
              </a:rPr>
              <a:t>보정: y = μ + 처리 + β</a:t>
            </a:r>
            <a:r>
              <a:rPr lang="ko-KR" altLang="en-US" sz="1000" b="0" dirty="0" baseline="-25000">
                <a:solidFill>
                  <a:srgbClr val="595959"/>
                </a:solidFill>
              </a:rPr>
              <a:t>1</a:t>
            </a:r>
            <a:r>
              <a:rPr lang="ko-KR" altLang="en-US" sz="1000" b="0" dirty="0">
                <a:solidFill>
                  <a:srgbClr val="595959"/>
                </a:solidFill>
              </a:rPr>
              <a:t>·PAR + β</a:t>
            </a:r>
            <a:r>
              <a:rPr lang="ko-KR" altLang="en-US" sz="1000" b="0" dirty="0" baseline="-25000">
                <a:solidFill>
                  <a:srgbClr val="595959"/>
                </a:solidFill>
              </a:rPr>
              <a:t>2</a:t>
            </a:r>
            <a:r>
              <a:rPr lang="ko-KR" altLang="en-US" sz="1000" b="0" dirty="0">
                <a:solidFill>
                  <a:srgbClr val="595959"/>
                </a:solidFill>
              </a:rPr>
              <a:t>·기온 + 측정일(임의효과) (Ali et al., 2025; Gao et al., 2024)</a:t>
            </a:r>
            <a:br>
              <a:rPr lang="en-US" altLang="ko-KR" sz="1250" b="0" dirty="0">
                <a:solidFill>
                  <a:srgbClr val="595959"/>
                </a:solidFill>
              </a:rPr>
            </a:br>
          </a:p>
        </p:txBody>
      </p:sp>
      <p:sp>
        <p:nvSpPr>
          <p:cNvPr id="39" name="Row bg"/>
          <p:cNvSpPr/>
          <p:nvPr/>
        </p:nvSpPr>
        <p:spPr>
          <a:xfrm>
            <a:off x="841248" y="3520440"/>
            <a:ext cx="10515600" cy="868680"/>
          </a:xfrm>
          <a:prstGeom prst="roundRect">
            <a:avLst>
              <a:gd name="adj" fmla="val 12000"/>
            </a:avLst>
          </a:prstGeom>
          <a:solidFill>
            <a:srgbClr val="F2F6F9"/>
          </a:solidFill>
          <a:ln>
            <a:noFill/>
          </a:ln>
        </p:spPr>
        <p:txBody>
          <a:bodyPr wrap="square" lIns="73152" tIns="36576" rIns="73152" bIns="36576" rtlCol="0" anchor="ctr">
            <a:noAutofit/>
          </a:bodyPr>
          <a:lstStyle/>
          <a:p>
            <a:endParaRPr lang="ko-KR"/>
          </a:p>
        </p:txBody>
      </p:sp>
      <p:sp>
        <p:nvSpPr>
          <p:cNvPr id="40" name="Row chip"/>
          <p:cNvSpPr/>
          <p:nvPr/>
        </p:nvSpPr>
        <p:spPr>
          <a:xfrm>
            <a:off x="841248" y="3520440"/>
            <a:ext cx="2148840" cy="868680"/>
          </a:xfrm>
          <a:prstGeom prst="roundRect">
            <a:avLst>
              <a:gd name="adj" fmla="val 12000"/>
            </a:avLst>
          </a:prstGeom>
          <a:solidFill>
            <a:srgbClr val="5E9CC6"/>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FFFFFF"/>
                </a:solidFill>
              </a:rPr>
              <a:t>광합성 능력</a:t>
            </a:r>
          </a:p>
        </p:txBody>
      </p:sp>
      <p:sp>
        <p:nvSpPr>
          <p:cNvPr id="41" name="Row ind"/>
          <p:cNvSpPr txBox="1"/>
          <p:nvPr/>
        </p:nvSpPr>
        <p:spPr>
          <a:xfrm>
            <a:off x="3200400" y="3520440"/>
            <a:ext cx="2743200" cy="868680"/>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400" b="1" dirty="0">
                <a:solidFill>
                  <a:srgbClr val="000000"/>
                </a:solidFill>
              </a:rPr>
              <a:t>V</a:t>
            </a:r>
            <a:r>
              <a:rPr lang="ko-KR" altLang="en-US" sz="1400" b="1" baseline="-25000" dirty="0">
                <a:solidFill>
                  <a:srgbClr val="000000"/>
                </a:solidFill>
              </a:rPr>
              <a:t>cmax</a:t>
            </a:r>
            <a:r>
              <a:rPr lang="ko-KR" altLang="en-US" sz="1400" b="1" dirty="0">
                <a:solidFill>
                  <a:srgbClr val="000000"/>
                </a:solidFill>
              </a:rPr>
              <a:t>, J</a:t>
            </a:r>
            <a:r>
              <a:rPr lang="ko-KR" altLang="en-US" sz="1400" b="1" baseline="-25000" dirty="0">
                <a:solidFill>
                  <a:srgbClr val="000000"/>
                </a:solidFill>
              </a:rPr>
              <a:t>max</a:t>
            </a:r>
            <a:r>
              <a:rPr lang="ko-KR" altLang="en-US" sz="1400" b="1" dirty="0">
                <a:solidFill>
                  <a:srgbClr val="000000"/>
                </a:solidFill>
              </a:rPr>
              <a:t>, R</a:t>
            </a:r>
            <a:r>
              <a:rPr lang="ko-KR" altLang="en-US" sz="1400" b="1" baseline="-25000" dirty="0">
                <a:solidFill>
                  <a:srgbClr val="000000"/>
                </a:solidFill>
              </a:rPr>
              <a:t>d</a:t>
            </a:r>
            <a:r>
              <a:rPr lang="ko-KR" altLang="en-US" sz="1400" b="1" dirty="0">
                <a:solidFill>
                  <a:srgbClr val="000000"/>
                </a:solidFill>
              </a:rPr>
              <a:t>, A</a:t>
            </a:r>
            <a:r>
              <a:rPr lang="ko-KR" altLang="en-US" sz="1400" b="1" baseline="-25000" dirty="0">
                <a:solidFill>
                  <a:srgbClr val="000000"/>
                </a:solidFill>
              </a:rPr>
              <a:t>max</a:t>
            </a:r>
            <a:r>
              <a:rPr lang="ko-KR" altLang="en-US" sz="1400" b="1" dirty="0">
                <a:solidFill>
                  <a:srgbClr val="000000"/>
                </a:solidFill>
              </a:rPr>
              <a:t>, α</a:t>
            </a:r>
          </a:p>
        </p:txBody>
      </p:sp>
      <p:sp>
        <p:nvSpPr>
          <p:cNvPr id="42" name="Row method"/>
          <p:cNvSpPr txBox="1"/>
          <p:nvPr/>
        </p:nvSpPr>
        <p:spPr>
          <a:xfrm>
            <a:off x="6035040" y="3520440"/>
            <a:ext cx="5257800" cy="868680"/>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100" b="0" dirty="0">
                <a:solidFill>
                  <a:srgbClr val="595959"/>
                </a:solidFill>
              </a:rPr>
              <a:t>LI-6800, A-Ci (FvCB) → Vcmax, Jmax, Rd</a:t>
            </a:r>
          </a:p>
          <a:p>
            <a:pPr marL="0" indent="0" algn="l">
              <a:spcBef>
                <a:spcPts val="0"/>
              </a:spcBef>
              <a:buNone/>
            </a:pPr>
            <a:r>
              <a:rPr lang="ko-KR" altLang="en-US" sz="1100" b="0" dirty="0">
                <a:solidFill>
                  <a:srgbClr val="595959"/>
                </a:solidFill>
              </a:rPr>
              <a:t>A-PPFD (NRH 모형) → Amax, α</a:t>
            </a:r>
          </a:p>
        </p:txBody>
      </p:sp>
      <p:sp>
        <p:nvSpPr>
          <p:cNvPr id="43" name="Row bg"/>
          <p:cNvSpPr/>
          <p:nvPr/>
        </p:nvSpPr>
        <p:spPr>
          <a:xfrm>
            <a:off x="841248" y="4526280"/>
            <a:ext cx="10515600" cy="713232"/>
          </a:xfrm>
          <a:prstGeom prst="roundRect">
            <a:avLst>
              <a:gd name="adj" fmla="val 12000"/>
            </a:avLst>
          </a:prstGeom>
          <a:solidFill>
            <a:srgbClr val="F2F6F9"/>
          </a:solidFill>
          <a:ln>
            <a:noFill/>
          </a:ln>
        </p:spPr>
        <p:txBody>
          <a:bodyPr wrap="square" lIns="73152" tIns="36576" rIns="73152" bIns="36576" rtlCol="0" anchor="ctr">
            <a:noAutofit/>
          </a:bodyPr>
          <a:lstStyle/>
          <a:p>
            <a:endParaRPr lang="ko-KR"/>
          </a:p>
        </p:txBody>
      </p:sp>
      <p:sp>
        <p:nvSpPr>
          <p:cNvPr id="44" name="Row chip"/>
          <p:cNvSpPr/>
          <p:nvPr/>
        </p:nvSpPr>
        <p:spPr>
          <a:xfrm>
            <a:off x="841248" y="4526280"/>
            <a:ext cx="2148840" cy="713232"/>
          </a:xfrm>
          <a:prstGeom prst="roundRect">
            <a:avLst>
              <a:gd name="adj" fmla="val 12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500" b="1" dirty="0" err="1">
                <a:solidFill>
                  <a:srgbClr val="FFFFFF"/>
                </a:solidFill>
              </a:rPr>
              <a:t>생육·수량</a:t>
            </a:r>
            <a:endParaRPr lang="ko-KR" altLang="en-US" sz="1500" b="1" dirty="0">
              <a:solidFill>
                <a:srgbClr val="FFFFFF"/>
              </a:solidFill>
            </a:endParaRPr>
          </a:p>
        </p:txBody>
      </p:sp>
      <p:sp>
        <p:nvSpPr>
          <p:cNvPr id="45" name="Row ind"/>
          <p:cNvSpPr txBox="1"/>
          <p:nvPr/>
        </p:nvSpPr>
        <p:spPr>
          <a:xfrm>
            <a:off x="3200400" y="4526280"/>
            <a:ext cx="274320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400" b="1" dirty="0">
                <a:solidFill>
                  <a:srgbClr val="000000"/>
                </a:solidFill>
              </a:rPr>
              <a:t>종실 생체중·건조중, 지상부 건물중</a:t>
            </a:r>
          </a:p>
        </p:txBody>
      </p:sp>
      <p:sp>
        <p:nvSpPr>
          <p:cNvPr id="46" name="Row method"/>
          <p:cNvSpPr txBox="1"/>
          <p:nvPr/>
        </p:nvSpPr>
        <p:spPr>
          <a:xfrm>
            <a:off x="6035040" y="4526280"/>
            <a:ext cx="525780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100" dirty="0">
                <a:solidFill>
                  <a:srgbClr val="595959"/>
                </a:solidFill>
              </a:rPr>
              <a:t>생육 조사 (상추 DAT 16, 콩 DAT 55)</a:t>
            </a:r>
          </a:p>
        </p:txBody>
      </p:sp>
      <p:sp>
        <p:nvSpPr>
          <p:cNvPr id="78"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79"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450" b="1" u="sng">
                <a:solidFill>
                  <a:srgbClr val="1A1A1A"/>
                </a:solidFill>
              </a:rPr>
              <a:t>재료 및 방법</a:t>
            </a:r>
          </a:p>
        </p:txBody>
      </p:sp>
      <p:sp>
        <p:nvSpPr>
          <p:cNvPr id="80"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81"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82"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9" name="BottomBar">
            <a:extLst>
              <a:ext uri="{FF2B5EF4-FFF2-40B4-BE49-F238E27FC236}">
                <a16:creationId xmlns:a16="http://schemas.microsoft.com/office/drawing/2014/main" id="{E5B48800-A198-8988-D95E-ABDB07A775F9}"/>
              </a:ext>
            </a:extLst>
          </p:cNvPr>
          <p:cNvSpPr/>
          <p:nvPr/>
        </p:nvSpPr>
        <p:spPr>
          <a:xfrm>
            <a:off x="863600" y="5458503"/>
            <a:ext cx="10464800" cy="457200"/>
          </a:xfrm>
          <a:prstGeom prst="rect">
            <a:avLst/>
          </a:prstGeom>
          <a:solidFill>
            <a:srgbClr val="FAFAFA"/>
          </a:solidFill>
          <a:ln w="9525">
            <a:solidFill>
              <a:srgbClr val="D9D9D9"/>
            </a:solidFill>
          </a:ln>
        </p:spPr>
        <p:txBody>
          <a:bodyPr wrap="square" lIns="152400" tIns="101600" rIns="152400" bIns="101600" anchor="t"/>
          <a:lstStyle/>
          <a:p>
            <a:pPr>
              <a:buNone/>
            </a:pPr>
            <a:endParaRPr lang="en-US" sz="1050"/>
          </a:p>
        </p:txBody>
      </p:sp>
      <p:sp>
        <p:nvSpPr>
          <p:cNvPr id="11" name="ToolSection">
            <a:extLst>
              <a:ext uri="{FF2B5EF4-FFF2-40B4-BE49-F238E27FC236}">
                <a16:creationId xmlns:a16="http://schemas.microsoft.com/office/drawing/2014/main" id="{6F433551-D753-1F37-3E41-CDCEA8C49748}"/>
              </a:ext>
            </a:extLst>
          </p:cNvPr>
          <p:cNvSpPr/>
          <p:nvPr/>
        </p:nvSpPr>
        <p:spPr>
          <a:xfrm>
            <a:off x="863599" y="5458503"/>
            <a:ext cx="5356225" cy="457200"/>
          </a:xfrm>
          <a:prstGeom prst="rect">
            <a:avLst/>
          </a:prstGeom>
          <a:noFill/>
          <a:ln>
            <a:noFill/>
          </a:ln>
        </p:spPr>
        <p:txBody>
          <a:bodyPr wrap="square" lIns="152400" tIns="101600" rIns="152400" bIns="101600" anchor="ctr"/>
          <a:lstStyle/>
          <a:p>
            <a:pPr algn="l">
              <a:buNone/>
            </a:pPr>
            <a:r>
              <a:rPr lang="ko-KR" altLang="en-US" sz="1100" b="1" dirty="0"/>
              <a:t>매개변수 산출 ▸ A-Ci: R·plantecophys / A-PPFD: NRH 모형</a:t>
            </a:r>
          </a:p>
        </p:txBody>
      </p:sp>
      <p:sp>
        <p:nvSpPr>
          <p:cNvPr id="13" name="StatSection">
            <a:extLst>
              <a:ext uri="{FF2B5EF4-FFF2-40B4-BE49-F238E27FC236}">
                <a16:creationId xmlns:a16="http://schemas.microsoft.com/office/drawing/2014/main" id="{54EF5C4E-5260-A4E3-BC89-D12EC97BC840}"/>
              </a:ext>
            </a:extLst>
          </p:cNvPr>
          <p:cNvSpPr/>
          <p:nvPr/>
        </p:nvSpPr>
        <p:spPr>
          <a:xfrm>
            <a:off x="6121400" y="5458503"/>
            <a:ext cx="5207000" cy="457200"/>
          </a:xfrm>
          <a:prstGeom prst="rect">
            <a:avLst/>
          </a:prstGeom>
          <a:noFill/>
          <a:ln>
            <a:noFill/>
          </a:ln>
        </p:spPr>
        <p:txBody>
          <a:bodyPr wrap="square" lIns="152400" tIns="101600" rIns="152400" bIns="101600" anchor="ctr"/>
          <a:lstStyle/>
          <a:p>
            <a:pPr algn="l">
              <a:buNone/>
            </a:pPr>
            <a:r>
              <a:rPr lang="ko-KR" altLang="en-US" sz="1200" b="1" dirty="0"/>
              <a:t>통계 분석 ▸ </a:t>
            </a:r>
            <a:r>
              <a:rPr lang="en-US" sz="1600" b="1" dirty="0"/>
              <a:t>ANOVA</a:t>
            </a:r>
            <a:r>
              <a:rPr lang="en-US" sz="1600" dirty="0"/>
              <a:t> + </a:t>
            </a:r>
            <a:r>
              <a:rPr lang="en-US" sz="1600" b="1" dirty="0"/>
              <a:t>Tukey</a:t>
            </a:r>
            <a:r>
              <a:rPr lang="ko-KR" altLang="en-US" sz="1200" dirty="0"/>
              <a:t> 사후검정  </a:t>
            </a:r>
            <a:r>
              <a:rPr lang="en-US" sz="1600" b="1" dirty="0"/>
              <a:t>(</a:t>
            </a:r>
            <a:r>
              <a:rPr lang="en-US" sz="1600" b="1" i="1" dirty="0"/>
              <a:t>α = 0.05</a:t>
            </a:r>
            <a:r>
              <a:rPr lang="en-US" sz="1600" b="1" dirty="0"/>
              <a:t>)</a:t>
            </a:r>
          </a:p>
        </p:txBody>
      </p:sp>
      <p:sp>
        <p:nvSpPr>
          <p:cNvPr id="15" name="Divider">
            <a:extLst>
              <a:ext uri="{FF2B5EF4-FFF2-40B4-BE49-F238E27FC236}">
                <a16:creationId xmlns:a16="http://schemas.microsoft.com/office/drawing/2014/main" id="{9689C6B9-354E-B674-591B-6C89F909D7DE}"/>
              </a:ext>
            </a:extLst>
          </p:cNvPr>
          <p:cNvSpPr/>
          <p:nvPr/>
        </p:nvSpPr>
        <p:spPr>
          <a:xfrm>
            <a:off x="6083300" y="5560103"/>
            <a:ext cx="12700" cy="254000"/>
          </a:xfrm>
          <a:prstGeom prst="rect">
            <a:avLst/>
          </a:prstGeom>
          <a:solidFill>
            <a:srgbClr val="D9D9D9"/>
          </a:solidFill>
          <a:ln>
            <a:noFill/>
          </a:ln>
        </p:spPr>
        <p:txBody>
          <a:bodyPr wrap="square" lIns="152400" tIns="101600" rIns="152400" bIns="101600" anchor="t"/>
          <a:lstStyle/>
          <a:p>
            <a:pPr>
              <a:buNone/>
            </a:pPr>
            <a:endParaRPr lang="en-US" sz="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fade">
                                      <p:cBhvr>
                                        <p:cTn id="21" dur="500"/>
                                        <p:tgtEl>
                                          <p:spTgt spid="3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500"/>
                                        <p:tgtEl>
                                          <p:spTgt spid="3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4"/>
                                        </p:tgtEl>
                                        <p:attrNameLst>
                                          <p:attrName>style.visibility</p:attrName>
                                        </p:attrNameLst>
                                      </p:cBhvr>
                                      <p:to>
                                        <p:strVal val="visible"/>
                                      </p:to>
                                    </p:set>
                                    <p:animEffect transition="in" filter="fade">
                                      <p:cBhvr>
                                        <p:cTn id="30" dur="500"/>
                                        <p:tgtEl>
                                          <p:spTgt spid="34"/>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fade">
                                      <p:cBhvr>
                                        <p:cTn id="35" dur="500"/>
                                        <p:tgtEl>
                                          <p:spTgt spid="3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0"/>
                                        </p:tgtEl>
                                        <p:attrNameLst>
                                          <p:attrName>style.visibility</p:attrName>
                                        </p:attrNameLst>
                                      </p:cBhvr>
                                      <p:to>
                                        <p:strVal val="visible"/>
                                      </p:to>
                                    </p:set>
                                    <p:animEffect transition="in" filter="fade">
                                      <p:cBhvr>
                                        <p:cTn id="38" dur="500"/>
                                        <p:tgtEl>
                                          <p:spTgt spid="4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1"/>
                                        </p:tgtEl>
                                        <p:attrNameLst>
                                          <p:attrName>style.visibility</p:attrName>
                                        </p:attrNameLst>
                                      </p:cBhvr>
                                      <p:to>
                                        <p:strVal val="visible"/>
                                      </p:to>
                                    </p:set>
                                    <p:animEffect transition="in" filter="fade">
                                      <p:cBhvr>
                                        <p:cTn id="41" dur="500"/>
                                        <p:tgtEl>
                                          <p:spTgt spid="4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500"/>
                                        <p:tgtEl>
                                          <p:spTgt spid="42"/>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43"/>
                                        </p:tgtEl>
                                        <p:attrNameLst>
                                          <p:attrName>style.visibility</p:attrName>
                                        </p:attrNameLst>
                                      </p:cBhvr>
                                      <p:to>
                                        <p:strVal val="visible"/>
                                      </p:to>
                                    </p:set>
                                    <p:animEffect transition="in" filter="fade">
                                      <p:cBhvr>
                                        <p:cTn id="49" dur="500"/>
                                        <p:tgtEl>
                                          <p:spTgt spid="4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4"/>
                                        </p:tgtEl>
                                        <p:attrNameLst>
                                          <p:attrName>style.visibility</p:attrName>
                                        </p:attrNameLst>
                                      </p:cBhvr>
                                      <p:to>
                                        <p:strVal val="visible"/>
                                      </p:to>
                                    </p:set>
                                    <p:animEffect transition="in" filter="fade">
                                      <p:cBhvr>
                                        <p:cTn id="52" dur="500"/>
                                        <p:tgtEl>
                                          <p:spTgt spid="4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5"/>
                                        </p:tgtEl>
                                        <p:attrNameLst>
                                          <p:attrName>style.visibility</p:attrName>
                                        </p:attrNameLst>
                                      </p:cBhvr>
                                      <p:to>
                                        <p:strVal val="visible"/>
                                      </p:to>
                                    </p:set>
                                    <p:animEffect transition="in" filter="fade">
                                      <p:cBhvr>
                                        <p:cTn id="55" dur="500"/>
                                        <p:tgtEl>
                                          <p:spTgt spid="4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6"/>
                                        </p:tgtEl>
                                        <p:attrNameLst>
                                          <p:attrName>style.visibility</p:attrName>
                                        </p:attrNameLst>
                                      </p:cBhvr>
                                      <p:to>
                                        <p:strVal val="visible"/>
                                      </p:to>
                                    </p:set>
                                    <p:animEffect transition="in" filter="fade">
                                      <p:cBhvr>
                                        <p:cTn id="58"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32" grpId="0" animBg="1"/>
      <p:bldP spid="33" grpId="0" animBg="1"/>
      <p:bldP spid="34" grpId="0" animBg="1"/>
      <p:bldP spid="39" grpId="0" animBg="1"/>
      <p:bldP spid="40" grpId="0" animBg="1"/>
      <p:bldP spid="41" grpId="0" animBg="1"/>
      <p:bldP spid="42" grpId="0" animBg="1"/>
      <p:bldP spid="43" grpId="0" animBg="1"/>
      <p:bldP spid="44" grpId="0" animBg="1"/>
      <p:bldP spid="45" grpId="0" animBg="1"/>
      <p:bldP spid="4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재배 환경</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7</a:t>
            </a:fld>
            <a:endParaRPr lang="ko-KR" altLang="en-US"/>
          </a:p>
        </p:txBody>
      </p:sp>
      <p:pic>
        <p:nvPicPr>
          <p:cNvPr id="27" name="Picture 26" descr="image.png"/>
          <p:cNvPicPr>
            <a:picLocks noChangeAspect="1"/>
          </p:cNvPicPr>
          <p:nvPr/>
        </p:nvPicPr>
        <p:blipFill>
          <a:blip r:embed="rId5"/>
          <a:stretch>
            <a:fillRect/>
          </a:stretch>
        </p:blipFill>
        <p:spPr>
          <a:xfrm>
            <a:off x="457200" y="1280160"/>
            <a:ext cx="7040880" cy="2743200"/>
          </a:xfrm>
          <a:prstGeom prst="rect">
            <a:avLst/>
          </a:prstGeom>
        </p:spPr>
      </p:pic>
      <p:sp>
        <p:nvSpPr>
          <p:cNvPr id="34" name="Card 요점"/>
          <p:cNvSpPr/>
          <p:nvPr/>
        </p:nvSpPr>
        <p:spPr>
          <a:xfrm>
            <a:off x="7863840" y="1481328"/>
            <a:ext cx="3493008" cy="178308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5" name="Header 요점"/>
          <p:cNvSpPr/>
          <p:nvPr/>
        </p:nvSpPr>
        <p:spPr>
          <a:xfrm>
            <a:off x="8046720" y="1271016"/>
            <a:ext cx="3127248" cy="420624"/>
          </a:xfrm>
          <a:prstGeom prst="roundRect">
            <a:avLst>
              <a:gd name="adj" fmla="val 25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요점</a:t>
            </a:r>
          </a:p>
        </p:txBody>
      </p:sp>
      <p:sp>
        <p:nvSpPr>
          <p:cNvPr id="36" name="Text 요점"/>
          <p:cNvSpPr txBox="1"/>
          <p:nvPr/>
        </p:nvSpPr>
        <p:spPr>
          <a:xfrm>
            <a:off x="8046720" y="1865376"/>
            <a:ext cx="3172968" cy="137160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1" dirty="0">
                <a:solidFill>
                  <a:srgbClr val="000000"/>
                </a:solidFill>
              </a:rPr>
              <a:t>상추:</a:t>
            </a:r>
            <a:r>
              <a:rPr lang="ko-KR" altLang="en-US" sz="1400" dirty="0">
                <a:solidFill>
                  <a:srgbClr val="000000"/>
                </a:solidFill>
              </a:rPr>
              <a:t> 처리 기간 동안 저온·중간 일사 조건</a:t>
            </a:r>
          </a:p>
          <a:p>
            <a:pPr marL="201168" indent="-201168" algn="l">
              <a:spcBef>
                <a:spcPts val="1000"/>
              </a:spcBef>
              <a:buFont typeface="Arial"/>
              <a:buChar char="•"/>
            </a:pPr>
            <a:r>
              <a:rPr lang="ko-KR" altLang="en-US" sz="1400" b="1" dirty="0">
                <a:solidFill>
                  <a:srgbClr val="000000"/>
                </a:solidFill>
              </a:rPr>
              <a:t>콩</a:t>
            </a:r>
            <a:r>
              <a:rPr lang="ko-KR" altLang="en-US" sz="1400" dirty="0">
                <a:solidFill>
                  <a:srgbClr val="000000"/>
                </a:solidFill>
              </a:rPr>
              <a:t>:  처리 초기에 상추보다 고온·고일사 조건</a:t>
            </a:r>
          </a:p>
        </p:txBody>
      </p:sp>
      <p:sp>
        <p:nvSpPr>
          <p:cNvPr id="44"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45"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450" b="1" u="sng">
                <a:solidFill>
                  <a:srgbClr val="1A1A1A"/>
                </a:solidFill>
              </a:rPr>
              <a:t>재료 및 방법</a:t>
            </a:r>
          </a:p>
        </p:txBody>
      </p:sp>
      <p:sp>
        <p:nvSpPr>
          <p:cNvPr id="46"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47"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48"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graphicFrame>
        <p:nvGraphicFramePr>
          <p:cNvPr id="49" name="Table 7"/>
          <p:cNvGraphicFramePr>
            <a:graphicFrameLocks noGrp="1"/>
          </p:cNvGraphicFramePr>
          <p:nvPr>
            <p:extLst>
              <p:ext uri="{D42A27DB-BD31-4B8C-83A1-F6EECF244321}">
                <p14:modId xmlns:p14="http://schemas.microsoft.com/office/powerpoint/2010/main" val="3914231821"/>
              </p:ext>
            </p:extLst>
          </p:nvPr>
        </p:nvGraphicFramePr>
        <p:xfrm>
          <a:off x="822960" y="4160520"/>
          <a:ext cx="6400800" cy="1536192"/>
        </p:xfrm>
        <a:graphic>
          <a:graphicData uri="http://schemas.openxmlformats.org/drawingml/2006/table">
            <a:tbl>
              <a:tblPr>
                <a:tableStyleId>{2D5ABB26-0587-4C30-8999-92F81FD0307C}</a:tableStyleId>
              </a:tblPr>
              <a:tblGrid>
                <a:gridCol w="27432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256032">
                <a:tc>
                  <a:txBody>
                    <a:bodyPr/>
                    <a:lstStyle/>
                    <a:p>
                      <a:pPr algn="l">
                        <a:lnSpc>
                          <a:spcPct val="100000"/>
                        </a:lnSpc>
                        <a:spcBef>
                          <a:spcPts val="0"/>
                        </a:spcBef>
                        <a:spcAft>
                          <a:spcPts val="0"/>
                        </a:spcAft>
                      </a:pPr>
                      <a:r>
                        <a:rPr sz="800" b="1" dirty="0">
                          <a:solidFill>
                            <a:srgbClr val="000000"/>
                          </a:solidFill>
                        </a:rPr>
                        <a:t>처리 기간 (DAT 0~16) 평균</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상추</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콩</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56032">
                <a:tc>
                  <a:txBody>
                    <a:bodyPr/>
                    <a:lstStyle/>
                    <a:p>
                      <a:pPr algn="l">
                        <a:lnSpc>
                          <a:spcPct val="100000"/>
                        </a:lnSpc>
                        <a:spcBef>
                          <a:spcPts val="0"/>
                        </a:spcBef>
                        <a:spcAft>
                          <a:spcPts val="0"/>
                        </a:spcAft>
                      </a:pPr>
                      <a:r>
                        <a:rPr sz="800" b="0">
                          <a:solidFill>
                            <a:srgbClr val="000000"/>
                          </a:solidFill>
                        </a:rPr>
                        <a:t>평균기온 (°C)</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18.2</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28.4</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56032">
                <a:tc>
                  <a:txBody>
                    <a:bodyPr/>
                    <a:lstStyle/>
                    <a:p>
                      <a:pPr algn="l">
                        <a:lnSpc>
                          <a:spcPct val="100000"/>
                        </a:lnSpc>
                        <a:spcBef>
                          <a:spcPts val="0"/>
                        </a:spcBef>
                        <a:spcAft>
                          <a:spcPts val="0"/>
                        </a:spcAft>
                      </a:pPr>
                      <a:r>
                        <a:rPr sz="800" b="0">
                          <a:solidFill>
                            <a:srgbClr val="000000"/>
                          </a:solidFill>
                        </a:rPr>
                        <a:t>DLI (mol·m⁻²·d⁻¹)</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17.5</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22.0</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56032">
                <a:tc>
                  <a:txBody>
                    <a:bodyPr/>
                    <a:lstStyle/>
                    <a:p>
                      <a:pPr algn="l">
                        <a:lnSpc>
                          <a:spcPct val="100000"/>
                        </a:lnSpc>
                        <a:spcBef>
                          <a:spcPts val="0"/>
                        </a:spcBef>
                        <a:spcAft>
                          <a:spcPts val="0"/>
                        </a:spcAft>
                      </a:pPr>
                      <a:r>
                        <a:rPr lang="en-US" sz="800" b="0" dirty="0">
                          <a:solidFill>
                            <a:srgbClr val="000000"/>
                          </a:solidFill>
                        </a:rPr>
                        <a:t>최고기온 (°C)</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30.3</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35.6</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3"/>
                  </a:ext>
                </a:extLst>
              </a:tr>
              <a:tr h="256032">
                <a:tc>
                  <a:txBody>
                    <a:bodyPr/>
                    <a:lstStyle/>
                    <a:p>
                      <a:pPr algn="l">
                        <a:lnSpc>
                          <a:spcPct val="100000"/>
                        </a:lnSpc>
                        <a:spcBef>
                          <a:spcPts val="0"/>
                        </a:spcBef>
                        <a:spcAft>
                          <a:spcPts val="0"/>
                        </a:spcAft>
                      </a:pPr>
                      <a:r>
                        <a:rPr lang="en-US" sz="800" b="0" dirty="0">
                          <a:solidFill>
                            <a:srgbClr val="000000"/>
                          </a:solidFill>
                        </a:rPr>
                        <a:t>최저기온 (°C)</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10.5</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23.4</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3"/>
                  </a:ext>
                </a:extLst>
              </a:tr>
              <a:tr h="256032">
                <a:tc>
                  <a:txBody>
                    <a:bodyPr/>
                    <a:lstStyle/>
                    <a:p>
                      <a:pPr algn="l">
                        <a:lnSpc>
                          <a:spcPct val="100000"/>
                        </a:lnSpc>
                        <a:spcBef>
                          <a:spcPts val="0"/>
                        </a:spcBef>
                        <a:spcAft>
                          <a:spcPts val="0"/>
                        </a:spcAft>
                      </a:pPr>
                      <a:r>
                        <a:rPr lang="en-US" sz="800" b="0" dirty="0">
                          <a:solidFill>
                            <a:srgbClr val="000000"/>
                          </a:solidFill>
                        </a:rPr>
                        <a:t>평균 상대습도 (%)</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71.0</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78.4</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3"/>
                  </a:ext>
                </a:extLst>
              </a:tr>
            </a:tbl>
          </a:graphicData>
        </a:graphic>
      </p:graphicFrame>
      <p:sp>
        <p:nvSpPr>
          <p:cNvPr id="50" name="TextBox 49"/>
          <p:cNvSpPr txBox="1"/>
          <p:nvPr/>
        </p:nvSpPr>
        <p:spPr>
          <a:xfrm>
            <a:off x="7863840" y="3474720"/>
            <a:ext cx="3474720" cy="548640"/>
          </a:xfrm>
          <a:prstGeom prst="rect">
            <a:avLst/>
          </a:prstGeom>
          <a:noFill/>
        </p:spPr>
        <p:txBody>
          <a:bodyPr wrap="square">
            <a:spAutoFit/>
          </a:bodyPr>
          <a:lstStyle/>
          <a:p>
            <a:r>
              <a:rPr sz="1300" b="1">
                <a:solidFill>
                  <a:srgbClr val="333333"/>
                </a:solidFill>
              </a:rPr>
              <a:t>재배 장소 : </a:t>
            </a:r>
            <a:r>
              <a:rPr sz="1300" b="0">
                <a:solidFill>
                  <a:srgbClr val="333333"/>
                </a:solidFill>
              </a:rPr>
              <a:t>전북대학교 부속농장 온실</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500"/>
                                        <p:tgtEl>
                                          <p:spTgt spid="3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누적 관수량</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8</a:t>
            </a:fld>
            <a:endParaRPr lang="ko-KR" altLang="en-US"/>
          </a:p>
        </p:txBody>
      </p:sp>
      <p:pic>
        <p:nvPicPr>
          <p:cNvPr id="27" name="Picture 26" descr="image.png"/>
          <p:cNvPicPr>
            <a:picLocks noChangeAspect="1"/>
          </p:cNvPicPr>
          <p:nvPr/>
        </p:nvPicPr>
        <p:blipFill>
          <a:blip r:embed="rId5"/>
          <a:stretch>
            <a:fillRect/>
          </a:stretch>
        </p:blipFill>
        <p:spPr>
          <a:xfrm>
            <a:off x="457200" y="1280160"/>
            <a:ext cx="7040880" cy="2743200"/>
          </a:xfrm>
          <a:prstGeom prst="rect">
            <a:avLst/>
          </a:prstGeom>
        </p:spPr>
      </p:pic>
      <p:sp>
        <p:nvSpPr>
          <p:cNvPr id="28" name="Stat box"/>
          <p:cNvSpPr/>
          <p:nvPr/>
        </p:nvSpPr>
        <p:spPr>
          <a:xfrm>
            <a:off x="841248" y="4224528"/>
            <a:ext cx="3154680" cy="1280160"/>
          </a:xfrm>
          <a:prstGeom prst="roundRect">
            <a:avLst>
              <a:gd name="adj" fmla="val 12000"/>
            </a:avLst>
          </a:prstGeom>
          <a:solidFill>
            <a:srgbClr val="FFFFFF"/>
          </a:solidFill>
          <a:ln w="19050">
            <a:solidFill>
              <a:srgbClr val="2E6B3F"/>
            </a:solidFill>
          </a:ln>
        </p:spPr>
        <p:txBody>
          <a:bodyPr wrap="square" lIns="73152" tIns="36576" rIns="73152" bIns="36576" rtlCol="0" anchor="ctr">
            <a:noAutofit/>
          </a:bodyPr>
          <a:lstStyle/>
          <a:p>
            <a:endParaRPr lang="ko-KR"/>
          </a:p>
        </p:txBody>
      </p:sp>
      <p:sp>
        <p:nvSpPr>
          <p:cNvPr id="29" name="Stat value"/>
          <p:cNvSpPr txBox="1"/>
          <p:nvPr/>
        </p:nvSpPr>
        <p:spPr>
          <a:xfrm>
            <a:off x="886968" y="4297680"/>
            <a:ext cx="3063240" cy="704088"/>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2800" dirty="0">
                <a:solidFill>
                  <a:srgbClr val="2E6B3F"/>
                </a:solidFill>
              </a:rPr>
              <a:t>43% · 40%</a:t>
            </a:r>
          </a:p>
        </p:txBody>
      </p:sp>
      <p:sp>
        <p:nvSpPr>
          <p:cNvPr id="30" name="Stat label"/>
          <p:cNvSpPr txBox="1"/>
          <p:nvPr/>
        </p:nvSpPr>
        <p:spPr>
          <a:xfrm>
            <a:off x="914400" y="4992624"/>
            <a:ext cx="3008376" cy="486461"/>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dirty="0">
                <a:solidFill>
                  <a:srgbClr val="595959"/>
                </a:solidFill>
              </a:rPr>
              <a:t>건조구 누적 관수량 (상추 · 콩, 대조구 대비)</a:t>
            </a:r>
          </a:p>
        </p:txBody>
      </p:sp>
      <p:sp>
        <p:nvSpPr>
          <p:cNvPr id="31" name="Stat box"/>
          <p:cNvSpPr/>
          <p:nvPr/>
        </p:nvSpPr>
        <p:spPr>
          <a:xfrm>
            <a:off x="4206240" y="4224528"/>
            <a:ext cx="3154680" cy="1280160"/>
          </a:xfrm>
          <a:prstGeom prst="roundRect">
            <a:avLst>
              <a:gd name="adj" fmla="val 12000"/>
            </a:avLst>
          </a:prstGeom>
          <a:solidFill>
            <a:srgbClr val="FFFFFF"/>
          </a:solidFill>
          <a:ln w="19050">
            <a:solidFill>
              <a:srgbClr val="156082"/>
            </a:solidFill>
          </a:ln>
        </p:spPr>
        <p:txBody>
          <a:bodyPr wrap="square" lIns="73152" tIns="36576" rIns="73152" bIns="36576" rtlCol="0" anchor="ctr">
            <a:noAutofit/>
          </a:bodyPr>
          <a:lstStyle/>
          <a:p>
            <a:endParaRPr lang="ko-KR"/>
          </a:p>
        </p:txBody>
      </p:sp>
      <p:sp>
        <p:nvSpPr>
          <p:cNvPr id="32" name="Stat value"/>
          <p:cNvSpPr txBox="1"/>
          <p:nvPr/>
        </p:nvSpPr>
        <p:spPr>
          <a:xfrm>
            <a:off x="4251960" y="4297680"/>
            <a:ext cx="3063240" cy="704088"/>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2400" b="1" dirty="0">
                <a:solidFill>
                  <a:srgbClr val="156082"/>
                </a:solidFill>
              </a:rPr>
              <a:t>56% · 87%</a:t>
            </a:r>
          </a:p>
        </p:txBody>
      </p:sp>
      <p:sp>
        <p:nvSpPr>
          <p:cNvPr id="33" name="Stat label"/>
          <p:cNvSpPr txBox="1"/>
          <p:nvPr/>
        </p:nvSpPr>
        <p:spPr>
          <a:xfrm>
            <a:off x="4279392" y="4992624"/>
            <a:ext cx="3008376" cy="486461"/>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b="0" dirty="0">
                <a:solidFill>
                  <a:srgbClr val="595959"/>
                </a:solidFill>
              </a:rPr>
              <a:t>침수구 누적 관수량 (상추 · 콩, 대조구 대비)</a:t>
            </a:r>
          </a:p>
        </p:txBody>
      </p:sp>
      <p:sp>
        <p:nvSpPr>
          <p:cNvPr id="36" name="Text 요점"/>
          <p:cNvSpPr txBox="1"/>
          <p:nvPr/>
        </p:nvSpPr>
        <p:spPr>
          <a:xfrm>
            <a:off x="8046720" y="1464780"/>
            <a:ext cx="3172968" cy="35204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600" dirty="0">
                <a:solidFill>
                  <a:srgbClr val="000000"/>
                </a:solidFill>
              </a:rPr>
              <a:t>건조·복합: 두 작물 모두 설계대로 관수량이 감소</a:t>
            </a:r>
          </a:p>
          <a:p>
            <a:pPr marL="201168" indent="-201168" algn="l">
              <a:spcBef>
                <a:spcPts val="1000"/>
              </a:spcBef>
              <a:buFont typeface="Arial"/>
              <a:buChar char="•"/>
            </a:pPr>
            <a:r>
              <a:rPr lang="ko-KR" altLang="en-US" sz="1600" dirty="0">
                <a:solidFill>
                  <a:srgbClr val="000000"/>
                </a:solidFill>
              </a:rPr>
              <a:t>상추:  대조구와 침수구의 차이가 커서, 침수가 생육에 직접적인 타격을 입혔을 가능성</a:t>
            </a:r>
          </a:p>
          <a:p>
            <a:pPr marL="201168" indent="-201168" algn="l">
              <a:spcBef>
                <a:spcPts val="1000"/>
              </a:spcBef>
              <a:buFont typeface="Arial"/>
              <a:buChar char="•"/>
            </a:pPr>
            <a:r>
              <a:rPr lang="ko-KR" altLang="en-US" sz="1600" dirty="0">
                <a:solidFill>
                  <a:srgbClr val="000000"/>
                </a:solidFill>
              </a:rPr>
              <a:t>콩:  대조구와 침수구의 차이가 크지 않아, 3일 침수가 큰 타격을 입히지 못한 것으로 추정</a:t>
            </a:r>
          </a:p>
        </p:txBody>
      </p:sp>
      <p:sp>
        <p:nvSpPr>
          <p:cNvPr id="44"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45"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46"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47"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48"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fade">
                                      <p:cBhvr>
                                        <p:cTn id="10" dur="500"/>
                                        <p:tgtEl>
                                          <p:spTgt spid="3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500"/>
                                        <p:tgtEl>
                                          <p:spTgt spid="2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fade">
                                      <p:cBhvr>
                                        <p:cTn id="18" dur="500"/>
                                        <p:tgtEl>
                                          <p:spTgt spid="2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500"/>
                                        <p:tgtEl>
                                          <p:spTgt spid="3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fade">
                                      <p:cBhvr>
                                        <p:cTn id="24" dur="500"/>
                                        <p:tgtEl>
                                          <p:spTgt spid="3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500"/>
                                        <p:tgtEl>
                                          <p:spTgt spid="3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3"/>
                                        </p:tgtEl>
                                        <p:attrNameLst>
                                          <p:attrName>style.visibility</p:attrName>
                                        </p:attrNameLst>
                                      </p:cBhvr>
                                      <p:to>
                                        <p:strVal val="visible"/>
                                      </p:to>
                                    </p:set>
                                    <p:animEffect transition="in" filter="fade">
                                      <p:cBhvr>
                                        <p:cTn id="30"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animBg="1"/>
      <p:bldP spid="33" grpId="0" animBg="1"/>
      <p:bldP spid="3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LI-600 : 기공전도도 (</a:t>
            </a:r>
            <a:r>
              <a:rPr lang="ko-KR" altLang="en-US" sz="2800" dirty="0" err="1"/>
              <a:t>g</a:t>
            </a:r>
            <a:r>
              <a:rPr lang="ko-KR" altLang="en-US" sz="2800" baseline="-25000" dirty="0" err="1"/>
              <a:t>sw</a:t>
            </a:r>
            <a:r>
              <a:rPr lang="ko-KR" altLang="en-US" sz="2800" dirty="0"/>
              <a:t>)</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9</a:t>
            </a:fld>
            <a:endParaRPr lang="ko-KR" altLang="en-US"/>
          </a:p>
        </p:txBody>
      </p:sp>
      <p:graphicFrame>
        <p:nvGraphicFramePr>
          <p:cNvPr id="8" name="Table 7"/>
          <p:cNvGraphicFramePr>
            <a:graphicFrameLocks noGrp="1"/>
          </p:cNvGraphicFramePr>
          <p:nvPr>
            <p:extLst>
              <p:ext uri="{D42A27DB-BD31-4B8C-83A1-F6EECF244321}">
                <p14:modId xmlns:p14="http://schemas.microsoft.com/office/powerpoint/2010/main" val="1145075524"/>
              </p:ext>
            </p:extLst>
          </p:nvPr>
        </p:nvGraphicFramePr>
        <p:xfrm>
          <a:off x="6675120" y="1280160"/>
          <a:ext cx="4572001" cy="1371600"/>
        </p:xfrm>
        <a:graphic>
          <a:graphicData uri="http://schemas.openxmlformats.org/drawingml/2006/table">
            <a:tbl>
              <a:tblPr>
                <a:tableStyleId>{2D5ABB26-0587-4C30-8999-92F81FD0307C}</a:tableStyleId>
              </a:tblPr>
              <a:tblGrid>
                <a:gridCol w="1180153">
                  <a:extLst>
                    <a:ext uri="{9D8B030D-6E8A-4147-A177-3AD203B41FA5}">
                      <a16:colId xmlns:a16="http://schemas.microsoft.com/office/drawing/2014/main" val="20000"/>
                    </a:ext>
                  </a:extLst>
                </a:gridCol>
                <a:gridCol w="847962">
                  <a:extLst>
                    <a:ext uri="{9D8B030D-6E8A-4147-A177-3AD203B41FA5}">
                      <a16:colId xmlns:a16="http://schemas.microsoft.com/office/drawing/2014/main" val="20001"/>
                    </a:ext>
                  </a:extLst>
                </a:gridCol>
                <a:gridCol w="847962">
                  <a:extLst>
                    <a:ext uri="{9D8B030D-6E8A-4147-A177-3AD203B41FA5}">
                      <a16:colId xmlns:a16="http://schemas.microsoft.com/office/drawing/2014/main" val="20002"/>
                    </a:ext>
                  </a:extLst>
                </a:gridCol>
                <a:gridCol w="847962">
                  <a:extLst>
                    <a:ext uri="{9D8B030D-6E8A-4147-A177-3AD203B41FA5}">
                      <a16:colId xmlns:a16="http://schemas.microsoft.com/office/drawing/2014/main" val="20003"/>
                    </a:ext>
                  </a:extLst>
                </a:gridCol>
                <a:gridCol w="847962">
                  <a:extLst>
                    <a:ext uri="{9D8B030D-6E8A-4147-A177-3AD203B41FA5}">
                      <a16:colId xmlns:a16="http://schemas.microsoft.com/office/drawing/2014/main" val="20004"/>
                    </a:ext>
                  </a:extLst>
                </a:gridCol>
              </a:tblGrid>
              <a:tr h="274320">
                <a:tc>
                  <a:txBody>
                    <a:bodyPr/>
                    <a:lstStyle/>
                    <a:p>
                      <a:pPr algn="l">
                        <a:lnSpc>
                          <a:spcPct val="100000"/>
                        </a:lnSpc>
                        <a:spcBef>
                          <a:spcPts val="0"/>
                        </a:spcBef>
                        <a:spcAft>
                          <a:spcPts val="0"/>
                        </a:spcAft>
                      </a:pPr>
                      <a:r>
                        <a:rPr sz="800" b="1" dirty="0">
                          <a:solidFill>
                            <a:srgbClr val="000000"/>
                          </a:solidFill>
                        </a:rPr>
                        <a:t>Treatment</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Lettuce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Lettuce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74320">
                <a:tc>
                  <a:txBody>
                    <a:bodyPr/>
                    <a:lstStyle/>
                    <a:p>
                      <a:pPr algn="l">
                        <a:lnSpc>
                          <a:spcPct val="100000"/>
                        </a:lnSpc>
                        <a:spcBef>
                          <a:spcPts val="0"/>
                        </a:spcBef>
                        <a:spcAft>
                          <a:spcPts val="0"/>
                        </a:spcAft>
                      </a:pPr>
                      <a:r>
                        <a:rPr sz="800" b="0">
                          <a:solidFill>
                            <a:srgbClr val="000000"/>
                          </a:solidFill>
                        </a:rPr>
                        <a:t>Control</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dirty="0">
                          <a:solidFill>
                            <a:srgbClr val="000000"/>
                          </a:solidFill>
                        </a:rPr>
                        <a:t>0.363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0.347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0.264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0.155 ab</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74320">
                <a:tc>
                  <a:txBody>
                    <a:bodyPr/>
                    <a:lstStyle/>
                    <a:p>
                      <a:pPr algn="l">
                        <a:lnSpc>
                          <a:spcPct val="100000"/>
                        </a:lnSpc>
                        <a:spcBef>
                          <a:spcPts val="0"/>
                        </a:spcBef>
                        <a:spcAft>
                          <a:spcPts val="0"/>
                        </a:spcAft>
                      </a:pPr>
                      <a:r>
                        <a:rPr sz="800" b="0">
                          <a:solidFill>
                            <a:srgbClr val="000000"/>
                          </a:solidFill>
                        </a:rPr>
                        <a:t>Drought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0.224 b</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0.248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dirty="0">
                          <a:solidFill>
                            <a:srgbClr val="000000"/>
                          </a:solidFill>
                        </a:rPr>
                        <a:t>0.113 b</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74320">
                <a:tc>
                  <a:txBody>
                    <a:bodyPr/>
                    <a:lstStyle/>
                    <a:p>
                      <a:pPr algn="l">
                        <a:lnSpc>
                          <a:spcPct val="100000"/>
                        </a:lnSpc>
                        <a:spcBef>
                          <a:spcPts val="0"/>
                        </a:spcBef>
                        <a:spcAft>
                          <a:spcPts val="0"/>
                        </a:spcAft>
                      </a:pPr>
                      <a:r>
                        <a:rPr lang="en-US" sz="800" b="0" dirty="0">
                          <a:solidFill>
                            <a:srgbClr val="000000"/>
                          </a:solidFill>
                        </a:rPr>
                        <a:t>Waterlogging</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0.273 b</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0.353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0.254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0.162 a</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74320">
                <a:tc>
                  <a:txBody>
                    <a:bodyPr/>
                    <a:lstStyle/>
                    <a:p>
                      <a:pPr algn="l">
                        <a:lnSpc>
                          <a:spcPct val="100000"/>
                        </a:lnSpc>
                        <a:spcBef>
                          <a:spcPts val="0"/>
                        </a:spcBef>
                        <a:spcAft>
                          <a:spcPts val="0"/>
                        </a:spcAft>
                      </a:pPr>
                      <a:r>
                        <a:rPr lang="en-US" sz="800" b="0" dirty="0">
                          <a:solidFill>
                            <a:srgbClr val="000000"/>
                          </a:solidFill>
                        </a:rPr>
                        <a:t>Combined</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0.233 b</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0.237 a</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dirty="0">
                          <a:solidFill>
                            <a:srgbClr val="000000"/>
                          </a:solidFill>
                        </a:rPr>
                        <a:t>0.145 ab</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4"/>
                  </a:ext>
                </a:extLst>
              </a:tr>
            </a:tbl>
          </a:graphicData>
        </a:graphic>
      </p:graphicFrame>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0">
                <a:solidFill>
                  <a:srgbClr val="E97132"/>
                </a:solidFill>
              </a:rPr>
              <a:t>기공은 두 작물 모두 침수에 즉시 반응 — 상추는 배수 직후 회복, 콩은 회복이 느림</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grpSp>
        <p:nvGrpSpPr>
          <p:cNvPr id="7" name="그룹 6">
            <a:extLst>
              <a:ext uri="{FF2B5EF4-FFF2-40B4-BE49-F238E27FC236}">
                <a16:creationId xmlns:a16="http://schemas.microsoft.com/office/drawing/2014/main" id="{6DFFF5F8-0689-8718-2088-863FA9323D0A}"/>
              </a:ext>
            </a:extLst>
          </p:cNvPr>
          <p:cNvGrpSpPr/>
          <p:nvPr/>
        </p:nvGrpSpPr>
        <p:grpSpPr>
          <a:xfrm>
            <a:off x="9124001" y="4369223"/>
            <a:ext cx="2595154" cy="1188720"/>
            <a:chOff x="7663543" y="3063240"/>
            <a:chExt cx="2595154" cy="1188720"/>
          </a:xfrm>
        </p:grpSpPr>
        <p:sp>
          <p:nvSpPr>
            <p:cNvPr id="30" name="Stat box"/>
            <p:cNvSpPr/>
            <p:nvPr/>
          </p:nvSpPr>
          <p:spPr>
            <a:xfrm>
              <a:off x="7663543" y="3063240"/>
              <a:ext cx="2595154" cy="1188720"/>
            </a:xfrm>
            <a:prstGeom prst="roundRect">
              <a:avLst>
                <a:gd name="adj" fmla="val 12000"/>
              </a:avLst>
            </a:prstGeom>
            <a:solidFill>
              <a:srgbClr val="FFFFFF"/>
            </a:solidFill>
            <a:ln w="19050">
              <a:solidFill>
                <a:srgbClr val="2E6B3F"/>
              </a:solidFill>
            </a:ln>
          </p:spPr>
          <p:txBody>
            <a:bodyPr wrap="square" lIns="73152" tIns="36576" rIns="73152" bIns="36576" rtlCol="0" anchor="ctr">
              <a:noAutofit/>
            </a:bodyPr>
            <a:lstStyle/>
            <a:p>
              <a:endParaRPr lang="ko-KR"/>
            </a:p>
          </p:txBody>
        </p:sp>
        <p:sp>
          <p:nvSpPr>
            <p:cNvPr id="31" name="Stat value"/>
            <p:cNvSpPr txBox="1"/>
            <p:nvPr/>
          </p:nvSpPr>
          <p:spPr>
            <a:xfrm>
              <a:off x="7741920" y="3108960"/>
              <a:ext cx="2438400" cy="685800"/>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2400" dirty="0">
                  <a:solidFill>
                    <a:srgbClr val="2E6B3F"/>
                  </a:solidFill>
                </a:rPr>
                <a:t>2~3일</a:t>
              </a:r>
            </a:p>
          </p:txBody>
        </p:sp>
        <p:sp>
          <p:nvSpPr>
            <p:cNvPr id="32" name="Stat label"/>
            <p:cNvSpPr txBox="1"/>
            <p:nvPr/>
          </p:nvSpPr>
          <p:spPr>
            <a:xfrm>
              <a:off x="7758933" y="3749039"/>
              <a:ext cx="2413518" cy="457200"/>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b="0" dirty="0">
                  <a:solidFill>
                    <a:srgbClr val="595959"/>
                  </a:solidFill>
                </a:rPr>
                <a:t>상추: 배수 후 대조구 수준까지 회복</a:t>
              </a:r>
            </a:p>
          </p:txBody>
        </p:sp>
      </p:grpSp>
      <p:grpSp>
        <p:nvGrpSpPr>
          <p:cNvPr id="5" name="그룹 4">
            <a:extLst>
              <a:ext uri="{FF2B5EF4-FFF2-40B4-BE49-F238E27FC236}">
                <a16:creationId xmlns:a16="http://schemas.microsoft.com/office/drawing/2014/main" id="{81741FFE-9ABA-B3CC-3766-4D49424A24AF}"/>
              </a:ext>
            </a:extLst>
          </p:cNvPr>
          <p:cNvGrpSpPr/>
          <p:nvPr/>
        </p:nvGrpSpPr>
        <p:grpSpPr>
          <a:xfrm>
            <a:off x="6433457" y="4369223"/>
            <a:ext cx="2595154" cy="1188720"/>
            <a:chOff x="7663543" y="4434840"/>
            <a:chExt cx="2595154" cy="1188720"/>
          </a:xfrm>
        </p:grpSpPr>
        <p:sp>
          <p:nvSpPr>
            <p:cNvPr id="33" name="Stat box"/>
            <p:cNvSpPr/>
            <p:nvPr/>
          </p:nvSpPr>
          <p:spPr>
            <a:xfrm>
              <a:off x="7663543" y="4434840"/>
              <a:ext cx="2595154" cy="1188720"/>
            </a:xfrm>
            <a:prstGeom prst="roundRect">
              <a:avLst>
                <a:gd name="adj" fmla="val 12000"/>
              </a:avLst>
            </a:prstGeom>
            <a:solidFill>
              <a:srgbClr val="FFFFFF"/>
            </a:solidFill>
            <a:ln w="19050">
              <a:solidFill>
                <a:srgbClr val="6B4226"/>
              </a:solidFill>
            </a:ln>
          </p:spPr>
          <p:txBody>
            <a:bodyPr wrap="square" lIns="73152" tIns="36576" rIns="73152" bIns="36576" rtlCol="0" anchor="ctr">
              <a:noAutofit/>
            </a:bodyPr>
            <a:lstStyle/>
            <a:p>
              <a:endParaRPr lang="ko-KR"/>
            </a:p>
          </p:txBody>
        </p:sp>
        <p:sp>
          <p:nvSpPr>
            <p:cNvPr id="34" name="Stat value"/>
            <p:cNvSpPr txBox="1"/>
            <p:nvPr/>
          </p:nvSpPr>
          <p:spPr>
            <a:xfrm>
              <a:off x="7741920" y="4480560"/>
              <a:ext cx="2438400" cy="685800"/>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2400" dirty="0">
                  <a:solidFill>
                    <a:srgbClr val="6B4226"/>
                  </a:solidFill>
                </a:rPr>
                <a:t>DAT 9: 48%</a:t>
              </a:r>
            </a:p>
          </p:txBody>
        </p:sp>
        <p:sp>
          <p:nvSpPr>
            <p:cNvPr id="35" name="Stat label"/>
            <p:cNvSpPr txBox="1"/>
            <p:nvPr/>
          </p:nvSpPr>
          <p:spPr>
            <a:xfrm>
              <a:off x="7758933" y="5120640"/>
              <a:ext cx="2413518" cy="457200"/>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dirty="0">
                  <a:solidFill>
                    <a:srgbClr val="595959"/>
                  </a:solidFill>
                </a:rPr>
                <a:t>콩: 침수 종료 6일 후에도 미회복</a:t>
              </a:r>
            </a:p>
          </p:txBody>
        </p:sp>
      </p:grpSp>
      <p:pic>
        <p:nvPicPr>
          <p:cNvPr id="36" name="Picture 35" descr="gsw_ts.png"/>
          <p:cNvPicPr>
            <a:picLocks noChangeAspect="1"/>
          </p:cNvPicPr>
          <p:nvPr/>
        </p:nvPicPr>
        <p:blipFill>
          <a:blip r:embed="rId6"/>
          <a:stretch>
            <a:fillRect/>
          </a:stretch>
        </p:blipFill>
        <p:spPr>
          <a:xfrm>
            <a:off x="457200" y="1143000"/>
            <a:ext cx="5852160" cy="1989734"/>
          </a:xfrm>
          <a:prstGeom prst="rect">
            <a:avLst/>
          </a:prstGeom>
        </p:spPr>
      </p:pic>
      <p:pic>
        <p:nvPicPr>
          <p:cNvPr id="37" name="Picture 36" descr="gsw_rec.png"/>
          <p:cNvPicPr>
            <a:picLocks noChangeAspect="1"/>
          </p:cNvPicPr>
          <p:nvPr/>
        </p:nvPicPr>
        <p:blipFill>
          <a:blip r:embed="rId7"/>
          <a:stretch>
            <a:fillRect/>
          </a:stretch>
        </p:blipFill>
        <p:spPr>
          <a:xfrm>
            <a:off x="457200" y="3242462"/>
            <a:ext cx="5852160" cy="198973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9243278" cy="566928"/>
          </a:xfrm>
        </p:spPr>
        <p:txBody>
          <a:bodyPr anchor="b">
            <a:normAutofit/>
          </a:bodyPr>
          <a:lstStyle/>
          <a:p>
            <a:r>
              <a:rPr lang="ko-KR" altLang="en-US" sz="2800" dirty="0"/>
              <a:t>LI-600 : 명반응 (Φ</a:t>
            </a:r>
            <a:r>
              <a:rPr lang="ko-KR" altLang="en-US" sz="2800" dirty="0" baseline="-25000"/>
              <a:t>PSII</a:t>
            </a:r>
            <a:r>
              <a:rPr lang="ko-KR" altLang="en-US" sz="2800" dirty="0"/>
              <a:t>, Φ</a:t>
            </a:r>
            <a:r>
              <a:rPr lang="ko-KR" altLang="en-US" sz="2800" dirty="0" baseline="-25000"/>
              <a:t>NPQ</a:t>
            </a:r>
            <a:r>
              <a:rPr lang="ko-KR" altLang="en-US" sz="2800" dirty="0"/>
              <a:t>, Φ</a:t>
            </a:r>
            <a:r>
              <a:rPr lang="ko-KR" altLang="en-US" sz="2800" dirty="0" baseline="-25000"/>
              <a:t>NO</a:t>
            </a:r>
            <a:r>
              <a:rPr lang="ko-KR" altLang="en-US" sz="2800" dirty="0"/>
              <a:t>)</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10</a:t>
            </a:fld>
            <a:endParaRPr lang="ko-KR" altLang="en-US"/>
          </a:p>
        </p:txBody>
      </p:sp>
      <p:graphicFrame>
        <p:nvGraphicFramePr>
          <p:cNvPr id="8" name="Table 7"/>
          <p:cNvGraphicFramePr>
            <a:graphicFrameLocks noGrp="1"/>
          </p:cNvGraphicFramePr>
          <p:nvPr>
            <p:extLst>
              <p:ext uri="{D42A27DB-BD31-4B8C-83A1-F6EECF244321}">
                <p14:modId xmlns:p14="http://schemas.microsoft.com/office/powerpoint/2010/main" val="4030306546"/>
              </p:ext>
            </p:extLst>
          </p:nvPr>
        </p:nvGraphicFramePr>
        <p:xfrm>
          <a:off x="6446520" y="1371600"/>
          <a:ext cx="4937760" cy="1234440"/>
        </p:xfrm>
        <a:graphic>
          <a:graphicData uri="http://schemas.openxmlformats.org/drawingml/2006/table">
            <a:tbl>
              <a:tblPr>
                <a:tableStyleId>{2D5ABB26-0587-4C30-8999-92F81FD0307C}</a:tableStyleId>
              </a:tblPr>
              <a:tblGrid>
                <a:gridCol w="128016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246888">
                <a:tc>
                  <a:txBody>
                    <a:bodyPr/>
                    <a:lstStyle/>
                    <a:p>
                      <a:pPr algn="l">
                        <a:lnSpc>
                          <a:spcPct val="100000"/>
                        </a:lnSpc>
                        <a:spcBef>
                          <a:spcPts val="0"/>
                        </a:spcBef>
                        <a:spcAft>
                          <a:spcPts val="0"/>
                        </a:spcAft>
                      </a:pPr>
                      <a:r>
                        <a:rPr sz="800" b="1" dirty="0">
                          <a:solidFill>
                            <a:srgbClr val="000000"/>
                          </a:solidFill>
                        </a:rPr>
                        <a:t>Φ</a:t>
                      </a:r>
                      <a:r>
                        <a:rPr sz="800" b="1" dirty="0" baseline="-25000">
                          <a:solidFill>
                            <a:srgbClr val="000000"/>
                          </a:solidFill>
                        </a:rPr>
                        <a:t>PSII</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Lettuce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Lettuce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46888">
                <a:tc>
                  <a:txBody>
                    <a:bodyPr/>
                    <a:lstStyle/>
                    <a:p>
                      <a:pPr algn="l">
                        <a:lnSpc>
                          <a:spcPct val="100000"/>
                        </a:lnSpc>
                        <a:spcBef>
                          <a:spcPts val="0"/>
                        </a:spcBef>
                        <a:spcAft>
                          <a:spcPts val="0"/>
                        </a:spcAft>
                      </a:pPr>
                      <a:r>
                        <a:rPr sz="800" b="0">
                          <a:solidFill>
                            <a:srgbClr val="000000"/>
                          </a:solidFill>
                        </a:rPr>
                        <a:t>Control</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0.702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0.697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0.612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dirty="0">
                          <a:solidFill>
                            <a:srgbClr val="000000"/>
                          </a:solidFill>
                        </a:rPr>
                        <a:t>0.645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46888">
                <a:tc>
                  <a:txBody>
                    <a:bodyPr/>
                    <a:lstStyle/>
                    <a:p>
                      <a:pPr algn="l">
                        <a:lnSpc>
                          <a:spcPct val="100000"/>
                        </a:lnSpc>
                        <a:spcBef>
                          <a:spcPts val="0"/>
                        </a:spcBef>
                        <a:spcAft>
                          <a:spcPts val="0"/>
                        </a:spcAft>
                      </a:pPr>
                      <a:r>
                        <a:rPr sz="800" b="0">
                          <a:solidFill>
                            <a:srgbClr val="000000"/>
                          </a:solidFill>
                        </a:rPr>
                        <a:t>Drought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0.612 c</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0.595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0.649 a</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46888">
                <a:tc>
                  <a:txBody>
                    <a:bodyPr/>
                    <a:lstStyle/>
                    <a:p>
                      <a:pPr algn="l">
                        <a:lnSpc>
                          <a:spcPct val="100000"/>
                        </a:lnSpc>
                        <a:spcBef>
                          <a:spcPts val="0"/>
                        </a:spcBef>
                        <a:spcAft>
                          <a:spcPts val="0"/>
                        </a:spcAft>
                      </a:pPr>
                      <a:r>
                        <a:rPr lang="en-US" sz="800" b="0" dirty="0">
                          <a:solidFill>
                            <a:srgbClr val="000000"/>
                          </a:solidFill>
                        </a:rPr>
                        <a:t>Waterlogging</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0.679 b</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0.660 ab</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0.591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0.642 a</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46888">
                <a:tc>
                  <a:txBody>
                    <a:bodyPr/>
                    <a:lstStyle/>
                    <a:p>
                      <a:pPr algn="l">
                        <a:lnSpc>
                          <a:spcPct val="100000"/>
                        </a:lnSpc>
                        <a:spcBef>
                          <a:spcPts val="0"/>
                        </a:spcBef>
                        <a:spcAft>
                          <a:spcPts val="0"/>
                        </a:spcAft>
                      </a:pPr>
                      <a:r>
                        <a:rPr lang="en-US" sz="800" b="0" dirty="0">
                          <a:solidFill>
                            <a:srgbClr val="000000"/>
                          </a:solidFill>
                        </a:rPr>
                        <a:t>Combined</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0.630 bc</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0.585 a</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dirty="0">
                          <a:solidFill>
                            <a:srgbClr val="000000"/>
                          </a:solidFill>
                        </a:rPr>
                        <a:t>0.656 a</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4"/>
                  </a:ext>
                </a:extLst>
              </a:tr>
            </a:tbl>
          </a:graphicData>
        </a:graphic>
      </p:graphicFrame>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dirty="0" err="1">
                <a:solidFill>
                  <a:srgbClr val="E97132"/>
                </a:solidFill>
              </a:rPr>
              <a:t>콩은 ΦPSII가 낮고 ΦNPQ·ΦNO가 높아 명반응에 타격을 입은 것으로 추정, 상추는 처리 간 차이 없음</a:t>
            </a:r>
            <a:endParaRPr sz="1600" dirty="0">
              <a:solidFill>
                <a:srgbClr val="E97132"/>
              </a:solidFill>
            </a:endParaRP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pic>
        <p:nvPicPr>
          <p:cNvPr id="20" name="Picture 19" descr="phi3.png"/>
          <p:cNvPicPr>
            <a:picLocks noChangeAspect="1"/>
          </p:cNvPicPr>
          <p:nvPr/>
        </p:nvPicPr>
        <p:blipFill>
          <a:blip r:embed="rId5"/>
          <a:stretch>
            <a:fillRect/>
          </a:stretch>
        </p:blipFill>
        <p:spPr>
          <a:xfrm>
            <a:off x="457200" y="1097280"/>
            <a:ext cx="5760720" cy="4240530"/>
          </a:xfrm>
          <a:prstGeom prst="rect">
            <a:avLst/>
          </a:prstGeom>
        </p:spPr>
      </p:pic>
      <p:graphicFrame>
        <p:nvGraphicFramePr>
          <p:cNvPr id="21" name="Table 7"/>
          <p:cNvGraphicFramePr>
            <a:graphicFrameLocks noGrp="1"/>
          </p:cNvGraphicFramePr>
          <p:nvPr>
            <p:extLst>
              <p:ext uri="{D42A27DB-BD31-4B8C-83A1-F6EECF244321}">
                <p14:modId xmlns:p14="http://schemas.microsoft.com/office/powerpoint/2010/main" val="4030306546"/>
              </p:ext>
            </p:extLst>
          </p:nvPr>
        </p:nvGraphicFramePr>
        <p:xfrm>
          <a:off x="6446520" y="2834640"/>
          <a:ext cx="4937760" cy="1234440"/>
        </p:xfrm>
        <a:graphic>
          <a:graphicData uri="http://schemas.openxmlformats.org/drawingml/2006/table">
            <a:tbl>
              <a:tblPr>
                <a:tableStyleId>{2D5ABB26-0587-4C30-8999-92F81FD0307C}</a:tableStyleId>
              </a:tblPr>
              <a:tblGrid>
                <a:gridCol w="128016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246888">
                <a:tc>
                  <a:txBody>
                    <a:bodyPr/>
                    <a:lstStyle/>
                    <a:p>
                      <a:pPr algn="l">
                        <a:lnSpc>
                          <a:spcPct val="100000"/>
                        </a:lnSpc>
                        <a:spcBef>
                          <a:spcPts val="0"/>
                        </a:spcBef>
                        <a:spcAft>
                          <a:spcPts val="0"/>
                        </a:spcAft>
                      </a:pPr>
                      <a:r>
                        <a:rPr sz="800" b="1" dirty="0">
                          <a:solidFill>
                            <a:srgbClr val="000000"/>
                          </a:solidFill>
                        </a:rPr>
                        <a:t>Φ</a:t>
                      </a:r>
                      <a:r>
                        <a:rPr sz="800" b="1" dirty="0" baseline="-25000">
                          <a:solidFill>
                            <a:srgbClr val="000000"/>
                          </a:solidFill>
                        </a:rPr>
                        <a:t>NPQ</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Lettuce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Lettuce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46888">
                <a:tc>
                  <a:txBody>
                    <a:bodyPr/>
                    <a:lstStyle/>
                    <a:p>
                      <a:pPr algn="l">
                        <a:lnSpc>
                          <a:spcPct val="100000"/>
                        </a:lnSpc>
                        <a:spcBef>
                          <a:spcPts val="0"/>
                        </a:spcBef>
                        <a:spcAft>
                          <a:spcPts val="0"/>
                        </a:spcAft>
                      </a:pPr>
                      <a:r>
                        <a:rPr sz="800" b="0">
                          <a:solidFill>
                            <a:srgbClr val="000000"/>
                          </a:solidFill>
                        </a:rPr>
                        <a:t>Control</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0.087 b</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0.100 b</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0.149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dirty="0">
                          <a:solidFill>
                            <a:srgbClr val="000000"/>
                          </a:solidFill>
                        </a:rPr>
                        <a:t>0.141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46888">
                <a:tc>
                  <a:txBody>
                    <a:bodyPr/>
                    <a:lstStyle/>
                    <a:p>
                      <a:pPr algn="l">
                        <a:lnSpc>
                          <a:spcPct val="100000"/>
                        </a:lnSpc>
                        <a:spcBef>
                          <a:spcPts val="0"/>
                        </a:spcBef>
                        <a:spcAft>
                          <a:spcPts val="0"/>
                        </a:spcAft>
                      </a:pPr>
                      <a:r>
                        <a:rPr sz="800" b="0">
                          <a:solidFill>
                            <a:srgbClr val="000000"/>
                          </a:solidFill>
                        </a:rPr>
                        <a:t>Drought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0.157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0.160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0.138 a</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46888">
                <a:tc>
                  <a:txBody>
                    <a:bodyPr/>
                    <a:lstStyle/>
                    <a:p>
                      <a:pPr algn="l">
                        <a:lnSpc>
                          <a:spcPct val="100000"/>
                        </a:lnSpc>
                        <a:spcBef>
                          <a:spcPts val="0"/>
                        </a:spcBef>
                        <a:spcAft>
                          <a:spcPts val="0"/>
                        </a:spcAft>
                      </a:pPr>
                      <a:r>
                        <a:rPr lang="en-US" sz="800" b="0" dirty="0">
                          <a:solidFill>
                            <a:srgbClr val="000000"/>
                          </a:solidFill>
                        </a:rPr>
                        <a:t>Waterlogging</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0.100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0.104 b</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0.161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0.142 a</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46888">
                <a:tc>
                  <a:txBody>
                    <a:bodyPr/>
                    <a:lstStyle/>
                    <a:p>
                      <a:pPr algn="l">
                        <a:lnSpc>
                          <a:spcPct val="100000"/>
                        </a:lnSpc>
                        <a:spcBef>
                          <a:spcPts val="0"/>
                        </a:spcBef>
                        <a:spcAft>
                          <a:spcPts val="0"/>
                        </a:spcAft>
                      </a:pPr>
                      <a:r>
                        <a:rPr lang="en-US" sz="800" b="0" dirty="0">
                          <a:solidFill>
                            <a:srgbClr val="000000"/>
                          </a:solidFill>
                        </a:rPr>
                        <a:t>Combined</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0.134 ab</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0.170 a</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dirty="0">
                          <a:solidFill>
                            <a:srgbClr val="000000"/>
                          </a:solidFill>
                        </a:rPr>
                        <a:t>0.120 a</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4"/>
                  </a:ext>
                </a:extLst>
              </a:tr>
            </a:tbl>
          </a:graphicData>
        </a:graphic>
      </p:graphicFrame>
      <p:graphicFrame>
        <p:nvGraphicFramePr>
          <p:cNvPr id="22" name="Table 7"/>
          <p:cNvGraphicFramePr>
            <a:graphicFrameLocks noGrp="1"/>
          </p:cNvGraphicFramePr>
          <p:nvPr>
            <p:extLst>
              <p:ext uri="{D42A27DB-BD31-4B8C-83A1-F6EECF244321}">
                <p14:modId xmlns:p14="http://schemas.microsoft.com/office/powerpoint/2010/main" val="4030306546"/>
              </p:ext>
            </p:extLst>
          </p:nvPr>
        </p:nvGraphicFramePr>
        <p:xfrm>
          <a:off x="6446520" y="4297680"/>
          <a:ext cx="4937760" cy="1234440"/>
        </p:xfrm>
        <a:graphic>
          <a:graphicData uri="http://schemas.openxmlformats.org/drawingml/2006/table">
            <a:tbl>
              <a:tblPr>
                <a:tableStyleId>{2D5ABB26-0587-4C30-8999-92F81FD0307C}</a:tableStyleId>
              </a:tblPr>
              <a:tblGrid>
                <a:gridCol w="128016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246888">
                <a:tc>
                  <a:txBody>
                    <a:bodyPr/>
                    <a:lstStyle/>
                    <a:p>
                      <a:pPr algn="l">
                        <a:lnSpc>
                          <a:spcPct val="100000"/>
                        </a:lnSpc>
                        <a:spcBef>
                          <a:spcPts val="0"/>
                        </a:spcBef>
                        <a:spcAft>
                          <a:spcPts val="0"/>
                        </a:spcAft>
                      </a:pPr>
                      <a:r>
                        <a:rPr sz="800" b="1" dirty="0">
                          <a:solidFill>
                            <a:srgbClr val="000000"/>
                          </a:solidFill>
                        </a:rPr>
                        <a:t>Φ</a:t>
                      </a:r>
                      <a:r>
                        <a:rPr sz="800" b="1" dirty="0" baseline="-25000">
                          <a:solidFill>
                            <a:srgbClr val="000000"/>
                          </a:solidFill>
                        </a:rPr>
                        <a:t>NO</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Lettuce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Lettuce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46888">
                <a:tc>
                  <a:txBody>
                    <a:bodyPr/>
                    <a:lstStyle/>
                    <a:p>
                      <a:pPr algn="l">
                        <a:lnSpc>
                          <a:spcPct val="100000"/>
                        </a:lnSpc>
                        <a:spcBef>
                          <a:spcPts val="0"/>
                        </a:spcBef>
                        <a:spcAft>
                          <a:spcPts val="0"/>
                        </a:spcAft>
                      </a:pPr>
                      <a:r>
                        <a:rPr sz="800" b="0">
                          <a:solidFill>
                            <a:srgbClr val="000000"/>
                          </a:solidFill>
                        </a:rPr>
                        <a:t>Control</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0.211 b</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0.203 b</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0.240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dirty="0">
                          <a:solidFill>
                            <a:srgbClr val="000000"/>
                          </a:solidFill>
                        </a:rPr>
                        <a:t>0.214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46888">
                <a:tc>
                  <a:txBody>
                    <a:bodyPr/>
                    <a:lstStyle/>
                    <a:p>
                      <a:pPr algn="l">
                        <a:lnSpc>
                          <a:spcPct val="100000"/>
                        </a:lnSpc>
                        <a:spcBef>
                          <a:spcPts val="0"/>
                        </a:spcBef>
                        <a:spcAft>
                          <a:spcPts val="0"/>
                        </a:spcAft>
                      </a:pPr>
                      <a:r>
                        <a:rPr sz="800" b="0">
                          <a:solidFill>
                            <a:srgbClr val="000000"/>
                          </a:solidFill>
                        </a:rPr>
                        <a:t>Drought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0.231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0.245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0.213 a</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46888">
                <a:tc>
                  <a:txBody>
                    <a:bodyPr/>
                    <a:lstStyle/>
                    <a:p>
                      <a:pPr algn="l">
                        <a:lnSpc>
                          <a:spcPct val="100000"/>
                        </a:lnSpc>
                        <a:spcBef>
                          <a:spcPts val="0"/>
                        </a:spcBef>
                        <a:spcAft>
                          <a:spcPts val="0"/>
                        </a:spcAft>
                      </a:pPr>
                      <a:r>
                        <a:rPr lang="en-US" sz="800" b="0" dirty="0">
                          <a:solidFill>
                            <a:srgbClr val="000000"/>
                          </a:solidFill>
                        </a:rPr>
                        <a:t>Waterlogging</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0.221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0.236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0.248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0.215 a</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46888">
                <a:tc>
                  <a:txBody>
                    <a:bodyPr/>
                    <a:lstStyle/>
                    <a:p>
                      <a:pPr algn="l">
                        <a:lnSpc>
                          <a:spcPct val="100000"/>
                        </a:lnSpc>
                        <a:spcBef>
                          <a:spcPts val="0"/>
                        </a:spcBef>
                        <a:spcAft>
                          <a:spcPts val="0"/>
                        </a:spcAft>
                      </a:pPr>
                      <a:r>
                        <a:rPr lang="en-US" sz="800" b="0" dirty="0">
                          <a:solidFill>
                            <a:srgbClr val="000000"/>
                          </a:solidFill>
                        </a:rPr>
                        <a:t>Combined</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0.236 a</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0.245 a</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dirty="0">
                          <a:solidFill>
                            <a:srgbClr val="000000"/>
                          </a:solidFill>
                        </a:rPr>
                        <a:t>0.223 a</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LI-6800 : 광합성 능력</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12</a:t>
            </a:fld>
            <a:endParaRPr lang="ko-KR" altLang="en-US"/>
          </a:p>
        </p:txBody>
      </p:sp>
      <p:pic>
        <p:nvPicPr>
          <p:cNvPr id="14" name="Picture 13" descr="image.png"/>
          <p:cNvPicPr>
            <a:picLocks noChangeAspect="1"/>
          </p:cNvPicPr>
          <p:nvPr/>
        </p:nvPicPr>
        <p:blipFill>
          <a:blip r:embed="rId5"/>
          <a:stretch>
            <a:fillRect/>
          </a:stretch>
        </p:blipFill>
        <p:spPr>
          <a:xfrm>
            <a:off x="405715" y="1241540"/>
            <a:ext cx="7729066" cy="3369080"/>
          </a:xfrm>
          <a:prstGeom prst="rect">
            <a:avLst/>
          </a:prstGeom>
        </p:spPr>
      </p:pic>
      <p:graphicFrame>
        <p:nvGraphicFramePr>
          <p:cNvPr id="8" name="Table 7"/>
          <p:cNvGraphicFramePr>
            <a:graphicFrameLocks noGrp="1"/>
          </p:cNvGraphicFramePr>
          <p:nvPr>
            <p:extLst>
              <p:ext uri="{D42A27DB-BD31-4B8C-83A1-F6EECF244321}">
                <p14:modId xmlns:p14="http://schemas.microsoft.com/office/powerpoint/2010/main" val="3795480835"/>
              </p:ext>
            </p:extLst>
          </p:nvPr>
        </p:nvGraphicFramePr>
        <p:xfrm>
          <a:off x="914400" y="4499870"/>
          <a:ext cx="3438144" cy="1399032"/>
        </p:xfrm>
        <a:graphic>
          <a:graphicData uri="http://schemas.openxmlformats.org/drawingml/2006/table">
            <a:tbl>
              <a:tblPr>
                <a:tableStyleId>{2D5ABB26-0587-4C30-8999-92F81FD0307C}</a:tableStyleId>
              </a:tblPr>
              <a:tblGrid>
                <a:gridCol w="82296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502920">
                  <a:extLst>
                    <a:ext uri="{9D8B030D-6E8A-4147-A177-3AD203B41FA5}">
                      <a16:colId xmlns:a16="http://schemas.microsoft.com/office/drawing/2014/main" val="20002"/>
                    </a:ext>
                  </a:extLst>
                </a:gridCol>
                <a:gridCol w="603504">
                  <a:extLst>
                    <a:ext uri="{9D8B030D-6E8A-4147-A177-3AD203B41FA5}">
                      <a16:colId xmlns:a16="http://schemas.microsoft.com/office/drawing/2014/main" val="20003"/>
                    </a:ext>
                  </a:extLst>
                </a:gridCol>
                <a:gridCol w="502920">
                  <a:extLst>
                    <a:ext uri="{9D8B030D-6E8A-4147-A177-3AD203B41FA5}">
                      <a16:colId xmlns:a16="http://schemas.microsoft.com/office/drawing/2014/main" val="20004"/>
                    </a:ext>
                  </a:extLst>
                </a:gridCol>
                <a:gridCol w="502920">
                  <a:extLst>
                    <a:ext uri="{9D8B030D-6E8A-4147-A177-3AD203B41FA5}">
                      <a16:colId xmlns:a16="http://schemas.microsoft.com/office/drawing/2014/main" val="3510531167"/>
                    </a:ext>
                  </a:extLst>
                </a:gridCol>
              </a:tblGrid>
              <a:tr h="233172">
                <a:tc>
                  <a:txBody>
                    <a:bodyPr/>
                    <a:lstStyle/>
                    <a:p>
                      <a:pPr algn="l">
                        <a:lnSpc>
                          <a:spcPct val="100000"/>
                        </a:lnSpc>
                        <a:spcBef>
                          <a:spcPts val="0"/>
                        </a:spcBef>
                        <a:spcAft>
                          <a:spcPts val="0"/>
                        </a:spcAft>
                      </a:pPr>
                      <a:r>
                        <a:rPr sz="1000" b="1">
                          <a:solidFill>
                            <a:srgbClr val="000000"/>
                          </a:solidFill>
                        </a:rPr>
                        <a:t>Soybean</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00" b="1">
                          <a:solidFill>
                            <a:srgbClr val="000000"/>
                          </a:solidFill>
                        </a:rPr>
                        <a:t>V</a:t>
                      </a:r>
                      <a:r>
                        <a:rPr sz="1000" b="1" baseline="-25000">
                          <a:solidFill>
                            <a:srgbClr val="000000"/>
                          </a:solidFill>
                        </a:rPr>
                        <a:t>cmax</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00" b="1">
                          <a:solidFill>
                            <a:srgbClr val="000000"/>
                          </a:solidFill>
                        </a:rPr>
                        <a:t>J</a:t>
                      </a:r>
                      <a:r>
                        <a:rPr sz="1000" b="1" baseline="-25000">
                          <a:solidFill>
                            <a:srgbClr val="000000"/>
                          </a:solidFill>
                        </a:rPr>
                        <a:t>max</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00" b="1">
                          <a:solidFill>
                            <a:srgbClr val="000000"/>
                          </a:solidFill>
                        </a:rPr>
                        <a:t>R</a:t>
                      </a:r>
                      <a:r>
                        <a:rPr sz="1000" b="1" baseline="-25000">
                          <a:solidFill>
                            <a:srgbClr val="000000"/>
                          </a:solidFill>
                        </a:rPr>
                        <a:t>d</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00" b="1">
                          <a:solidFill>
                            <a:srgbClr val="000000"/>
                          </a:solidFill>
                        </a:rPr>
                        <a:t>A</a:t>
                      </a:r>
                      <a:r>
                        <a:rPr sz="1000" b="1" baseline="-25000">
                          <a:solidFill>
                            <a:srgbClr val="000000"/>
                          </a:solidFill>
                        </a:rPr>
                        <a:t>max</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00" b="1">
                          <a:solidFill>
                            <a:srgbClr val="000000"/>
                          </a:solidFill>
                        </a:rPr>
                        <a:t>α</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33172">
                <a:tc>
                  <a:txBody>
                    <a:bodyPr/>
                    <a:lstStyle/>
                    <a:p>
                      <a:pPr algn="l">
                        <a:lnSpc>
                          <a:spcPct val="100000"/>
                        </a:lnSpc>
                        <a:spcBef>
                          <a:spcPts val="0"/>
                        </a:spcBef>
                        <a:spcAft>
                          <a:spcPts val="0"/>
                        </a:spcAft>
                      </a:pPr>
                      <a:r>
                        <a:rPr sz="1000" b="0">
                          <a:solidFill>
                            <a:srgbClr val="000000"/>
                          </a:solidFill>
                        </a:rPr>
                        <a:t>Pre-treat.</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00" b="0">
                          <a:solidFill>
                            <a:srgbClr val="000000"/>
                          </a:solidFill>
                        </a:rPr>
                        <a:t>60</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00" b="0">
                          <a:solidFill>
                            <a:srgbClr val="000000"/>
                          </a:solidFill>
                        </a:rPr>
                        <a:t>83</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00" b="0">
                          <a:solidFill>
                            <a:srgbClr val="000000"/>
                          </a:solidFill>
                        </a:rPr>
                        <a:t>1.44</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00" b="0">
                          <a:solidFill>
                            <a:srgbClr val="000000"/>
                          </a:solidFill>
                        </a:rPr>
                        <a:t>15.4</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00" b="0">
                          <a:solidFill>
                            <a:srgbClr val="000000"/>
                          </a:solidFill>
                        </a:rPr>
                        <a:t>0.047</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33172">
                <a:tc>
                  <a:txBody>
                    <a:bodyPr/>
                    <a:lstStyle/>
                    <a:p>
                      <a:pPr algn="l">
                        <a:lnSpc>
                          <a:spcPct val="100000"/>
                        </a:lnSpc>
                        <a:spcBef>
                          <a:spcPts val="0"/>
                        </a:spcBef>
                        <a:spcAft>
                          <a:spcPts val="0"/>
                        </a:spcAft>
                      </a:pPr>
                      <a:r>
                        <a:rPr sz="1000" b="0">
                          <a:solidFill>
                            <a:srgbClr val="000000"/>
                          </a:solidFill>
                        </a:rPr>
                        <a:t>Control</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90 a</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150 a</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1.44 a</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18.5</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0.049</a:t>
                      </a:r>
                      <a:endParaRPr sz="10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33172">
                <a:tc>
                  <a:txBody>
                    <a:bodyPr/>
                    <a:lstStyle/>
                    <a:p>
                      <a:pPr algn="l">
                        <a:lnSpc>
                          <a:spcPct val="100000"/>
                        </a:lnSpc>
                        <a:spcBef>
                          <a:spcPts val="0"/>
                        </a:spcBef>
                        <a:spcAft>
                          <a:spcPts val="0"/>
                        </a:spcAft>
                      </a:pPr>
                      <a:r>
                        <a:rPr sz="1000" b="0">
                          <a:solidFill>
                            <a:srgbClr val="000000"/>
                          </a:solidFill>
                        </a:rPr>
                        <a:t>Drought</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68 b</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104 b</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1.04 ab</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19.4</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0.043</a:t>
                      </a:r>
                      <a:endParaRPr sz="10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33172">
                <a:tc>
                  <a:txBody>
                    <a:bodyPr/>
                    <a:lstStyle/>
                    <a:p>
                      <a:pPr algn="l">
                        <a:lnSpc>
                          <a:spcPct val="100000"/>
                        </a:lnSpc>
                        <a:spcBef>
                          <a:spcPts val="0"/>
                        </a:spcBef>
                        <a:spcAft>
                          <a:spcPts val="0"/>
                        </a:spcAft>
                      </a:pPr>
                      <a:r>
                        <a:rPr sz="1000" b="0">
                          <a:solidFill>
                            <a:srgbClr val="000000"/>
                          </a:solidFill>
                        </a:rPr>
                        <a:t>Waterlog.</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85 ab</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144 a</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1.16 ab</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17.2</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0.046</a:t>
                      </a:r>
                      <a:endParaRPr sz="10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33172">
                <a:tc>
                  <a:txBody>
                    <a:bodyPr/>
                    <a:lstStyle/>
                    <a:p>
                      <a:pPr algn="l">
                        <a:lnSpc>
                          <a:spcPct val="100000"/>
                        </a:lnSpc>
                        <a:spcBef>
                          <a:spcPts val="0"/>
                        </a:spcBef>
                        <a:spcAft>
                          <a:spcPts val="0"/>
                        </a:spcAft>
                      </a:pPr>
                      <a:r>
                        <a:rPr sz="1000" b="0">
                          <a:solidFill>
                            <a:srgbClr val="000000"/>
                          </a:solidFill>
                        </a:rPr>
                        <a:t>Combined</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00" b="0">
                          <a:solidFill>
                            <a:srgbClr val="000000"/>
                          </a:solidFill>
                        </a:rPr>
                        <a:t>75 ab</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00" b="0">
                          <a:solidFill>
                            <a:srgbClr val="000000"/>
                          </a:solidFill>
                        </a:rPr>
                        <a:t>120 b</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00" b="0">
                          <a:solidFill>
                            <a:srgbClr val="000000"/>
                          </a:solidFill>
                        </a:rPr>
                        <a:t>0.86 b</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00" b="0">
                          <a:solidFill>
                            <a:srgbClr val="000000"/>
                          </a:solidFill>
                        </a:rPr>
                        <a:t>18.6</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00" b="0">
                          <a:solidFill>
                            <a:srgbClr val="000000"/>
                          </a:solidFill>
                        </a:rPr>
                        <a:t>0.048</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5"/>
                  </a:ext>
                </a:extLst>
              </a:tr>
            </a:tbl>
          </a:graphicData>
        </a:graphic>
      </p:graphicFrame>
      <p:sp>
        <p:nvSpPr>
          <p:cNvPr id="11" name="TextBox 10"/>
          <p:cNvSpPr txBox="1"/>
          <p:nvPr/>
        </p:nvSpPr>
        <p:spPr>
          <a:xfrm>
            <a:off x="7680959" y="1373775"/>
            <a:ext cx="3886200" cy="1169551"/>
          </a:xfrm>
          <a:prstGeom prst="rect">
            <a:avLst/>
          </a:prstGeom>
          <a:noFill/>
        </p:spPr>
        <p:txBody>
          <a:bodyPr wrap="square">
            <a:spAutoFit/>
          </a:bodyPr>
          <a:lstStyle/>
          <a:p>
            <a:pPr marL="201168" indent="-201168">
              <a:spcBef>
                <a:spcPts val="0"/>
              </a:spcBef>
              <a:buFont typeface="Arial"/>
              <a:buChar char="•"/>
            </a:pPr>
            <a:r>
              <a:rPr sz="1400" dirty="0">
                <a:solidFill>
                  <a:srgbClr val="000000"/>
                </a:solidFill>
              </a:rPr>
              <a:t>콩: </a:t>
            </a:r>
            <a:r>
              <a:rPr sz="1400" dirty="0" err="1">
                <a:solidFill>
                  <a:srgbClr val="000000"/>
                </a:solidFill>
              </a:rPr>
              <a:t>건조구에서</a:t>
            </a:r>
            <a:r>
              <a:rPr sz="1400" dirty="0">
                <a:solidFill>
                  <a:srgbClr val="000000"/>
                </a:solidFill>
              </a:rPr>
              <a:t> </a:t>
            </a:r>
            <a:r>
              <a:rPr sz="1400" dirty="0" err="1">
                <a:solidFill>
                  <a:srgbClr val="000000"/>
                </a:solidFill>
              </a:rPr>
              <a:t>V</a:t>
            </a:r>
            <a:r>
              <a:rPr sz="1400" baseline="-25000" dirty="0" err="1">
                <a:solidFill>
                  <a:srgbClr val="000000"/>
                </a:solidFill>
              </a:rPr>
              <a:t>cmax</a:t>
            </a:r>
            <a:r>
              <a:rPr sz="1400" dirty="0" err="1">
                <a:solidFill>
                  <a:srgbClr val="000000"/>
                </a:solidFill>
              </a:rPr>
              <a:t>·J</a:t>
            </a:r>
            <a:r>
              <a:rPr sz="1400" baseline="-25000" dirty="0" err="1">
                <a:solidFill>
                  <a:srgbClr val="000000"/>
                </a:solidFill>
              </a:rPr>
              <a:t>max</a:t>
            </a:r>
            <a:r>
              <a:rPr sz="1400" dirty="0" err="1">
                <a:solidFill>
                  <a:srgbClr val="000000"/>
                </a:solidFill>
              </a:rPr>
              <a:t>가</a:t>
            </a:r>
            <a:r>
              <a:rPr sz="1400" dirty="0">
                <a:solidFill>
                  <a:srgbClr val="000000"/>
                </a:solidFill>
              </a:rPr>
              <a:t> </a:t>
            </a:r>
            <a:r>
              <a:rPr sz="1400" dirty="0" err="1">
                <a:solidFill>
                  <a:srgbClr val="000000"/>
                </a:solidFill>
              </a:rPr>
              <a:t>낮았고</a:t>
            </a:r>
            <a:r>
              <a:rPr sz="1400" dirty="0">
                <a:solidFill>
                  <a:srgbClr val="000000"/>
                </a:solidFill>
              </a:rPr>
              <a:t> A</a:t>
            </a:r>
            <a:r>
              <a:rPr sz="1400" baseline="-25000" dirty="0">
                <a:solidFill>
                  <a:srgbClr val="000000"/>
                </a:solidFill>
              </a:rPr>
              <a:t>max</a:t>
            </a:r>
            <a:r>
              <a:rPr sz="1400" dirty="0">
                <a:solidFill>
                  <a:srgbClr val="000000"/>
                </a:solidFill>
              </a:rPr>
              <a:t>·α는 </a:t>
            </a:r>
            <a:r>
              <a:rPr sz="1400" dirty="0" err="1">
                <a:solidFill>
                  <a:srgbClr val="000000"/>
                </a:solidFill>
              </a:rPr>
              <a:t>처리</a:t>
            </a:r>
            <a:r>
              <a:rPr sz="1400" dirty="0">
                <a:solidFill>
                  <a:srgbClr val="000000"/>
                </a:solidFill>
              </a:rPr>
              <a:t> 간 </a:t>
            </a:r>
            <a:r>
              <a:rPr sz="1400" dirty="0" err="1">
                <a:solidFill>
                  <a:srgbClr val="000000"/>
                </a:solidFill>
              </a:rPr>
              <a:t>차이</a:t>
            </a:r>
            <a:r>
              <a:rPr sz="1400" dirty="0">
                <a:solidFill>
                  <a:srgbClr val="000000"/>
                </a:solidFill>
              </a:rPr>
              <a:t> </a:t>
            </a:r>
            <a:r>
              <a:rPr sz="1400" dirty="0" err="1">
                <a:solidFill>
                  <a:srgbClr val="000000"/>
                </a:solidFill>
              </a:rPr>
              <a:t>없음</a:t>
            </a:r>
            <a:endParaRPr lang="en-US" sz="1400" dirty="0">
              <a:solidFill>
                <a:srgbClr val="000000"/>
              </a:solidFill>
            </a:endParaRPr>
          </a:p>
          <a:p>
            <a:pPr marL="201168" indent="-201168">
              <a:spcBef>
                <a:spcPts val="0"/>
              </a:spcBef>
              <a:buFont typeface="Arial"/>
              <a:buChar char="•"/>
            </a:pPr>
            <a:endParaRPr sz="1400" dirty="0">
              <a:solidFill>
                <a:srgbClr val="000000"/>
              </a:solidFill>
            </a:endParaRPr>
          </a:p>
          <a:p>
            <a:pPr marL="201168" indent="-201168">
              <a:spcBef>
                <a:spcPts val="0"/>
              </a:spcBef>
              <a:buFont typeface="Arial"/>
              <a:buChar char="•"/>
            </a:pPr>
            <a:r>
              <a:rPr lang="ko-KR" altLang="en-US" sz="1400" dirty="0">
                <a:solidFill>
                  <a:srgbClr val="000000"/>
                </a:solidFill>
              </a:rPr>
              <a:t>상추</a:t>
            </a:r>
            <a:r>
              <a:rPr sz="1400" dirty="0">
                <a:solidFill>
                  <a:srgbClr val="000000"/>
                </a:solidFill>
              </a:rPr>
              <a:t>: </a:t>
            </a:r>
            <a:r>
              <a:rPr sz="1400" dirty="0" err="1">
                <a:solidFill>
                  <a:srgbClr val="000000"/>
                </a:solidFill>
              </a:rPr>
              <a:t>복합구에서</a:t>
            </a:r>
            <a:r>
              <a:rPr sz="1400" dirty="0">
                <a:solidFill>
                  <a:srgbClr val="000000"/>
                </a:solidFill>
              </a:rPr>
              <a:t> </a:t>
            </a:r>
            <a:r>
              <a:rPr sz="1400" dirty="0" err="1">
                <a:solidFill>
                  <a:srgbClr val="000000"/>
                </a:solidFill>
              </a:rPr>
              <a:t>V</a:t>
            </a:r>
            <a:r>
              <a:rPr sz="1400" baseline="-25000" dirty="0" err="1">
                <a:solidFill>
                  <a:srgbClr val="000000"/>
                </a:solidFill>
              </a:rPr>
              <a:t>cmax</a:t>
            </a:r>
            <a:r>
              <a:rPr sz="1400" dirty="0" err="1">
                <a:solidFill>
                  <a:srgbClr val="000000"/>
                </a:solidFill>
              </a:rPr>
              <a:t>·J</a:t>
            </a:r>
            <a:r>
              <a:rPr sz="1400" baseline="-25000" dirty="0" err="1">
                <a:solidFill>
                  <a:srgbClr val="000000"/>
                </a:solidFill>
              </a:rPr>
              <a:t>max</a:t>
            </a:r>
            <a:r>
              <a:rPr sz="1400" dirty="0" err="1">
                <a:solidFill>
                  <a:srgbClr val="000000"/>
                </a:solidFill>
              </a:rPr>
              <a:t>가</a:t>
            </a:r>
            <a:r>
              <a:rPr sz="1400" dirty="0">
                <a:solidFill>
                  <a:srgbClr val="000000"/>
                </a:solidFill>
              </a:rPr>
              <a:t> </a:t>
            </a:r>
            <a:r>
              <a:rPr sz="1400" dirty="0" err="1">
                <a:solidFill>
                  <a:srgbClr val="000000"/>
                </a:solidFill>
              </a:rPr>
              <a:t>낮은</a:t>
            </a:r>
            <a:r>
              <a:rPr sz="1400" dirty="0">
                <a:solidFill>
                  <a:srgbClr val="000000"/>
                </a:solidFill>
              </a:rPr>
              <a:t> </a:t>
            </a:r>
            <a:r>
              <a:rPr sz="1400" dirty="0" err="1">
                <a:solidFill>
                  <a:srgbClr val="000000"/>
                </a:solidFill>
              </a:rPr>
              <a:t>경향이고</a:t>
            </a:r>
            <a:r>
              <a:rPr sz="1400" dirty="0">
                <a:solidFill>
                  <a:srgbClr val="000000"/>
                </a:solidFill>
              </a:rPr>
              <a:t> A</a:t>
            </a:r>
            <a:r>
              <a:rPr sz="1400" baseline="-25000" dirty="0">
                <a:solidFill>
                  <a:srgbClr val="000000"/>
                </a:solidFill>
              </a:rPr>
              <a:t>max</a:t>
            </a:r>
            <a:r>
              <a:rPr sz="1400" dirty="0">
                <a:solidFill>
                  <a:srgbClr val="000000"/>
                </a:solidFill>
              </a:rPr>
              <a:t>·α는 </a:t>
            </a:r>
            <a:r>
              <a:rPr sz="1400" dirty="0" err="1">
                <a:solidFill>
                  <a:srgbClr val="000000"/>
                </a:solidFill>
              </a:rPr>
              <a:t>처리</a:t>
            </a:r>
            <a:r>
              <a:rPr sz="1400" dirty="0">
                <a:solidFill>
                  <a:srgbClr val="000000"/>
                </a:solidFill>
              </a:rPr>
              <a:t> 간 </a:t>
            </a:r>
            <a:r>
              <a:rPr sz="1400" dirty="0" err="1">
                <a:solidFill>
                  <a:srgbClr val="000000"/>
                </a:solidFill>
              </a:rPr>
              <a:t>차이</a:t>
            </a:r>
            <a:r>
              <a:rPr sz="1400" dirty="0">
                <a:solidFill>
                  <a:srgbClr val="000000"/>
                </a:solidFill>
              </a:rPr>
              <a:t> </a:t>
            </a:r>
            <a:r>
              <a:rPr sz="1400" dirty="0" err="1">
                <a:solidFill>
                  <a:srgbClr val="000000"/>
                </a:solidFill>
              </a:rPr>
              <a:t>없음</a:t>
            </a:r>
            <a:endParaRPr sz="1400" dirty="0">
              <a:solidFill>
                <a:srgbClr val="000000"/>
              </a:solidFill>
            </a:endParaRP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dirty="0">
                <a:solidFill>
                  <a:srgbClr val="E97132"/>
                </a:solidFill>
              </a:rPr>
              <a:t>콩 건조·복합구(9월)와 상추 복합구(10월)에서 Vcmax·Jmax가 낮은 경향</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u="none">
                <a:solidFill>
                  <a:srgbClr val="595959"/>
                </a:solidFill>
              </a:rPr>
              <a:t>결론</a:t>
            </a:r>
          </a:p>
        </p:txBody>
      </p:sp>
      <p:graphicFrame>
        <p:nvGraphicFramePr>
          <p:cNvPr id="20" name="Table P2"/>
          <p:cNvGraphicFramePr>
            <a:graphicFrameLocks noGrp="1"/>
          </p:cNvGraphicFramePr>
          <p:nvPr>
            <p:extLst>
              <p:ext uri="{D42A27DB-BD31-4B8C-83A1-F6EECF244321}">
                <p14:modId xmlns:p14="http://schemas.microsoft.com/office/powerpoint/2010/main" val="3789131975"/>
              </p:ext>
            </p:extLst>
          </p:nvPr>
        </p:nvGraphicFramePr>
        <p:xfrm>
          <a:off x="4423955" y="4499870"/>
          <a:ext cx="3520440" cy="1399032"/>
        </p:xfrm>
        <a:graphic>
          <a:graphicData uri="http://schemas.openxmlformats.org/drawingml/2006/table">
            <a:tbl>
              <a:tblPr>
                <a:tableStyleId>{2D5ABB26-0587-4C30-8999-92F81FD0307C}</a:tableStyleId>
              </a:tblPr>
              <a:tblGrid>
                <a:gridCol w="842659">
                  <a:extLst>
                    <a:ext uri="{9D8B030D-6E8A-4147-A177-3AD203B41FA5}">
                      <a16:colId xmlns:a16="http://schemas.microsoft.com/office/drawing/2014/main" val="20000"/>
                    </a:ext>
                  </a:extLst>
                </a:gridCol>
                <a:gridCol w="514958">
                  <a:extLst>
                    <a:ext uri="{9D8B030D-6E8A-4147-A177-3AD203B41FA5}">
                      <a16:colId xmlns:a16="http://schemas.microsoft.com/office/drawing/2014/main" val="20001"/>
                    </a:ext>
                  </a:extLst>
                </a:gridCol>
                <a:gridCol w="514958">
                  <a:extLst>
                    <a:ext uri="{9D8B030D-6E8A-4147-A177-3AD203B41FA5}">
                      <a16:colId xmlns:a16="http://schemas.microsoft.com/office/drawing/2014/main" val="20002"/>
                    </a:ext>
                  </a:extLst>
                </a:gridCol>
                <a:gridCol w="617949">
                  <a:extLst>
                    <a:ext uri="{9D8B030D-6E8A-4147-A177-3AD203B41FA5}">
                      <a16:colId xmlns:a16="http://schemas.microsoft.com/office/drawing/2014/main" val="20003"/>
                    </a:ext>
                  </a:extLst>
                </a:gridCol>
                <a:gridCol w="514958">
                  <a:extLst>
                    <a:ext uri="{9D8B030D-6E8A-4147-A177-3AD203B41FA5}">
                      <a16:colId xmlns:a16="http://schemas.microsoft.com/office/drawing/2014/main" val="20004"/>
                    </a:ext>
                  </a:extLst>
                </a:gridCol>
                <a:gridCol w="514958">
                  <a:extLst>
                    <a:ext uri="{9D8B030D-6E8A-4147-A177-3AD203B41FA5}">
                      <a16:colId xmlns:a16="http://schemas.microsoft.com/office/drawing/2014/main" val="3850450545"/>
                    </a:ext>
                  </a:extLst>
                </a:gridCol>
              </a:tblGrid>
              <a:tr h="233172">
                <a:tc>
                  <a:txBody>
                    <a:bodyPr/>
                    <a:lstStyle/>
                    <a:p>
                      <a:pPr algn="l">
                        <a:lnSpc>
                          <a:spcPct val="100000"/>
                        </a:lnSpc>
                        <a:spcBef>
                          <a:spcPts val="0"/>
                        </a:spcBef>
                        <a:spcAft>
                          <a:spcPts val="0"/>
                        </a:spcAft>
                      </a:pPr>
                      <a:r>
                        <a:rPr sz="1000" b="1">
                          <a:solidFill>
                            <a:srgbClr val="000000"/>
                          </a:solidFill>
                        </a:rPr>
                        <a:t>Lettuce</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00" b="1">
                          <a:solidFill>
                            <a:srgbClr val="000000"/>
                          </a:solidFill>
                        </a:rPr>
                        <a:t>V</a:t>
                      </a:r>
                      <a:r>
                        <a:rPr sz="1000" b="1" baseline="-25000">
                          <a:solidFill>
                            <a:srgbClr val="000000"/>
                          </a:solidFill>
                        </a:rPr>
                        <a:t>cmax</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00" b="1">
                          <a:solidFill>
                            <a:srgbClr val="000000"/>
                          </a:solidFill>
                        </a:rPr>
                        <a:t>J</a:t>
                      </a:r>
                      <a:r>
                        <a:rPr sz="1000" b="1" baseline="-25000">
                          <a:solidFill>
                            <a:srgbClr val="000000"/>
                          </a:solidFill>
                        </a:rPr>
                        <a:t>max</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00" b="1">
                          <a:solidFill>
                            <a:srgbClr val="000000"/>
                          </a:solidFill>
                        </a:rPr>
                        <a:t>R</a:t>
                      </a:r>
                      <a:r>
                        <a:rPr sz="1000" b="1" baseline="-25000">
                          <a:solidFill>
                            <a:srgbClr val="000000"/>
                          </a:solidFill>
                        </a:rPr>
                        <a:t>d</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00" b="1">
                          <a:solidFill>
                            <a:srgbClr val="000000"/>
                          </a:solidFill>
                        </a:rPr>
                        <a:t>A</a:t>
                      </a:r>
                      <a:r>
                        <a:rPr sz="1000" b="1" baseline="-25000">
                          <a:solidFill>
                            <a:srgbClr val="000000"/>
                          </a:solidFill>
                        </a:rPr>
                        <a:t>max</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00" b="1">
                          <a:solidFill>
                            <a:srgbClr val="000000"/>
                          </a:solidFill>
                        </a:rPr>
                        <a:t>α</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33172">
                <a:tc>
                  <a:txBody>
                    <a:bodyPr/>
                    <a:lstStyle/>
                    <a:p>
                      <a:pPr algn="l">
                        <a:lnSpc>
                          <a:spcPct val="100000"/>
                        </a:lnSpc>
                        <a:spcBef>
                          <a:spcPts val="0"/>
                        </a:spcBef>
                        <a:spcAft>
                          <a:spcPts val="0"/>
                        </a:spcAft>
                      </a:pPr>
                      <a:r>
                        <a:rPr sz="1000" b="0">
                          <a:solidFill>
                            <a:srgbClr val="000000"/>
                          </a:solidFill>
                        </a:rPr>
                        <a:t>Pre-treat.</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00" b="0">
                          <a:solidFill>
                            <a:srgbClr val="000000"/>
                          </a:solidFill>
                        </a:rPr>
                        <a:t>98</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00" b="0">
                          <a:solidFill>
                            <a:srgbClr val="000000"/>
                          </a:solidFill>
                        </a:rPr>
                        <a:t>173</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00" b="0">
                          <a:solidFill>
                            <a:srgbClr val="000000"/>
                          </a:solidFill>
                        </a:rPr>
                        <a:t>1.70</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00" b="0">
                          <a:solidFill>
                            <a:srgbClr val="000000"/>
                          </a:solidFill>
                        </a:rPr>
                        <a:t>26.4</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00" b="0">
                          <a:solidFill>
                            <a:srgbClr val="000000"/>
                          </a:solidFill>
                        </a:rPr>
                        <a:t>0.063</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33172">
                <a:tc>
                  <a:txBody>
                    <a:bodyPr/>
                    <a:lstStyle/>
                    <a:p>
                      <a:pPr algn="l">
                        <a:lnSpc>
                          <a:spcPct val="100000"/>
                        </a:lnSpc>
                        <a:spcBef>
                          <a:spcPts val="0"/>
                        </a:spcBef>
                        <a:spcAft>
                          <a:spcPts val="0"/>
                        </a:spcAft>
                      </a:pPr>
                      <a:r>
                        <a:rPr sz="1000" b="0">
                          <a:solidFill>
                            <a:srgbClr val="000000"/>
                          </a:solidFill>
                        </a:rPr>
                        <a:t>Control</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104 a</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200 a</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1.94</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26.1</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0.065</a:t>
                      </a:r>
                      <a:endParaRPr sz="10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33172">
                <a:tc>
                  <a:txBody>
                    <a:bodyPr/>
                    <a:lstStyle/>
                    <a:p>
                      <a:pPr algn="l">
                        <a:lnSpc>
                          <a:spcPct val="100000"/>
                        </a:lnSpc>
                        <a:spcBef>
                          <a:spcPts val="0"/>
                        </a:spcBef>
                        <a:spcAft>
                          <a:spcPts val="0"/>
                        </a:spcAft>
                      </a:pPr>
                      <a:r>
                        <a:rPr sz="1000" b="0">
                          <a:solidFill>
                            <a:srgbClr val="000000"/>
                          </a:solidFill>
                        </a:rPr>
                        <a:t>Drought</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94 ab</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175 ab</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2.06</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25.0</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0.067</a:t>
                      </a:r>
                      <a:endParaRPr sz="10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33172">
                <a:tc>
                  <a:txBody>
                    <a:bodyPr/>
                    <a:lstStyle/>
                    <a:p>
                      <a:pPr algn="l">
                        <a:lnSpc>
                          <a:spcPct val="100000"/>
                        </a:lnSpc>
                        <a:spcBef>
                          <a:spcPts val="0"/>
                        </a:spcBef>
                        <a:spcAft>
                          <a:spcPts val="0"/>
                        </a:spcAft>
                      </a:pPr>
                      <a:r>
                        <a:rPr sz="1000" b="0">
                          <a:solidFill>
                            <a:srgbClr val="000000"/>
                          </a:solidFill>
                        </a:rPr>
                        <a:t>Waterlog.</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88 ab</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168 ab</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1.91</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28.9</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0.059</a:t>
                      </a:r>
                      <a:endParaRPr sz="10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33172">
                <a:tc>
                  <a:txBody>
                    <a:bodyPr/>
                    <a:lstStyle/>
                    <a:p>
                      <a:pPr algn="l">
                        <a:lnSpc>
                          <a:spcPct val="100000"/>
                        </a:lnSpc>
                        <a:spcBef>
                          <a:spcPts val="0"/>
                        </a:spcBef>
                        <a:spcAft>
                          <a:spcPts val="0"/>
                        </a:spcAft>
                      </a:pPr>
                      <a:r>
                        <a:rPr sz="1000" b="0">
                          <a:solidFill>
                            <a:srgbClr val="000000"/>
                          </a:solidFill>
                        </a:rPr>
                        <a:t>Combined</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00" b="0">
                          <a:solidFill>
                            <a:srgbClr val="000000"/>
                          </a:solidFill>
                        </a:rPr>
                        <a:t>73 b</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00" b="0">
                          <a:solidFill>
                            <a:srgbClr val="000000"/>
                          </a:solidFill>
                        </a:rPr>
                        <a:t>142 b</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00" b="0">
                          <a:solidFill>
                            <a:srgbClr val="000000"/>
                          </a:solidFill>
                        </a:rPr>
                        <a:t>1.76</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00" b="0">
                          <a:solidFill>
                            <a:srgbClr val="000000"/>
                          </a:solidFill>
                        </a:rPr>
                        <a:t>21.6</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00" b="0" dirty="0">
                          <a:solidFill>
                            <a:srgbClr val="000000"/>
                          </a:solidFill>
                        </a:rPr>
                        <a:t>0.063</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9069106" cy="566928"/>
          </a:xfrm>
        </p:spPr>
        <p:txBody>
          <a:bodyPr anchor="b">
            <a:normAutofit/>
          </a:bodyPr>
          <a:lstStyle/>
          <a:p>
            <a:r>
              <a:rPr lang="ko-KR" altLang="en-US" sz="2800" dirty="0"/>
              <a:t>생육 조사 : 수량 및 지상부 생육</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13</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lang="ko-KR" altLang="en-US" sz="1600" dirty="0">
                <a:solidFill>
                  <a:srgbClr val="E97132"/>
                </a:solidFill>
              </a:rPr>
              <a:t>상추는</a:t>
            </a:r>
            <a:r>
              <a:rPr sz="1600" dirty="0">
                <a:solidFill>
                  <a:srgbClr val="E97132"/>
                </a:solidFill>
              </a:rPr>
              <a:t> </a:t>
            </a:r>
            <a:r>
              <a:rPr sz="1600" dirty="0" err="1">
                <a:solidFill>
                  <a:srgbClr val="E97132"/>
                </a:solidFill>
              </a:rPr>
              <a:t>건물중</a:t>
            </a:r>
            <a:r>
              <a:rPr sz="1600" dirty="0">
                <a:solidFill>
                  <a:srgbClr val="E97132"/>
                </a:solidFill>
              </a:rPr>
              <a:t> −16~43% </a:t>
            </a:r>
            <a:r>
              <a:rPr sz="1600" dirty="0" err="1">
                <a:solidFill>
                  <a:srgbClr val="E97132"/>
                </a:solidFill>
              </a:rPr>
              <a:t>감소</a:t>
            </a:r>
            <a:r>
              <a:rPr sz="1600" dirty="0">
                <a:solidFill>
                  <a:srgbClr val="E97132"/>
                </a:solidFill>
              </a:rPr>
              <a:t>, </a:t>
            </a:r>
            <a:r>
              <a:rPr sz="1600" dirty="0" err="1">
                <a:solidFill>
                  <a:srgbClr val="E97132"/>
                </a:solidFill>
              </a:rPr>
              <a:t>콩은</a:t>
            </a:r>
            <a:r>
              <a:rPr sz="1600" dirty="0">
                <a:solidFill>
                  <a:srgbClr val="E97132"/>
                </a:solidFill>
              </a:rPr>
              <a:t> </a:t>
            </a:r>
            <a:r>
              <a:rPr sz="1600" dirty="0" err="1">
                <a:solidFill>
                  <a:srgbClr val="E97132"/>
                </a:solidFill>
              </a:rPr>
              <a:t>수량</a:t>
            </a:r>
            <a:r>
              <a:rPr sz="1600" dirty="0">
                <a:solidFill>
                  <a:srgbClr val="E97132"/>
                </a:solidFill>
              </a:rPr>
              <a:t> </a:t>
            </a:r>
            <a:r>
              <a:rPr sz="1600" dirty="0" err="1">
                <a:solidFill>
                  <a:srgbClr val="E97132"/>
                </a:solidFill>
              </a:rPr>
              <a:t>감소</a:t>
            </a:r>
            <a:r>
              <a:rPr sz="1600" dirty="0">
                <a:solidFill>
                  <a:srgbClr val="E97132"/>
                </a:solidFill>
              </a:rPr>
              <a:t> </a:t>
            </a:r>
            <a:r>
              <a:rPr sz="1600" dirty="0" err="1">
                <a:solidFill>
                  <a:srgbClr val="E97132"/>
                </a:solidFill>
              </a:rPr>
              <a:t>경향이나</a:t>
            </a:r>
            <a:r>
              <a:rPr sz="1600" dirty="0">
                <a:solidFill>
                  <a:srgbClr val="E97132"/>
                </a:solidFill>
              </a:rPr>
              <a:t> </a:t>
            </a:r>
            <a:r>
              <a:rPr sz="1600" dirty="0" err="1">
                <a:solidFill>
                  <a:srgbClr val="E97132"/>
                </a:solidFill>
              </a:rPr>
              <a:t>유의차</a:t>
            </a:r>
            <a:r>
              <a:rPr sz="1600" dirty="0">
                <a:solidFill>
                  <a:srgbClr val="E97132"/>
                </a:solidFill>
              </a:rPr>
              <a:t> </a:t>
            </a:r>
            <a:r>
              <a:rPr sz="1600" dirty="0" err="1">
                <a:solidFill>
                  <a:srgbClr val="E97132"/>
                </a:solidFill>
              </a:rPr>
              <a:t>없음</a:t>
            </a:r>
            <a:endParaRPr sz="1600" dirty="0">
              <a:solidFill>
                <a:srgbClr val="E97132"/>
              </a:solidFill>
            </a:endParaRPr>
          </a:p>
        </p:txBody>
      </p:sp>
      <p:pic>
        <p:nvPicPr>
          <p:cNvPr id="27" name="Picture 26" descr="image.png"/>
          <p:cNvPicPr>
            <a:picLocks noChangeAspect="1"/>
          </p:cNvPicPr>
          <p:nvPr/>
        </p:nvPicPr>
        <p:blipFill>
          <a:blip r:embed="rId5"/>
          <a:stretch>
            <a:fillRect/>
          </a:stretch>
        </p:blipFill>
        <p:spPr>
          <a:xfrm>
            <a:off x="658368" y="1143000"/>
            <a:ext cx="6638544" cy="1982941"/>
          </a:xfrm>
          <a:prstGeom prst="rect">
            <a:avLst/>
          </a:prstGeom>
        </p:spPr>
      </p:pic>
      <p:sp>
        <p:nvSpPr>
          <p:cNvPr id="36" name="Text 요점"/>
          <p:cNvSpPr txBox="1"/>
          <p:nvPr/>
        </p:nvSpPr>
        <p:spPr>
          <a:xfrm>
            <a:off x="8046720" y="1534448"/>
            <a:ext cx="3172968" cy="1536191"/>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1" dirty="0">
                <a:solidFill>
                  <a:srgbClr val="000000"/>
                </a:solidFill>
              </a:rPr>
              <a:t>상추:</a:t>
            </a:r>
            <a:r>
              <a:rPr lang="ko-KR" altLang="en-US" sz="1400" dirty="0">
                <a:solidFill>
                  <a:srgbClr val="000000"/>
                </a:solidFill>
              </a:rPr>
              <a:t> 지상부 건물중이 모든 처리에서 감소했고 복합구에서 가장 크게 감소</a:t>
            </a:r>
          </a:p>
          <a:p>
            <a:pPr marL="201168" indent="-201168" algn="l">
              <a:spcBef>
                <a:spcPts val="1000"/>
              </a:spcBef>
              <a:buFont typeface="Arial"/>
              <a:buChar char="•"/>
            </a:pPr>
            <a:r>
              <a:rPr lang="ko-KR" altLang="en-US" sz="1400" dirty="0">
                <a:solidFill>
                  <a:srgbClr val="000000"/>
                </a:solidFill>
              </a:rPr>
              <a:t>콩:  종실 생체중·건조중이 감소하는 경향이나 처리 간 유의한 차이는 없음</a:t>
            </a:r>
          </a:p>
        </p:txBody>
      </p:sp>
      <p:sp>
        <p:nvSpPr>
          <p:cNvPr id="46"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47"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48"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49"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50"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graphicFrame>
        <p:nvGraphicFramePr>
          <p:cNvPr id="51" name="Table 7"/>
          <p:cNvGraphicFramePr>
            <a:graphicFrameLocks noGrp="1"/>
          </p:cNvGraphicFramePr>
          <p:nvPr>
            <p:extLst>
              <p:ext uri="{D42A27DB-BD31-4B8C-83A1-F6EECF244321}">
                <p14:modId xmlns:p14="http://schemas.microsoft.com/office/powerpoint/2010/main" val="2893031633"/>
              </p:ext>
            </p:extLst>
          </p:nvPr>
        </p:nvGraphicFramePr>
        <p:xfrm>
          <a:off x="457200" y="3429000"/>
          <a:ext cx="4754880" cy="1371600"/>
        </p:xfrm>
        <a:graphic>
          <a:graphicData uri="http://schemas.openxmlformats.org/drawingml/2006/table">
            <a:tbl>
              <a:tblPr>
                <a:tableStyleId>{2D5ABB26-0587-4C30-8999-92F81FD0307C}</a:tableStyleId>
              </a:tblPr>
              <a:tblGrid>
                <a:gridCol w="109728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868680">
                  <a:extLst>
                    <a:ext uri="{9D8B030D-6E8A-4147-A177-3AD203B41FA5}">
                      <a16:colId xmlns:a16="http://schemas.microsoft.com/office/drawing/2014/main" val="20004"/>
                    </a:ext>
                  </a:extLst>
                </a:gridCol>
                <a:gridCol w="868680">
                  <a:extLst>
                    <a:ext uri="{9D8B030D-6E8A-4147-A177-3AD203B41FA5}">
                      <a16:colId xmlns:a16="http://schemas.microsoft.com/office/drawing/2014/main" val="20005"/>
                    </a:ext>
                  </a:extLst>
                </a:gridCol>
              </a:tblGrid>
              <a:tr h="274320">
                <a:tc>
                  <a:txBody>
                    <a:bodyPr/>
                    <a:lstStyle/>
                    <a:p>
                      <a:pPr algn="l">
                        <a:lnSpc>
                          <a:spcPct val="100000"/>
                        </a:lnSpc>
                        <a:spcBef>
                          <a:spcPts val="0"/>
                        </a:spcBef>
                        <a:spcAft>
                          <a:spcPts val="0"/>
                        </a:spcAft>
                      </a:pPr>
                      <a:r>
                        <a:rPr sz="800" b="1" dirty="0">
                          <a:solidFill>
                            <a:srgbClr val="000000"/>
                          </a:solidFill>
                        </a:rPr>
                        <a:t>Soybean DAT 55</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Seed FW (g)</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Seed DW (g)</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Seed no.</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Pod no.</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74320">
                <a:tc>
                  <a:txBody>
                    <a:bodyPr/>
                    <a:lstStyle/>
                    <a:p>
                      <a:pPr algn="l">
                        <a:lnSpc>
                          <a:spcPct val="100000"/>
                        </a:lnSpc>
                        <a:spcBef>
                          <a:spcPts val="0"/>
                        </a:spcBef>
                        <a:spcAft>
                          <a:spcPts val="0"/>
                        </a:spcAft>
                      </a:pPr>
                      <a:r>
                        <a:rPr sz="800" b="0" dirty="0">
                          <a:solidFill>
                            <a:srgbClr val="000000"/>
                          </a:solidFill>
                        </a:rPr>
                        <a:t>Control</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186</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69</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354</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170</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74320">
                <a:tc>
                  <a:txBody>
                    <a:bodyPr/>
                    <a:lstStyle/>
                    <a:p>
                      <a:pPr algn="l">
                        <a:lnSpc>
                          <a:spcPct val="100000"/>
                        </a:lnSpc>
                        <a:spcBef>
                          <a:spcPts val="0"/>
                        </a:spcBef>
                        <a:spcAft>
                          <a:spcPts val="0"/>
                        </a:spcAft>
                      </a:pPr>
                      <a:r>
                        <a:rPr sz="800" b="0">
                          <a:solidFill>
                            <a:srgbClr val="000000"/>
                          </a:solidFill>
                        </a:rPr>
                        <a:t>Drought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dirty="0">
                          <a:solidFill>
                            <a:srgbClr val="000000"/>
                          </a:solidFill>
                        </a:rPr>
                        <a:t>176 (−5%)</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66 (−4%)</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334 (−6%)</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162 (−5%)</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74320">
                <a:tc>
                  <a:txBody>
                    <a:bodyPr/>
                    <a:lstStyle/>
                    <a:p>
                      <a:pPr algn="l">
                        <a:lnSpc>
                          <a:spcPct val="100000"/>
                        </a:lnSpc>
                        <a:spcBef>
                          <a:spcPts val="0"/>
                        </a:spcBef>
                        <a:spcAft>
                          <a:spcPts val="0"/>
                        </a:spcAft>
                      </a:pPr>
                      <a:r>
                        <a:rPr lang="en-US" sz="800" b="0" dirty="0">
                          <a:solidFill>
                            <a:srgbClr val="000000"/>
                          </a:solidFill>
                        </a:rPr>
                        <a:t>Waterlog.</a:t>
                      </a:r>
                      <a:endParaRPr sz="800"/>
                    </a:p>
                  </a:txBody>
                  <a:tcPr marL="54864" marR="54864" marT="18288" marB="18288" anchor="ctr">
                    <a:lnL w="12700">
                      <a:noFill/>
                    </a:lnL>
                    <a:lnR w="12700">
                      <a:noFill/>
                    </a:lnR>
                    <a:lnT w="12700">
                      <a:noFill/>
                    </a:lnT>
                    <a:lnB w="12700" cap="flat" cmpd="sng" algn="ctr">
                      <a:solidFill>
                        <a:schemeClr val="tx1"/>
                      </a:solidFill>
                      <a:prstDash val="solid"/>
                      <a:round/>
                      <a:headEnd type="none" w="med" len="med"/>
                      <a:tailEnd type="none" w="med" len="med"/>
                    </a:lnB>
                    <a:noFill/>
                  </a:tcPr>
                </a:tc>
                <a:tc>
                  <a:txBody>
                    <a:bodyPr/>
                    <a:lstStyle/>
                    <a:p>
                      <a:pPr algn="ctr">
                        <a:lnSpc>
                          <a:spcPct val="100000"/>
                        </a:lnSpc>
                        <a:spcBef>
                          <a:spcPts val="0"/>
                        </a:spcBef>
                        <a:spcAft>
                          <a:spcPts val="0"/>
                        </a:spcAft>
                      </a:pPr>
                      <a:r>
                        <a:rPr sz="800" b="0" dirty="0">
                          <a:solidFill>
                            <a:srgbClr val="000000"/>
                          </a:solidFill>
                        </a:rPr>
                        <a:t>177 (−5%)</a:t>
                      </a:r>
                      <a:endParaRPr sz="800"/>
                    </a:p>
                  </a:txBody>
                  <a:tcPr marL="54864" marR="54864" marT="18288" marB="18288" anchor="ctr">
                    <a:lnL w="12700">
                      <a:noFill/>
                    </a:lnL>
                    <a:lnR w="12700">
                      <a:noFill/>
                    </a:lnR>
                    <a:lnT w="12700">
                      <a:noFill/>
                    </a:lnT>
                    <a:lnB w="12700" cap="flat" cmpd="sng" algn="ctr">
                      <a:solidFill>
                        <a:schemeClr val="tx1"/>
                      </a:solidFill>
                      <a:prstDash val="solid"/>
                      <a:round/>
                      <a:headEnd type="none" w="med" len="med"/>
                      <a:tailEnd type="none" w="med" len="med"/>
                    </a:lnB>
                    <a:noFill/>
                  </a:tcPr>
                </a:tc>
                <a:tc>
                  <a:txBody>
                    <a:bodyPr/>
                    <a:lstStyle/>
                    <a:p>
                      <a:pPr algn="ctr">
                        <a:lnSpc>
                          <a:spcPct val="100000"/>
                        </a:lnSpc>
                        <a:spcBef>
                          <a:spcPts val="0"/>
                        </a:spcBef>
                        <a:spcAft>
                          <a:spcPts val="0"/>
                        </a:spcAft>
                      </a:pPr>
                      <a:r>
                        <a:rPr sz="800" b="0" dirty="0">
                          <a:solidFill>
                            <a:srgbClr val="000000"/>
                          </a:solidFill>
                        </a:rPr>
                        <a:t>63 (−9%)</a:t>
                      </a:r>
                      <a:endParaRPr sz="800"/>
                    </a:p>
                  </a:txBody>
                  <a:tcPr marL="54864" marR="54864" marT="18288" marB="18288" anchor="ctr">
                    <a:lnL w="12700">
                      <a:noFill/>
                    </a:lnL>
                    <a:lnR w="12700">
                      <a:noFill/>
                    </a:lnR>
                    <a:lnT w="12700">
                      <a:noFill/>
                    </a:lnT>
                    <a:lnB w="12700" cap="flat" cmpd="sng" algn="ctr">
                      <a:solidFill>
                        <a:schemeClr val="tx1"/>
                      </a:solidFill>
                      <a:prstDash val="solid"/>
                      <a:round/>
                      <a:headEnd type="none" w="med" len="med"/>
                      <a:tailEnd type="none" w="med" len="med"/>
                    </a:lnB>
                    <a:noFill/>
                  </a:tcPr>
                </a:tc>
                <a:tc>
                  <a:txBody>
                    <a:bodyPr/>
                    <a:lstStyle/>
                    <a:p>
                      <a:pPr algn="ctr">
                        <a:lnSpc>
                          <a:spcPct val="100000"/>
                        </a:lnSpc>
                        <a:spcBef>
                          <a:spcPts val="0"/>
                        </a:spcBef>
                        <a:spcAft>
                          <a:spcPts val="0"/>
                        </a:spcAft>
                      </a:pPr>
                      <a:r>
                        <a:rPr sz="800" b="0" dirty="0">
                          <a:solidFill>
                            <a:srgbClr val="000000"/>
                          </a:solidFill>
                        </a:rPr>
                        <a:t>326</a:t>
                      </a:r>
                      <a:r>
                        <a:rPr sz="800" b="0" dirty="0">
                          <a:solidFill>
                            <a:srgbClr val="000000"/>
                          </a:solidFill>
                        </a:rPr>
                        <a:t> (−8%)</a:t>
                      </a:r>
                      <a:endParaRPr sz="800"/>
                    </a:p>
                  </a:txBody>
                  <a:tcPr marL="54864" marR="54864" marT="18288" marB="18288" anchor="ctr">
                    <a:lnL w="12700">
                      <a:noFill/>
                    </a:lnL>
                    <a:lnR w="12700">
                      <a:noFill/>
                    </a:lnR>
                    <a:lnT w="12700">
                      <a:noFill/>
                    </a:lnT>
                    <a:lnB w="12700" cap="flat" cmpd="sng" algn="ctr">
                      <a:solidFill>
                        <a:schemeClr val="tx1"/>
                      </a:solidFill>
                      <a:prstDash val="solid"/>
                      <a:round/>
                      <a:headEnd type="none" w="med" len="med"/>
                      <a:tailEnd type="none" w="med" len="med"/>
                    </a:lnB>
                    <a:noFill/>
                  </a:tcPr>
                </a:tc>
                <a:tc>
                  <a:txBody>
                    <a:bodyPr/>
                    <a:lstStyle/>
                    <a:p>
                      <a:pPr algn="ctr">
                        <a:lnSpc>
                          <a:spcPct val="100000"/>
                        </a:lnSpc>
                        <a:spcBef>
                          <a:spcPts val="0"/>
                        </a:spcBef>
                        <a:spcAft>
                          <a:spcPts val="0"/>
                        </a:spcAft>
                      </a:pPr>
                      <a:r>
                        <a:rPr sz="800" b="0" dirty="0">
                          <a:solidFill>
                            <a:srgbClr val="000000"/>
                          </a:solidFill>
                        </a:rPr>
                        <a:t>163 (−4%)</a:t>
                      </a:r>
                      <a:endParaRPr sz="800"/>
                    </a:p>
                  </a:txBody>
                  <a:tcPr marL="54864" marR="54864" marT="18288" marB="18288" anchor="ctr">
                    <a:lnL w="12700">
                      <a:noFill/>
                    </a:lnL>
                    <a:lnR w="12700">
                      <a:noFill/>
                    </a:lnR>
                    <a:lnT w="12700">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74320">
                <a:tc>
                  <a:txBody>
                    <a:bodyPr/>
                    <a:lstStyle/>
                    <a:p>
                      <a:pPr algn="l">
                        <a:lnSpc>
                          <a:spcPct val="100000"/>
                        </a:lnSpc>
                        <a:spcBef>
                          <a:spcPts val="0"/>
                        </a:spcBef>
                        <a:spcAft>
                          <a:spcPts val="0"/>
                        </a:spcAft>
                      </a:pPr>
                      <a:r>
                        <a:rPr lang="en-US" sz="800" b="0" dirty="0">
                          <a:solidFill>
                            <a:srgbClr val="000000"/>
                          </a:solidFill>
                        </a:rPr>
                        <a:t>Combined</a:t>
                      </a:r>
                      <a:endParaRPr sz="800"/>
                    </a:p>
                  </a:txBody>
                  <a:tcPr marL="54864" marR="54864" marT="18288" marB="18288" anchor="ctr">
                    <a:lnL w="12700">
                      <a:noFill/>
                    </a:lnL>
                    <a:lnR w="12700">
                      <a:noFill/>
                    </a:lnR>
                    <a:lnT w="12700" cap="flat" cmpd="sng" algn="ctr">
                      <a:solidFill>
                        <a:schemeClr val="tx1"/>
                      </a:solidFill>
                      <a:prstDash val="solid"/>
                      <a:round/>
                      <a:headEnd type="none" w="med" len="med"/>
                      <a:tailEnd type="none" w="med" len="med"/>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161 (−14%)</a:t>
                      </a:r>
                      <a:endParaRPr sz="800"/>
                    </a:p>
                  </a:txBody>
                  <a:tcPr marL="54864" marR="54864" marT="18288" marB="18288" anchor="ctr">
                    <a:lnL w="12700">
                      <a:noFill/>
                    </a:lnL>
                    <a:lnR w="12700">
                      <a:noFill/>
                    </a:lnR>
                    <a:lnT w="12700" cap="flat" cmpd="sng" algn="ctr">
                      <a:solidFill>
                        <a:schemeClr val="tx1"/>
                      </a:solidFill>
                      <a:prstDash val="solid"/>
                      <a:round/>
                      <a:headEnd type="none" w="med" len="med"/>
                      <a:tailEnd type="none" w="med" len="med"/>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57 (−18%)</a:t>
                      </a:r>
                      <a:endParaRPr sz="800"/>
                    </a:p>
                  </a:txBody>
                  <a:tcPr marL="54864" marR="54864" marT="18288" marB="18288" anchor="ctr">
                    <a:lnL w="12700">
                      <a:noFill/>
                    </a:lnL>
                    <a:lnR w="12700">
                      <a:noFill/>
                    </a:lnR>
                    <a:lnT w="12700" cap="flat" cmpd="sng" algn="ctr">
                      <a:solidFill>
                        <a:schemeClr val="tx1"/>
                      </a:solidFill>
                      <a:prstDash val="solid"/>
                      <a:round/>
                      <a:headEnd type="none" w="med" len="med"/>
                      <a:tailEnd type="none" w="med" len="med"/>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300 (−15%)</a:t>
                      </a:r>
                      <a:endParaRPr sz="800"/>
                    </a:p>
                  </a:txBody>
                  <a:tcPr marL="54864" marR="54864" marT="18288" marB="18288" anchor="ctr">
                    <a:lnL w="12700">
                      <a:noFill/>
                    </a:lnL>
                    <a:lnR w="12700">
                      <a:noFill/>
                    </a:lnR>
                    <a:lnT w="12700" cap="flat" cmpd="sng" algn="ctr">
                      <a:solidFill>
                        <a:schemeClr val="tx1"/>
                      </a:solidFill>
                      <a:prstDash val="solid"/>
                      <a:round/>
                      <a:headEnd type="none" w="med" len="med"/>
                      <a:tailEnd type="none" w="med" len="med"/>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144 (−15%)</a:t>
                      </a:r>
                      <a:endParaRPr sz="800"/>
                    </a:p>
                  </a:txBody>
                  <a:tcPr marL="54864" marR="54864" marT="18288" marB="18288" anchor="ctr">
                    <a:lnL w="12700">
                      <a:noFill/>
                    </a:lnL>
                    <a:lnR w="12700">
                      <a:noFill/>
                    </a:lnR>
                    <a:lnT w="12700" cap="flat" cmpd="sng" algn="ctr">
                      <a:solidFill>
                        <a:schemeClr val="tx1"/>
                      </a:solidFill>
                      <a:prstDash val="solid"/>
                      <a:round/>
                      <a:headEnd type="none" w="med" len="med"/>
                      <a:tailEnd type="none" w="med" len="med"/>
                    </a:lnT>
                    <a:lnB w="19050" cap="flat" cmpd="sng" algn="ctr">
                      <a:solidFill>
                        <a:srgbClr val="000000"/>
                      </a:solidFill>
                      <a:prstDash val="solid"/>
                    </a:lnB>
                    <a:noFill/>
                  </a:tcPr>
                </a:tc>
                <a:extLst>
                  <a:ext uri="{0D108BD9-81ED-4DB2-BD59-A6C34878D82A}">
                    <a16:rowId xmlns:a16="http://schemas.microsoft.com/office/drawing/2014/main" val="10004"/>
                  </a:ext>
                </a:extLst>
              </a:tr>
            </a:tbl>
          </a:graphicData>
        </a:graphic>
      </p:graphicFrame>
      <p:graphicFrame>
        <p:nvGraphicFramePr>
          <p:cNvPr id="52" name="Table 7"/>
          <p:cNvGraphicFramePr>
            <a:graphicFrameLocks noGrp="1"/>
          </p:cNvGraphicFramePr>
          <p:nvPr>
            <p:extLst>
              <p:ext uri="{D42A27DB-BD31-4B8C-83A1-F6EECF244321}">
                <p14:modId xmlns:p14="http://schemas.microsoft.com/office/powerpoint/2010/main" val="2893031633"/>
              </p:ext>
            </p:extLst>
          </p:nvPr>
        </p:nvGraphicFramePr>
        <p:xfrm>
          <a:off x="5532120" y="3429000"/>
          <a:ext cx="3154679" cy="1371600"/>
        </p:xfrm>
        <a:graphic>
          <a:graphicData uri="http://schemas.openxmlformats.org/drawingml/2006/table">
            <a:tbl>
              <a:tblPr>
                <a:tableStyleId>{2D5ABB26-0587-4C30-8999-92F81FD0307C}</a:tableStyleId>
              </a:tblPr>
              <a:tblGrid>
                <a:gridCol w="105156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tblGrid>
              <a:tr h="274320">
                <a:tc>
                  <a:txBody>
                    <a:bodyPr/>
                    <a:lstStyle/>
                    <a:p>
                      <a:pPr algn="l">
                        <a:lnSpc>
                          <a:spcPct val="100000"/>
                        </a:lnSpc>
                        <a:spcBef>
                          <a:spcPts val="0"/>
                        </a:spcBef>
                        <a:spcAft>
                          <a:spcPts val="0"/>
                        </a:spcAft>
                      </a:pPr>
                      <a:r>
                        <a:rPr sz="800" b="1" dirty="0">
                          <a:solidFill>
                            <a:srgbClr val="000000"/>
                          </a:solidFill>
                        </a:rPr>
                        <a:t>Lettuce DAT 16</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Shoot FW (g)</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Shoot DW (g)</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74320">
                <a:tc>
                  <a:txBody>
                    <a:bodyPr/>
                    <a:lstStyle/>
                    <a:p>
                      <a:pPr algn="l">
                        <a:lnSpc>
                          <a:spcPct val="100000"/>
                        </a:lnSpc>
                        <a:spcBef>
                          <a:spcPts val="0"/>
                        </a:spcBef>
                        <a:spcAft>
                          <a:spcPts val="0"/>
                        </a:spcAft>
                      </a:pPr>
                      <a:r>
                        <a:rPr sz="800" b="0" dirty="0">
                          <a:solidFill>
                            <a:srgbClr val="000000"/>
                          </a:solidFill>
                        </a:rPr>
                        <a:t>Control</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90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6.5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74320">
                <a:tc>
                  <a:txBody>
                    <a:bodyPr/>
                    <a:lstStyle/>
                    <a:p>
                      <a:pPr algn="l">
                        <a:lnSpc>
                          <a:spcPct val="100000"/>
                        </a:lnSpc>
                        <a:spcBef>
                          <a:spcPts val="0"/>
                        </a:spcBef>
                        <a:spcAft>
                          <a:spcPts val="0"/>
                        </a:spcAft>
                      </a:pPr>
                      <a:r>
                        <a:rPr sz="800" b="0">
                          <a:solidFill>
                            <a:srgbClr val="000000"/>
                          </a:solidFill>
                        </a:rPr>
                        <a:t>Drought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dirty="0">
                          <a:solidFill>
                            <a:srgbClr val="000000"/>
                          </a:solidFill>
                        </a:rPr>
                        <a:t>63 b (−29%)</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5.4 ab (−16%)</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74320">
                <a:tc>
                  <a:txBody>
                    <a:bodyPr/>
                    <a:lstStyle/>
                    <a:p>
                      <a:pPr algn="l">
                        <a:lnSpc>
                          <a:spcPct val="100000"/>
                        </a:lnSpc>
                        <a:spcBef>
                          <a:spcPts val="0"/>
                        </a:spcBef>
                        <a:spcAft>
                          <a:spcPts val="0"/>
                        </a:spcAft>
                      </a:pPr>
                      <a:r>
                        <a:rPr lang="en-US" sz="800" b="0" dirty="0">
                          <a:solidFill>
                            <a:srgbClr val="000000"/>
                          </a:solidFill>
                        </a:rPr>
                        <a:t>Waterlog.</a:t>
                      </a:r>
                      <a:endParaRPr sz="800"/>
                    </a:p>
                  </a:txBody>
                  <a:tcPr marL="54864" marR="54864" marT="18288" marB="18288" anchor="ctr">
                    <a:lnL w="12700">
                      <a:noFill/>
                    </a:lnL>
                    <a:lnR w="12700">
                      <a:noFill/>
                    </a:lnR>
                    <a:lnT w="12700">
                      <a:noFill/>
                    </a:lnT>
                    <a:lnB w="12700" cap="flat" cmpd="sng" algn="ctr">
                      <a:solidFill>
                        <a:schemeClr val="tx1"/>
                      </a:solidFill>
                      <a:prstDash val="solid"/>
                      <a:round/>
                      <a:headEnd type="none" w="med" len="med"/>
                      <a:tailEnd type="none" w="med" len="med"/>
                    </a:lnB>
                    <a:noFill/>
                  </a:tcPr>
                </a:tc>
                <a:tc>
                  <a:txBody>
                    <a:bodyPr/>
                    <a:lstStyle/>
                    <a:p>
                      <a:pPr algn="ctr">
                        <a:lnSpc>
                          <a:spcPct val="100000"/>
                        </a:lnSpc>
                        <a:spcBef>
                          <a:spcPts val="0"/>
                        </a:spcBef>
                        <a:spcAft>
                          <a:spcPts val="0"/>
                        </a:spcAft>
                      </a:pPr>
                      <a:r>
                        <a:rPr sz="800" b="0" dirty="0">
                          <a:solidFill>
                            <a:srgbClr val="000000"/>
                          </a:solidFill>
                        </a:rPr>
                        <a:t>66 b (−26%)</a:t>
                      </a:r>
                      <a:endParaRPr sz="800"/>
                    </a:p>
                  </a:txBody>
                  <a:tcPr marL="54864" marR="54864" marT="18288" marB="18288" anchor="ctr">
                    <a:lnL w="12700">
                      <a:noFill/>
                    </a:lnL>
                    <a:lnR w="12700">
                      <a:noFill/>
                    </a:lnR>
                    <a:lnT w="12700">
                      <a:noFill/>
                    </a:lnT>
                    <a:lnB w="12700" cap="flat" cmpd="sng" algn="ctr">
                      <a:solidFill>
                        <a:schemeClr val="tx1"/>
                      </a:solidFill>
                      <a:prstDash val="solid"/>
                      <a:round/>
                      <a:headEnd type="none" w="med" len="med"/>
                      <a:tailEnd type="none" w="med" len="med"/>
                    </a:lnB>
                    <a:noFill/>
                  </a:tcPr>
                </a:tc>
                <a:tc>
                  <a:txBody>
                    <a:bodyPr/>
                    <a:lstStyle/>
                    <a:p>
                      <a:pPr algn="ctr">
                        <a:lnSpc>
                          <a:spcPct val="100000"/>
                        </a:lnSpc>
                        <a:spcBef>
                          <a:spcPts val="0"/>
                        </a:spcBef>
                        <a:spcAft>
                          <a:spcPts val="0"/>
                        </a:spcAft>
                      </a:pPr>
                      <a:r>
                        <a:rPr sz="800" b="0" dirty="0">
                          <a:solidFill>
                            <a:srgbClr val="000000"/>
                          </a:solidFill>
                        </a:rPr>
                        <a:t>4.3 bc (−34%)</a:t>
                      </a:r>
                      <a:endParaRPr sz="800"/>
                    </a:p>
                  </a:txBody>
                  <a:tcPr marL="54864" marR="54864" marT="18288" marB="18288" anchor="ctr">
                    <a:lnL w="12700">
                      <a:noFill/>
                    </a:lnL>
                    <a:lnR w="12700">
                      <a:noFill/>
                    </a:lnR>
                    <a:lnT w="12700">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74320">
                <a:tc>
                  <a:txBody>
                    <a:bodyPr/>
                    <a:lstStyle/>
                    <a:p>
                      <a:pPr algn="l">
                        <a:lnSpc>
                          <a:spcPct val="100000"/>
                        </a:lnSpc>
                        <a:spcBef>
                          <a:spcPts val="0"/>
                        </a:spcBef>
                        <a:spcAft>
                          <a:spcPts val="0"/>
                        </a:spcAft>
                      </a:pPr>
                      <a:r>
                        <a:rPr lang="en-US" sz="800" b="0" dirty="0">
                          <a:solidFill>
                            <a:srgbClr val="000000"/>
                          </a:solidFill>
                        </a:rPr>
                        <a:t>Combined</a:t>
                      </a:r>
                      <a:endParaRPr sz="800"/>
                    </a:p>
                  </a:txBody>
                  <a:tcPr marL="54864" marR="54864" marT="18288" marB="18288" anchor="ctr">
                    <a:lnL w="12700">
                      <a:noFill/>
                    </a:lnL>
                    <a:lnR w="12700">
                      <a:noFill/>
                    </a:lnR>
                    <a:lnT w="12700" cap="flat" cmpd="sng" algn="ctr">
                      <a:solidFill>
                        <a:schemeClr val="tx1"/>
                      </a:solidFill>
                      <a:prstDash val="solid"/>
                      <a:round/>
                      <a:headEnd type="none" w="med" len="med"/>
                      <a:tailEnd type="none" w="med" len="med"/>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55 b (−38%)</a:t>
                      </a:r>
                      <a:endParaRPr sz="800"/>
                    </a:p>
                  </a:txBody>
                  <a:tcPr marL="54864" marR="54864" marT="18288" marB="18288" anchor="ctr">
                    <a:lnL w="12700">
                      <a:noFill/>
                    </a:lnL>
                    <a:lnR w="12700">
                      <a:noFill/>
                    </a:lnR>
                    <a:lnT w="12700" cap="flat" cmpd="sng" algn="ctr">
                      <a:solidFill>
                        <a:schemeClr val="tx1"/>
                      </a:solidFill>
                      <a:prstDash val="solid"/>
                      <a:round/>
                      <a:headEnd type="none" w="med" len="med"/>
                      <a:tailEnd type="none" w="med" len="med"/>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3.7 c (−43%)</a:t>
                      </a:r>
                      <a:endParaRPr sz="800"/>
                    </a:p>
                  </a:txBody>
                  <a:tcPr marL="54864" marR="54864" marT="18288" marB="18288" anchor="ctr">
                    <a:lnL w="12700">
                      <a:noFill/>
                    </a:lnL>
                    <a:lnR w="12700">
                      <a:noFill/>
                    </a:lnR>
                    <a:lnT w="12700" cap="flat" cmpd="sng" algn="ctr">
                      <a:solidFill>
                        <a:schemeClr val="tx1"/>
                      </a:solidFill>
                      <a:prstDash val="solid"/>
                      <a:round/>
                      <a:headEnd type="none" w="med" len="med"/>
                      <a:tailEnd type="none" w="med" len="med"/>
                    </a:lnT>
                    <a:lnB w="19050" cap="flat" cmpd="sng" algn="ctr">
                      <a:solidFill>
                        <a:srgbClr val="000000"/>
                      </a:solidFill>
                      <a:prstDash val="solid"/>
                    </a:lnB>
                    <a:noFill/>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fade">
                                      <p:cBhvr>
                                        <p:cTn id="10" dur="500"/>
                                        <p:tgtEl>
                                          <p:spTgt spid="3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3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 name="Picture 64" descr="recap2_bean.png"/>
          <p:cNvPicPr>
            <a:picLocks noChangeAspect="1"/>
          </p:cNvPicPr>
          <p:nvPr/>
        </p:nvPicPr>
        <p:blipFill>
          <a:blip r:embed="rId5"/>
          <a:stretch>
            <a:fillRect/>
          </a:stretch>
        </p:blipFill>
        <p:spPr>
          <a:xfrm>
            <a:off x="502920" y="2148840"/>
            <a:ext cx="11155680" cy="3566160"/>
          </a:xfrm>
          <a:prstGeom prst="rect">
            <a:avLst/>
          </a:prstGeom>
        </p:spPr>
      </p:pic>
      <p:sp>
        <p:nvSpPr>
          <p:cNvPr id="2" name="Title 1"/>
          <p:cNvSpPr>
            <a:spLocks noGrp="1"/>
          </p:cNvSpPr>
          <p:nvPr>
            <p:ph type="title"/>
          </p:nvPr>
        </p:nvSpPr>
        <p:spPr>
          <a:xfrm>
            <a:off x="841248" y="420624"/>
            <a:ext cx="8549640" cy="566928"/>
          </a:xfrm>
        </p:spPr>
        <p:txBody>
          <a:bodyPr anchor="b">
            <a:normAutofit/>
          </a:bodyPr>
          <a:lstStyle/>
          <a:p>
            <a:r>
              <a:rPr lang="ko-KR" altLang="en-US" sz="2800" dirty="0"/>
              <a:t>콩 : 지표별 반응 총정리 및 고찰</a:t>
            </a:r>
          </a:p>
        </p:txBody>
      </p:sp>
      <p:pic>
        <p:nvPicPr>
          <p:cNvPr id="3" name="Logo" descr="image.png"/>
          <p:cNvPicPr>
            <a:picLocks noChangeAspect="1"/>
          </p:cNvPicPr>
          <p:nvPr/>
        </p:nvPicPr>
        <p:blipFill>
          <a:blip r:embed="rId4"/>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15</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콩은 생리 지표에서 차이가 있었고, 수량에는 감소하는 경향이 보였지만 큰 차이가 없었다</a:t>
            </a:r>
          </a:p>
        </p:txBody>
      </p:sp>
      <p:sp>
        <p:nvSpPr>
          <p:cNvPr id="52"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53"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54"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55" name="Nav 고찰"/>
          <p:cNvSpPr txBox="1"/>
          <p:nvPr/>
        </p:nvSpPr>
        <p:spPr>
          <a:xfrm>
            <a:off x="4956048" y="100584"/>
            <a:ext cx="1371600" cy="329184"/>
          </a:xfrm>
          <a:prstGeom prst="rect">
            <a:avLst/>
          </a:prstGeom>
          <a:noFill/>
        </p:spPr>
        <p:txBody>
          <a:bodyPr wrap="none" lIns="0" tIns="0" rIns="0" bIns="0" anchor="ctr">
            <a:spAutoFit/>
          </a:bodyPr>
          <a:lstStyle/>
          <a:p>
            <a:pPr algn="ctr"/>
            <a:r>
              <a:rPr sz="1450" b="1" u="sng">
                <a:solidFill>
                  <a:srgbClr val="1A1A1A"/>
                </a:solidFill>
              </a:rPr>
              <a:t>고찰</a:t>
            </a:r>
          </a:p>
        </p:txBody>
      </p:sp>
      <p:sp>
        <p:nvSpPr>
          <p:cNvPr id="56"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58" name="Rounded Rectangle 57"/>
          <p:cNvSpPr/>
          <p:nvPr/>
        </p:nvSpPr>
        <p:spPr>
          <a:xfrm>
            <a:off x="965621"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ctr"/>
            <a:r>
              <a:rPr sz="1300" b="1">
                <a:solidFill>
                  <a:srgbClr val="FFFFFF"/>
                </a:solidFill>
              </a:rPr>
              <a:t>① 기공</a:t>
            </a:r>
          </a:p>
          <a:p>
            <a:pPr algn="ctr"/>
            <a:r>
              <a:rPr sz="1050">
                <a:solidFill>
                  <a:srgbClr val="FFFFFF"/>
                </a:solidFill>
              </a:rPr>
              <a:t>gsw 회복</a:t>
            </a:r>
          </a:p>
        </p:txBody>
      </p:sp>
      <p:sp>
        <p:nvSpPr>
          <p:cNvPr id="59" name="Right Arrow 58"/>
          <p:cNvSpPr/>
          <p:nvPr/>
        </p:nvSpPr>
        <p:spPr>
          <a:xfrm>
            <a:off x="3403140"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ounded Rectangle 59"/>
          <p:cNvSpPr/>
          <p:nvPr/>
        </p:nvSpPr>
        <p:spPr>
          <a:xfrm>
            <a:off x="3828980"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ctr"/>
            <a:r>
              <a:rPr sz="1300" b="1">
                <a:solidFill>
                  <a:srgbClr val="FFFFFF"/>
                </a:solidFill>
              </a:rPr>
              <a:t>② 명반응</a:t>
            </a:r>
          </a:p>
          <a:p>
            <a:pPr algn="ctr"/>
            <a:r>
              <a:rPr sz="1050">
                <a:solidFill>
                  <a:srgbClr val="FFFFFF"/>
                </a:solidFill>
              </a:rPr>
              <a:t>Φ</a:t>
            </a:r>
            <a:r>
              <a:rPr sz="1050" baseline="-25000">
                <a:solidFill>
                  <a:srgbClr val="FFFFFF"/>
                </a:solidFill>
              </a:rPr>
              <a:t>PSII</a:t>
            </a:r>
            <a:r>
              <a:rPr sz="1050">
                <a:solidFill>
                  <a:srgbClr val="FFFFFF"/>
                </a:solidFill>
              </a:rPr>
              <a:t> · Φ</a:t>
            </a:r>
            <a:r>
              <a:rPr sz="1050" baseline="-25000">
                <a:solidFill>
                  <a:srgbClr val="FFFFFF"/>
                </a:solidFill>
              </a:rPr>
              <a:t>NPQ</a:t>
            </a:r>
            <a:r>
              <a:rPr sz="1050">
                <a:solidFill>
                  <a:srgbClr val="FFFFFF"/>
                </a:solidFill>
              </a:rPr>
              <a:t> · Φ</a:t>
            </a:r>
            <a:r>
              <a:rPr sz="1050" baseline="-25000">
                <a:solidFill>
                  <a:srgbClr val="FFFFFF"/>
                </a:solidFill>
              </a:rPr>
              <a:t>NO</a:t>
            </a:r>
            <a:r>
              <a:rPr sz="1050">
                <a:solidFill>
                  <a:srgbClr val="FFFFFF"/>
                </a:solidFill>
              </a:rPr>
              <a:t> 비율</a:t>
            </a:r>
          </a:p>
        </p:txBody>
      </p:sp>
      <p:sp>
        <p:nvSpPr>
          <p:cNvPr id="61" name="Right Arrow 60"/>
          <p:cNvSpPr/>
          <p:nvPr/>
        </p:nvSpPr>
        <p:spPr>
          <a:xfrm>
            <a:off x="6239409"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ounded Rectangle 61"/>
          <p:cNvSpPr/>
          <p:nvPr/>
        </p:nvSpPr>
        <p:spPr>
          <a:xfrm>
            <a:off x="6638159"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ctr"/>
            <a:r>
              <a:rPr sz="1300" b="1">
                <a:solidFill>
                  <a:srgbClr val="FFFFFF"/>
                </a:solidFill>
              </a:rPr>
              <a:t>③ 광합성 능력</a:t>
            </a:r>
          </a:p>
          <a:p>
            <a:pPr algn="ctr"/>
            <a:r>
              <a:rPr sz="1050">
                <a:solidFill>
                  <a:srgbClr val="FFFFFF"/>
                </a:solidFill>
              </a:rPr>
              <a:t>Vcmax · Jmax</a:t>
            </a:r>
          </a:p>
        </p:txBody>
      </p:sp>
      <p:sp>
        <p:nvSpPr>
          <p:cNvPr id="63" name="Right Arrow 62"/>
          <p:cNvSpPr/>
          <p:nvPr/>
        </p:nvSpPr>
        <p:spPr>
          <a:xfrm>
            <a:off x="8994410"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ounded Rectangle 63"/>
          <p:cNvSpPr/>
          <p:nvPr/>
        </p:nvSpPr>
        <p:spPr>
          <a:xfrm>
            <a:off x="9338981"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ctr"/>
            <a:r>
              <a:rPr sz="1300" b="1">
                <a:solidFill>
                  <a:srgbClr val="FFFFFF"/>
                </a:solidFill>
              </a:rPr>
              <a:t>④ 수량</a:t>
            </a:r>
          </a:p>
          <a:p>
            <a:pPr algn="ctr"/>
            <a:r>
              <a:rPr sz="1050">
                <a:solidFill>
                  <a:srgbClr val="FFFFFF"/>
                </a:solidFill>
              </a:rPr>
              <a:t>종실 생체중</a:t>
            </a:r>
          </a:p>
        </p:txBody>
      </p:sp>
      <p:sp>
        <p:nvSpPr>
          <p:cNvPr id="7" name="직사각형 6">
            <a:extLst>
              <a:ext uri="{FF2B5EF4-FFF2-40B4-BE49-F238E27FC236}">
                <a16:creationId xmlns:a16="http://schemas.microsoft.com/office/drawing/2014/main" id="{F2C72CA3-8F70-2442-8D82-5E3D9391C945}"/>
              </a:ext>
            </a:extLst>
          </p:cNvPr>
          <p:cNvSpPr/>
          <p:nvPr/>
        </p:nvSpPr>
        <p:spPr>
          <a:xfrm>
            <a:off x="7186799" y="1828800"/>
            <a:ext cx="1371600" cy="2743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200" dirty="0"/>
              <a:t>건조, 복합 ↓</a:t>
            </a:r>
          </a:p>
        </p:txBody>
      </p:sp>
      <p:sp>
        <p:nvSpPr>
          <p:cNvPr id="9" name="직사각형 8">
            <a:extLst>
              <a:ext uri="{FF2B5EF4-FFF2-40B4-BE49-F238E27FC236}">
                <a16:creationId xmlns:a16="http://schemas.microsoft.com/office/drawing/2014/main" id="{257BA967-62DE-9EE1-D03F-FA8E669737C8}"/>
              </a:ext>
            </a:extLst>
          </p:cNvPr>
          <p:cNvSpPr/>
          <p:nvPr/>
        </p:nvSpPr>
        <p:spPr>
          <a:xfrm>
            <a:off x="9887621" y="1828800"/>
            <a:ext cx="1371600" cy="2743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200" dirty="0"/>
              <a:t>복합 ↓</a:t>
            </a:r>
          </a:p>
        </p:txBody>
      </p:sp>
      <p:sp>
        <p:nvSpPr>
          <p:cNvPr id="11" name="직사각형 10">
            <a:extLst>
              <a:ext uri="{FF2B5EF4-FFF2-40B4-BE49-F238E27FC236}">
                <a16:creationId xmlns:a16="http://schemas.microsoft.com/office/drawing/2014/main" id="{999A3BDB-5EA9-95F4-4F7F-1C507C37851F}"/>
              </a:ext>
            </a:extLst>
          </p:cNvPr>
          <p:cNvSpPr/>
          <p:nvPr/>
        </p:nvSpPr>
        <p:spPr>
          <a:xfrm>
            <a:off x="4377620" y="1828800"/>
            <a:ext cx="1371600" cy="2743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200" dirty="0"/>
              <a:t>건조, 복합 ↑</a:t>
            </a:r>
          </a:p>
        </p:txBody>
      </p:sp>
      <p:sp>
        <p:nvSpPr>
          <p:cNvPr id="13" name="직사각형 12">
            <a:extLst>
              <a:ext uri="{FF2B5EF4-FFF2-40B4-BE49-F238E27FC236}">
                <a16:creationId xmlns:a16="http://schemas.microsoft.com/office/drawing/2014/main" id="{591DE11C-8293-4AEA-12CF-6F63D7BC4625}"/>
              </a:ext>
            </a:extLst>
          </p:cNvPr>
          <p:cNvSpPr/>
          <p:nvPr/>
        </p:nvSpPr>
        <p:spPr>
          <a:xfrm>
            <a:off x="1514261" y="1828800"/>
            <a:ext cx="1371600" cy="2743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200" dirty="0"/>
              <a:t>건조, 복합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 name="Picture 64" descr="recap2_lettuce.png"/>
          <p:cNvPicPr>
            <a:picLocks noChangeAspect="1"/>
          </p:cNvPicPr>
          <p:nvPr/>
        </p:nvPicPr>
        <p:blipFill>
          <a:blip r:embed="rId5"/>
          <a:stretch>
            <a:fillRect/>
          </a:stretch>
        </p:blipFill>
        <p:spPr>
          <a:xfrm>
            <a:off x="502920" y="2148840"/>
            <a:ext cx="11155680" cy="3566160"/>
          </a:xfrm>
          <a:prstGeom prst="rect">
            <a:avLst/>
          </a:prstGeom>
        </p:spPr>
      </p:pic>
      <p:sp>
        <p:nvSpPr>
          <p:cNvPr id="2" name="Title 1"/>
          <p:cNvSpPr>
            <a:spLocks noGrp="1"/>
          </p:cNvSpPr>
          <p:nvPr>
            <p:ph type="title"/>
          </p:nvPr>
        </p:nvSpPr>
        <p:spPr>
          <a:xfrm>
            <a:off x="841247" y="420624"/>
            <a:ext cx="9966089" cy="566928"/>
          </a:xfrm>
        </p:spPr>
        <p:txBody>
          <a:bodyPr anchor="b">
            <a:normAutofit/>
          </a:bodyPr>
          <a:lstStyle/>
          <a:p>
            <a:r>
              <a:rPr lang="ko-KR" altLang="en-US" sz="2800" dirty="0"/>
              <a:t>상추 : 지표별 반응 총정리 및 고찰</a:t>
            </a:r>
          </a:p>
        </p:txBody>
      </p:sp>
      <p:pic>
        <p:nvPicPr>
          <p:cNvPr id="3" name="Logo" descr="image.png"/>
          <p:cNvPicPr>
            <a:picLocks noChangeAspect="1"/>
          </p:cNvPicPr>
          <p:nvPr/>
        </p:nvPicPr>
        <p:blipFill>
          <a:blip r:embed="rId4"/>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16</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lang="ko-KR" altLang="en-US" sz="1600" dirty="0">
                <a:solidFill>
                  <a:srgbClr val="E97132"/>
                </a:solidFill>
              </a:rPr>
              <a:t>상추는 회복이 빨랐지만 침수 기간 동안의 손실이 유지됨</a:t>
            </a:r>
            <a:endParaRPr sz="1600" dirty="0">
              <a:solidFill>
                <a:srgbClr val="E97132"/>
              </a:solidFill>
            </a:endParaRPr>
          </a:p>
        </p:txBody>
      </p:sp>
      <p:sp>
        <p:nvSpPr>
          <p:cNvPr id="52"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53"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54"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55" name="Nav 고찰"/>
          <p:cNvSpPr txBox="1"/>
          <p:nvPr/>
        </p:nvSpPr>
        <p:spPr>
          <a:xfrm>
            <a:off x="4956048" y="100584"/>
            <a:ext cx="1371600" cy="329184"/>
          </a:xfrm>
          <a:prstGeom prst="rect">
            <a:avLst/>
          </a:prstGeom>
          <a:noFill/>
        </p:spPr>
        <p:txBody>
          <a:bodyPr wrap="none" lIns="0" tIns="0" rIns="0" bIns="0" anchor="ctr">
            <a:spAutoFit/>
          </a:bodyPr>
          <a:lstStyle/>
          <a:p>
            <a:pPr algn="ctr"/>
            <a:r>
              <a:rPr sz="1450" b="1" u="sng">
                <a:solidFill>
                  <a:srgbClr val="1A1A1A"/>
                </a:solidFill>
              </a:rPr>
              <a:t>고찰</a:t>
            </a:r>
          </a:p>
        </p:txBody>
      </p:sp>
      <p:sp>
        <p:nvSpPr>
          <p:cNvPr id="56"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58" name="Rounded Rectangle 57"/>
          <p:cNvSpPr/>
          <p:nvPr/>
        </p:nvSpPr>
        <p:spPr>
          <a:xfrm>
            <a:off x="965621"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ctr"/>
            <a:r>
              <a:rPr sz="1300" b="1">
                <a:solidFill>
                  <a:srgbClr val="FFFFFF"/>
                </a:solidFill>
              </a:rPr>
              <a:t>① 기공</a:t>
            </a:r>
          </a:p>
          <a:p>
            <a:pPr algn="ctr"/>
            <a:r>
              <a:rPr sz="1050">
                <a:solidFill>
                  <a:srgbClr val="FFFFFF"/>
                </a:solidFill>
              </a:rPr>
              <a:t>gsw 회복</a:t>
            </a:r>
          </a:p>
        </p:txBody>
      </p:sp>
      <p:sp>
        <p:nvSpPr>
          <p:cNvPr id="59" name="Right Arrow 58"/>
          <p:cNvSpPr/>
          <p:nvPr/>
        </p:nvSpPr>
        <p:spPr>
          <a:xfrm>
            <a:off x="3403140"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ounded Rectangle 59"/>
          <p:cNvSpPr/>
          <p:nvPr/>
        </p:nvSpPr>
        <p:spPr>
          <a:xfrm>
            <a:off x="3828980"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ctr"/>
            <a:r>
              <a:rPr sz="1300" b="1">
                <a:solidFill>
                  <a:srgbClr val="FFFFFF"/>
                </a:solidFill>
              </a:rPr>
              <a:t>② 명반응</a:t>
            </a:r>
          </a:p>
          <a:p>
            <a:pPr algn="ctr"/>
            <a:r>
              <a:rPr sz="1050">
                <a:solidFill>
                  <a:srgbClr val="FFFFFF"/>
                </a:solidFill>
              </a:rPr>
              <a:t>Φ</a:t>
            </a:r>
            <a:r>
              <a:rPr sz="1050" baseline="-25000">
                <a:solidFill>
                  <a:srgbClr val="FFFFFF"/>
                </a:solidFill>
              </a:rPr>
              <a:t>PSII</a:t>
            </a:r>
            <a:r>
              <a:rPr sz="1050">
                <a:solidFill>
                  <a:srgbClr val="FFFFFF"/>
                </a:solidFill>
              </a:rPr>
              <a:t> · Φ</a:t>
            </a:r>
            <a:r>
              <a:rPr sz="1050" baseline="-25000">
                <a:solidFill>
                  <a:srgbClr val="FFFFFF"/>
                </a:solidFill>
              </a:rPr>
              <a:t>NPQ</a:t>
            </a:r>
            <a:r>
              <a:rPr sz="1050">
                <a:solidFill>
                  <a:srgbClr val="FFFFFF"/>
                </a:solidFill>
              </a:rPr>
              <a:t> · Φ</a:t>
            </a:r>
            <a:r>
              <a:rPr sz="1050" baseline="-25000">
                <a:solidFill>
                  <a:srgbClr val="FFFFFF"/>
                </a:solidFill>
              </a:rPr>
              <a:t>NO</a:t>
            </a:r>
            <a:r>
              <a:rPr sz="1050">
                <a:solidFill>
                  <a:srgbClr val="FFFFFF"/>
                </a:solidFill>
              </a:rPr>
              <a:t> 비율</a:t>
            </a:r>
          </a:p>
        </p:txBody>
      </p:sp>
      <p:sp>
        <p:nvSpPr>
          <p:cNvPr id="61" name="Right Arrow 60"/>
          <p:cNvSpPr/>
          <p:nvPr/>
        </p:nvSpPr>
        <p:spPr>
          <a:xfrm>
            <a:off x="6239409"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ounded Rectangle 61"/>
          <p:cNvSpPr/>
          <p:nvPr/>
        </p:nvSpPr>
        <p:spPr>
          <a:xfrm>
            <a:off x="6638159"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ctr"/>
            <a:r>
              <a:rPr sz="1300" b="1">
                <a:solidFill>
                  <a:srgbClr val="FFFFFF"/>
                </a:solidFill>
              </a:rPr>
              <a:t>③ 광합성 능력</a:t>
            </a:r>
          </a:p>
          <a:p>
            <a:pPr algn="ctr"/>
            <a:r>
              <a:rPr sz="1050">
                <a:solidFill>
                  <a:srgbClr val="FFFFFF"/>
                </a:solidFill>
              </a:rPr>
              <a:t>Vcmax · Jmax</a:t>
            </a:r>
          </a:p>
        </p:txBody>
      </p:sp>
      <p:sp>
        <p:nvSpPr>
          <p:cNvPr id="63" name="Right Arrow 62"/>
          <p:cNvSpPr/>
          <p:nvPr/>
        </p:nvSpPr>
        <p:spPr>
          <a:xfrm>
            <a:off x="8994410"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ounded Rectangle 63"/>
          <p:cNvSpPr/>
          <p:nvPr/>
        </p:nvSpPr>
        <p:spPr>
          <a:xfrm>
            <a:off x="9338981"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ctr"/>
            <a:r>
              <a:rPr sz="1300" b="1">
                <a:solidFill>
                  <a:srgbClr val="FFFFFF"/>
                </a:solidFill>
              </a:rPr>
              <a:t>④ 생육</a:t>
            </a:r>
          </a:p>
          <a:p>
            <a:pPr algn="ctr"/>
            <a:r>
              <a:rPr sz="1050">
                <a:solidFill>
                  <a:srgbClr val="FFFFFF"/>
                </a:solidFill>
              </a:rPr>
              <a:t>지상부 건물중</a:t>
            </a:r>
          </a:p>
        </p:txBody>
      </p:sp>
      <p:sp>
        <p:nvSpPr>
          <p:cNvPr id="5" name="직사각형 4">
            <a:extLst>
              <a:ext uri="{FF2B5EF4-FFF2-40B4-BE49-F238E27FC236}">
                <a16:creationId xmlns:a16="http://schemas.microsoft.com/office/drawing/2014/main" id="{B7433705-DE95-1091-4879-D000C4ADC4CD}"/>
              </a:ext>
            </a:extLst>
          </p:cNvPr>
          <p:cNvSpPr/>
          <p:nvPr/>
        </p:nvSpPr>
        <p:spPr>
          <a:xfrm>
            <a:off x="4377620" y="1828800"/>
            <a:ext cx="1371600" cy="2743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200" dirty="0"/>
              <a:t>차이X</a:t>
            </a:r>
            <a:endParaRPr lang="ko-KR" altLang="en-US" sz="1200" dirty="0"/>
          </a:p>
        </p:txBody>
      </p:sp>
      <p:sp>
        <p:nvSpPr>
          <p:cNvPr id="8" name="직사각형 7">
            <a:extLst>
              <a:ext uri="{FF2B5EF4-FFF2-40B4-BE49-F238E27FC236}">
                <a16:creationId xmlns:a16="http://schemas.microsoft.com/office/drawing/2014/main" id="{7D61ECC6-1CEF-5370-C6E7-823EC645308D}"/>
              </a:ext>
            </a:extLst>
          </p:cNvPr>
          <p:cNvSpPr/>
          <p:nvPr/>
        </p:nvSpPr>
        <p:spPr>
          <a:xfrm>
            <a:off x="1514261" y="1828800"/>
            <a:ext cx="1371600" cy="2743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200" dirty="0"/>
              <a:t>건조 ↓</a:t>
            </a:r>
          </a:p>
        </p:txBody>
      </p:sp>
      <p:sp>
        <p:nvSpPr>
          <p:cNvPr id="10" name="직사각형 9">
            <a:extLst>
              <a:ext uri="{FF2B5EF4-FFF2-40B4-BE49-F238E27FC236}">
                <a16:creationId xmlns:a16="http://schemas.microsoft.com/office/drawing/2014/main" id="{E3190527-AE47-95F8-6E0F-F6B8DF14C73B}"/>
              </a:ext>
            </a:extLst>
          </p:cNvPr>
          <p:cNvSpPr/>
          <p:nvPr/>
        </p:nvSpPr>
        <p:spPr>
          <a:xfrm>
            <a:off x="7186799" y="1828800"/>
            <a:ext cx="1371600" cy="2743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200" dirty="0"/>
              <a:t>복합 ↓</a:t>
            </a:r>
          </a:p>
        </p:txBody>
      </p:sp>
      <p:sp>
        <p:nvSpPr>
          <p:cNvPr id="12" name="직사각형 11">
            <a:extLst>
              <a:ext uri="{FF2B5EF4-FFF2-40B4-BE49-F238E27FC236}">
                <a16:creationId xmlns:a16="http://schemas.microsoft.com/office/drawing/2014/main" id="{57350A76-C00A-6029-D647-AE882512F6CC}"/>
              </a:ext>
            </a:extLst>
          </p:cNvPr>
          <p:cNvSpPr/>
          <p:nvPr/>
        </p:nvSpPr>
        <p:spPr>
          <a:xfrm>
            <a:off x="9887621" y="1828800"/>
            <a:ext cx="1371600" cy="2743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200" dirty="0"/>
              <a:t>복합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결론</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17</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lang="ko-KR" altLang="en-US" sz="1600" dirty="0">
                <a:solidFill>
                  <a:srgbClr val="E97132"/>
                </a:solidFill>
              </a:rPr>
              <a:t>상추는</a:t>
            </a:r>
            <a:r>
              <a:rPr sz="1600" dirty="0">
                <a:solidFill>
                  <a:srgbClr val="E97132"/>
                </a:solidFill>
              </a:rPr>
              <a:t> </a:t>
            </a:r>
            <a:r>
              <a:rPr sz="1600" dirty="0" err="1">
                <a:solidFill>
                  <a:srgbClr val="E97132"/>
                </a:solidFill>
              </a:rPr>
              <a:t>회복이</a:t>
            </a:r>
            <a:r>
              <a:rPr sz="1600" dirty="0">
                <a:solidFill>
                  <a:srgbClr val="E97132"/>
                </a:solidFill>
              </a:rPr>
              <a:t> </a:t>
            </a:r>
            <a:r>
              <a:rPr sz="1600" dirty="0" err="1">
                <a:solidFill>
                  <a:srgbClr val="E97132"/>
                </a:solidFill>
              </a:rPr>
              <a:t>빠르나</a:t>
            </a:r>
            <a:r>
              <a:rPr sz="1600" dirty="0">
                <a:solidFill>
                  <a:srgbClr val="E97132"/>
                </a:solidFill>
              </a:rPr>
              <a:t> </a:t>
            </a:r>
            <a:r>
              <a:rPr sz="1600" dirty="0" err="1">
                <a:solidFill>
                  <a:srgbClr val="E97132"/>
                </a:solidFill>
              </a:rPr>
              <a:t>생육</a:t>
            </a:r>
            <a:r>
              <a:rPr sz="1600" dirty="0">
                <a:solidFill>
                  <a:srgbClr val="E97132"/>
                </a:solidFill>
              </a:rPr>
              <a:t> </a:t>
            </a:r>
            <a:r>
              <a:rPr sz="1600" dirty="0" err="1">
                <a:solidFill>
                  <a:srgbClr val="E97132"/>
                </a:solidFill>
              </a:rPr>
              <a:t>감소</a:t>
            </a:r>
            <a:r>
              <a:rPr sz="1600" dirty="0">
                <a:solidFill>
                  <a:srgbClr val="E97132"/>
                </a:solidFill>
              </a:rPr>
              <a:t>, </a:t>
            </a:r>
            <a:r>
              <a:rPr sz="1600" dirty="0" err="1">
                <a:solidFill>
                  <a:srgbClr val="E97132"/>
                </a:solidFill>
              </a:rPr>
              <a:t>콩은</a:t>
            </a:r>
            <a:r>
              <a:rPr sz="1600" dirty="0">
                <a:solidFill>
                  <a:srgbClr val="E97132"/>
                </a:solidFill>
              </a:rPr>
              <a:t> </a:t>
            </a:r>
            <a:r>
              <a:rPr sz="1600" dirty="0" err="1">
                <a:solidFill>
                  <a:srgbClr val="E97132"/>
                </a:solidFill>
              </a:rPr>
              <a:t>회복이</a:t>
            </a:r>
            <a:r>
              <a:rPr sz="1600" dirty="0">
                <a:solidFill>
                  <a:srgbClr val="E97132"/>
                </a:solidFill>
              </a:rPr>
              <a:t> </a:t>
            </a:r>
            <a:r>
              <a:rPr sz="1600" dirty="0" err="1">
                <a:solidFill>
                  <a:srgbClr val="E97132"/>
                </a:solidFill>
              </a:rPr>
              <a:t>느리나</a:t>
            </a:r>
            <a:r>
              <a:rPr sz="1600" dirty="0">
                <a:solidFill>
                  <a:srgbClr val="E97132"/>
                </a:solidFill>
              </a:rPr>
              <a:t> </a:t>
            </a:r>
            <a:r>
              <a:rPr sz="1600" dirty="0" err="1">
                <a:solidFill>
                  <a:srgbClr val="E97132"/>
                </a:solidFill>
              </a:rPr>
              <a:t>수량</a:t>
            </a:r>
            <a:r>
              <a:rPr sz="1600" dirty="0">
                <a:solidFill>
                  <a:srgbClr val="E97132"/>
                </a:solidFill>
              </a:rPr>
              <a:t> </a:t>
            </a:r>
            <a:r>
              <a:rPr sz="1600" dirty="0" err="1">
                <a:solidFill>
                  <a:srgbClr val="E97132"/>
                </a:solidFill>
              </a:rPr>
              <a:t>차이</a:t>
            </a:r>
            <a:r>
              <a:rPr sz="1600" dirty="0">
                <a:solidFill>
                  <a:srgbClr val="E97132"/>
                </a:solidFill>
              </a:rPr>
              <a:t> </a:t>
            </a:r>
            <a:r>
              <a:rPr sz="1600" dirty="0" err="1">
                <a:solidFill>
                  <a:srgbClr val="E97132"/>
                </a:solidFill>
              </a:rPr>
              <a:t>작음</a:t>
            </a:r>
            <a:r>
              <a:rPr sz="1600" dirty="0">
                <a:solidFill>
                  <a:srgbClr val="E97132"/>
                </a:solidFill>
              </a:rPr>
              <a:t> — </a:t>
            </a:r>
            <a:r>
              <a:rPr sz="1600" dirty="0" err="1">
                <a:solidFill>
                  <a:srgbClr val="E97132"/>
                </a:solidFill>
              </a:rPr>
              <a:t>반응은</a:t>
            </a:r>
            <a:r>
              <a:rPr sz="1600" dirty="0">
                <a:solidFill>
                  <a:srgbClr val="E97132"/>
                </a:solidFill>
              </a:rPr>
              <a:t> </a:t>
            </a:r>
            <a:r>
              <a:rPr sz="1600" dirty="0" err="1">
                <a:solidFill>
                  <a:srgbClr val="E97132"/>
                </a:solidFill>
              </a:rPr>
              <a:t>작물마다</a:t>
            </a:r>
            <a:r>
              <a:rPr sz="1600" dirty="0">
                <a:solidFill>
                  <a:srgbClr val="E97132"/>
                </a:solidFill>
              </a:rPr>
              <a:t> </a:t>
            </a:r>
            <a:r>
              <a:rPr sz="1600" dirty="0" err="1">
                <a:solidFill>
                  <a:srgbClr val="E97132"/>
                </a:solidFill>
              </a:rPr>
              <a:t>다름</a:t>
            </a:r>
            <a:endParaRPr sz="1600" dirty="0">
              <a:solidFill>
                <a:srgbClr val="E97132"/>
              </a:solidFill>
            </a:endParaRP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b="0">
                <a:solidFill>
                  <a:srgbClr val="595959"/>
                </a:solidFill>
              </a:rPr>
              <a:t>본 성과는 농촌진흥청 공동연구사업(과제번호: RS-2026-25507435)의 지원에 의해 이루어진 것임.</a:t>
            </a:r>
          </a:p>
        </p:txBody>
      </p:sp>
      <p:sp>
        <p:nvSpPr>
          <p:cNvPr id="27" name="Num"/>
          <p:cNvSpPr/>
          <p:nvPr/>
        </p:nvSpPr>
        <p:spPr>
          <a:xfrm>
            <a:off x="841248" y="1481328"/>
            <a:ext cx="566928" cy="566928"/>
          </a:xfrm>
          <a:prstGeom prst="ellipse">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800" b="1" dirty="0">
                <a:solidFill>
                  <a:srgbClr val="FFFFFF"/>
                </a:solidFill>
              </a:rPr>
              <a:t>1</a:t>
            </a:r>
          </a:p>
        </p:txBody>
      </p:sp>
      <p:sp>
        <p:nvSpPr>
          <p:cNvPr id="28" name="Concl"/>
          <p:cNvSpPr txBox="1"/>
          <p:nvPr/>
        </p:nvSpPr>
        <p:spPr>
          <a:xfrm>
            <a:off x="1600200" y="1371600"/>
            <a:ext cx="9875520" cy="123444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500" b="1" dirty="0">
                <a:solidFill>
                  <a:srgbClr val="156082"/>
                </a:solidFill>
              </a:rPr>
              <a:t>기공 회복 속도</a:t>
            </a:r>
          </a:p>
          <a:p>
            <a:pPr marL="0" indent="0" algn="l">
              <a:spcBef>
                <a:spcPts val="300"/>
              </a:spcBef>
              <a:buNone/>
            </a:pPr>
            <a:r>
              <a:rPr lang="ko-KR" altLang="en-US" sz="1300" dirty="0">
                <a:solidFill>
                  <a:srgbClr val="000000"/>
                </a:solidFill>
              </a:rPr>
              <a:t>침수는 두 작물 모두에서 기공전도도를 먼저 낮췄다. 상추는 배수 2~3일 후(DAT 5~6) 대조구 수준으로 회복했고, 콩은 배수 6일 후(DAT 9)에도 대조구의 48%였으며 DAT 23에 회복이 확인되었다.</a:t>
            </a:r>
          </a:p>
        </p:txBody>
      </p:sp>
      <p:sp>
        <p:nvSpPr>
          <p:cNvPr id="29" name="Num"/>
          <p:cNvSpPr/>
          <p:nvPr/>
        </p:nvSpPr>
        <p:spPr>
          <a:xfrm>
            <a:off x="841248" y="2852928"/>
            <a:ext cx="566928" cy="566928"/>
          </a:xfrm>
          <a:prstGeom prst="ellipse">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800" b="1" dirty="0">
                <a:solidFill>
                  <a:srgbClr val="FFFFFF"/>
                </a:solidFill>
              </a:rPr>
              <a:t>2</a:t>
            </a:r>
          </a:p>
        </p:txBody>
      </p:sp>
      <p:sp>
        <p:nvSpPr>
          <p:cNvPr id="30" name="Concl"/>
          <p:cNvSpPr txBox="1"/>
          <p:nvPr/>
        </p:nvSpPr>
        <p:spPr>
          <a:xfrm>
            <a:off x="1600200" y="2743200"/>
            <a:ext cx="9875520" cy="123444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500" b="1" dirty="0">
                <a:solidFill>
                  <a:srgbClr val="156082"/>
                </a:solidFill>
              </a:rPr>
              <a:t>명반응과 광합성 능력</a:t>
            </a:r>
          </a:p>
          <a:p>
            <a:pPr marL="0" indent="0" algn="l">
              <a:spcBef>
                <a:spcPts val="300"/>
              </a:spcBef>
              <a:buNone/>
            </a:pPr>
            <a:r>
              <a:rPr lang="ko-KR" altLang="en-US" sz="1300" dirty="0">
                <a:solidFill>
                  <a:srgbClr val="000000"/>
                </a:solidFill>
              </a:rPr>
              <a:t>상추는 ΦPSII·ΦNPQ·ΦNO에 처리 차이가 없었고 Vcmax·Jmax는 복합구에서 낮은 경향이었다. 콩은 건조구에서 ΦPSII가 낮고 ΦNPQ·ΦNO가 높아 명반응에 타격을 입은 것으로 추정되며, Vcmax·Jmax도 건조구에서 낮았다.</a:t>
            </a:r>
          </a:p>
        </p:txBody>
      </p:sp>
      <p:sp>
        <p:nvSpPr>
          <p:cNvPr id="31" name="Num"/>
          <p:cNvSpPr/>
          <p:nvPr/>
        </p:nvSpPr>
        <p:spPr>
          <a:xfrm>
            <a:off x="841248" y="4224528"/>
            <a:ext cx="566928" cy="566928"/>
          </a:xfrm>
          <a:prstGeom prst="ellipse">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800" b="1" dirty="0">
                <a:solidFill>
                  <a:srgbClr val="FFFFFF"/>
                </a:solidFill>
              </a:rPr>
              <a:t>3</a:t>
            </a:r>
          </a:p>
        </p:txBody>
      </p:sp>
      <p:sp>
        <p:nvSpPr>
          <p:cNvPr id="32" name="Concl"/>
          <p:cNvSpPr txBox="1"/>
          <p:nvPr/>
        </p:nvSpPr>
        <p:spPr>
          <a:xfrm>
            <a:off x="1600200" y="4114800"/>
            <a:ext cx="9875520" cy="123444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500" b="1" dirty="0">
                <a:solidFill>
                  <a:srgbClr val="156082"/>
                </a:solidFill>
              </a:rPr>
              <a:t>생육·수량</a:t>
            </a:r>
          </a:p>
          <a:p>
            <a:pPr marL="0" indent="0" algn="l">
              <a:spcBef>
                <a:spcPts val="300"/>
              </a:spcBef>
              <a:buNone/>
            </a:pPr>
            <a:r>
              <a:rPr lang="ko-KR" altLang="en-US" sz="1300" dirty="0">
                <a:solidFill>
                  <a:srgbClr val="000000"/>
                </a:solidFill>
              </a:rPr>
              <a:t>상추는 대조구와 침수구의 차이가 커 침수가 생육에 직접 타격을 입혔을 가능성이 있으며 지상부 건물중이 감소했다(건조 −16%, 침수 −34%, 복합 −43%). 콩은 대조·침수 차이가 작아 3일 침수의 타격이 작았던 것으로 추정되며, 종실 생체중은 5~14% 감소하는 경향이었으나 유의한 차이는 없었다.</a:t>
            </a:r>
          </a:p>
        </p:txBody>
      </p:sp>
      <p:sp>
        <p:nvSpPr>
          <p:cNvPr id="61"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62"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63"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64"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65" name="Nav 결론"/>
          <p:cNvSpPr txBox="1"/>
          <p:nvPr/>
        </p:nvSpPr>
        <p:spPr>
          <a:xfrm>
            <a:off x="6327648" y="100584"/>
            <a:ext cx="1371600" cy="329184"/>
          </a:xfrm>
          <a:prstGeom prst="rect">
            <a:avLst/>
          </a:prstGeom>
          <a:noFill/>
        </p:spPr>
        <p:txBody>
          <a:bodyPr wrap="none" lIns="0" tIns="0" rIns="0" bIns="0" anchor="ctr">
            <a:spAutoFit/>
          </a:bodyPr>
          <a:lstStyle/>
          <a:p>
            <a:pPr algn="ctr"/>
            <a:r>
              <a:rPr sz="1450" b="1" u="sng">
                <a:solidFill>
                  <a:srgbClr val="1A1A1A"/>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fade">
                                      <p:cBhvr>
                                        <p:cTn id="18" dur="500"/>
                                        <p:tgtEl>
                                          <p:spTgt spid="3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fade">
                                      <p:cBhvr>
                                        <p:cTn id="23" dur="500"/>
                                        <p:tgtEl>
                                          <p:spTgt spid="3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fade">
                                      <p:cBhvr>
                                        <p:cTn id="26" dur="500"/>
                                        <p:tgtEl>
                                          <p:spTgt spid="3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29" grpId="0" animBg="1"/>
      <p:bldP spid="30" grpId="0" animBg="1"/>
      <p:bldP spid="31" grpId="0" animBg="1"/>
      <p:bldP spid="3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양쪽 모서리가 둥근 사각형 1">
            <a:extLst>
              <a:ext uri="{FF2B5EF4-FFF2-40B4-BE49-F238E27FC236}">
                <a16:creationId xmlns:a16="http://schemas.microsoft.com/office/drawing/2014/main" id="{61F6D138-DFFC-10C1-053C-3D2B417CC93E}"/>
              </a:ext>
            </a:extLst>
          </p:cNvPr>
          <p:cNvSpPr/>
          <p:nvPr/>
        </p:nvSpPr>
        <p:spPr>
          <a:xfrm>
            <a:off x="0" y="3429000"/>
            <a:ext cx="12192000" cy="3429000"/>
          </a:xfrm>
          <a:prstGeom prst="round2SameRect">
            <a:avLst/>
          </a:prstGeom>
          <a:solidFill>
            <a:srgbClr val="0445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ore-KR" altLang="en-US" sz="1200"/>
          </a:p>
        </p:txBody>
      </p:sp>
      <p:sp>
        <p:nvSpPr>
          <p:cNvPr id="28" name="TextBox 27">
            <a:extLst>
              <a:ext uri="{FF2B5EF4-FFF2-40B4-BE49-F238E27FC236}">
                <a16:creationId xmlns:a16="http://schemas.microsoft.com/office/drawing/2014/main" id="{C11A0B38-A3E4-9B0E-0886-5E9788B47173}"/>
              </a:ext>
            </a:extLst>
          </p:cNvPr>
          <p:cNvSpPr txBox="1"/>
          <p:nvPr/>
        </p:nvSpPr>
        <p:spPr>
          <a:xfrm>
            <a:off x="3766530" y="2681512"/>
            <a:ext cx="4658940" cy="769441"/>
          </a:xfrm>
          <a:prstGeom prst="rect">
            <a:avLst/>
          </a:prstGeom>
          <a:noFill/>
        </p:spPr>
        <p:txBody>
          <a:bodyPr wrap="square" rtlCol="0">
            <a:spAutoFit/>
          </a:bodyPr>
          <a:lstStyle/>
          <a:p>
            <a:pPr algn="ctr"/>
            <a:r>
              <a:rPr kumimoji="1" lang="ko-KR" altLang="en-US" sz="4400" b="1" spc="-200" dirty="0">
                <a:solidFill>
                  <a:srgbClr val="04458A"/>
                </a:solidFill>
                <a:latin typeface="Malgun Gothic" panose="020B0503020000020004" pitchFamily="34" charset="-127"/>
                <a:ea typeface="Malgun Gothic" panose="020B0503020000020004" pitchFamily="34" charset="-127"/>
              </a:rPr>
              <a:t>감사합니다</a:t>
            </a:r>
            <a:endParaRPr kumimoji="1" lang="en-US" altLang="ko-Kore-KR" sz="4400" b="1" spc="-200" dirty="0">
              <a:solidFill>
                <a:srgbClr val="04458A"/>
              </a:solidFill>
              <a:latin typeface="Malgun Gothic" panose="020B0503020000020004" pitchFamily="34" charset="-127"/>
              <a:ea typeface="Malgun Gothic" panose="020B0503020000020004" pitchFamily="34" charset="-127"/>
            </a:endParaRPr>
          </a:p>
        </p:txBody>
      </p:sp>
      <p:sp>
        <p:nvSpPr>
          <p:cNvPr id="31" name="TextBox 30">
            <a:extLst>
              <a:ext uri="{FF2B5EF4-FFF2-40B4-BE49-F238E27FC236}">
                <a16:creationId xmlns:a16="http://schemas.microsoft.com/office/drawing/2014/main" id="{ABD9CEE3-88A3-FC3B-9B6B-4B8B7C7214DE}"/>
              </a:ext>
            </a:extLst>
          </p:cNvPr>
          <p:cNvSpPr txBox="1"/>
          <p:nvPr/>
        </p:nvSpPr>
        <p:spPr>
          <a:xfrm>
            <a:off x="3026229" y="3520615"/>
            <a:ext cx="6139542" cy="1048492"/>
          </a:xfrm>
          <a:prstGeom prst="rect">
            <a:avLst/>
          </a:prstGeom>
          <a:noFill/>
        </p:spPr>
        <p:txBody>
          <a:bodyPr wrap="square" rtlCol="0">
            <a:spAutoFit/>
          </a:bodyPr>
          <a:lstStyle/>
          <a:p>
            <a:pPr algn="ctr">
              <a:lnSpc>
                <a:spcPct val="150000"/>
              </a:lnSpc>
            </a:pPr>
            <a:endParaRPr kumimoji="1" lang="en-US" altLang="ko-KR" sz="2400" b="1" spc="-100" dirty="0">
              <a:solidFill>
                <a:schemeClr val="bg1"/>
              </a:solidFill>
              <a:latin typeface="Malgun Gothic" panose="020B0503020000020004" pitchFamily="34" charset="-127"/>
              <a:ea typeface="Malgun Gothic" panose="020B0503020000020004" pitchFamily="34" charset="-127"/>
            </a:endParaRPr>
          </a:p>
          <a:p>
            <a:pPr algn="ctr">
              <a:lnSpc>
                <a:spcPct val="150000"/>
              </a:lnSpc>
            </a:pPr>
            <a:r>
              <a:rPr kumimoji="1" lang="ko-KR" altLang="en-US" sz="2000" b="1" spc="-100" dirty="0">
                <a:solidFill>
                  <a:schemeClr val="bg1"/>
                </a:solidFill>
                <a:latin typeface="Malgun Gothic" panose="020B0503020000020004" pitchFamily="34" charset="-127"/>
                <a:ea typeface="Malgun Gothic" panose="020B0503020000020004" pitchFamily="34" charset="-127"/>
              </a:rPr>
              <a:t>석사과정 윤정민</a:t>
            </a:r>
            <a:endParaRPr kumimoji="1" lang="en-US" altLang="ko-Kore-KR" sz="2000" b="1" spc="-100" dirty="0">
              <a:solidFill>
                <a:schemeClr val="bg1"/>
              </a:solidFill>
              <a:latin typeface="Malgun Gothic" panose="020B0503020000020004" pitchFamily="34" charset="-127"/>
              <a:ea typeface="Malgun Gothic" panose="020B0503020000020004" pitchFamily="34" charset="-127"/>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보충 자료</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19</a:t>
            </a:fld>
            <a:endParaRPr lang="ko-KR" altLang="en-US"/>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b="0">
                <a:solidFill>
                  <a:srgbClr val="595959"/>
                </a:solidFill>
              </a:rPr>
              <a:t>질의응답용 보충 자료.</a:t>
            </a:r>
          </a:p>
        </p:txBody>
      </p:sp>
      <p:sp>
        <p:nvSpPr>
          <p:cNvPr id="27" name="Appendix list"/>
          <p:cNvSpPr txBox="1"/>
          <p:nvPr/>
        </p:nvSpPr>
        <p:spPr>
          <a:xfrm>
            <a:off x="1280160" y="1463040"/>
            <a:ext cx="9601200" cy="411480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600" dirty="0">
                <a:solidFill>
                  <a:srgbClr val="000000"/>
                </a:solidFill>
              </a:rPr>
              <a:t>A1. LI-600 보정: 선형 PAR + 기온</a:t>
            </a:r>
          </a:p>
          <a:p>
            <a:pPr marL="0" indent="0" algn="l">
              <a:spcBef>
                <a:spcPts val="800"/>
              </a:spcBef>
              <a:buNone/>
            </a:pPr>
            <a:r>
              <a:rPr lang="ko-KR" altLang="en-US" sz="1600" dirty="0">
                <a:solidFill>
                  <a:srgbClr val="000000"/>
                </a:solidFill>
              </a:rPr>
              <a:t>A2. LI-6800 광-광합성 곡선 (A-Q)</a:t>
            </a:r>
          </a:p>
          <a:p>
            <a:pPr marL="0" indent="0" algn="l">
              <a:spcBef>
                <a:spcPts val="800"/>
              </a:spcBef>
              <a:buNone/>
            </a:pPr>
            <a:r>
              <a:rPr lang="ko-KR" altLang="en-US" sz="1600" dirty="0">
                <a:solidFill>
                  <a:srgbClr val="000000"/>
                </a:solidFill>
              </a:rPr>
              <a:t>A3. 정상 상태 형광 (F</a:t>
            </a:r>
            <a:r>
              <a:rPr lang="ko-KR" altLang="en-US" sz="1600" baseline="-25000" dirty="0">
                <a:solidFill>
                  <a:srgbClr val="000000"/>
                </a:solidFill>
              </a:rPr>
              <a:t>s</a:t>
            </a:r>
            <a:r>
              <a:rPr lang="ko-KR" altLang="en-US" sz="1600" dirty="0">
                <a:solidFill>
                  <a:srgbClr val="000000"/>
                </a:solidFill>
              </a:rPr>
              <a:t>)</a:t>
            </a:r>
          </a:p>
          <a:p>
            <a:pPr marL="0" indent="0" algn="l">
              <a:spcBef>
                <a:spcPts val="800"/>
              </a:spcBef>
              <a:buNone/>
            </a:pPr>
            <a:r>
              <a:rPr lang="ko-KR" altLang="en-US" sz="1600" dirty="0">
                <a:solidFill>
                  <a:srgbClr val="000000"/>
                </a:solidFill>
              </a:rPr>
              <a:t>A4. 전자전달속도 (ETR)</a:t>
            </a:r>
          </a:p>
          <a:p>
            <a:pPr marL="0" indent="0" algn="l">
              <a:spcBef>
                <a:spcPts val="800"/>
              </a:spcBef>
              <a:buNone/>
            </a:pPr>
            <a:r>
              <a:rPr lang="ko-KR" altLang="en-US" sz="1600" dirty="0">
                <a:solidFill>
                  <a:srgbClr val="000000"/>
                </a:solidFill>
              </a:rPr>
              <a:t>A5. 측정 당시 일사 조건: 흐린 날 표시</a:t>
            </a:r>
          </a:p>
          <a:p>
            <a:pPr marL="0" indent="0" algn="l">
              <a:spcBef>
                <a:spcPts val="800"/>
              </a:spcBef>
              <a:buNone/>
            </a:pPr>
            <a:r>
              <a:rPr lang="ko-KR" altLang="en-US" sz="1600" dirty="0">
                <a:solidFill>
                  <a:srgbClr val="000000"/>
                </a:solidFill>
              </a:rPr>
              <a:t>A6. 참고문헌</a:t>
            </a:r>
          </a:p>
        </p:txBody>
      </p:sp>
      <p:sp>
        <p:nvSpPr>
          <p:cNvPr id="28"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29"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30"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31"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32"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33"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LI-600 : PAR·기온 보정</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20</a:t>
            </a:fld>
            <a:endParaRPr lang="ko-KR" altLang="en-US"/>
          </a:p>
        </p:txBody>
      </p:sp>
      <p:pic>
        <p:nvPicPr>
          <p:cNvPr id="14" name="Picture 13" descr="s7.png"/>
          <p:cNvPicPr>
            <a:picLocks noChangeAspect="1"/>
          </p:cNvPicPr>
          <p:nvPr/>
        </p:nvPicPr>
        <p:blipFill>
          <a:blip r:embed="rId4"/>
          <a:stretch>
            <a:fillRect/>
          </a:stretch>
        </p:blipFill>
        <p:spPr>
          <a:xfrm>
            <a:off x="457200" y="1188720"/>
            <a:ext cx="6903720" cy="2083018"/>
          </a:xfrm>
          <a:prstGeom prst="rect">
            <a:avLst/>
          </a:prstGeom>
        </p:spPr>
      </p:pic>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1815882"/>
          </a:xfrm>
          <a:prstGeom prst="rect">
            <a:avLst/>
          </a:prstGeom>
          <a:noFill/>
        </p:spPr>
        <p:txBody>
          <a:bodyPr wrap="square">
            <a:spAutoFit/>
          </a:bodyPr>
          <a:lstStyle/>
          <a:p>
            <a:pPr marL="201168" indent="-201168">
              <a:spcBef>
                <a:spcPts val="0"/>
              </a:spcBef>
              <a:buFont typeface="Arial"/>
              <a:buChar char="•"/>
            </a:pPr>
            <a:r>
              <a:rPr sz="1400" b="0" dirty="0" err="1">
                <a:solidFill>
                  <a:srgbClr val="000000"/>
                </a:solidFill>
              </a:rPr>
              <a:t>이유: 같은 날에도 처리 간 측정 PAR·기온이 달랐음</a:t>
            </a:r>
            <a:endParaRPr sz="1400" b="0" dirty="0">
              <a:solidFill>
                <a:srgbClr val="000000"/>
              </a:solidFill>
            </a:endParaRPr>
          </a:p>
          <a:p>
            <a:pPr marL="201168" indent="-201168">
              <a:spcBef>
                <a:spcPts val="0"/>
              </a:spcBef>
              <a:buFont typeface="Arial"/>
              <a:buChar char="•"/>
            </a:pPr>
            <a:r>
              <a:rPr sz="1400" b="0" dirty="0" err="1">
                <a:solidFill>
                  <a:srgbClr val="000000"/>
                </a:solidFill>
              </a:rPr>
              <a:t>모형: y = μ + 처리 + β</a:t>
            </a:r>
            <a:r>
              <a:rPr sz="1400" b="0" baseline="-25000" dirty="0" err="1">
                <a:solidFill>
                  <a:srgbClr val="000000"/>
                </a:solidFill>
              </a:rPr>
              <a:t>1</a:t>
            </a:r>
            <a:r>
              <a:rPr sz="1400" b="0" dirty="0" err="1">
                <a:solidFill>
                  <a:srgbClr val="000000"/>
                </a:solidFill>
              </a:rPr>
              <a:t>·Q</a:t>
            </a:r>
            <a:r>
              <a:rPr sz="1400" b="0" baseline="-25000" dirty="0" err="1">
                <a:solidFill>
                  <a:srgbClr val="000000"/>
                </a:solidFill>
              </a:rPr>
              <a:t>amb</a:t>
            </a:r>
            <a:r>
              <a:rPr sz="1400" b="0" dirty="0" err="1">
                <a:solidFill>
                  <a:srgbClr val="000000"/>
                </a:solidFill>
              </a:rPr>
              <a:t> + β</a:t>
            </a:r>
            <a:r>
              <a:rPr sz="1400" b="0" baseline="-25000" dirty="0" err="1">
                <a:solidFill>
                  <a:srgbClr val="000000"/>
                </a:solidFill>
              </a:rPr>
              <a:t>2</a:t>
            </a:r>
            <a:r>
              <a:rPr sz="1400" b="0" dirty="0" err="1">
                <a:solidFill>
                  <a:srgbClr val="000000"/>
                </a:solidFill>
              </a:rPr>
              <a:t>·T</a:t>
            </a:r>
            <a:r>
              <a:rPr sz="1400" b="0" baseline="-25000" dirty="0" err="1">
                <a:solidFill>
                  <a:srgbClr val="000000"/>
                </a:solidFill>
              </a:rPr>
              <a:t>air</a:t>
            </a:r>
            <a:r>
              <a:rPr sz="1400" b="0" dirty="0" err="1">
                <a:solidFill>
                  <a:srgbClr val="000000"/>
                </a:solidFill>
              </a:rPr>
              <a:t> + 측정일(임의효과) + ε (Ali et al., 2025; Gao et al., 2024)</a:t>
            </a:r>
          </a:p>
          <a:p>
            <a:pPr marL="201168" indent="-201168">
              <a:spcBef>
                <a:spcPts val="0"/>
              </a:spcBef>
              <a:buFont typeface="Arial"/>
              <a:buChar char="•"/>
            </a:pPr>
            <a:r>
              <a:rPr sz="1400" b="0" dirty="0" err="1">
                <a:solidFill>
                  <a:srgbClr val="000000"/>
                </a:solidFill>
              </a:rPr>
              <a:t>PAR과 기온을 양적(선형) 공변량으로 넣어 처리별 보정 평균(BLUE)을 산출, Φ</a:t>
            </a:r>
            <a:r>
              <a:rPr sz="1400" b="0" baseline="-25000" dirty="0" err="1">
                <a:solidFill>
                  <a:srgbClr val="000000"/>
                </a:solidFill>
              </a:rPr>
              <a:t>PSII</a:t>
            </a:r>
            <a:r>
              <a:rPr sz="1400" b="0" dirty="0" err="1">
                <a:solidFill>
                  <a:srgbClr val="000000"/>
                </a:solidFill>
              </a:rPr>
              <a:t>는 PAR이 높을수록 낮아짐</a:t>
            </a:r>
            <a:endParaRPr sz="1400" b="0" dirty="0">
              <a:solidFill>
                <a:srgbClr val="000000"/>
              </a:solidFill>
            </a:endParaRPr>
          </a:p>
          <a:p>
            <a:pPr marL="201168" indent="-201168">
              <a:spcBef>
                <a:spcPts val="0"/>
              </a:spcBef>
              <a:buFont typeface="Arial"/>
              <a:buChar char="•"/>
            </a:pPr>
            <a:r>
              <a:rPr lang="ko-KR" altLang="en-US" sz="1400" b="0" dirty="0">
                <a:solidFill>
                  <a:srgbClr val="000000"/>
                </a:solidFill>
              </a:rPr>
              <a:t>기공전도도(g</a:t>
            </a:r>
            <a:r>
              <a:rPr lang="ko-KR" altLang="en-US" sz="1400" b="0" baseline="-25000" dirty="0">
                <a:solidFill>
                  <a:srgbClr val="000000"/>
                </a:solidFill>
              </a:rPr>
              <a:t>sw</a:t>
            </a:r>
            <a:r>
              <a:rPr lang="ko-KR" altLang="en-US" sz="1400" b="0" dirty="0">
                <a:solidFill>
                  <a:srgbClr val="000000"/>
                </a:solidFill>
              </a:rPr>
              <a:t>)는 PAR·기온 보정 없이 온도 보정 gsw(Rizzo &amp; Bailey, 2026)를 사용</a:t>
            </a:r>
            <a:endParaRPr sz="1400" b="0" dirty="0">
              <a:solidFill>
                <a:srgbClr val="000000"/>
              </a:solidFill>
            </a:endParaRP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큰 차이(g</a:t>
            </a:r>
            <a:r>
              <a:rPr sz="1600" baseline="-25000">
                <a:solidFill>
                  <a:srgbClr val="E97132"/>
                </a:solidFill>
              </a:rPr>
              <a:t>sw</a:t>
            </a:r>
            <a:r>
              <a:rPr sz="1600">
                <a:solidFill>
                  <a:srgbClr val="E97132"/>
                </a:solidFill>
              </a:rPr>
              <a:t>, F</a:t>
            </a:r>
            <a:r>
              <a:rPr sz="1600" baseline="-25000">
                <a:solidFill>
                  <a:srgbClr val="E97132"/>
                </a:solidFill>
              </a:rPr>
              <a:t>s</a:t>
            </a:r>
            <a:r>
              <a:rPr sz="1600">
                <a:solidFill>
                  <a:srgbClr val="E97132"/>
                </a:solidFill>
              </a:rPr>
              <a:t>, 콩 P2)는 보정에 안정적 — 작은 차이(콩 P1 Φ</a:t>
            </a:r>
            <a:r>
              <a:rPr sz="1600" baseline="-25000">
                <a:solidFill>
                  <a:srgbClr val="E97132"/>
                </a:solidFill>
              </a:rPr>
              <a:t>PSII</a:t>
            </a:r>
            <a:r>
              <a:rPr sz="1600">
                <a:solidFill>
                  <a:srgbClr val="E97132"/>
                </a:solidFill>
              </a:rPr>
              <a:t>, ETR)는 보정 방식에 민감</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그림 A: 콩 P2 개별 잎, 선 = 보정 후 PAR 기울기. B·C: 같은 날 처리별 PAR·기온. 표: 콩 P1(P2는 4처리) 처리 P, Wald F. Ali et al. (2025) J. Exp. Bot. 76:4141; Gao et al. (2024) J. Exp. Bot. 75:4904.</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20"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LI-6800 : 광-광합성 곡선 (A-Q)</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21</a:t>
            </a:fld>
            <a:endParaRPr lang="ko-KR" altLang="en-US"/>
          </a:p>
        </p:txBody>
      </p:sp>
      <p:pic>
        <p:nvPicPr>
          <p:cNvPr id="14" name="Picture 13" descr="image.png"/>
          <p:cNvPicPr>
            <a:picLocks noChangeAspect="1"/>
          </p:cNvPicPr>
          <p:nvPr/>
        </p:nvPicPr>
        <p:blipFill>
          <a:blip r:embed="rId5"/>
          <a:stretch>
            <a:fillRect/>
          </a:stretch>
        </p:blipFill>
        <p:spPr>
          <a:xfrm>
            <a:off x="457199" y="1364948"/>
            <a:ext cx="6766560" cy="2706624"/>
          </a:xfrm>
          <a:prstGeom prst="rect">
            <a:avLst/>
          </a:prstGeom>
        </p:spPr>
      </p:pic>
      <p:sp>
        <p:nvSpPr>
          <p:cNvPr id="8" name="Card PPFD별 Dunc"/>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Header PPFD별 Dunc"/>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PPFD 1,500에서의 A</a:t>
            </a:r>
          </a:p>
        </p:txBody>
      </p:sp>
      <p:graphicFrame>
        <p:nvGraphicFramePr>
          <p:cNvPr id="10" name="Table 9"/>
          <p:cNvGraphicFramePr>
            <a:graphicFrameLocks noGrp="1"/>
          </p:cNvGraphicFramePr>
          <p:nvPr/>
        </p:nvGraphicFramePr>
        <p:xfrm>
          <a:off x="7680960" y="1783080"/>
          <a:ext cx="3749040" cy="1426464"/>
        </p:xfrm>
        <a:graphic>
          <a:graphicData uri="http://schemas.openxmlformats.org/drawingml/2006/table">
            <a:tbl>
              <a:tblPr>
                <a:tableStyleId>{2D5ABB26-0587-4C30-8999-92F81FD0307C}</a:tableStyleId>
              </a:tblPr>
              <a:tblGrid>
                <a:gridCol w="128016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tblGrid>
              <a:tr h="237744">
                <a:tc>
                  <a:txBody>
                    <a:bodyPr/>
                    <a:lstStyle/>
                    <a:p>
                      <a:pPr algn="l">
                        <a:lnSpc>
                          <a:spcPct val="100000"/>
                        </a:lnSpc>
                        <a:spcBef>
                          <a:spcPts val="0"/>
                        </a:spcBef>
                        <a:spcAft>
                          <a:spcPts val="0"/>
                        </a:spcAft>
                      </a:pPr>
                      <a:r>
                        <a:rPr sz="1050" b="1">
                          <a:solidFill>
                            <a:srgbClr val="000000"/>
                          </a:solidFill>
                        </a:rPr>
                        <a:t>A (PPFD 1500)</a:t>
                      </a:r>
                      <a:endParaRPr sz="10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50" b="1">
                          <a:solidFill>
                            <a:srgbClr val="000000"/>
                          </a:solidFill>
                        </a:rPr>
                        <a:t>Soybean</a:t>
                      </a:r>
                      <a:endParaRPr sz="10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50" b="1">
                          <a:solidFill>
                            <a:srgbClr val="000000"/>
                          </a:solidFill>
                        </a:rPr>
                        <a:t>Lettuce</a:t>
                      </a:r>
                      <a:endParaRPr sz="10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37744">
                <a:tc>
                  <a:txBody>
                    <a:bodyPr/>
                    <a:lstStyle/>
                    <a:p>
                      <a:pPr algn="l">
                        <a:lnSpc>
                          <a:spcPct val="100000"/>
                        </a:lnSpc>
                        <a:spcBef>
                          <a:spcPts val="0"/>
                        </a:spcBef>
                        <a:spcAft>
                          <a:spcPts val="0"/>
                        </a:spcAft>
                      </a:pPr>
                      <a:r>
                        <a:rPr sz="1050" b="0">
                          <a:solidFill>
                            <a:srgbClr val="000000"/>
                          </a:solidFill>
                        </a:rPr>
                        <a:t>Pre-treatment</a:t>
                      </a:r>
                      <a:endParaRPr sz="10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50" b="0">
                          <a:solidFill>
                            <a:srgbClr val="000000"/>
                          </a:solidFill>
                        </a:rPr>
                        <a:t>12.9</a:t>
                      </a:r>
                      <a:endParaRPr sz="10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50" b="0">
                          <a:solidFill>
                            <a:srgbClr val="000000"/>
                          </a:solidFill>
                        </a:rPr>
                        <a:t>22.6</a:t>
                      </a:r>
                      <a:endParaRPr sz="105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37744">
                <a:tc>
                  <a:txBody>
                    <a:bodyPr/>
                    <a:lstStyle/>
                    <a:p>
                      <a:pPr algn="l">
                        <a:lnSpc>
                          <a:spcPct val="100000"/>
                        </a:lnSpc>
                        <a:spcBef>
                          <a:spcPts val="0"/>
                        </a:spcBef>
                        <a:spcAft>
                          <a:spcPts val="0"/>
                        </a:spcAft>
                      </a:pPr>
                      <a:r>
                        <a:rPr sz="1050" b="0">
                          <a:solidFill>
                            <a:srgbClr val="000000"/>
                          </a:solidFill>
                        </a:rPr>
                        <a:t>Control</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16.4</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19.5</a:t>
                      </a:r>
                      <a:endParaRPr sz="10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37744">
                <a:tc>
                  <a:txBody>
                    <a:bodyPr/>
                    <a:lstStyle/>
                    <a:p>
                      <a:pPr algn="l">
                        <a:lnSpc>
                          <a:spcPct val="100000"/>
                        </a:lnSpc>
                        <a:spcBef>
                          <a:spcPts val="0"/>
                        </a:spcBef>
                        <a:spcAft>
                          <a:spcPts val="0"/>
                        </a:spcAft>
                      </a:pPr>
                      <a:r>
                        <a:rPr sz="1050" b="0">
                          <a:solidFill>
                            <a:srgbClr val="000000"/>
                          </a:solidFill>
                        </a:rPr>
                        <a:t>Drought</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16.7</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19.5</a:t>
                      </a:r>
                      <a:endParaRPr sz="10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37744">
                <a:tc>
                  <a:txBody>
                    <a:bodyPr/>
                    <a:lstStyle/>
                    <a:p>
                      <a:pPr algn="l">
                        <a:lnSpc>
                          <a:spcPct val="100000"/>
                        </a:lnSpc>
                        <a:spcBef>
                          <a:spcPts val="0"/>
                        </a:spcBef>
                        <a:spcAft>
                          <a:spcPts val="0"/>
                        </a:spcAft>
                      </a:pPr>
                      <a:r>
                        <a:rPr sz="1050" b="0">
                          <a:solidFill>
                            <a:srgbClr val="000000"/>
                          </a:solidFill>
                        </a:rPr>
                        <a:t>Waterlogging</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12.5</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21.2</a:t>
                      </a:r>
                      <a:endParaRPr sz="10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37744">
                <a:tc>
                  <a:txBody>
                    <a:bodyPr/>
                    <a:lstStyle/>
                    <a:p>
                      <a:pPr algn="l">
                        <a:lnSpc>
                          <a:spcPct val="100000"/>
                        </a:lnSpc>
                        <a:spcBef>
                          <a:spcPts val="0"/>
                        </a:spcBef>
                        <a:spcAft>
                          <a:spcPts val="0"/>
                        </a:spcAft>
                      </a:pPr>
                      <a:r>
                        <a:rPr sz="1050" b="0">
                          <a:solidFill>
                            <a:srgbClr val="000000"/>
                          </a:solidFill>
                        </a:rPr>
                        <a:t>Combined</a:t>
                      </a:r>
                      <a:endParaRPr sz="105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50" b="0">
                          <a:solidFill>
                            <a:srgbClr val="000000"/>
                          </a:solidFill>
                        </a:rPr>
                        <a:t>15.8</a:t>
                      </a:r>
                      <a:endParaRPr sz="105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50" b="0">
                          <a:solidFill>
                            <a:srgbClr val="000000"/>
                          </a:solidFill>
                        </a:rPr>
                        <a:t>17.7</a:t>
                      </a:r>
                      <a:endParaRPr sz="105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5"/>
                  </a:ext>
                </a:extLst>
              </a:tr>
            </a:tbl>
          </a:graphicData>
        </a:graphic>
      </p:graphicFrame>
      <p:sp>
        <p:nvSpPr>
          <p:cNvPr id="11" name="TextBox 10"/>
          <p:cNvSpPr txBox="1"/>
          <p:nvPr/>
        </p:nvSpPr>
        <p:spPr>
          <a:xfrm>
            <a:off x="7680960" y="3749039"/>
            <a:ext cx="3886200" cy="769441"/>
          </a:xfrm>
          <a:prstGeom prst="rect">
            <a:avLst/>
          </a:prstGeom>
          <a:noFill/>
        </p:spPr>
        <p:txBody>
          <a:bodyPr wrap="square">
            <a:spAutoFit/>
          </a:bodyPr>
          <a:lstStyle/>
          <a:p>
            <a:pPr marL="201168" indent="-201168">
              <a:buFont typeface="Arial"/>
              <a:buChar char="•"/>
            </a:pPr>
            <a:r>
              <a:rPr sz="1100" b="0" dirty="0" err="1">
                <a:solidFill>
                  <a:srgbClr val="000000"/>
                </a:solidFill>
              </a:rPr>
              <a:t>모든</a:t>
            </a:r>
            <a:r>
              <a:rPr sz="1100" b="0" dirty="0">
                <a:solidFill>
                  <a:srgbClr val="000000"/>
                </a:solidFill>
              </a:rPr>
              <a:t> PPFD </a:t>
            </a:r>
            <a:r>
              <a:rPr sz="1100" b="0" dirty="0" err="1">
                <a:solidFill>
                  <a:srgbClr val="000000"/>
                </a:solidFill>
              </a:rPr>
              <a:t>수준에서</a:t>
            </a:r>
            <a:r>
              <a:rPr sz="1100" b="0" dirty="0">
                <a:solidFill>
                  <a:srgbClr val="000000"/>
                </a:solidFill>
              </a:rPr>
              <a:t> </a:t>
            </a:r>
            <a:r>
              <a:rPr sz="1100" b="0" dirty="0" err="1">
                <a:solidFill>
                  <a:srgbClr val="000000"/>
                </a:solidFill>
              </a:rPr>
              <a:t>처리</a:t>
            </a:r>
            <a:r>
              <a:rPr sz="1100" b="0" dirty="0">
                <a:solidFill>
                  <a:srgbClr val="000000"/>
                </a:solidFill>
              </a:rPr>
              <a:t> 간 </a:t>
            </a:r>
            <a:r>
              <a:rPr sz="1100" b="0" dirty="0" err="1">
                <a:solidFill>
                  <a:srgbClr val="000000"/>
                </a:solidFill>
              </a:rPr>
              <a:t>유의차</a:t>
            </a:r>
            <a:r>
              <a:rPr sz="1100" b="0" dirty="0">
                <a:solidFill>
                  <a:srgbClr val="000000"/>
                </a:solidFill>
              </a:rPr>
              <a:t> </a:t>
            </a:r>
            <a:r>
              <a:rPr sz="1100" b="0" dirty="0" err="1">
                <a:solidFill>
                  <a:srgbClr val="000000"/>
                </a:solidFill>
              </a:rPr>
              <a:t>없음</a:t>
            </a:r>
            <a:endParaRPr sz="1100" b="0" dirty="0">
              <a:solidFill>
                <a:srgbClr val="000000"/>
              </a:solidFill>
            </a:endParaRPr>
          </a:p>
          <a:p>
            <a:pPr marL="201168" indent="-201168">
              <a:buFont typeface="Arial"/>
              <a:buChar char="•"/>
            </a:pPr>
            <a:r>
              <a:rPr sz="1100" b="0" dirty="0" err="1">
                <a:solidFill>
                  <a:srgbClr val="000000"/>
                </a:solidFill>
              </a:rPr>
              <a:t>콩은</a:t>
            </a:r>
            <a:r>
              <a:rPr sz="1100" b="0" dirty="0">
                <a:solidFill>
                  <a:srgbClr val="000000"/>
                </a:solidFill>
              </a:rPr>
              <a:t> </a:t>
            </a:r>
            <a:r>
              <a:rPr sz="1100" b="0" dirty="0" err="1">
                <a:solidFill>
                  <a:srgbClr val="000000"/>
                </a:solidFill>
              </a:rPr>
              <a:t>처리</a:t>
            </a:r>
            <a:r>
              <a:rPr sz="1100" b="0" dirty="0">
                <a:solidFill>
                  <a:srgbClr val="000000"/>
                </a:solidFill>
              </a:rPr>
              <a:t> 전 </a:t>
            </a:r>
            <a:r>
              <a:rPr sz="1100" b="0" dirty="0" err="1">
                <a:solidFill>
                  <a:srgbClr val="000000"/>
                </a:solidFill>
              </a:rPr>
              <a:t>곡선이</a:t>
            </a:r>
            <a:r>
              <a:rPr sz="1100" b="0" dirty="0">
                <a:solidFill>
                  <a:srgbClr val="000000"/>
                </a:solidFill>
              </a:rPr>
              <a:t> </a:t>
            </a:r>
            <a:r>
              <a:rPr sz="1100" b="0" dirty="0" err="1">
                <a:solidFill>
                  <a:srgbClr val="000000"/>
                </a:solidFill>
              </a:rPr>
              <a:t>처리</a:t>
            </a:r>
            <a:r>
              <a:rPr sz="1100" b="0" dirty="0">
                <a:solidFill>
                  <a:srgbClr val="000000"/>
                </a:solidFill>
              </a:rPr>
              <a:t> </a:t>
            </a:r>
            <a:r>
              <a:rPr sz="1100" b="0" dirty="0" err="1">
                <a:solidFill>
                  <a:srgbClr val="000000"/>
                </a:solidFill>
              </a:rPr>
              <a:t>후보다</a:t>
            </a:r>
            <a:r>
              <a:rPr sz="1100" b="0" dirty="0">
                <a:solidFill>
                  <a:srgbClr val="000000"/>
                </a:solidFill>
              </a:rPr>
              <a:t> </a:t>
            </a:r>
            <a:r>
              <a:rPr sz="1100" b="0" dirty="0" err="1">
                <a:solidFill>
                  <a:srgbClr val="000000"/>
                </a:solidFill>
              </a:rPr>
              <a:t>낮고</a:t>
            </a:r>
            <a:r>
              <a:rPr sz="1100" b="0" dirty="0">
                <a:solidFill>
                  <a:srgbClr val="000000"/>
                </a:solidFill>
              </a:rPr>
              <a:t>, </a:t>
            </a:r>
            <a:r>
              <a:rPr lang="ko-KR" altLang="en-US" sz="1100" b="0" dirty="0">
                <a:solidFill>
                  <a:srgbClr val="000000"/>
                </a:solidFill>
              </a:rPr>
              <a:t>상추는</a:t>
            </a:r>
            <a:r>
              <a:rPr sz="1100" b="0" dirty="0">
                <a:solidFill>
                  <a:srgbClr val="000000"/>
                </a:solidFill>
              </a:rPr>
              <a:t> </a:t>
            </a:r>
            <a:r>
              <a:rPr sz="1100" b="0" dirty="0" err="1">
                <a:solidFill>
                  <a:srgbClr val="000000"/>
                </a:solidFill>
              </a:rPr>
              <a:t>처리</a:t>
            </a:r>
            <a:r>
              <a:rPr sz="1100" b="0" dirty="0">
                <a:solidFill>
                  <a:srgbClr val="000000"/>
                </a:solidFill>
              </a:rPr>
              <a:t> 전 </a:t>
            </a:r>
            <a:r>
              <a:rPr sz="1100" b="0" dirty="0" err="1">
                <a:solidFill>
                  <a:srgbClr val="000000"/>
                </a:solidFill>
              </a:rPr>
              <a:t>곡선이</a:t>
            </a:r>
            <a:r>
              <a:rPr sz="1100" b="0" dirty="0">
                <a:solidFill>
                  <a:srgbClr val="000000"/>
                </a:solidFill>
              </a:rPr>
              <a:t> </a:t>
            </a:r>
            <a:r>
              <a:rPr sz="1100" b="0" dirty="0" err="1">
                <a:solidFill>
                  <a:srgbClr val="000000"/>
                </a:solidFill>
              </a:rPr>
              <a:t>처리</a:t>
            </a:r>
            <a:r>
              <a:rPr sz="1100" b="0" dirty="0">
                <a:solidFill>
                  <a:srgbClr val="000000"/>
                </a:solidFill>
              </a:rPr>
              <a:t> </a:t>
            </a:r>
            <a:r>
              <a:rPr sz="1100" b="0" dirty="0" err="1">
                <a:solidFill>
                  <a:srgbClr val="000000"/>
                </a:solidFill>
              </a:rPr>
              <a:t>후보다</a:t>
            </a:r>
            <a:r>
              <a:rPr sz="1100" b="0" dirty="0">
                <a:solidFill>
                  <a:srgbClr val="000000"/>
                </a:solidFill>
              </a:rPr>
              <a:t> </a:t>
            </a:r>
            <a:r>
              <a:rPr sz="1100" b="0" dirty="0" err="1">
                <a:solidFill>
                  <a:srgbClr val="000000"/>
                </a:solidFill>
              </a:rPr>
              <a:t>높음</a:t>
            </a:r>
            <a:endParaRPr sz="1100" b="0" dirty="0">
              <a:solidFill>
                <a:srgbClr val="000000"/>
              </a:solidFill>
            </a:endParaRPr>
          </a:p>
          <a:p>
            <a:pPr marL="201168" indent="-201168">
              <a:buFont typeface="Arial"/>
              <a:buChar char="•"/>
            </a:pPr>
            <a:r>
              <a:rPr sz="1100" b="0" dirty="0">
                <a:solidFill>
                  <a:srgbClr val="000000"/>
                </a:solidFill>
              </a:rPr>
              <a:t>콩 </a:t>
            </a:r>
            <a:r>
              <a:rPr sz="1100" b="0" dirty="0" err="1">
                <a:solidFill>
                  <a:srgbClr val="000000"/>
                </a:solidFill>
              </a:rPr>
              <a:t>침수구와</a:t>
            </a:r>
            <a:r>
              <a:rPr sz="1100" b="0" dirty="0">
                <a:solidFill>
                  <a:srgbClr val="000000"/>
                </a:solidFill>
              </a:rPr>
              <a:t> </a:t>
            </a:r>
            <a:r>
              <a:rPr lang="ko-KR" altLang="en-US" sz="1100" b="0" dirty="0">
                <a:solidFill>
                  <a:srgbClr val="000000"/>
                </a:solidFill>
              </a:rPr>
              <a:t>상추</a:t>
            </a:r>
            <a:r>
              <a:rPr sz="1100" b="0" dirty="0">
                <a:solidFill>
                  <a:srgbClr val="000000"/>
                </a:solidFill>
              </a:rPr>
              <a:t> </a:t>
            </a:r>
            <a:r>
              <a:rPr sz="1100" b="0" dirty="0" err="1">
                <a:solidFill>
                  <a:srgbClr val="000000"/>
                </a:solidFill>
              </a:rPr>
              <a:t>복합구가</a:t>
            </a:r>
            <a:r>
              <a:rPr sz="1100" b="0" dirty="0">
                <a:solidFill>
                  <a:srgbClr val="000000"/>
                </a:solidFill>
              </a:rPr>
              <a:t> </a:t>
            </a:r>
            <a:r>
              <a:rPr sz="1100" b="0" dirty="0" err="1">
                <a:solidFill>
                  <a:srgbClr val="000000"/>
                </a:solidFill>
              </a:rPr>
              <a:t>낮은</a:t>
            </a:r>
            <a:r>
              <a:rPr sz="1100" b="0" dirty="0">
                <a:solidFill>
                  <a:srgbClr val="000000"/>
                </a:solidFill>
              </a:rPr>
              <a:t> </a:t>
            </a:r>
            <a:r>
              <a:rPr sz="1100" b="0" dirty="0" err="1">
                <a:solidFill>
                  <a:srgbClr val="000000"/>
                </a:solidFill>
              </a:rPr>
              <a:t>경향</a:t>
            </a:r>
            <a:endParaRPr sz="1100" b="0" dirty="0">
              <a:solidFill>
                <a:srgbClr val="000000"/>
              </a:solidFill>
            </a:endParaRP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0">
                <a:solidFill>
                  <a:srgbClr val="E97132"/>
                </a:solidFill>
              </a:rPr>
              <a:t>두 작물 모두 처리 간 A-Q 곡선 차이는 없음</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b="0" dirty="0">
                <a:solidFill>
                  <a:srgbClr val="595959"/>
                </a:solidFill>
              </a:rPr>
              <a:t>값: </a:t>
            </a:r>
            <a:r>
              <a:rPr sz="1000" b="0" dirty="0" err="1">
                <a:solidFill>
                  <a:srgbClr val="595959"/>
                </a:solidFill>
              </a:rPr>
              <a:t>평균</a:t>
            </a:r>
            <a:r>
              <a:rPr sz="1000" b="0" dirty="0">
                <a:solidFill>
                  <a:srgbClr val="595959"/>
                </a:solidFill>
              </a:rPr>
              <a:t> ± SE (µmol CO</a:t>
            </a:r>
            <a:r>
              <a:rPr sz="1000" b="0" baseline="-25000" dirty="0">
                <a:solidFill>
                  <a:srgbClr val="595959"/>
                </a:solidFill>
              </a:rPr>
              <a:t>2</a:t>
            </a:r>
            <a:r>
              <a:rPr sz="1000" b="0" dirty="0">
                <a:solidFill>
                  <a:srgbClr val="595959"/>
                </a:solidFill>
              </a:rPr>
              <a:t> m</a:t>
            </a:r>
            <a:r>
              <a:rPr sz="1000" b="0" baseline="30000" dirty="0">
                <a:solidFill>
                  <a:srgbClr val="595959"/>
                </a:solidFill>
              </a:rPr>
              <a:t>−2</a:t>
            </a:r>
            <a:r>
              <a:rPr sz="1000" b="0" dirty="0">
                <a:solidFill>
                  <a:srgbClr val="595959"/>
                </a:solidFill>
              </a:rPr>
              <a:t>·s</a:t>
            </a:r>
            <a:r>
              <a:rPr sz="1000" b="0" baseline="30000" dirty="0">
                <a:solidFill>
                  <a:srgbClr val="595959"/>
                </a:solidFill>
              </a:rPr>
              <a:t>−1</a:t>
            </a:r>
            <a:r>
              <a:rPr sz="1000" b="0" dirty="0">
                <a:solidFill>
                  <a:srgbClr val="595959"/>
                </a:solidFill>
              </a:rPr>
              <a:t>). 콩 </a:t>
            </a:r>
            <a:r>
              <a:rPr sz="1000" b="0" dirty="0" err="1">
                <a:solidFill>
                  <a:srgbClr val="595959"/>
                </a:solidFill>
              </a:rPr>
              <a:t>처리</a:t>
            </a:r>
            <a:r>
              <a:rPr sz="1000" b="0" dirty="0">
                <a:solidFill>
                  <a:srgbClr val="595959"/>
                </a:solidFill>
              </a:rPr>
              <a:t> 전 7/22~23(3곡선), </a:t>
            </a:r>
            <a:r>
              <a:rPr lang="ko-KR" altLang="en-US" sz="1000" b="0" dirty="0">
                <a:solidFill>
                  <a:srgbClr val="595959"/>
                </a:solidFill>
              </a:rPr>
              <a:t>상추</a:t>
            </a:r>
            <a:r>
              <a:rPr sz="1000" b="0" dirty="0">
                <a:solidFill>
                  <a:srgbClr val="595959"/>
                </a:solidFill>
              </a:rPr>
              <a:t> </a:t>
            </a:r>
            <a:r>
              <a:rPr sz="1000" b="0" dirty="0" err="1">
                <a:solidFill>
                  <a:srgbClr val="595959"/>
                </a:solidFill>
              </a:rPr>
              <a:t>처리</a:t>
            </a:r>
            <a:r>
              <a:rPr sz="1000" b="0" dirty="0">
                <a:solidFill>
                  <a:srgbClr val="595959"/>
                </a:solidFill>
              </a:rPr>
              <a:t> 전 10/4(3곡선), </a:t>
            </a:r>
            <a:r>
              <a:rPr sz="1000" b="0" dirty="0" err="1">
                <a:solidFill>
                  <a:srgbClr val="595959"/>
                </a:solidFill>
              </a:rPr>
              <a:t>처리</a:t>
            </a:r>
            <a:r>
              <a:rPr sz="1000" b="0" dirty="0">
                <a:solidFill>
                  <a:srgbClr val="595959"/>
                </a:solidFill>
              </a:rPr>
              <a:t> 후 </a:t>
            </a:r>
            <a:r>
              <a:rPr sz="1000" b="0" dirty="0" err="1">
                <a:solidFill>
                  <a:srgbClr val="595959"/>
                </a:solidFill>
              </a:rPr>
              <a:t>처리당</a:t>
            </a:r>
            <a:r>
              <a:rPr sz="1000" b="0" dirty="0">
                <a:solidFill>
                  <a:srgbClr val="595959"/>
                </a:solidFill>
              </a:rPr>
              <a:t> 3곡선(10/16~19). PPFD </a:t>
            </a:r>
            <a:r>
              <a:rPr sz="1000" b="0" dirty="0" err="1">
                <a:solidFill>
                  <a:srgbClr val="595959"/>
                </a:solidFill>
              </a:rPr>
              <a:t>수준별</a:t>
            </a:r>
            <a:r>
              <a:rPr sz="1000" b="0" dirty="0">
                <a:solidFill>
                  <a:srgbClr val="595959"/>
                </a:solidFill>
              </a:rPr>
              <a:t> Tukey.</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20"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LI-600 : 정상 상태 형광 (F</a:t>
            </a:r>
            <a:r>
              <a:rPr lang="ko-KR" altLang="en-US" sz="2800" baseline="-25000" dirty="0"/>
              <a:t>s</a:t>
            </a:r>
            <a:r>
              <a:rPr lang="ko-KR" altLang="en-US" sz="2800" dirty="0"/>
              <a:t>)</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22</a:t>
            </a:fld>
            <a:endParaRPr lang="ko-KR" altLang="en-US"/>
          </a:p>
        </p:txBody>
      </p:sp>
      <p:pic>
        <p:nvPicPr>
          <p:cNvPr id="14" name="Picture 13" descr="image.png"/>
          <p:cNvPicPr>
            <a:picLocks noChangeAspect="1"/>
          </p:cNvPicPr>
          <p:nvPr/>
        </p:nvPicPr>
        <p:blipFill>
          <a:blip r:embed="rId5"/>
          <a:stretch>
            <a:fillRect/>
          </a:stretch>
        </p:blipFill>
        <p:spPr>
          <a:xfrm>
            <a:off x="721559" y="1188720"/>
            <a:ext cx="6375000" cy="2550000"/>
          </a:xfrm>
          <a:prstGeom prst="rect">
            <a:avLst/>
          </a:prstGeom>
        </p:spPr>
      </p:pic>
      <p:graphicFrame>
        <p:nvGraphicFramePr>
          <p:cNvPr id="8" name="Table 7"/>
          <p:cNvGraphicFramePr>
            <a:graphicFrameLocks noGrp="1"/>
          </p:cNvGraphicFramePr>
          <p:nvPr/>
        </p:nvGraphicFramePr>
        <p:xfrm>
          <a:off x="457200" y="3790000"/>
          <a:ext cx="6858000" cy="950000"/>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190000">
                <a:tc>
                  <a:txBody>
                    <a:bodyPr/>
                    <a:lstStyle/>
                    <a:p>
                      <a:pPr algn="l">
                        <a:lnSpc>
                          <a:spcPct val="100000"/>
                        </a:lnSpc>
                        <a:spcBef>
                          <a:spcPts val="0"/>
                        </a:spcBef>
                        <a:spcAft>
                          <a:spcPts val="0"/>
                        </a:spcAft>
                      </a:pPr>
                      <a:r>
                        <a:rPr sz="800" b="1" dirty="0">
                          <a:solidFill>
                            <a:srgbClr val="000000"/>
                          </a:solidFill>
                        </a:rPr>
                        <a:t>Treatment</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Lettuce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Lettuce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190000">
                <a:tc>
                  <a:txBody>
                    <a:bodyPr/>
                    <a:lstStyle/>
                    <a:p>
                      <a:pPr algn="l">
                        <a:lnSpc>
                          <a:spcPct val="100000"/>
                        </a:lnSpc>
                        <a:spcBef>
                          <a:spcPts val="0"/>
                        </a:spcBef>
                        <a:spcAft>
                          <a:spcPts val="0"/>
                        </a:spcAft>
                      </a:pPr>
                      <a:r>
                        <a:rPr sz="800" b="0">
                          <a:solidFill>
                            <a:srgbClr val="000000"/>
                          </a:solidFill>
                        </a:rPr>
                        <a:t>Control</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129.1 b</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113.3 b</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157.0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142.3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190000">
                <a:tc>
                  <a:txBody>
                    <a:bodyPr/>
                    <a:lstStyle/>
                    <a:p>
                      <a:pPr algn="l">
                        <a:lnSpc>
                          <a:spcPct val="100000"/>
                        </a:lnSpc>
                        <a:spcBef>
                          <a:spcPts val="0"/>
                        </a:spcBef>
                        <a:spcAft>
                          <a:spcPts val="0"/>
                        </a:spcAft>
                      </a:pPr>
                      <a:r>
                        <a:rPr sz="800" b="0">
                          <a:solidFill>
                            <a:srgbClr val="000000"/>
                          </a:solidFill>
                        </a:rPr>
                        <a:t>Drought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130.2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161.1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141.9 a</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190000">
                <a:tc>
                  <a:txBody>
                    <a:bodyPr/>
                    <a:lstStyle/>
                    <a:p>
                      <a:pPr algn="l">
                        <a:lnSpc>
                          <a:spcPct val="100000"/>
                        </a:lnSpc>
                        <a:spcBef>
                          <a:spcPts val="0"/>
                        </a:spcBef>
                        <a:spcAft>
                          <a:spcPts val="0"/>
                        </a:spcAft>
                      </a:pPr>
                      <a:r>
                        <a:rPr lang="en-US" sz="800" b="0" dirty="0">
                          <a:solidFill>
                            <a:srgbClr val="000000"/>
                          </a:solidFill>
                        </a:rPr>
                        <a:t>Waterlogging</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139.0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130.0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158.1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141.5 a</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190000">
                <a:tc>
                  <a:txBody>
                    <a:bodyPr/>
                    <a:lstStyle/>
                    <a:p>
                      <a:pPr algn="l">
                        <a:lnSpc>
                          <a:spcPct val="100000"/>
                        </a:lnSpc>
                        <a:spcBef>
                          <a:spcPts val="0"/>
                        </a:spcBef>
                        <a:spcAft>
                          <a:spcPts val="0"/>
                        </a:spcAft>
                      </a:pPr>
                      <a:r>
                        <a:rPr lang="en-US" sz="800" b="0" dirty="0">
                          <a:solidFill>
                            <a:srgbClr val="000000"/>
                          </a:solidFill>
                        </a:rPr>
                        <a:t>Combined</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133.4 a</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161.6 a</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144.3 a</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4"/>
                  </a:ext>
                </a:extLst>
              </a:tr>
            </a:tbl>
          </a:graphicData>
        </a:graphic>
      </p:graphicFrame>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828432"/>
          </a:xfrm>
          <a:prstGeom prst="rect">
            <a:avLst/>
          </a:prstGeom>
          <a:noFill/>
        </p:spPr>
        <p:txBody>
          <a:bodyPr wrap="square">
            <a:spAutoFit/>
          </a:bodyPr>
          <a:lstStyle/>
          <a:p>
            <a:pPr marL="201168" indent="-201168">
              <a:spcBef>
                <a:spcPts val="0"/>
              </a:spcBef>
              <a:buFont typeface="Arial"/>
              <a:buChar char="•"/>
            </a:pPr>
            <a:r>
              <a:rPr sz="1400" dirty="0">
                <a:solidFill>
                  <a:srgbClr val="000000"/>
                </a:solidFill>
              </a:rPr>
              <a:t>콩: P1 </a:t>
            </a:r>
            <a:r>
              <a:rPr sz="1400" dirty="0" err="1">
                <a:solidFill>
                  <a:srgbClr val="000000"/>
                </a:solidFill>
              </a:rPr>
              <a:t>침수구</a:t>
            </a:r>
            <a:r>
              <a:rPr sz="1400" dirty="0">
                <a:solidFill>
                  <a:srgbClr val="000000"/>
                </a:solidFill>
              </a:rPr>
              <a:t>, P2 </a:t>
            </a:r>
            <a:r>
              <a:rPr sz="1400" dirty="0" err="1">
                <a:solidFill>
                  <a:srgbClr val="000000"/>
                </a:solidFill>
              </a:rPr>
              <a:t>건조·침수·복합구가</a:t>
            </a:r>
            <a:r>
              <a:rPr sz="1400" dirty="0">
                <a:solidFill>
                  <a:srgbClr val="000000"/>
                </a:solidFill>
              </a:rPr>
              <a:t> </a:t>
            </a:r>
            <a:r>
              <a:rPr sz="1400" dirty="0" err="1">
                <a:solidFill>
                  <a:srgbClr val="000000"/>
                </a:solidFill>
              </a:rPr>
              <a:t>대조구보다</a:t>
            </a:r>
            <a:r>
              <a:rPr sz="1400" dirty="0">
                <a:solidFill>
                  <a:srgbClr val="000000"/>
                </a:solidFill>
              </a:rPr>
              <a:t> </a:t>
            </a:r>
            <a:r>
              <a:rPr sz="1400" dirty="0" err="1">
                <a:solidFill>
                  <a:srgbClr val="000000"/>
                </a:solidFill>
              </a:rPr>
              <a:t>높음</a:t>
            </a:r>
            <a:endParaRPr sz="1400" dirty="0">
              <a:solidFill>
                <a:srgbClr val="000000"/>
              </a:solidFill>
            </a:endParaRPr>
          </a:p>
          <a:p>
            <a:pPr marL="201168" indent="-201168">
              <a:spcBef>
                <a:spcPts val="700"/>
              </a:spcBef>
              <a:buFont typeface="Arial"/>
              <a:buChar char="•"/>
            </a:pPr>
            <a:r>
              <a:rPr lang="ko-KR" altLang="en-US" sz="1400" dirty="0">
                <a:solidFill>
                  <a:srgbClr val="000000"/>
                </a:solidFill>
              </a:rPr>
              <a:t>상추</a:t>
            </a:r>
            <a:r>
              <a:rPr sz="1400" dirty="0">
                <a:solidFill>
                  <a:srgbClr val="000000"/>
                </a:solidFill>
              </a:rPr>
              <a:t>: </a:t>
            </a:r>
            <a:r>
              <a:rPr sz="1400" dirty="0" err="1">
                <a:solidFill>
                  <a:srgbClr val="000000"/>
                </a:solidFill>
              </a:rPr>
              <a:t>처리</a:t>
            </a:r>
            <a:r>
              <a:rPr sz="1400" dirty="0">
                <a:solidFill>
                  <a:srgbClr val="000000"/>
                </a:solidFill>
              </a:rPr>
              <a:t> 간 </a:t>
            </a:r>
            <a:r>
              <a:rPr sz="1400" dirty="0" err="1">
                <a:solidFill>
                  <a:srgbClr val="000000"/>
                </a:solidFill>
              </a:rPr>
              <a:t>차이</a:t>
            </a:r>
            <a:r>
              <a:rPr sz="1400" dirty="0">
                <a:solidFill>
                  <a:srgbClr val="000000"/>
                </a:solidFill>
              </a:rPr>
              <a:t> </a:t>
            </a:r>
            <a:r>
              <a:rPr sz="1400" dirty="0" err="1">
                <a:solidFill>
                  <a:srgbClr val="000000"/>
                </a:solidFill>
              </a:rPr>
              <a:t>없음</a:t>
            </a:r>
            <a:endParaRPr sz="1400" dirty="0">
              <a:solidFill>
                <a:srgbClr val="000000"/>
              </a:solidFill>
            </a:endParaRP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F</a:t>
            </a:r>
            <a:r>
              <a:rPr sz="1600" baseline="-25000">
                <a:solidFill>
                  <a:srgbClr val="E97132"/>
                </a:solidFill>
              </a:rPr>
              <a:t>s</a:t>
            </a:r>
            <a:r>
              <a:rPr sz="1600">
                <a:solidFill>
                  <a:srgbClr val="E97132"/>
                </a:solidFill>
              </a:rPr>
              <a:t> 절대값 차이는 형광 신호 크기 변화를 포함 — 생리 해석은 비율 지표(Φ</a:t>
            </a:r>
            <a:r>
              <a:rPr sz="1600" baseline="-25000">
                <a:solidFill>
                  <a:srgbClr val="E97132"/>
                </a:solidFill>
              </a:rPr>
              <a:t>PSII</a:t>
            </a:r>
            <a:r>
              <a:rPr sz="1600">
                <a:solidFill>
                  <a:srgbClr val="E97132"/>
                </a:solidFill>
              </a:rPr>
              <a:t>)로</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표: PAR(Q</a:t>
            </a:r>
            <a:r>
              <a:rPr sz="1000" baseline="-25000">
                <a:solidFill>
                  <a:srgbClr val="595959"/>
                </a:solidFill>
              </a:rPr>
              <a:t>amb</a:t>
            </a:r>
            <a:r>
              <a:rPr sz="1000">
                <a:solidFill>
                  <a:srgbClr val="595959"/>
                </a:solidFill>
              </a:rPr>
              <a:t>)·기온(T</a:t>
            </a:r>
            <a:r>
              <a:rPr sz="1000" baseline="-25000">
                <a:solidFill>
                  <a:srgbClr val="595959"/>
                </a:solidFill>
              </a:rPr>
              <a:t>air</a:t>
            </a:r>
            <a:r>
              <a:rPr sz="1000">
                <a:solidFill>
                  <a:srgbClr val="595959"/>
                </a:solidFill>
              </a:rPr>
              <a:t>) 공변량 보정 평균(혼합모형, 측정일 임의효과), Tukey 문자.</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20"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LI-600 : 전자전달속도 (ETR)</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23</a:t>
            </a:fld>
            <a:endParaRPr lang="ko-KR" altLang="en-US"/>
          </a:p>
        </p:txBody>
      </p:sp>
      <p:pic>
        <p:nvPicPr>
          <p:cNvPr id="14" name="Picture 13" descr="image.png"/>
          <p:cNvPicPr>
            <a:picLocks noChangeAspect="1"/>
          </p:cNvPicPr>
          <p:nvPr/>
        </p:nvPicPr>
        <p:blipFill>
          <a:blip r:embed="rId5"/>
          <a:stretch>
            <a:fillRect/>
          </a:stretch>
        </p:blipFill>
        <p:spPr>
          <a:xfrm>
            <a:off x="721559" y="1188720"/>
            <a:ext cx="6375000" cy="2550000"/>
          </a:xfrm>
          <a:prstGeom prst="rect">
            <a:avLst/>
          </a:prstGeom>
        </p:spPr>
      </p:pic>
      <p:graphicFrame>
        <p:nvGraphicFramePr>
          <p:cNvPr id="8" name="Table 7"/>
          <p:cNvGraphicFramePr>
            <a:graphicFrameLocks noGrp="1"/>
          </p:cNvGraphicFramePr>
          <p:nvPr>
            <p:extLst>
              <p:ext uri="{D42A27DB-BD31-4B8C-83A1-F6EECF244321}">
                <p14:modId xmlns:p14="http://schemas.microsoft.com/office/powerpoint/2010/main" val="4152298316"/>
              </p:ext>
            </p:extLst>
          </p:nvPr>
        </p:nvGraphicFramePr>
        <p:xfrm>
          <a:off x="457200" y="3790000"/>
          <a:ext cx="6858000" cy="950000"/>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190000">
                <a:tc>
                  <a:txBody>
                    <a:bodyPr/>
                    <a:lstStyle/>
                    <a:p>
                      <a:pPr algn="l">
                        <a:lnSpc>
                          <a:spcPct val="100000"/>
                        </a:lnSpc>
                        <a:spcBef>
                          <a:spcPts val="0"/>
                        </a:spcBef>
                        <a:spcAft>
                          <a:spcPts val="0"/>
                        </a:spcAft>
                      </a:pPr>
                      <a:r>
                        <a:rPr sz="800" b="1" dirty="0">
                          <a:solidFill>
                            <a:srgbClr val="000000"/>
                          </a:solidFill>
                        </a:rPr>
                        <a:t>Treatment</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Lettuce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Lettuce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190000">
                <a:tc>
                  <a:txBody>
                    <a:bodyPr/>
                    <a:lstStyle/>
                    <a:p>
                      <a:pPr algn="l">
                        <a:lnSpc>
                          <a:spcPct val="100000"/>
                        </a:lnSpc>
                        <a:spcBef>
                          <a:spcPts val="0"/>
                        </a:spcBef>
                        <a:spcAft>
                          <a:spcPts val="0"/>
                        </a:spcAft>
                      </a:pPr>
                      <a:r>
                        <a:rPr sz="800" b="0">
                          <a:solidFill>
                            <a:srgbClr val="000000"/>
                          </a:solidFill>
                        </a:rPr>
                        <a:t>Control</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120.0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189.6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141.7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75.8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190000">
                <a:tc>
                  <a:txBody>
                    <a:bodyPr/>
                    <a:lstStyle/>
                    <a:p>
                      <a:pPr algn="l">
                        <a:lnSpc>
                          <a:spcPct val="100000"/>
                        </a:lnSpc>
                        <a:spcBef>
                          <a:spcPts val="0"/>
                        </a:spcBef>
                        <a:spcAft>
                          <a:spcPts val="0"/>
                        </a:spcAft>
                      </a:pPr>
                      <a:r>
                        <a:rPr sz="800" b="0">
                          <a:solidFill>
                            <a:srgbClr val="000000"/>
                          </a:solidFill>
                        </a:rPr>
                        <a:t>Drought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143.8 c</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137.9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78.5 a</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190000">
                <a:tc>
                  <a:txBody>
                    <a:bodyPr/>
                    <a:lstStyle/>
                    <a:p>
                      <a:pPr algn="l">
                        <a:lnSpc>
                          <a:spcPct val="100000"/>
                        </a:lnSpc>
                        <a:spcBef>
                          <a:spcPts val="0"/>
                        </a:spcBef>
                        <a:spcAft>
                          <a:spcPts val="0"/>
                        </a:spcAft>
                      </a:pPr>
                      <a:r>
                        <a:rPr lang="en-US" sz="800" b="0" dirty="0">
                          <a:solidFill>
                            <a:srgbClr val="000000"/>
                          </a:solidFill>
                        </a:rPr>
                        <a:t>Waterlogging</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110.0 b</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178.0 ab</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132.7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72.6 a</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190000">
                <a:tc>
                  <a:txBody>
                    <a:bodyPr/>
                    <a:lstStyle/>
                    <a:p>
                      <a:pPr algn="l">
                        <a:lnSpc>
                          <a:spcPct val="100000"/>
                        </a:lnSpc>
                        <a:spcBef>
                          <a:spcPts val="0"/>
                        </a:spcBef>
                        <a:spcAft>
                          <a:spcPts val="0"/>
                        </a:spcAft>
                      </a:pPr>
                      <a:r>
                        <a:rPr lang="en-US" sz="800" b="0" dirty="0">
                          <a:solidFill>
                            <a:srgbClr val="000000"/>
                          </a:solidFill>
                        </a:rPr>
                        <a:t>Combined</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164.2 bc</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130.0 a</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80.2 a</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4"/>
                  </a:ext>
                </a:extLst>
              </a:tr>
            </a:tbl>
          </a:graphicData>
        </a:graphic>
      </p:graphicFrame>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828432"/>
          </a:xfrm>
          <a:prstGeom prst="rect">
            <a:avLst/>
          </a:prstGeom>
          <a:noFill/>
        </p:spPr>
        <p:txBody>
          <a:bodyPr wrap="square">
            <a:spAutoFit/>
          </a:bodyPr>
          <a:lstStyle/>
          <a:p>
            <a:pPr marL="201168" indent="-201168">
              <a:spcBef>
                <a:spcPts val="0"/>
              </a:spcBef>
              <a:buFont typeface="Arial"/>
              <a:buChar char="•"/>
            </a:pPr>
            <a:r>
              <a:rPr sz="1400" dirty="0">
                <a:solidFill>
                  <a:srgbClr val="000000"/>
                </a:solidFill>
              </a:rPr>
              <a:t>콩: </a:t>
            </a:r>
            <a:r>
              <a:rPr sz="1400" dirty="0" err="1">
                <a:solidFill>
                  <a:srgbClr val="000000"/>
                </a:solidFill>
              </a:rPr>
              <a:t>대조구가</a:t>
            </a:r>
            <a:r>
              <a:rPr sz="1400" dirty="0">
                <a:solidFill>
                  <a:srgbClr val="000000"/>
                </a:solidFill>
              </a:rPr>
              <a:t> </a:t>
            </a:r>
            <a:r>
              <a:rPr sz="1400" dirty="0" err="1">
                <a:solidFill>
                  <a:srgbClr val="000000"/>
                </a:solidFill>
              </a:rPr>
              <a:t>높고</a:t>
            </a:r>
            <a:r>
              <a:rPr sz="1400" dirty="0">
                <a:solidFill>
                  <a:srgbClr val="000000"/>
                </a:solidFill>
              </a:rPr>
              <a:t> </a:t>
            </a:r>
            <a:r>
              <a:rPr sz="1400" dirty="0" err="1">
                <a:solidFill>
                  <a:srgbClr val="000000"/>
                </a:solidFill>
              </a:rPr>
              <a:t>건조구가</a:t>
            </a:r>
            <a:r>
              <a:rPr sz="1400" dirty="0">
                <a:solidFill>
                  <a:srgbClr val="000000"/>
                </a:solidFill>
              </a:rPr>
              <a:t> </a:t>
            </a:r>
            <a:r>
              <a:rPr sz="1400" dirty="0" err="1">
                <a:solidFill>
                  <a:srgbClr val="000000"/>
                </a:solidFill>
              </a:rPr>
              <a:t>가장</a:t>
            </a:r>
            <a:r>
              <a:rPr sz="1400" dirty="0">
                <a:solidFill>
                  <a:srgbClr val="000000"/>
                </a:solidFill>
              </a:rPr>
              <a:t> </a:t>
            </a:r>
            <a:r>
              <a:rPr sz="1400" dirty="0" err="1">
                <a:solidFill>
                  <a:srgbClr val="000000"/>
                </a:solidFill>
              </a:rPr>
              <a:t>낮음</a:t>
            </a:r>
            <a:endParaRPr sz="1400" dirty="0">
              <a:solidFill>
                <a:srgbClr val="000000"/>
              </a:solidFill>
            </a:endParaRPr>
          </a:p>
          <a:p>
            <a:pPr marL="201168" indent="-201168">
              <a:spcBef>
                <a:spcPts val="700"/>
              </a:spcBef>
              <a:buFont typeface="Arial"/>
              <a:buChar char="•"/>
            </a:pPr>
            <a:r>
              <a:rPr lang="ko-KR" altLang="en-US" sz="1400" dirty="0">
                <a:solidFill>
                  <a:srgbClr val="000000"/>
                </a:solidFill>
              </a:rPr>
              <a:t>상추</a:t>
            </a:r>
            <a:r>
              <a:rPr sz="1400" dirty="0">
                <a:solidFill>
                  <a:srgbClr val="000000"/>
                </a:solidFill>
              </a:rPr>
              <a:t>: P1 </a:t>
            </a:r>
            <a:r>
              <a:rPr sz="1400" dirty="0" err="1">
                <a:solidFill>
                  <a:srgbClr val="000000"/>
                </a:solidFill>
              </a:rPr>
              <a:t>대조구가</a:t>
            </a:r>
            <a:r>
              <a:rPr sz="1400" dirty="0">
                <a:solidFill>
                  <a:srgbClr val="000000"/>
                </a:solidFill>
              </a:rPr>
              <a:t> </a:t>
            </a:r>
            <a:r>
              <a:rPr sz="1400" dirty="0" err="1">
                <a:solidFill>
                  <a:srgbClr val="000000"/>
                </a:solidFill>
              </a:rPr>
              <a:t>높은</a:t>
            </a:r>
            <a:r>
              <a:rPr sz="1400" dirty="0">
                <a:solidFill>
                  <a:srgbClr val="000000"/>
                </a:solidFill>
              </a:rPr>
              <a:t> </a:t>
            </a:r>
            <a:r>
              <a:rPr sz="1400" dirty="0" err="1">
                <a:solidFill>
                  <a:srgbClr val="000000"/>
                </a:solidFill>
              </a:rPr>
              <a:t>경향</a:t>
            </a:r>
            <a:r>
              <a:rPr sz="1400" dirty="0">
                <a:solidFill>
                  <a:srgbClr val="000000"/>
                </a:solidFill>
              </a:rPr>
              <a:t>, P2 </a:t>
            </a:r>
            <a:r>
              <a:rPr sz="1400" dirty="0" err="1">
                <a:solidFill>
                  <a:srgbClr val="000000"/>
                </a:solidFill>
              </a:rPr>
              <a:t>처리</a:t>
            </a:r>
            <a:r>
              <a:rPr sz="1400" dirty="0">
                <a:solidFill>
                  <a:srgbClr val="000000"/>
                </a:solidFill>
              </a:rPr>
              <a:t> 간 </a:t>
            </a:r>
            <a:r>
              <a:rPr sz="1400" dirty="0" err="1">
                <a:solidFill>
                  <a:srgbClr val="000000"/>
                </a:solidFill>
              </a:rPr>
              <a:t>차이</a:t>
            </a:r>
            <a:r>
              <a:rPr sz="1400" dirty="0">
                <a:solidFill>
                  <a:srgbClr val="000000"/>
                </a:solidFill>
              </a:rPr>
              <a:t> </a:t>
            </a:r>
            <a:r>
              <a:rPr sz="1400" dirty="0" err="1">
                <a:solidFill>
                  <a:srgbClr val="000000"/>
                </a:solidFill>
              </a:rPr>
              <a:t>없음</a:t>
            </a:r>
            <a:endParaRPr sz="1400" dirty="0">
              <a:solidFill>
                <a:srgbClr val="000000"/>
              </a:solidFill>
            </a:endParaRP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ETR은 광도에 비례 — 콩 P2 처리 차이는 Φ</a:t>
            </a:r>
            <a:r>
              <a:rPr sz="1600" baseline="-25000">
                <a:solidFill>
                  <a:srgbClr val="E97132"/>
                </a:solidFill>
              </a:rPr>
              <a:t>PSII</a:t>
            </a:r>
            <a:r>
              <a:rPr sz="1600">
                <a:solidFill>
                  <a:srgbClr val="E97132"/>
                </a:solidFill>
              </a:rPr>
              <a:t>와 같이 고광도에서 커짐</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표: PAR(Q</a:t>
            </a:r>
            <a:r>
              <a:rPr sz="1000" baseline="-25000">
                <a:solidFill>
                  <a:srgbClr val="595959"/>
                </a:solidFill>
              </a:rPr>
              <a:t>amb</a:t>
            </a:r>
            <a:r>
              <a:rPr sz="1000">
                <a:solidFill>
                  <a:srgbClr val="595959"/>
                </a:solidFill>
              </a:rPr>
              <a:t>)·기온(T</a:t>
            </a:r>
            <a:r>
              <a:rPr sz="1000" baseline="-25000">
                <a:solidFill>
                  <a:srgbClr val="595959"/>
                </a:solidFill>
              </a:rPr>
              <a:t>air</a:t>
            </a:r>
            <a:r>
              <a:rPr sz="1000">
                <a:solidFill>
                  <a:srgbClr val="595959"/>
                </a:solidFill>
              </a:rPr>
              <a:t>) 공변량 보정 평균(혼합모형, 측정일 임의효과), Tukey 문자.</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20"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A5. 측정 당시 일사 조건: 흐린 날 표시</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24</a:t>
            </a:fld>
            <a:endParaRPr lang="ko-KR" altLang="en-US"/>
          </a:p>
        </p:txBody>
      </p:sp>
      <p:sp>
        <p:nvSpPr>
          <p:cNvPr id="7" name="Rounded Rectangle 6"/>
          <p:cNvSpPr/>
          <p:nvPr/>
        </p:nvSpPr>
        <p:spPr>
          <a:xfrm>
            <a:off x="457200" y="1188720"/>
            <a:ext cx="5394960" cy="274320"/>
          </a:xfrm>
          <a:prstGeom prst="roundRect">
            <a:avLst>
              <a:gd name="adj" fmla="val 20000"/>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300" b="1">
                <a:solidFill>
                  <a:srgbClr val="FFFFFF"/>
                </a:solidFill>
              </a:rPr>
              <a:t>콩</a:t>
            </a:r>
          </a:p>
        </p:txBody>
      </p:sp>
      <p:graphicFrame>
        <p:nvGraphicFramePr>
          <p:cNvPr id="8" name="Table 7"/>
          <p:cNvGraphicFramePr>
            <a:graphicFrameLocks noGrp="1"/>
          </p:cNvGraphicFramePr>
          <p:nvPr/>
        </p:nvGraphicFramePr>
        <p:xfrm>
          <a:off x="457200" y="1508760"/>
          <a:ext cx="5394960" cy="3634740"/>
        </p:xfrm>
        <a:graphic>
          <a:graphicData uri="http://schemas.openxmlformats.org/drawingml/2006/table">
            <a:tbl>
              <a:tblPr>
                <a:tableStyleId>{2D5ABB26-0587-4C30-8999-92F81FD0307C}</a:tableStyleId>
              </a:tblPr>
              <a:tblGrid>
                <a:gridCol w="7315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242316">
                <a:tc>
                  <a:txBody>
                    <a:bodyPr/>
                    <a:lstStyle/>
                    <a:p>
                      <a:pPr algn="l">
                        <a:lnSpc>
                          <a:spcPct val="100000"/>
                        </a:lnSpc>
                        <a:spcBef>
                          <a:spcPts val="0"/>
                        </a:spcBef>
                        <a:spcAft>
                          <a:spcPts val="0"/>
                        </a:spcAft>
                      </a:pPr>
                      <a:r>
                        <a:rPr sz="950" b="1">
                          <a:solidFill>
                            <a:srgbClr val="000000"/>
                          </a:solidFill>
                        </a:rPr>
                        <a:t>Date</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950" b="1">
                          <a:solidFill>
                            <a:srgbClr val="000000"/>
                          </a:solidFill>
                        </a:rPr>
                        <a:t>Time</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950" b="1">
                          <a:solidFill>
                            <a:srgbClr val="000000"/>
                          </a:solidFill>
                        </a:rPr>
                        <a:t>SW (W·m</a:t>
                      </a:r>
                      <a:r>
                        <a:rPr sz="950" b="1" baseline="30000">
                          <a:solidFill>
                            <a:srgbClr val="000000"/>
                          </a:solidFill>
                        </a:rPr>
                        <a:t>−2</a:t>
                      </a:r>
                      <a:r>
                        <a:rPr sz="950" b="1">
                          <a:solidFill>
                            <a:srgbClr val="000000"/>
                          </a:solidFill>
                        </a:rPr>
                        <a:t>)</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950" b="1">
                          <a:solidFill>
                            <a:srgbClr val="000000"/>
                          </a:solidFill>
                        </a:rPr>
                        <a:t>CI</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950" b="1">
                          <a:solidFill>
                            <a:srgbClr val="000000"/>
                          </a:solidFill>
                        </a:rPr>
                        <a:t>Use</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42316">
                <a:tc>
                  <a:txBody>
                    <a:bodyPr/>
                    <a:lstStyle/>
                    <a:p>
                      <a:pPr algn="l">
                        <a:lnSpc>
                          <a:spcPct val="100000"/>
                        </a:lnSpc>
                        <a:spcBef>
                          <a:spcPts val="0"/>
                        </a:spcBef>
                        <a:spcAft>
                          <a:spcPts val="0"/>
                        </a:spcAft>
                      </a:pPr>
                      <a:r>
                        <a:rPr sz="950" b="0">
                          <a:solidFill>
                            <a:srgbClr val="000000"/>
                          </a:solidFill>
                        </a:rPr>
                        <a:t>08/13</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950" b="0">
                          <a:solidFill>
                            <a:srgbClr val="000000"/>
                          </a:solidFill>
                        </a:rPr>
                        <a:t>10:31–11:01</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950" b="0">
                          <a:solidFill>
                            <a:srgbClr val="000000"/>
                          </a:solidFill>
                        </a:rPr>
                        <a:t>348</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950" b="0">
                          <a:solidFill>
                            <a:srgbClr val="000000"/>
                          </a:solidFill>
                        </a:rPr>
                        <a:t>0.61</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42316">
                <a:tc>
                  <a:txBody>
                    <a:bodyPr/>
                    <a:lstStyle/>
                    <a:p>
                      <a:pPr algn="l">
                        <a:lnSpc>
                          <a:spcPct val="100000"/>
                        </a:lnSpc>
                        <a:spcBef>
                          <a:spcPts val="0"/>
                        </a:spcBef>
                        <a:spcAft>
                          <a:spcPts val="0"/>
                        </a:spcAft>
                      </a:pPr>
                      <a:r>
                        <a:rPr sz="950" b="0">
                          <a:solidFill>
                            <a:srgbClr val="000000"/>
                          </a:solidFill>
                        </a:rPr>
                        <a:t>08/14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10:19–10:36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312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0.66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42316">
                <a:tc>
                  <a:txBody>
                    <a:bodyPr/>
                    <a:lstStyle/>
                    <a:p>
                      <a:pPr algn="l">
                        <a:lnSpc>
                          <a:spcPct val="100000"/>
                        </a:lnSpc>
                        <a:spcBef>
                          <a:spcPts val="0"/>
                        </a:spcBef>
                        <a:spcAft>
                          <a:spcPts val="0"/>
                        </a:spcAft>
                      </a:pPr>
                      <a:r>
                        <a:rPr sz="950" b="0">
                          <a:solidFill>
                            <a:srgbClr val="000000"/>
                          </a:solidFill>
                        </a:rPr>
                        <a:t>08/15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08:31–08:40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138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0.54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42316">
                <a:tc>
                  <a:txBody>
                    <a:bodyPr/>
                    <a:lstStyle/>
                    <a:p>
                      <a:pPr algn="l">
                        <a:lnSpc>
                          <a:spcPct val="100000"/>
                        </a:lnSpc>
                        <a:spcBef>
                          <a:spcPts val="0"/>
                        </a:spcBef>
                        <a:spcAft>
                          <a:spcPts val="0"/>
                        </a:spcAft>
                      </a:pPr>
                      <a:r>
                        <a:rPr sz="950" b="0">
                          <a:solidFill>
                            <a:srgbClr val="000000"/>
                          </a:solidFill>
                        </a:rPr>
                        <a:t>08/16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08:43–08:57</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51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0.20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42316">
                <a:tc>
                  <a:txBody>
                    <a:bodyPr/>
                    <a:lstStyle/>
                    <a:p>
                      <a:pPr algn="l">
                        <a:lnSpc>
                          <a:spcPct val="100000"/>
                        </a:lnSpc>
                        <a:spcBef>
                          <a:spcPts val="0"/>
                        </a:spcBef>
                        <a:spcAft>
                          <a:spcPts val="0"/>
                        </a:spcAft>
                      </a:pPr>
                      <a:r>
                        <a:rPr sz="950" b="0">
                          <a:solidFill>
                            <a:srgbClr val="000000"/>
                          </a:solidFill>
                        </a:rPr>
                        <a:t>08/17</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08:37–08:51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178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0.69</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5"/>
                  </a:ext>
                </a:extLst>
              </a:tr>
              <a:tr h="242316">
                <a:tc>
                  <a:txBody>
                    <a:bodyPr/>
                    <a:lstStyle/>
                    <a:p>
                      <a:pPr algn="l">
                        <a:lnSpc>
                          <a:spcPct val="100000"/>
                        </a:lnSpc>
                        <a:spcBef>
                          <a:spcPts val="0"/>
                        </a:spcBef>
                        <a:spcAft>
                          <a:spcPts val="0"/>
                        </a:spcAft>
                      </a:pPr>
                      <a:r>
                        <a:rPr sz="950" b="0">
                          <a:solidFill>
                            <a:srgbClr val="000000"/>
                          </a:solidFill>
                        </a:rPr>
                        <a:t>08/18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08:54–09:05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243</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0.93</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6"/>
                  </a:ext>
                </a:extLst>
              </a:tr>
              <a:tr h="242316">
                <a:tc>
                  <a:txBody>
                    <a:bodyPr/>
                    <a:lstStyle/>
                    <a:p>
                      <a:pPr algn="l">
                        <a:lnSpc>
                          <a:spcPct val="100000"/>
                        </a:lnSpc>
                        <a:spcBef>
                          <a:spcPts val="0"/>
                        </a:spcBef>
                        <a:spcAft>
                          <a:spcPts val="0"/>
                        </a:spcAft>
                      </a:pPr>
                      <a:r>
                        <a:rPr sz="950" b="0">
                          <a:solidFill>
                            <a:srgbClr val="000000"/>
                          </a:solidFill>
                        </a:rPr>
                        <a:t>08/19</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09:42–10:01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104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0.35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7"/>
                  </a:ext>
                </a:extLst>
              </a:tr>
              <a:tr h="242316">
                <a:tc>
                  <a:txBody>
                    <a:bodyPr/>
                    <a:lstStyle/>
                    <a:p>
                      <a:pPr algn="l">
                        <a:lnSpc>
                          <a:spcPct val="100000"/>
                        </a:lnSpc>
                        <a:spcBef>
                          <a:spcPts val="0"/>
                        </a:spcBef>
                        <a:spcAft>
                          <a:spcPts val="0"/>
                        </a:spcAft>
                      </a:pPr>
                      <a:r>
                        <a:rPr sz="950" b="0">
                          <a:solidFill>
                            <a:srgbClr val="000000"/>
                          </a:solidFill>
                        </a:rPr>
                        <a:t>08/20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09:32–09:45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162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0.60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8"/>
                  </a:ext>
                </a:extLst>
              </a:tr>
              <a:tr h="242316">
                <a:tc>
                  <a:txBody>
                    <a:bodyPr/>
                    <a:lstStyle/>
                    <a:p>
                      <a:pPr algn="l">
                        <a:lnSpc>
                          <a:spcPct val="100000"/>
                        </a:lnSpc>
                        <a:spcBef>
                          <a:spcPts val="0"/>
                        </a:spcBef>
                        <a:spcAft>
                          <a:spcPts val="0"/>
                        </a:spcAft>
                      </a:pPr>
                      <a:r>
                        <a:rPr sz="950" b="0">
                          <a:solidFill>
                            <a:srgbClr val="000000"/>
                          </a:solidFill>
                        </a:rPr>
                        <a:t>08/21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08:18–08:25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52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0.18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9"/>
                  </a:ext>
                </a:extLst>
              </a:tr>
              <a:tr h="242316">
                <a:tc>
                  <a:txBody>
                    <a:bodyPr/>
                    <a:lstStyle/>
                    <a:p>
                      <a:pPr algn="l">
                        <a:lnSpc>
                          <a:spcPct val="100000"/>
                        </a:lnSpc>
                        <a:spcBef>
                          <a:spcPts val="0"/>
                        </a:spcBef>
                        <a:spcAft>
                          <a:spcPts val="0"/>
                        </a:spcAft>
                      </a:pPr>
                      <a:r>
                        <a:rPr sz="950" b="0">
                          <a:solidFill>
                            <a:srgbClr val="000000"/>
                          </a:solidFill>
                        </a:rPr>
                        <a:t>08/29</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11:39–12:32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76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0.12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0"/>
                  </a:ext>
                </a:extLst>
              </a:tr>
              <a:tr h="242316">
                <a:tc>
                  <a:txBody>
                    <a:bodyPr/>
                    <a:lstStyle/>
                    <a:p>
                      <a:pPr algn="l">
                        <a:lnSpc>
                          <a:spcPct val="100000"/>
                        </a:lnSpc>
                        <a:spcBef>
                          <a:spcPts val="0"/>
                        </a:spcBef>
                        <a:spcAft>
                          <a:spcPts val="0"/>
                        </a:spcAft>
                      </a:pPr>
                      <a:r>
                        <a:rPr sz="950" b="0">
                          <a:solidFill>
                            <a:srgbClr val="000000"/>
                          </a:solidFill>
                        </a:rPr>
                        <a:t>09/04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10:25–11:02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330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1"/>
                  </a:ext>
                </a:extLst>
              </a:tr>
              <a:tr h="242316">
                <a:tc>
                  <a:txBody>
                    <a:bodyPr/>
                    <a:lstStyle/>
                    <a:p>
                      <a:pPr algn="l">
                        <a:lnSpc>
                          <a:spcPct val="100000"/>
                        </a:lnSpc>
                        <a:spcBef>
                          <a:spcPts val="0"/>
                        </a:spcBef>
                        <a:spcAft>
                          <a:spcPts val="0"/>
                        </a:spcAft>
                      </a:pPr>
                      <a:r>
                        <a:rPr sz="950" b="0">
                          <a:solidFill>
                            <a:srgbClr val="000000"/>
                          </a:solidFill>
                        </a:rPr>
                        <a:t>09/11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10:16–10:43</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340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1.04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2"/>
                  </a:ext>
                </a:extLst>
              </a:tr>
              <a:tr h="242316">
                <a:tc>
                  <a:txBody>
                    <a:bodyPr/>
                    <a:lstStyle/>
                    <a:p>
                      <a:pPr algn="l">
                        <a:lnSpc>
                          <a:spcPct val="100000"/>
                        </a:lnSpc>
                        <a:spcBef>
                          <a:spcPts val="0"/>
                        </a:spcBef>
                        <a:spcAft>
                          <a:spcPts val="0"/>
                        </a:spcAft>
                      </a:pPr>
                      <a:r>
                        <a:rPr sz="950" b="0">
                          <a:solidFill>
                            <a:srgbClr val="000000"/>
                          </a:solidFill>
                        </a:rPr>
                        <a:t>09/25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09:19–09:59</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129</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0.34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3"/>
                  </a:ext>
                </a:extLst>
              </a:tr>
              <a:tr h="242316">
                <a:tc>
                  <a:txBody>
                    <a:bodyPr/>
                    <a:lstStyle/>
                    <a:p>
                      <a:pPr algn="l">
                        <a:lnSpc>
                          <a:spcPct val="100000"/>
                        </a:lnSpc>
                        <a:spcBef>
                          <a:spcPts val="0"/>
                        </a:spcBef>
                        <a:spcAft>
                          <a:spcPts val="0"/>
                        </a:spcAft>
                      </a:pPr>
                      <a:r>
                        <a:rPr sz="950" b="0">
                          <a:solidFill>
                            <a:srgbClr val="000000"/>
                          </a:solidFill>
                        </a:rPr>
                        <a:t>10/02</a:t>
                      </a:r>
                      <a:endParaRPr sz="95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950" b="0">
                          <a:solidFill>
                            <a:srgbClr val="000000"/>
                          </a:solidFill>
                        </a:rPr>
                        <a:t>10:25–11:06</a:t>
                      </a:r>
                      <a:endParaRPr sz="95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950" b="0">
                          <a:solidFill>
                            <a:srgbClr val="000000"/>
                          </a:solidFill>
                        </a:rPr>
                        <a:t>338</a:t>
                      </a:r>
                      <a:endParaRPr sz="95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950" b="0">
                          <a:solidFill>
                            <a:srgbClr val="000000"/>
                          </a:solidFill>
                        </a:rPr>
                        <a:t>0.92</a:t>
                      </a:r>
                      <a:endParaRPr sz="95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14"/>
                  </a:ext>
                </a:extLst>
              </a:tr>
            </a:tbl>
          </a:graphicData>
        </a:graphic>
      </p:graphicFrame>
      <p:sp>
        <p:nvSpPr>
          <p:cNvPr id="9" name="Rounded Rectangle 8"/>
          <p:cNvSpPr/>
          <p:nvPr/>
        </p:nvSpPr>
        <p:spPr>
          <a:xfrm>
            <a:off x="6309360" y="1188720"/>
            <a:ext cx="5394960" cy="274320"/>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lang="ko-KR" altLang="en-US" sz="1300" b="1" dirty="0">
                <a:solidFill>
                  <a:srgbClr val="FFFFFF"/>
                </a:solidFill>
              </a:rPr>
              <a:t>상추</a:t>
            </a:r>
            <a:endParaRPr sz="1300" b="1" dirty="0">
              <a:solidFill>
                <a:srgbClr val="FFFFFF"/>
              </a:solidFill>
            </a:endParaRPr>
          </a:p>
        </p:txBody>
      </p:sp>
      <p:graphicFrame>
        <p:nvGraphicFramePr>
          <p:cNvPr id="10" name="Table 9"/>
          <p:cNvGraphicFramePr>
            <a:graphicFrameLocks noGrp="1"/>
          </p:cNvGraphicFramePr>
          <p:nvPr/>
        </p:nvGraphicFramePr>
        <p:xfrm>
          <a:off x="6309360" y="1508760"/>
          <a:ext cx="5394960" cy="3634740"/>
        </p:xfrm>
        <a:graphic>
          <a:graphicData uri="http://schemas.openxmlformats.org/drawingml/2006/table">
            <a:tbl>
              <a:tblPr>
                <a:tableStyleId>{2D5ABB26-0587-4C30-8999-92F81FD0307C}</a:tableStyleId>
              </a:tblPr>
              <a:tblGrid>
                <a:gridCol w="7315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242316">
                <a:tc>
                  <a:txBody>
                    <a:bodyPr/>
                    <a:lstStyle/>
                    <a:p>
                      <a:pPr algn="l">
                        <a:lnSpc>
                          <a:spcPct val="100000"/>
                        </a:lnSpc>
                        <a:spcBef>
                          <a:spcPts val="0"/>
                        </a:spcBef>
                        <a:spcAft>
                          <a:spcPts val="0"/>
                        </a:spcAft>
                      </a:pPr>
                      <a:r>
                        <a:rPr sz="950" b="1">
                          <a:solidFill>
                            <a:srgbClr val="000000"/>
                          </a:solidFill>
                        </a:rPr>
                        <a:t>Date</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950" b="1">
                          <a:solidFill>
                            <a:srgbClr val="000000"/>
                          </a:solidFill>
                        </a:rPr>
                        <a:t>Time</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950" b="1">
                          <a:solidFill>
                            <a:srgbClr val="000000"/>
                          </a:solidFill>
                        </a:rPr>
                        <a:t>SW (W·m</a:t>
                      </a:r>
                      <a:r>
                        <a:rPr sz="950" b="1" baseline="30000">
                          <a:solidFill>
                            <a:srgbClr val="000000"/>
                          </a:solidFill>
                        </a:rPr>
                        <a:t>−2</a:t>
                      </a:r>
                      <a:r>
                        <a:rPr sz="950" b="1">
                          <a:solidFill>
                            <a:srgbClr val="000000"/>
                          </a:solidFill>
                        </a:rPr>
                        <a:t>)</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950" b="1">
                          <a:solidFill>
                            <a:srgbClr val="000000"/>
                          </a:solidFill>
                        </a:rPr>
                        <a:t>CI</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950" b="1">
                          <a:solidFill>
                            <a:srgbClr val="000000"/>
                          </a:solidFill>
                        </a:rPr>
                        <a:t>Use</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42316">
                <a:tc>
                  <a:txBody>
                    <a:bodyPr/>
                    <a:lstStyle/>
                    <a:p>
                      <a:pPr algn="l">
                        <a:lnSpc>
                          <a:spcPct val="100000"/>
                        </a:lnSpc>
                        <a:spcBef>
                          <a:spcPts val="0"/>
                        </a:spcBef>
                        <a:spcAft>
                          <a:spcPts val="0"/>
                        </a:spcAft>
                      </a:pPr>
                      <a:r>
                        <a:rPr sz="950" b="0">
                          <a:solidFill>
                            <a:srgbClr val="000000"/>
                          </a:solidFill>
                        </a:rPr>
                        <a:t>10/06</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950" b="0">
                          <a:solidFill>
                            <a:srgbClr val="000000"/>
                          </a:solidFill>
                        </a:rPr>
                        <a:t>10:20–10:22</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950" b="0">
                          <a:solidFill>
                            <a:srgbClr val="000000"/>
                          </a:solidFill>
                        </a:rPr>
                        <a:t>214</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950" b="0">
                          <a:solidFill>
                            <a:srgbClr val="000000"/>
                          </a:solidFill>
                        </a:rPr>
                        <a:t>0.50</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42316">
                <a:tc>
                  <a:txBody>
                    <a:bodyPr/>
                    <a:lstStyle/>
                    <a:p>
                      <a:pPr algn="l">
                        <a:lnSpc>
                          <a:spcPct val="100000"/>
                        </a:lnSpc>
                        <a:spcBef>
                          <a:spcPts val="0"/>
                        </a:spcBef>
                        <a:spcAft>
                          <a:spcPts val="0"/>
                        </a:spcAft>
                      </a:pPr>
                      <a:r>
                        <a:rPr sz="950" b="0">
                          <a:solidFill>
                            <a:srgbClr val="000000"/>
                          </a:solidFill>
                        </a:rPr>
                        <a:t>10/08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09:29–09:36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133</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0.42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42316">
                <a:tc>
                  <a:txBody>
                    <a:bodyPr/>
                    <a:lstStyle/>
                    <a:p>
                      <a:pPr algn="l">
                        <a:lnSpc>
                          <a:spcPct val="100000"/>
                        </a:lnSpc>
                        <a:spcBef>
                          <a:spcPts val="0"/>
                        </a:spcBef>
                        <a:spcAft>
                          <a:spcPts val="0"/>
                        </a:spcAft>
                      </a:pPr>
                      <a:r>
                        <a:rPr sz="950" b="0">
                          <a:solidFill>
                            <a:srgbClr val="000000"/>
                          </a:solidFill>
                        </a:rPr>
                        <a:t>10/09</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10:53–10:59</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228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0.45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42316">
                <a:tc>
                  <a:txBody>
                    <a:bodyPr/>
                    <a:lstStyle/>
                    <a:p>
                      <a:pPr algn="l">
                        <a:lnSpc>
                          <a:spcPct val="100000"/>
                        </a:lnSpc>
                        <a:spcBef>
                          <a:spcPts val="0"/>
                        </a:spcBef>
                        <a:spcAft>
                          <a:spcPts val="0"/>
                        </a:spcAft>
                      </a:pPr>
                      <a:r>
                        <a:rPr sz="950" b="0">
                          <a:solidFill>
                            <a:srgbClr val="000000"/>
                          </a:solidFill>
                        </a:rPr>
                        <a:t>10/10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09:44–09:53</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354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42316">
                <a:tc>
                  <a:txBody>
                    <a:bodyPr/>
                    <a:lstStyle/>
                    <a:p>
                      <a:pPr algn="l">
                        <a:lnSpc>
                          <a:spcPct val="100000"/>
                        </a:lnSpc>
                        <a:spcBef>
                          <a:spcPts val="0"/>
                        </a:spcBef>
                        <a:spcAft>
                          <a:spcPts val="0"/>
                        </a:spcAft>
                      </a:pPr>
                      <a:r>
                        <a:rPr sz="950" b="0">
                          <a:solidFill>
                            <a:srgbClr val="000000"/>
                          </a:solidFill>
                        </a:rPr>
                        <a:t>10/11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11:17–11:28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366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0.74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5"/>
                  </a:ext>
                </a:extLst>
              </a:tr>
              <a:tr h="242316">
                <a:tc>
                  <a:txBody>
                    <a:bodyPr/>
                    <a:lstStyle/>
                    <a:p>
                      <a:pPr algn="l">
                        <a:lnSpc>
                          <a:spcPct val="100000"/>
                        </a:lnSpc>
                        <a:spcBef>
                          <a:spcPts val="0"/>
                        </a:spcBef>
                        <a:spcAft>
                          <a:spcPts val="0"/>
                        </a:spcAft>
                      </a:pPr>
                      <a:r>
                        <a:rPr sz="950" b="0">
                          <a:solidFill>
                            <a:srgbClr val="000000"/>
                          </a:solidFill>
                        </a:rPr>
                        <a:t>10/12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10:36–10:57</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484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0.97</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6"/>
                  </a:ext>
                </a:extLst>
              </a:tr>
              <a:tr h="242316">
                <a:tc>
                  <a:txBody>
                    <a:bodyPr/>
                    <a:lstStyle/>
                    <a:p>
                      <a:pPr algn="l">
                        <a:lnSpc>
                          <a:spcPct val="100000"/>
                        </a:lnSpc>
                        <a:spcBef>
                          <a:spcPts val="0"/>
                        </a:spcBef>
                        <a:spcAft>
                          <a:spcPts val="0"/>
                        </a:spcAft>
                      </a:pPr>
                      <a:r>
                        <a:rPr sz="950" b="0">
                          <a:solidFill>
                            <a:srgbClr val="000000"/>
                          </a:solidFill>
                        </a:rPr>
                        <a:t>10/13</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09:33–10:06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0.04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7"/>
                  </a:ext>
                </a:extLst>
              </a:tr>
              <a:tr h="242316">
                <a:tc>
                  <a:txBody>
                    <a:bodyPr/>
                    <a:lstStyle/>
                    <a:p>
                      <a:pPr algn="l">
                        <a:lnSpc>
                          <a:spcPct val="100000"/>
                        </a:lnSpc>
                        <a:spcBef>
                          <a:spcPts val="0"/>
                        </a:spcBef>
                        <a:spcAft>
                          <a:spcPts val="0"/>
                        </a:spcAft>
                      </a:pPr>
                      <a:r>
                        <a:rPr sz="950" b="0">
                          <a:solidFill>
                            <a:srgbClr val="000000"/>
                          </a:solidFill>
                        </a:rPr>
                        <a:t>10/14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09:28–09:53</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378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1.10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8"/>
                  </a:ext>
                </a:extLst>
              </a:tr>
              <a:tr h="242316">
                <a:tc>
                  <a:txBody>
                    <a:bodyPr/>
                    <a:lstStyle/>
                    <a:p>
                      <a:pPr algn="l">
                        <a:lnSpc>
                          <a:spcPct val="100000"/>
                        </a:lnSpc>
                        <a:spcBef>
                          <a:spcPts val="0"/>
                        </a:spcBef>
                        <a:spcAft>
                          <a:spcPts val="0"/>
                        </a:spcAft>
                      </a:pPr>
                      <a:r>
                        <a:rPr sz="950" b="0">
                          <a:solidFill>
                            <a:srgbClr val="000000"/>
                          </a:solidFill>
                        </a:rPr>
                        <a:t>10/15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09:31–09:51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342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9"/>
                  </a:ext>
                </a:extLst>
              </a:tr>
              <a:tr h="242316">
                <a:tc>
                  <a:txBody>
                    <a:bodyPr/>
                    <a:lstStyle/>
                    <a:p>
                      <a:pPr algn="l">
                        <a:lnSpc>
                          <a:spcPct val="100000"/>
                        </a:lnSpc>
                        <a:spcBef>
                          <a:spcPts val="0"/>
                        </a:spcBef>
                        <a:spcAft>
                          <a:spcPts val="0"/>
                        </a:spcAft>
                      </a:pPr>
                      <a:r>
                        <a:rPr sz="950" b="0">
                          <a:solidFill>
                            <a:srgbClr val="000000"/>
                          </a:solidFill>
                        </a:rPr>
                        <a:t>10/16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09:40–09:56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334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0"/>
                  </a:ext>
                </a:extLst>
              </a:tr>
              <a:tr h="242316">
                <a:tc>
                  <a:txBody>
                    <a:bodyPr/>
                    <a:lstStyle/>
                    <a:p>
                      <a:pPr algn="l">
                        <a:lnSpc>
                          <a:spcPct val="100000"/>
                        </a:lnSpc>
                        <a:spcBef>
                          <a:spcPts val="0"/>
                        </a:spcBef>
                        <a:spcAft>
                          <a:spcPts val="0"/>
                        </a:spcAft>
                      </a:pPr>
                      <a:r>
                        <a:rPr sz="950" b="0">
                          <a:solidFill>
                            <a:srgbClr val="000000"/>
                          </a:solidFill>
                        </a:rPr>
                        <a:t>10/17</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08:59–09:33</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260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0.97</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1"/>
                  </a:ext>
                </a:extLst>
              </a:tr>
              <a:tr h="242316">
                <a:tc>
                  <a:txBody>
                    <a:bodyPr/>
                    <a:lstStyle/>
                    <a:p>
                      <a:pPr algn="l">
                        <a:lnSpc>
                          <a:spcPct val="100000"/>
                        </a:lnSpc>
                        <a:spcBef>
                          <a:spcPts val="0"/>
                        </a:spcBef>
                        <a:spcAft>
                          <a:spcPts val="0"/>
                        </a:spcAft>
                      </a:pPr>
                      <a:r>
                        <a:rPr sz="950" b="0">
                          <a:solidFill>
                            <a:srgbClr val="000000"/>
                          </a:solidFill>
                        </a:rPr>
                        <a:t>10/19</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08:28–09:27</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134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0.60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2"/>
                  </a:ext>
                </a:extLst>
              </a:tr>
              <a:tr h="242316">
                <a:tc>
                  <a:txBody>
                    <a:bodyPr/>
                    <a:lstStyle/>
                    <a:p>
                      <a:pPr algn="l">
                        <a:lnSpc>
                          <a:spcPct val="100000"/>
                        </a:lnSpc>
                        <a:spcBef>
                          <a:spcPts val="0"/>
                        </a:spcBef>
                        <a:spcAft>
                          <a:spcPts val="0"/>
                        </a:spcAft>
                      </a:pPr>
                      <a:r>
                        <a:rPr sz="950" b="0">
                          <a:solidFill>
                            <a:srgbClr val="000000"/>
                          </a:solidFill>
                        </a:rPr>
                        <a:t>10/21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09:47–10:04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21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0.05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3"/>
                  </a:ext>
                </a:extLst>
              </a:tr>
              <a:tr h="242316">
                <a:tc>
                  <a:txBody>
                    <a:bodyPr/>
                    <a:lstStyle/>
                    <a:p>
                      <a:pPr algn="l">
                        <a:lnSpc>
                          <a:spcPct val="100000"/>
                        </a:lnSpc>
                        <a:spcBef>
                          <a:spcPts val="0"/>
                        </a:spcBef>
                        <a:spcAft>
                          <a:spcPts val="0"/>
                        </a:spcAft>
                      </a:pPr>
                      <a:r>
                        <a:rPr sz="950" b="0">
                          <a:solidFill>
                            <a:srgbClr val="000000"/>
                          </a:solidFill>
                        </a:rPr>
                        <a:t>10/23</a:t>
                      </a:r>
                      <a:endParaRPr sz="95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950" b="0">
                          <a:solidFill>
                            <a:srgbClr val="000000"/>
                          </a:solidFill>
                        </a:rPr>
                        <a:t>09:33–09:55</a:t>
                      </a:r>
                      <a:endParaRPr sz="95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950" b="0">
                          <a:solidFill>
                            <a:srgbClr val="000000"/>
                          </a:solidFill>
                        </a:rPr>
                        <a:t>340</a:t>
                      </a:r>
                      <a:endParaRPr sz="95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950" b="0">
                          <a:solidFill>
                            <a:srgbClr val="000000"/>
                          </a:solidFill>
                        </a:rPr>
                        <a:t>0.95</a:t>
                      </a:r>
                      <a:endParaRPr sz="95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14"/>
                  </a:ext>
                </a:extLst>
              </a:tr>
            </a:tbl>
          </a:graphicData>
        </a:graphic>
      </p:graphicFrame>
      <p:sp>
        <p:nvSpPr>
          <p:cNvPr id="11" name="Conclusion Box"/>
          <p:cNvSpPr/>
          <p:nvPr/>
        </p:nvSpPr>
        <p:spPr>
          <a:xfrm>
            <a:off x="841248" y="5715000"/>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모든 측정일을 포함하고 측정일·선형 PAR·기온으로 보정 — CI &lt; 0.5인 날은 회색 띠로 표시</a:t>
            </a:r>
          </a:p>
        </p:txBody>
      </p:sp>
      <p:sp>
        <p:nvSpPr>
          <p:cNvPr id="12" name="Footnote"/>
          <p:cNvSpPr txBox="1"/>
          <p:nvPr/>
        </p:nvSpPr>
        <p:spPr>
          <a:xfrm>
            <a:off x="457200" y="6355080"/>
            <a:ext cx="8138160" cy="310896"/>
          </a:xfrm>
          <a:prstGeom prst="rect">
            <a:avLst/>
          </a:prstGeom>
          <a:noFill/>
        </p:spPr>
        <p:txBody>
          <a:bodyPr wrap="square" lIns="45720" tIns="0" rIns="45720" bIns="0" anchor="t">
            <a:spAutoFit/>
          </a:bodyPr>
          <a:lstStyle/>
          <a:p>
            <a:r>
              <a:rPr sz="1000" dirty="0">
                <a:solidFill>
                  <a:srgbClr val="595959"/>
                </a:solidFill>
              </a:rPr>
              <a:t>CI = </a:t>
            </a:r>
            <a:r>
              <a:rPr sz="1000" dirty="0" err="1">
                <a:solidFill>
                  <a:srgbClr val="595959"/>
                </a:solidFill>
              </a:rPr>
              <a:t>측정</a:t>
            </a:r>
            <a:r>
              <a:rPr sz="1000" dirty="0">
                <a:solidFill>
                  <a:srgbClr val="595959"/>
                </a:solidFill>
              </a:rPr>
              <a:t> </a:t>
            </a:r>
            <a:r>
              <a:rPr sz="1000" dirty="0" err="1">
                <a:solidFill>
                  <a:srgbClr val="595959"/>
                </a:solidFill>
              </a:rPr>
              <a:t>구간</a:t>
            </a:r>
            <a:r>
              <a:rPr sz="1000" dirty="0">
                <a:solidFill>
                  <a:srgbClr val="595959"/>
                </a:solidFill>
              </a:rPr>
              <a:t> </a:t>
            </a:r>
            <a:r>
              <a:rPr sz="1000" dirty="0" err="1">
                <a:solidFill>
                  <a:srgbClr val="595959"/>
                </a:solidFill>
              </a:rPr>
              <a:t>평균</a:t>
            </a:r>
            <a:r>
              <a:rPr sz="1000" dirty="0">
                <a:solidFill>
                  <a:srgbClr val="595959"/>
                </a:solidFill>
              </a:rPr>
              <a:t> SW / </a:t>
            </a:r>
            <a:r>
              <a:rPr sz="1000" dirty="0" err="1">
                <a:solidFill>
                  <a:srgbClr val="595959"/>
                </a:solidFill>
              </a:rPr>
              <a:t>같은</a:t>
            </a:r>
            <a:r>
              <a:rPr sz="1000" dirty="0">
                <a:solidFill>
                  <a:srgbClr val="595959"/>
                </a:solidFill>
              </a:rPr>
              <a:t> </a:t>
            </a:r>
            <a:r>
              <a:rPr sz="1000" dirty="0" err="1">
                <a:solidFill>
                  <a:srgbClr val="595959"/>
                </a:solidFill>
              </a:rPr>
              <a:t>시각대</a:t>
            </a:r>
            <a:r>
              <a:rPr sz="1000" dirty="0">
                <a:solidFill>
                  <a:srgbClr val="595959"/>
                </a:solidFill>
              </a:rPr>
              <a:t> ±10일 90분위수 SW(</a:t>
            </a:r>
            <a:r>
              <a:rPr sz="1000" dirty="0" err="1">
                <a:solidFill>
                  <a:srgbClr val="595959"/>
                </a:solidFill>
              </a:rPr>
              <a:t>맑은</a:t>
            </a:r>
            <a:r>
              <a:rPr sz="1000" dirty="0">
                <a:solidFill>
                  <a:srgbClr val="595959"/>
                </a:solidFill>
              </a:rPr>
              <a:t> 날 </a:t>
            </a:r>
            <a:r>
              <a:rPr sz="1000" dirty="0" err="1">
                <a:solidFill>
                  <a:srgbClr val="595959"/>
                </a:solidFill>
              </a:rPr>
              <a:t>기준</a:t>
            </a:r>
            <a:r>
              <a:rPr sz="1000" dirty="0">
                <a:solidFill>
                  <a:srgbClr val="595959"/>
                </a:solidFill>
              </a:rPr>
              <a:t>). </a:t>
            </a:r>
            <a:r>
              <a:rPr sz="1000" dirty="0" err="1">
                <a:solidFill>
                  <a:srgbClr val="595959"/>
                </a:solidFill>
              </a:rPr>
              <a:t>날짜별</a:t>
            </a:r>
            <a:r>
              <a:rPr sz="1000" dirty="0">
                <a:solidFill>
                  <a:srgbClr val="595959"/>
                </a:solidFill>
              </a:rPr>
              <a:t> </a:t>
            </a:r>
            <a:r>
              <a:rPr sz="1000" dirty="0" err="1">
                <a:solidFill>
                  <a:srgbClr val="595959"/>
                </a:solidFill>
              </a:rPr>
              <a:t>예외</a:t>
            </a:r>
            <a:r>
              <a:rPr sz="1000" dirty="0">
                <a:solidFill>
                  <a:srgbClr val="595959"/>
                </a:solidFill>
              </a:rPr>
              <a:t> </a:t>
            </a:r>
            <a:r>
              <a:rPr sz="1000" dirty="0" err="1">
                <a:solidFill>
                  <a:srgbClr val="595959"/>
                </a:solidFill>
              </a:rPr>
              <a:t>없이</a:t>
            </a:r>
            <a:r>
              <a:rPr sz="1000" dirty="0">
                <a:solidFill>
                  <a:srgbClr val="595959"/>
                </a:solidFill>
              </a:rPr>
              <a:t> 한 </a:t>
            </a:r>
            <a:r>
              <a:rPr sz="1000" dirty="0" err="1">
                <a:solidFill>
                  <a:srgbClr val="595959"/>
                </a:solidFill>
              </a:rPr>
              <a:t>규칙으로</a:t>
            </a:r>
            <a:r>
              <a:rPr sz="1000" dirty="0">
                <a:solidFill>
                  <a:srgbClr val="595959"/>
                </a:solidFill>
              </a:rPr>
              <a:t> </a:t>
            </a:r>
            <a:r>
              <a:rPr sz="1000" dirty="0" err="1">
                <a:solidFill>
                  <a:srgbClr val="595959"/>
                </a:solidFill>
              </a:rPr>
              <a:t>통일</a:t>
            </a:r>
            <a:r>
              <a:rPr sz="1000" dirty="0">
                <a:solidFill>
                  <a:srgbClr val="595959"/>
                </a:solidFill>
              </a:rPr>
              <a:t>. </a:t>
            </a:r>
            <a:r>
              <a:rPr lang="ko-KR" altLang="en-US" sz="1000" dirty="0">
                <a:solidFill>
                  <a:srgbClr val="595959"/>
                </a:solidFill>
              </a:rPr>
              <a:t>상추</a:t>
            </a:r>
            <a:r>
              <a:rPr sz="1000" dirty="0">
                <a:solidFill>
                  <a:srgbClr val="595959"/>
                </a:solidFill>
              </a:rPr>
              <a:t> 10/13은 SW </a:t>
            </a:r>
            <a:r>
              <a:rPr sz="1000" dirty="0" err="1">
                <a:solidFill>
                  <a:srgbClr val="595959"/>
                </a:solidFill>
              </a:rPr>
              <a:t>자료가</a:t>
            </a:r>
            <a:r>
              <a:rPr sz="1000" dirty="0">
                <a:solidFill>
                  <a:srgbClr val="595959"/>
                </a:solidFill>
              </a:rPr>
              <a:t> 4분뿐(</a:t>
            </a:r>
            <a:r>
              <a:rPr sz="1000" dirty="0" err="1">
                <a:solidFill>
                  <a:srgbClr val="595959"/>
                </a:solidFill>
              </a:rPr>
              <a:t>결측</a:t>
            </a:r>
            <a:r>
              <a:rPr sz="1000" dirty="0">
                <a:solidFill>
                  <a:srgbClr val="595959"/>
                </a:solidFill>
              </a:rPr>
              <a:t>).</a:t>
            </a:r>
          </a:p>
        </p:txBody>
      </p:sp>
      <p:sp>
        <p:nvSpPr>
          <p:cNvPr id="13"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4"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5"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6"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7"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18"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A6. 참고문헌</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25</a:t>
            </a:fld>
            <a:endParaRPr lang="ko-KR" altLang="en-US"/>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b="0">
                <a:solidFill>
                  <a:srgbClr val="595959"/>
                </a:solidFill>
              </a:rPr>
              <a:t>질의응답용 보충 자료.</a:t>
            </a:r>
          </a:p>
        </p:txBody>
      </p:sp>
      <p:sp>
        <p:nvSpPr>
          <p:cNvPr id="27" name="Appendix list"/>
          <p:cNvSpPr txBox="1"/>
          <p:nvPr/>
        </p:nvSpPr>
        <p:spPr>
          <a:xfrm>
            <a:off x="1280160" y="1463040"/>
            <a:ext cx="9601200" cy="411480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600" dirty="0">
                <a:solidFill>
                  <a:srgbClr val="000000"/>
                </a:solidFill>
              </a:rPr>
              <a:t>Ali et al. (2025) J Exp Bot 76:4141.</a:t>
            </a:r>
          </a:p>
          <a:p>
            <a:pPr marL="0" indent="0" algn="l">
              <a:spcBef>
                <a:spcPts val="800"/>
              </a:spcBef>
              <a:buNone/>
            </a:pPr>
            <a:r>
              <a:rPr lang="ko-KR" altLang="en-US" sz="1600" dirty="0">
                <a:solidFill>
                  <a:srgbClr val="000000"/>
                </a:solidFill>
              </a:rPr>
              <a:t>Buckley TN (2019) New Phytol 224 (doi:10.1111/nph.15899).</a:t>
            </a:r>
          </a:p>
          <a:p>
            <a:pPr marL="0" indent="0" algn="l">
              <a:spcBef>
                <a:spcPts val="800"/>
              </a:spcBef>
              <a:buNone/>
            </a:pPr>
            <a:r>
              <a:rPr lang="ko-KR" altLang="en-US" sz="1600" dirty="0">
                <a:solidFill>
                  <a:srgbClr val="000000"/>
                </a:solidFill>
              </a:rPr>
              <a:t>Gao et al. (2024) J Exp Bot 75:4904.</a:t>
            </a:r>
          </a:p>
          <a:p>
            <a:pPr marL="0" indent="0" algn="l">
              <a:spcBef>
                <a:spcPts val="800"/>
              </a:spcBef>
              <a:buNone/>
            </a:pPr>
            <a:r>
              <a:rPr lang="ko-KR" altLang="en-US" sz="1600" dirty="0">
                <a:solidFill>
                  <a:srgbClr val="000000"/>
                </a:solidFill>
              </a:rPr>
              <a:t>Haverroth EJ et al. (2024) Plant Physiol 197(1):kiae336.</a:t>
            </a:r>
          </a:p>
          <a:p>
            <a:pPr marL="0" indent="0" algn="l">
              <a:spcBef>
                <a:spcPts val="800"/>
              </a:spcBef>
              <a:buNone/>
            </a:pPr>
            <a:r>
              <a:rPr lang="ko-KR" altLang="en-US" sz="1600" dirty="0">
                <a:solidFill>
                  <a:srgbClr val="000000"/>
                </a:solidFill>
              </a:rPr>
              <a:t>Hilker M et al. (2016) Biol Rev 91:1118–1133.</a:t>
            </a:r>
          </a:p>
          <a:p>
            <a:pPr marL="0" indent="0" algn="l">
              <a:spcBef>
                <a:spcPts val="800"/>
              </a:spcBef>
              <a:buNone/>
            </a:pPr>
            <a:r>
              <a:rPr lang="ko-KR" altLang="en-US" sz="1600" dirty="0">
                <a:solidFill>
                  <a:srgbClr val="000000"/>
                </a:solidFill>
              </a:rPr>
              <a:t>Körner C (2015) Curr Opin Plant Biol 25:107–114.</a:t>
            </a:r>
          </a:p>
          <a:p>
            <a:pPr marL="0" indent="0" algn="l">
              <a:spcBef>
                <a:spcPts val="800"/>
              </a:spcBef>
              <a:buNone/>
            </a:pPr>
            <a:r>
              <a:rPr lang="ko-KR" altLang="en-US" sz="1600" dirty="0">
                <a:solidFill>
                  <a:srgbClr val="000000"/>
                </a:solidFill>
              </a:rPr>
              <a:t>Rizzo KT, Bailey BN (2026) Plant Cell Environ 49:1412–1423.</a:t>
            </a:r>
          </a:p>
          <a:p>
            <a:pPr marL="0" indent="0" algn="l">
              <a:spcBef>
                <a:spcPts val="800"/>
              </a:spcBef>
              <a:buNone/>
            </a:pPr>
            <a:r>
              <a:rPr lang="ko-KR" altLang="en-US" sz="1600" dirty="0">
                <a:solidFill>
                  <a:srgbClr val="000000"/>
                </a:solidFill>
              </a:rPr>
              <a:t>Sasidharan R et al. (2018) Plant Physiol 176:1106–1117.</a:t>
            </a:r>
          </a:p>
          <a:p>
            <a:pPr marL="0" indent="0" algn="l">
              <a:spcBef>
                <a:spcPts val="800"/>
              </a:spcBef>
              <a:buNone/>
            </a:pPr>
            <a:r>
              <a:rPr lang="ko-KR" altLang="en-US" sz="1600" dirty="0">
                <a:solidFill>
                  <a:srgbClr val="000000"/>
                </a:solidFill>
              </a:rPr>
              <a:t>Swain DL et al. (2018) Nat Clim Change 8:427–433.</a:t>
            </a:r>
          </a:p>
          <a:p>
            <a:pPr marL="0" indent="0" algn="l">
              <a:spcBef>
                <a:spcPts val="800"/>
              </a:spcBef>
              <a:buNone/>
            </a:pPr>
            <a:r>
              <a:rPr lang="ko-KR" altLang="en-US" sz="1600" dirty="0">
                <a:solidFill>
                  <a:srgbClr val="000000"/>
                </a:solidFill>
              </a:rPr>
              <a:t>Tan X et al. (2018) J Plant Physiol 227:20–30.</a:t>
            </a:r>
          </a:p>
          <a:p>
            <a:pPr marL="0" indent="0" algn="l">
              <a:spcBef>
                <a:spcPts val="800"/>
              </a:spcBef>
              <a:buNone/>
            </a:pPr>
            <a:r>
              <a:rPr lang="ko-KR" altLang="en-US" sz="1600" dirty="0">
                <a:solidFill>
                  <a:srgbClr val="000000"/>
                </a:solidFill>
              </a:rPr>
              <a:t>Tardieu F, Simonneau T, Muller B (2018) Annu Rev Plant Biol 69.</a:t>
            </a:r>
          </a:p>
          <a:p>
            <a:pPr marL="0" indent="0" algn="l">
              <a:spcBef>
                <a:spcPts val="800"/>
              </a:spcBef>
              <a:buNone/>
            </a:pPr>
            <a:r>
              <a:rPr lang="ko-KR" altLang="en-US" sz="1600" dirty="0">
                <a:solidFill>
                  <a:srgbClr val="000000"/>
                </a:solidFill>
              </a:rPr>
              <a:t>Yeung E et al. (2018) PNAS 115:E6085–E6094.</a:t>
            </a:r>
          </a:p>
          <a:p>
            <a:pPr marL="0" indent="0" algn="l">
              <a:spcBef>
                <a:spcPts val="800"/>
              </a:spcBef>
              <a:buNone/>
            </a:pPr>
            <a:r>
              <a:rPr lang="ko-KR" altLang="en-US" sz="1600" dirty="0">
                <a:solidFill>
                  <a:srgbClr val="000000"/>
                </a:solidFill>
              </a:rPr>
              <a:t>Zandalinas SI, Mittler R (2022) New Phytol 234:1161–1167.</a:t>
            </a:r>
          </a:p>
        </p:txBody>
      </p:sp>
      <p:sp>
        <p:nvSpPr>
          <p:cNvPr id="28"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29"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30"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31"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32"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33"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847690B-9EC7-46B6-89C7-B4D0A48C43BA}">
  <we:reference id="wa200010001" version="1.0.0.1" store="en-US" storeType="OMEX"/>
  <we:alternateReferences>
    <we:reference id="wa200010001" version="1.0.0.1" store="en-US" storeType="OMEX"/>
  </we:alternateReferences>
  <we:properties>
    <we:property name="claude.fileId" value="&quot;4f520049-4b44-42da-a845-ab676c9aec6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19835</TotalTime>
  <Words>4706</Words>
  <Application>Microsoft Office PowerPoint</Application>
  <PresentationFormat>와이드스크린</PresentationFormat>
  <Paragraphs>943</Paragraphs>
  <Slides>25</Slides>
  <Notes>25</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25</vt:i4>
      </vt:variant>
    </vt:vector>
  </HeadingPairs>
  <TitlesOfParts>
    <vt:vector size="30" baseType="lpstr">
      <vt:lpstr>맑은 고딕</vt:lpstr>
      <vt:lpstr>맑은 고딕</vt:lpstr>
      <vt:lpstr>Arial</vt:lpstr>
      <vt:lpstr>Times New Roman</vt:lpstr>
      <vt:lpstr>Office 테마</vt:lpstr>
      <vt:lpstr>침수 및 건조 복합재해에 대한  생육 및 생리 반응 비교  Comparison of Growth and Physiological Responses of Soybean and Romaine Lettuce to Flooding, Drought, and Combined Stress</vt:lpstr>
      <vt:lpstr>연구 배경</vt:lpstr>
      <vt:lpstr>연구 목적</vt:lpstr>
      <vt:lpstr>공시 작물 및 수분 처리</vt:lpstr>
      <vt:lpstr>처리 일정과 측정 시기 (DAT 기준 정렬)</vt:lpstr>
      <vt:lpstr>측정 항목: 제한 단계별 지표</vt:lpstr>
      <vt:lpstr>재배 환경</vt:lpstr>
      <vt:lpstr>누적 관수량</vt:lpstr>
      <vt:lpstr>LI-600 : 기공전도도 (gsw)</vt:lpstr>
      <vt:lpstr>LI-600 : 광계 II 양자수율 (ΦPSII)</vt:lpstr>
      <vt:lpstr>LI-600 : 에너지 소산 양자수율 (ΦNPQ, ΦNO)</vt:lpstr>
      <vt:lpstr>LI-6800 : 광합성 능력</vt:lpstr>
      <vt:lpstr>생육 조사 : 수량 및 지상부 생육</vt:lpstr>
      <vt:lpstr>종합 : 지표별 반응 (대조구 대비)</vt:lpstr>
      <vt:lpstr>콩 (기공 → 명반응 → 광합성 능력 → 수량)</vt:lpstr>
      <vt:lpstr>상추 (기공 → 명반응 → 광합성 능력 → 건물중)</vt:lpstr>
      <vt:lpstr>결론</vt:lpstr>
      <vt:lpstr>PowerPoint 프레젠테이션</vt:lpstr>
      <vt:lpstr>보충 자료</vt:lpstr>
      <vt:lpstr>LI-600 : PAR·기온 보정</vt:lpstr>
      <vt:lpstr>LI-6800 : 광-광합성 곡선 (A-Q)</vt:lpstr>
      <vt:lpstr>LI-600 : 정상 상태 형광 (Fs)</vt:lpstr>
      <vt:lpstr>LI-600 : 전자전달속도 (ETR)</vt:lpstr>
      <vt:lpstr>A5. 측정 당시 일사 조건: 흐린 날 표시</vt:lpstr>
      <vt:lpstr>A6. 참고문헌</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윤정민</dc:creator>
  <cp:lastModifiedBy>윤정민</cp:lastModifiedBy>
  <cp:revision>33</cp:revision>
  <dcterms:created xsi:type="dcterms:W3CDTF">2026-04-06T01:45:26Z</dcterms:created>
  <dcterms:modified xsi:type="dcterms:W3CDTF">2026-11-02T02:01:38Z</dcterms:modified>
</cp:coreProperties>
</file>