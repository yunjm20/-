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 능력, 그리고 최종적으로 생육과 수량입니다. 콩과 로메인 상추에 침수, 건조, 복합 처리를 적용하여 잎 생리 반응이 어느 단계까지 이어지는지, 기공이 얼마나 빨리 회복되는지, 생육과 수량의 감소로 이어지는지를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관찰했습니다. LI-600은 초기에는 매일, 이후에는 콩은 1~2주 간격, 로메인은 이틀 간격으로 측정했고 LI-6800 광합성 곡선은 콩은 9월 중순, 로메인은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형광 지표는 측정 당시의 광도와 기온 차이를 선행 연구를 따라 공변량으로 보정했고, 기공전도도는 보정하지 않은 값을 사용했습니다. 광합성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복합구는 로메인 37%, 콩 44%였습니다.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건조와 복합은 회색으로 두고 침수 위주로 설명하겠습니다. 로메인 상추는 침수 3일째 10%까지 떨어졌지만 배수 후 2~3일, 즉 DAT 5~6에 대조구 수준으로 회복했습니다. 콩은 DAT 9에도 48%로 회복되지 않았고 DAT 17 이후에야 대조구에 가까워졌습니다.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P2 구간은 광도 수준을 나누지 않고 통합하여 분석했습니다. 콩에서는 P1에서 침수구가 대조구보다 약간 낮았고, P2에서는 건조구의 Φ_PSII가 0.61로 대조구 0.70보다 낮았습니다. 로메인 상추는 P1과 P2 모두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 능력입니다. 콩은 9월 측정에서 건조구와 복합구의 최대 카르복실화 속도와 최대 전자전달 속도가 낮았고, 로메인 상추도 복합구에서 가장 낮은 경향을 보였습니다. 오른쪽 광-광합성 곡선의 역삼각형은 광포화점으로, 콩은 건조구에서 높았고 로메인은 처리 간 차이가 없었습니다. 다만 처리별로 측정일이 달라 측정일과 처리 효과가 섞여 있고 곡선 수도 처리당 3~4개로 적어 확정적으로 말하기는 어렵습니다.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보였습니다. 콩은 종실 생체중, 종실 건조중, 종실 수, 꼬투리 수 모두 처리 간 유의한 차이가 없었습니다. 표에 대조구 대비 감소율을 같이 적었는데, 종실 생체중은 건조 5%, 침수 5%, 복합 14% 감소했고 종실 건조중은 복합구에서 18%까지 감소하는 경향이 있었습니다.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건물중은 침수 34%, 복합 43% 감소했습니다. 콩은 기공 회복이 느렸고 건조구에서 명반응이 낮았지만 수량은 종실 생체중 기준 5~14%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먼저 콩입니다. 앞서 본 결과를 논리 순서대로 다시 정리하겠습니다. 침수 직후 기공전도도가 먼저 감소했고 DAT 9에도 대조구의 48%로 회복이 느렸습니다. 뿌리의 저산소는 아쿠아포린 기능과 뿌리 수리전도도를 떨어뜨려 잎의 수분 상태를 악화시키고 기공을 닫는 것으로 보고됩니다. 두 번째로 명반응은 건조구에서 P2에 낮아졌고, 세 번째로 광합성 능력도 건조·복합구에서 낮은 경향이었습니다. 그러나 네 번째 수량은 종실 생체중이 5~14% 감소하는 경향이었으나 큰 차이가 없었습니다. 즉 콩은 생리 지표에서는 차이가 있었지만 수량으로는 이어지지 않았습니다. 개화기 처리 후 55일의 회복 기간 동안 보상이 있었을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건조구에서 낮았습니다. 셋째, 로메인은 기공이 회복되었는데도 침수 기간의 손실이 유지되어 건물중이 감소했고, 콩은 수량이 감소하는 경향이었지만 큰 차이는 없었습니다. 따라서 수분 스트레스에 대한 반응은 작물마다 다릅니다.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다음은 로메인 상추입니다. 침수 3일째 기공전도도가 대조구의 10%까지 떨어졌지만 배수 후 2~3일 만에 대조구 수준으로 회복했습니다. 명반응은 처리 간 차이가 없었고, 광합성 능력은 복합구에서만 낮은 경향이었습니다. 그럼에도 지상부 건물중은 건조 16%, 침수 34%, 복합 43% 감소했습니다. 식물의 생장은 탄소 공급보다 조직 성장과 세포 팽압이 먼저 제한되는 경우가 많아, 침수 기간 동안 생긴 생장 손실이 회복 후에도 유지된 것으로 해석됩니다. 로메인은 영양생장기에 처리했고 수확물이 지상부라 이 손실이 곧 수량 손실입니다.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LSP</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Daewonkong</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39" name="TextBox 38"/>
          <p:cNvSpPr txBox="1"/>
          <p:nvPr/>
        </p:nvSpPr>
        <p:spPr>
          <a:xfrm>
            <a:off x="457200" y="292608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283464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58" name="Conclusion Box"/>
          <p:cNvSpPr/>
          <p:nvPr/>
        </p:nvSpPr>
        <p:spPr>
          <a:xfrm>
            <a:off x="841248" y="5532120"/>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8/12~14, 50% 관수는 8/15부터. 로메인 침수 10/7~10/10 오전, 50% 관수 10/12부터. 침수 시작일을 DAT 0으로 맞추어 두 작물을 정렬. P1 = 콩 DAT 1~9, 로메인 DAT 1~10 / P2 = 이후 (침수 종료일이 콩 DAT 2, 로메인 DAT 3이라 P1 종료일이 하루 다름).</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650492"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6" name="Rounded Rectangle 65"/>
          <p:cNvSpPr/>
          <p:nvPr/>
        </p:nvSpPr>
        <p:spPr>
          <a:xfrm>
            <a:off x="3570732" y="2505456"/>
            <a:ext cx="7904988"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7" name="Rounded Rectangle 66"/>
          <p:cNvSpPr/>
          <p:nvPr/>
        </p:nvSpPr>
        <p:spPr>
          <a:xfrm>
            <a:off x="1920240" y="332841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8" name="Rounded Rectangle 67"/>
          <p:cNvSpPr/>
          <p:nvPr/>
        </p:nvSpPr>
        <p:spPr>
          <a:xfrm>
            <a:off x="3744468" y="3328416"/>
            <a:ext cx="955547"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9" name="Rounded Rectangle 68"/>
          <p:cNvSpPr/>
          <p:nvPr/>
        </p:nvSpPr>
        <p:spPr>
          <a:xfrm>
            <a:off x="1920240" y="3703320"/>
            <a:ext cx="448056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콩</a:t>
            </a:r>
          </a:p>
        </p:txBody>
      </p:sp>
      <p:sp>
        <p:nvSpPr>
          <p:cNvPr id="70" name="Rounded Rectangle 69"/>
          <p:cNvSpPr/>
          <p:nvPr/>
        </p:nvSpPr>
        <p:spPr>
          <a:xfrm>
            <a:off x="6537960" y="3703320"/>
            <a:ext cx="493776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로메인 상추</a:t>
            </a:r>
          </a:p>
        </p:txBody>
      </p:sp>
      <p:sp>
        <p:nvSpPr>
          <p:cNvPr id="71" name="Rounded Rectangle 70"/>
          <p:cNvSpPr/>
          <p:nvPr/>
        </p:nvSpPr>
        <p:spPr>
          <a:xfrm>
            <a:off x="45720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LI-600</a:t>
            </a:r>
          </a:p>
        </p:txBody>
      </p:sp>
      <p:sp>
        <p:nvSpPr>
          <p:cNvPr id="72" name="Rounded Rectangle 71"/>
          <p:cNvSpPr/>
          <p:nvPr/>
        </p:nvSpPr>
        <p:spPr>
          <a:xfrm>
            <a:off x="1920240" y="41148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1~9)  /  P2 : 1~2주 간격</a:t>
            </a:r>
          </a:p>
        </p:txBody>
      </p:sp>
      <p:sp>
        <p:nvSpPr>
          <p:cNvPr id="73" name="Rounded Rectangle 72"/>
          <p:cNvSpPr/>
          <p:nvPr/>
        </p:nvSpPr>
        <p:spPr>
          <a:xfrm>
            <a:off x="6537960" y="41148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1~10)  /  P2 : 이틀 간격</a:t>
            </a:r>
          </a:p>
        </p:txBody>
      </p:sp>
      <p:sp>
        <p:nvSpPr>
          <p:cNvPr id="74" name="Rounded Rectangle 73"/>
          <p:cNvSpPr/>
          <p:nvPr/>
        </p:nvSpPr>
        <p:spPr>
          <a:xfrm>
            <a:off x="45720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LI-6800</a:t>
            </a:r>
          </a:p>
        </p:txBody>
      </p:sp>
      <p:sp>
        <p:nvSpPr>
          <p:cNvPr id="75" name="Rounded Rectangle 74"/>
          <p:cNvSpPr/>
          <p:nvPr/>
        </p:nvSpPr>
        <p:spPr>
          <a:xfrm>
            <a:off x="1920240" y="45720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P2 : 9월 중순  /  (9/2~9/17, DAT 21~36)</a:t>
            </a:r>
          </a:p>
        </p:txBody>
      </p:sp>
      <p:sp>
        <p:nvSpPr>
          <p:cNvPr id="76" name="Rounded Rectangle 75"/>
          <p:cNvSpPr/>
          <p:nvPr/>
        </p:nvSpPr>
        <p:spPr>
          <a:xfrm>
            <a:off x="6537960" y="45720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P1~P2 : 10월 중순  /  (10/16~10/19, DAT 9~12)</a:t>
            </a:r>
          </a:p>
        </p:txBody>
      </p:sp>
      <p:sp>
        <p:nvSpPr>
          <p:cNvPr id="77" name="Rounded Rectangle 76"/>
          <p:cNvSpPr/>
          <p:nvPr/>
        </p:nvSpPr>
        <p:spPr>
          <a:xfrm>
            <a:off x="45720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생육 조사</a:t>
            </a:r>
          </a:p>
        </p:txBody>
      </p:sp>
      <p:sp>
        <p:nvSpPr>
          <p:cNvPr id="78" name="Rounded Rectangle 77"/>
          <p:cNvSpPr/>
          <p:nvPr/>
        </p:nvSpPr>
        <p:spPr>
          <a:xfrm>
            <a:off x="1920240" y="50292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9/1 (DAT 20), 10/6 (DAT 55)</a:t>
            </a:r>
          </a:p>
        </p:txBody>
      </p:sp>
      <p:sp>
        <p:nvSpPr>
          <p:cNvPr id="79" name="Rounded Rectangle 78"/>
          <p:cNvSpPr/>
          <p:nvPr/>
        </p:nvSpPr>
        <p:spPr>
          <a:xfrm>
            <a:off x="6537960" y="50292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10/23 (DAT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침수 × 관수 이원 ANOVA·Tukey (형광 지표는 측정일·PAR·기온 보정 평균)</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7일(콩 DAT 1~9, 로메인 DAT 1~10), P2 = 이후. 형광 지표(Φ</a:t>
            </a:r>
            <a:r>
              <a:rPr sz="1000" baseline="-25000">
                <a:solidFill>
                  <a:srgbClr val="595959"/>
                </a:solidFill>
              </a:rPr>
              <a:t>PSII</a:t>
            </a:r>
            <a:r>
              <a:rPr sz="1000">
                <a:solidFill>
                  <a:srgbClr val="595959"/>
                </a:solidFill>
              </a:rPr>
              <a:t>, F</a:t>
            </a:r>
            <a:r>
              <a:rPr sz="1000" baseline="-25000">
                <a:solidFill>
                  <a:srgbClr val="595959"/>
                </a:solidFill>
              </a:rPr>
              <a:t>s</a:t>
            </a:r>
            <a:r>
              <a:rPr sz="1000">
                <a:solidFill>
                  <a:srgbClr val="595959"/>
                </a:solidFill>
              </a:rPr>
              <a:t>, ETR) = PAR·기온 보정 평균 (Ali et al., 2025; Gao et al., 2024), g</a:t>
            </a:r>
            <a:r>
              <a:rPr sz="1000" baseline="-25000">
                <a:solidFill>
                  <a:srgbClr val="595959"/>
                </a:solidFill>
              </a:rPr>
              <a:t>sw</a:t>
            </a:r>
            <a:r>
              <a:rPr sz="1000">
                <a:solidFill>
                  <a:srgbClr val="595959"/>
                </a:solidFill>
              </a:rPr>
              <a:t> = 온도 보정 gsw (Rizzo &amp; Bailey, 2026; PAR·기온 공변량 보정 없음).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 보정 gsw (Rizzo &amp; Bailey, 2026)</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PAR·기온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R</a:t>
            </a:r>
            <a:r>
              <a:rPr lang="ko-KR" altLang="en-US" sz="1400" b="1" dirty="0" baseline="-25000">
                <a:solidFill>
                  <a:srgbClr val="000000"/>
                </a:solidFill>
              </a:rPr>
              <a:t>d</a:t>
            </a:r>
            <a:r>
              <a:rPr lang="ko-KR" altLang="en-US" sz="1400" b="1" dirty="0">
                <a:solidFill>
                  <a:srgbClr val="000000"/>
                </a:solidFill>
              </a:rPr>
              <a:t>, A–PPFD (LSP)</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광-광합성 곡선 (NRH 모형, LSP)</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종실 생체중·건조중,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 (로메인 DAT 16, 콩 DAT 20·55)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로드셀·포트 무게 : 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누적 관수량 = 일별 관수량의 합. 콩: 로드셀 관수량(mm) × 38.01 g/mm, 8/16~10/6(DAT 4~55). 로메인: 대조구는 로드셀 평균 관수량, 그 외는 관수량 시트의 포트 평균, 10/12~10/22(DAT 5~15).</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건조·복합구는 설계대로 관수가 줄었고, 침수구는 과습으로 대조구보다 관수가 적었음</a:t>
            </a:r>
          </a:p>
          <a:p>
            <a:pPr marL="201168" indent="-201168" algn="l">
              <a:spcBef>
                <a:spcPts val="1000"/>
              </a:spcBef>
              <a:buFont typeface="Arial"/>
              <a:buChar char="•"/>
            </a:pPr>
            <a:r>
              <a:rPr lang="ko-KR" altLang="en-US" sz="1400" dirty="0">
                <a:solidFill>
                  <a:srgbClr val="000000"/>
                </a:solidFill>
              </a:rPr>
              <a:t>콩:  건조·복합구는 설계대로 관수가 줄었고, 침수구는 대조구보다 약간 적었음</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(g</a:t>
            </a:r>
            <a:r>
              <a:rPr lang="ko-KR" altLang="en-US" sz="2800" dirty="0" baseline="-25000"/>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0.363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0.347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0.264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0.155 ab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0.113 b</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0.273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0.353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0.254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0.233 b</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0.237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0.145 ab</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침수구가 대조구보다 낮았음</a:t>
            </a:r>
          </a:p>
          <a:p>
            <a:pPr marL="201168" indent="-201168">
              <a:spcBef>
                <a:spcPts val="0"/>
              </a:spcBef>
              <a:buFont typeface="Arial"/>
              <a:buChar char="•"/>
            </a:pPr>
            <a:r>
              <a:rPr sz="1400" b="1">
                <a:solidFill>
                  <a:srgbClr val="000000"/>
                </a:solidFill>
              </a:rPr>
              <a:t>콩 P2:</a:t>
            </a:r>
            <a:r>
              <a:rPr sz="1400">
                <a:solidFill>
                  <a:srgbClr val="000000"/>
                </a:solidFill>
              </a:rPr>
              <a:t> 건조·복합구가 대조구·침수구보다 낮았음</a:t>
            </a:r>
          </a:p>
          <a:p>
            <a:pPr marL="201168" indent="-201168">
              <a:spcBef>
                <a:spcPts val="0"/>
              </a:spcBef>
              <a:buFont typeface="Arial"/>
              <a:buChar char="•"/>
            </a:pPr>
            <a:r>
              <a:rPr sz="1400" b="1">
                <a:solidFill>
                  <a:srgbClr val="000000"/>
                </a:solidFill>
              </a:rPr>
              <a:t>로메인 P1:</a:t>
            </a:r>
            <a:r>
              <a:rPr sz="1400">
                <a:solidFill>
                  <a:srgbClr val="000000"/>
                </a:solidFill>
              </a:rPr>
              <a:t> 침수 중 크게 감소했다가 배수 후 대조구 수준으로 회복</a:t>
            </a:r>
          </a:p>
          <a:p>
            <a:pPr marL="201168" indent="-201168">
              <a:spcBef>
                <a:spcPts val="0"/>
              </a:spcBef>
              <a:buFont typeface="Arial"/>
              <a:buChar char="•"/>
            </a:pPr>
            <a:r>
              <a:rPr sz="1400">
                <a:solidFill>
                  <a:srgbClr val="000000"/>
                </a:solidFill>
              </a:rPr>
              <a:t>로메인 P2:  건조구가 침수구보다 낮았음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PAR·기온 보정 이전 원자료(온도 보정 gsw, Rizzo &amp; Bailey 2026) 평균, Tukey 문자(처리 + 측정일 모형). 그림: 음영 ± SE, 회색 띠 흐린 날, 빗금 침수 기간,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회복 (g</a:t>
            </a:r>
            <a:r>
              <a:rPr lang="ko-KR" altLang="en-US" sz="2800" dirty="0" baseline="-25000"/>
              <a:t>sw</a:t>
            </a:r>
            <a:r>
              <a:rPr lang="ko-KR" altLang="en-US" sz="2800" dirty="0"/>
              <a:t>, % of control)</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이전 일평균). * 대조 vs 처리 P&lt;0.05(Welch t, Holm 보정). 건조·복합은 회색.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중 급감했으나 배수 직후 빠르게 대조구 수준으로 회복</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종료 후에도 한동안 낮았고 이후 서서히 회복</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48%</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dirty="0" baseline="-2500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771006" y="1188720"/>
            <a:ext cx="6276107" cy="2510443"/>
          </a:xfrm>
          <a:prstGeom prst="rect">
            <a:avLst/>
          </a:prstGeom>
        </p:spPr>
      </p:pic>
      <p:graphicFrame>
        <p:nvGraphicFramePr>
          <p:cNvPr id="8" name="Table 7"/>
          <p:cNvGraphicFramePr>
            <a:graphicFrameLocks noGrp="1"/>
          </p:cNvGraphicFramePr>
          <p:nvPr/>
        </p:nvGraphicFramePr>
        <p:xfrm>
          <a:off x="457200" y="3790000"/>
          <a:ext cx="6858000" cy="1420416"/>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0.704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0.696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0.611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0.645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0.609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0.679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0.660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0.631 bc</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0.585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0.655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침수구가 대조구보다 약간 낮았음</a:t>
            </a:r>
          </a:p>
          <a:p>
            <a:pPr marL="201168" indent="-201168">
              <a:spcBef>
                <a:spcPts val="0"/>
              </a:spcBef>
              <a:buFont typeface="Arial"/>
              <a:buChar char="•"/>
            </a:pPr>
            <a:r>
              <a:rPr sz="1400" b="1">
                <a:solidFill>
                  <a:srgbClr val="000000"/>
                </a:solidFill>
              </a:rPr>
              <a:t>콩 P2:</a:t>
            </a:r>
            <a:r>
              <a:rPr sz="1400">
                <a:solidFill>
                  <a:srgbClr val="000000"/>
                </a:solidFill>
              </a:rPr>
              <a:t> 건조구가 가장 낮았음</a:t>
            </a:r>
          </a:p>
          <a:p>
            <a:pPr marL="201168" indent="-201168">
              <a:spcBef>
                <a:spcPts val="0"/>
              </a:spcBef>
              <a:buFont typeface="Arial"/>
              <a:buChar char="•"/>
            </a:pPr>
            <a:r>
              <a:rPr sz="1400">
                <a:solidFill>
                  <a:srgbClr val="000000"/>
                </a:solidFill>
              </a:rPr>
              <a:t>로메인:  P1·P2 모두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건조구에서 Φ</a:t>
            </a:r>
            <a:r>
              <a:rPr sz="1600" baseline="-25000">
                <a:solidFill>
                  <a:srgbClr val="E97132"/>
                </a:solidFill>
              </a:rPr>
              <a:t>PSII</a:t>
            </a:r>
            <a:r>
              <a:rPr sz="1600">
                <a:solidFill>
                  <a:srgbClr val="E97132"/>
                </a:solidFill>
              </a:rPr>
              <a:t>가 낮았고, 로메인은 처리 간 차이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측정일·PAR·기온 보정 평균, Tukey 문자. P2는 PPFD 수준을 나누지 않고 통합하여 분석. 그림: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 (V</a:t>
            </a:r>
            <a:r>
              <a:rPr lang="ko-KR" altLang="en-US" sz="2800" dirty="0" baseline="-25000"/>
              <a:t>cmax</a:t>
            </a:r>
            <a:r>
              <a:rPr lang="ko-KR" altLang="en-US" sz="2800" dirty="0"/>
              <a:t>, J</a:t>
            </a:r>
            <a:r>
              <a:rPr lang="ko-KR" altLang="en-US" sz="2800" dirty="0" baseline="-25000"/>
              <a:t>max</a:t>
            </a:r>
            <a:r>
              <a:rPr lang="ko-KR" altLang="en-US" sz="2800" dirty="0"/>
              <a:t>, R</a:t>
            </a:r>
            <a:r>
              <a:rPr lang="ko-KR" altLang="en-US" sz="2800" dirty="0" baseline="-25000"/>
              <a:t>d</a:t>
            </a:r>
            <a:r>
              <a:rPr lang="ko-KR" altLang="en-US" sz="2800" dirty="0"/>
              <a:t>, A–PPFD)</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925830" y="1199097"/>
            <a:ext cx="5646420" cy="2606040"/>
          </a:xfrm>
          <a:prstGeom prst="rect">
            <a:avLst/>
          </a:prstGeom>
        </p:spPr>
      </p:pic>
      <p:graphicFrame>
        <p:nvGraphicFramePr>
          <p:cNvPr id="8" name="Table 7"/>
          <p:cNvGraphicFramePr>
            <a:graphicFrameLocks noGrp="1"/>
          </p:cNvGraphicFramePr>
          <p:nvPr/>
        </p:nvGraphicFramePr>
        <p:xfrm>
          <a:off x="457200" y="3931920"/>
          <a:ext cx="6583679" cy="139903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4"/>
                    </a:ext>
                  </a:extLst>
                </a:gridCol>
                <a:gridCol w="868680">
                  <a:extLst>
                    <a:ext uri="{9D8B030D-6E8A-4147-A177-3AD203B41FA5}">
                      <a16:colId xmlns:a16="http://schemas.microsoft.com/office/drawing/2014/main" val="20004"/>
                    </a:ext>
                  </a:extLst>
                </a:gridCol>
              </a:tblGrid>
              <a:tr h="233172">
                <a:tc>
                  <a:txBody>
                    <a:bodyPr/>
                    <a:lstStyle/>
                    <a:p>
                      <a:pPr algn="l">
                        <a:lnSpc>
                          <a:spcPct val="100000"/>
                        </a:lnSpc>
                        <a:spcBef>
                          <a:spcPts val="0"/>
                        </a:spcBef>
                        <a:spcAft>
                          <a:spcPts val="0"/>
                        </a:spcAft>
                      </a:pPr>
                      <a:r>
                        <a:rPr sz="1050" b="1">
                          <a:solidFill>
                            <a:srgbClr val="000000"/>
                          </a:solidFill>
                        </a:rPr>
                        <a:t>Treatment</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 V</a:t>
                      </a:r>
                      <a:r>
                        <a:rPr sz="1050" b="1" baseline="-25000">
                          <a:solidFill>
                            <a:srgbClr val="000000"/>
                          </a:solidFill>
                        </a:rPr>
                        <a:t>cmax</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 J</a:t>
                      </a:r>
                      <a:r>
                        <a:rPr sz="1050" b="1" baseline="-25000">
                          <a:solidFill>
                            <a:srgbClr val="000000"/>
                          </a:solidFill>
                        </a:rPr>
                        <a:t>max</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 LSP</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 V</a:t>
                      </a:r>
                      <a:r>
                        <a:rPr sz="1050" b="1" baseline="-25000">
                          <a:solidFill>
                            <a:srgbClr val="000000"/>
                          </a:solidFill>
                        </a:rPr>
                        <a:t>cmax</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 J</a:t>
                      </a:r>
                      <a:r>
                        <a:rPr sz="1050" b="1" baseline="-25000">
                          <a:solidFill>
                            <a:srgbClr val="000000"/>
                          </a:solidFill>
                        </a:rPr>
                        <a:t>max</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 LSP</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50" b="0">
                          <a:solidFill>
                            <a:srgbClr val="000000"/>
                          </a:solidFill>
                        </a:rPr>
                        <a:t>Pre-treatment</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60</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83</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576</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98</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173</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572</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50" b="0">
                          <a:solidFill>
                            <a:srgbClr val="000000"/>
                          </a:solidFill>
                        </a:rPr>
                        <a:t>Control</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90 a</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150 a</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561 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104 a</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200 a</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1350</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50" b="0">
                          <a:solidFill>
                            <a:srgbClr val="000000"/>
                          </a:solidFill>
                        </a:rPr>
                        <a:t>Drought</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68 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104 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816 a</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94 ab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175 ab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1151</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50" b="0">
                          <a:solidFill>
                            <a:srgbClr val="000000"/>
                          </a:solidFill>
                        </a:rPr>
                        <a:t>Waterlogging</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85 ab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144 a</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549 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88 ab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168 ab</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1981</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50" b="0">
                          <a:solidFill>
                            <a:srgbClr val="000000"/>
                          </a:solidFill>
                        </a:rPr>
                        <a:t>Combined</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75 ab</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120 b</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690 ab</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73 b</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142 b</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841</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a:t>
            </a:r>
            <a:r>
              <a:rPr sz="1400">
                <a:solidFill>
                  <a:srgbClr val="000000"/>
                </a:solidFill>
              </a:rPr>
              <a:t> 건조구에서 V</a:t>
            </a:r>
            <a:r>
              <a:rPr sz="1400" baseline="-25000">
                <a:solidFill>
                  <a:srgbClr val="000000"/>
                </a:solidFill>
              </a:rPr>
              <a:t>cmax</a:t>
            </a:r>
            <a:r>
              <a:rPr sz="1400">
                <a:solidFill>
                  <a:srgbClr val="000000"/>
                </a:solidFill>
              </a:rPr>
              <a:t>·J</a:t>
            </a:r>
            <a:r>
              <a:rPr sz="1400" baseline="-25000">
                <a:solidFill>
                  <a:srgbClr val="000000"/>
                </a:solidFill>
              </a:rPr>
              <a:t>max</a:t>
            </a:r>
            <a:r>
              <a:rPr sz="1400">
                <a:solidFill>
                  <a:srgbClr val="000000"/>
                </a:solidFill>
              </a:rPr>
              <a:t>가 낮았고 LSP는 높았음</a:t>
            </a:r>
          </a:p>
          <a:p>
            <a:pPr marL="201168" indent="-201168">
              <a:spcBef>
                <a:spcPts val="0"/>
              </a:spcBef>
              <a:buFont typeface="Arial"/>
              <a:buChar char="•"/>
            </a:pPr>
            <a:r>
              <a:rPr sz="1400">
                <a:solidFill>
                  <a:srgbClr val="000000"/>
                </a:solidFill>
              </a:rPr>
              <a:t>로메인:</a:t>
            </a:r>
            <a:r>
              <a:rPr sz="1400">
                <a:solidFill>
                  <a:srgbClr val="000000"/>
                </a:solidFill>
              </a:rPr>
              <a:t> 복합구에서 V</a:t>
            </a:r>
            <a:r>
              <a:rPr sz="1400" baseline="-25000">
                <a:solidFill>
                  <a:srgbClr val="000000"/>
                </a:solidFill>
              </a:rPr>
              <a:t>cmax</a:t>
            </a:r>
            <a:r>
              <a:rPr sz="1400">
                <a:solidFill>
                  <a:srgbClr val="000000"/>
                </a:solidFill>
              </a:rPr>
              <a:t>·J</a:t>
            </a:r>
            <a:r>
              <a:rPr sz="1400" baseline="-25000">
                <a:solidFill>
                  <a:srgbClr val="000000"/>
                </a:solidFill>
              </a:rPr>
              <a:t>max</a:t>
            </a:r>
            <a:r>
              <a:rPr sz="1400">
                <a:solidFill>
                  <a:srgbClr val="000000"/>
                </a:solidFill>
              </a:rPr>
              <a:t>가 낮았고 LSP는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Tukey(ANOVA P&lt;0.05일 때만). 곡선: NRH 모형 평균, ▼ = LSP (광포화점), 로메인 1,500 초과는 외삽(점선). 콩 9/2~9/17, 로메인 10/16~19 측정으로 처리와 측정일이 교락됨.</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 감소 경향이나 유의차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평균 (대조구 대비 %), 건조·침수·복합 순. 로메인 10/23(DAT 16) 처리당 8~9주, 콩 10/6(DAT 55, R6~R7) 파괴조사 n=6~9. 그림: 평균 ± SE, 문자 Tukey(ANOVA P&lt;0.05일 때만). 종실 생체중 = 개체당 종실 전체 생체중, 처리 간 유의차 없음.</a:t>
            </a: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건물중이 모든 처리에서 감소했고 복합구에서 가장 크게 감소</a:t>
            </a:r>
          </a:p>
          <a:p>
            <a:pPr marL="201168" indent="-201168" algn="l">
              <a:spcBef>
                <a:spcPts val="1000"/>
              </a:spcBef>
              <a:buFont typeface="Arial"/>
              <a:buChar char="•"/>
            </a:pPr>
            <a:r>
              <a:rPr lang="ko-KR" altLang="en-US" sz="1400" dirty="0">
                <a:solidFill>
                  <a:srgbClr val="000000"/>
                </a:solidFill>
              </a:rPr>
              <a:t>콩:  종실 생체중·건조중이 감소하는 경향이나 처리 간 유의한 차이는 없음</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401568"/>
          <a:ext cx="7040879"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lnSpc>
                          <a:spcPct val="100000"/>
                        </a:lnSpc>
                        <a:spcBef>
                          <a:spcPts val="0"/>
                        </a:spcBef>
                        <a:spcAft>
                          <a:spcPts val="0"/>
                        </a:spcAft>
                      </a:pPr>
                      <a:r>
                        <a:rPr sz="800" b="1" dirty="0">
                          <a:solidFill>
                            <a:srgbClr val="000000"/>
                          </a:solidFill>
                        </a:rPr>
                        <a:t>Crop · variable</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Control</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Drought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Waterlog.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Combined</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800" b="0">
                          <a:solidFill>
                            <a:srgbClr val="000000"/>
                          </a:solidFill>
                        </a:rPr>
                        <a:t>Romaine DAT 16</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800" b="0">
                          <a:solidFill>
                            <a:srgbClr val="000000"/>
                          </a:solidFill>
                        </a:rPr>
                        <a:t>Shoot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90</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(−29%)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(−26%)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55 (−38%)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lang="en-US" sz="800" b="0" dirty="0">
                          <a:solidFill>
                            <a:srgbClr val="000000"/>
                          </a:solidFill>
                        </a:rPr>
                        <a:t>Shoot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5.4 (−16%)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4.3 (−34%)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3.7 (−43%)</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lang="en-US" sz="800" b="0" dirty="0">
                          <a:solidFill>
                            <a:srgbClr val="000000"/>
                          </a:solidFill>
                        </a:rPr>
                        <a:t>Soybean DAT 55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186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176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177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 (−14%)</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57 (−18%)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no.</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354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334 (−6%)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326 (−8%)</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300 (−15%)</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Pod no.</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170</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162 (−5%)</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163 (−4%)</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 (−15%)</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종실 생체중 −5~14% 감소 경향</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④ 대조구 대비 %: 로메인 지상부 건물중(DAT 16), 콩 생육 = 지상부 생체중(잎+줄기), 수량 = 종실 생체중(DAT 55). 광합성 능력은 콩 9월·로메인 10월 측정(측정일 교락).</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광합성</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J</a:t>
            </a:r>
            <a:r>
              <a:rPr lang="ko-KR" altLang="en-US" sz="1050" b="0" dirty="0" baseline="-25000">
                <a:solidFill>
                  <a:srgbClr val="FFFFFF"/>
                </a:solidFill>
              </a:rPr>
              <a:t>max</a:t>
            </a:r>
            <a:r>
              <a:rPr lang="ko-KR" altLang="en-US" sz="1050" b="0" dirty="0">
                <a:solidFill>
                  <a:srgbClr val="FFFFFF"/>
                </a:solidFill>
              </a:rPr>
              <a:t> · LSP</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33%)</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(P2)</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−5%</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(P1)</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−5%</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(P2)</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−14%</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콩 (기공 → 명반응 → 광합성 능력 → 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Tan et al. 2018 J Plant Physiol; Haverroth et al. 2024 Plant Physiol; Buckley 2019 New Phytol; Yeung et al. 2018 PNAS; Sasidharan et al. 2018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bean.png"/>
          <p:cNvPicPr>
            <a:picLocks noChangeAspect="1"/>
          </p:cNvPicPr>
          <p:nvPr/>
        </p:nvPicPr>
        <p:blipFill>
          <a:blip r:embed="rId4"/>
          <a:stretch>
            <a:fillRect/>
          </a:stretch>
        </p:blipFill>
        <p:spPr>
          <a:xfrm>
            <a:off x="502920" y="1874519"/>
            <a:ext cx="11155680" cy="3291840"/>
          </a:xfrm>
          <a:prstGeom prst="rect">
            <a:avLst/>
          </a:prstGeom>
        </p:spPr>
      </p:pic>
      <p:sp>
        <p:nvSpPr>
          <p:cNvPr id="58" name="Rounded Rectangle 57"/>
          <p:cNvSpPr/>
          <p:nvPr/>
        </p:nvSpPr>
        <p:spPr>
          <a:xfrm>
            <a:off x="93960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72488"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730752"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62636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520787"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675"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1082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수량</a:t>
            </a:r>
          </a:p>
          <a:p>
            <a:pPr algn="ctr"/>
            <a:r>
              <a:rPr sz="1050">
                <a:solidFill>
                  <a:srgbClr val="FFFFFF"/>
                </a:solidFill>
              </a:rPr>
              <a:t>종실 생체중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회복이 빠르나 생육 감소, 콩은 회복이 느리나 수량 차이 작음 — 반응은 작물마다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건조구에서 Φ</a:t>
            </a:r>
            <a:r>
              <a:rPr lang="ko-KR" altLang="en-US" sz="1300" dirty="0" baseline="-25000">
                <a:solidFill>
                  <a:srgbClr val="000000"/>
                </a:solidFill>
              </a:rPr>
              <a:t>PSII</a:t>
            </a:r>
            <a:r>
              <a:rPr lang="ko-KR" altLang="en-US" sz="1300" dirty="0">
                <a:solidFill>
                  <a:srgbClr val="000000"/>
                </a:solidFill>
              </a:rPr>
              <a:t>(P2)와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가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기공이 회복되었는데도 침수 기간의 손실이 유지되어 지상부 건물중이 감소했다(건조 −16%, 침수 −34%, 복합 −43%). 콩은 종실 생체중이 5~14% 감소하는 경향이었으나 처리 간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측정 PAR·기온이 달랐음</a:t>
            </a:r>
          </a:p>
          <a:p>
            <a:pPr marL="201168" indent="-201168">
              <a:spcBef>
                <a:spcPts val="0"/>
              </a:spcBef>
              <a:buFont typeface="Arial"/>
              <a:buChar char="•"/>
            </a:pPr>
            <a:r>
              <a:rPr sz="1400" b="0">
                <a:solidFill>
                  <a:srgbClr val="000000"/>
                </a:solidFill>
              </a:rPr>
              <a:t>모형: y = μ + 처리 + 측정일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ε (Ali et al., 2025; Gao et al., 2024)</a:t>
            </a:r>
          </a:p>
          <a:p>
            <a:pPr marL="201168" indent="-201168">
              <a:spcBef>
                <a:spcPts val="0"/>
              </a:spcBef>
              <a:buFont typeface="Arial"/>
              <a:buChar char="•"/>
            </a:pPr>
            <a:r>
              <a:rPr sz="1400" b="0">
                <a:solidFill>
                  <a:srgbClr val="000000"/>
                </a:solidFill>
              </a:rPr>
              <a:t>선형 PAR이 가장 적합했고 기온 기울기는 유의하지 않았음</a:t>
            </a:r>
          </a:p>
          <a:p>
            <a:pPr marL="201168" indent="-201168">
              <a:spcBef>
                <a:spcPts val="0"/>
              </a:spcBef>
              <a:buFont typeface="Arial"/>
              <a:buChar char="•"/>
            </a:pPr>
            <a:r>
              <a:rPr sz="1400" b="0">
                <a:solidFill>
                  <a:srgbClr val="000000"/>
                </a:solidFill>
              </a:rPr>
              <a:t>로메인: g</a:t>
            </a:r>
            <a:r>
              <a:rPr sz="1400" b="0" baseline="-25000">
                <a:solidFill>
                  <a:srgbClr val="000000"/>
                </a:solidFill>
              </a:rPr>
              <a:t>sw</a:t>
            </a:r>
            <a:r>
              <a:rPr sz="1400" b="0">
                <a:solidFill>
                  <a:srgbClr val="000000"/>
                </a:solidFill>
              </a:rPr>
              <a:t>·Φ</a:t>
            </a:r>
            <a:r>
              <a:rPr sz="1400" b="0" baseline="-25000">
                <a:solidFill>
                  <a:srgbClr val="000000"/>
                </a:solidFill>
              </a:rPr>
              <a:t>PSII</a:t>
            </a:r>
            <a:r>
              <a:rPr sz="1400" b="0">
                <a:solidFill>
                  <a:srgbClr val="000000"/>
                </a:solidFill>
              </a:rPr>
              <a:t>·F</a:t>
            </a:r>
            <a:r>
              <a:rPr sz="1400" b="0" baseline="-25000">
                <a:solidFill>
                  <a:srgbClr val="000000"/>
                </a:solidFill>
              </a:rPr>
              <a:t>s</a:t>
            </a:r>
            <a:r>
              <a:rPr sz="1400" b="0">
                <a:solidFill>
                  <a:srgbClr val="000000"/>
                </a:solidFill>
              </a:rPr>
              <a:t>·ETR 모두 PAR만 보정과 PAR+기온 보정의 판정이 같음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lnSpc>
                          <a:spcPct val="100000"/>
                        </a:lnSpc>
                        <a:spcBef>
                          <a:spcPts val="0"/>
                        </a:spcBef>
                        <a:spcAft>
                          <a:spcPts val="0"/>
                        </a:spcAft>
                      </a:pPr>
                      <a:r>
                        <a:rPr sz="1050" b="1">
                          <a:solidFill>
                            <a:srgbClr val="000000"/>
                          </a:solidFill>
                        </a:rPr>
                        <a:t>A (PPFD 1500)</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Soybean</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Romaine</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sz="1050" b="0">
                          <a:solidFill>
                            <a:srgbClr val="000000"/>
                          </a:solidFill>
                        </a:rPr>
                        <a:t>Pre-treatment</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12.9</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22.6</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sz="1050" b="0">
                          <a:solidFill>
                            <a:srgbClr val="000000"/>
                          </a:solidFill>
                        </a:rPr>
                        <a:t>Control</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16.4</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sz="1050" b="0">
                          <a:solidFill>
                            <a:srgbClr val="000000"/>
                          </a:solidFill>
                        </a:rPr>
                        <a:t>Drought</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16.7</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lnSpc>
                          <a:spcPct val="100000"/>
                        </a:lnSpc>
                        <a:spcBef>
                          <a:spcPts val="0"/>
                        </a:spcBef>
                        <a:spcAft>
                          <a:spcPts val="0"/>
                        </a:spcAft>
                      </a:pPr>
                      <a:r>
                        <a:rPr sz="1050" b="0">
                          <a:solidFill>
                            <a:srgbClr val="000000"/>
                          </a:solidFill>
                        </a:rPr>
                        <a:t>Waterlogging</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12.5</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21.2</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lnSpc>
                          <a:spcPct val="100000"/>
                        </a:lnSpc>
                        <a:spcBef>
                          <a:spcPts val="0"/>
                        </a:spcBef>
                        <a:spcAft>
                          <a:spcPts val="0"/>
                        </a:spcAft>
                      </a:pPr>
                      <a:r>
                        <a:rPr sz="1050" b="0">
                          <a:solidFill>
                            <a:srgbClr val="000000"/>
                          </a:solidFill>
                        </a:rPr>
                        <a:t>Combined</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15.8</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17.7</a:t>
                      </a:r>
                      <a:endParaRPr sz="105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모든 PPFD 수준에서 처리 간 유의차 없음</a:t>
            </a:r>
          </a:p>
          <a:p>
            <a:pPr marL="201168" indent="-201168">
              <a:buFont typeface="Arial"/>
              <a:buChar char="•"/>
            </a:pPr>
            <a:r>
              <a:rPr sz="1100" b="0">
                <a:solidFill>
                  <a:srgbClr val="000000"/>
                </a:solidFill>
              </a:rPr>
              <a:t>콩은 처리 전 곡선이 처리 후보다 낮고, 로메인은 처리 전 곡선이 처리 후보다 높음</a:t>
            </a:r>
          </a:p>
          <a:p>
            <a:pPr marL="201168" indent="-201168">
              <a:buFont typeface="Arial"/>
              <a:buChar char="•"/>
            </a:pPr>
            <a:r>
              <a:rPr sz="1100" b="0">
                <a:solidFill>
                  <a:srgbClr val="000000"/>
                </a:solidFill>
              </a:rPr>
              <a:t>콩 침수구와 로메인 복합구가 낮은 경향</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dirty="0" baseline="-25000"/>
              <a:t>s</a:t>
            </a:r>
            <a:r>
              <a:rPr lang="ko-KR" altLang="en-US" sz="2800" dirty="0"/>
              <a:t>)</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129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113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157.3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142.1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141.8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139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158.0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141.6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134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161.6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144.5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 P2 건조·침수·복합구가 대조구보다 높음</a:t>
            </a:r>
          </a:p>
          <a:p>
            <a:pPr marL="201168" indent="-201168">
              <a:spcBef>
                <a:spcPts val="700"/>
              </a:spcBef>
              <a:buFont typeface="Arial"/>
              <a:buChar char="•"/>
            </a:pPr>
            <a:r>
              <a:rPr sz="1400">
                <a:solidFill>
                  <a:srgbClr val="000000"/>
                </a:solidFill>
              </a:rPr>
              <a:t>로메인: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119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190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141.7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75.6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146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137.8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78.3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110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180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72.7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165 bc</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130.1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80.4 a</a:t>
                      </a:r>
                      <a:endParaRPr sz="80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대조구가 높고 건조구가 가장 낮음</a:t>
            </a:r>
          </a:p>
          <a:p>
            <a:pPr marL="201168" indent="-201168">
              <a:spcBef>
                <a:spcPts val="700"/>
              </a:spcBef>
              <a:buFont typeface="Arial"/>
              <a:buChar char="•"/>
            </a:pPr>
            <a:r>
              <a:rPr sz="1400">
                <a:solidFill>
                  <a:srgbClr val="000000"/>
                </a:solidFill>
              </a:rPr>
              <a:t>로메인: P1 대조구가 높은 경향, P2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08/13</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10:31–11:01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348</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0.61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08/14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10:19–10:36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08/15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08:31–08:40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08/16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08:43–08:57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08/17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08:37–08:51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08/18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08:54–09:05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08/19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09:42–10:01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08/20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09:32–09:45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162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08/21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08:18–08:25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08/29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11:39–12:32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76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09/04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10:25–11:02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09/11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10:16–10:43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09/25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09:19–09:59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10/02</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10:25–11:06</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338</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0.92</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10/06</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10:20–10:22</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214</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0.50</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10/08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09:29–09:36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10/09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10:53–10:59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10/10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09:44–09:53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10/11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11:17–11:28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0.74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10/12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10:36–10:57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484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10/13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09:33–10:06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10/14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09:28–09:53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10/15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09:31–09:51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10/16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09:40–09:56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10/17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08:59–09:33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10/19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08:28–09:27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10/21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09:47–10:04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10/23</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09:33–09:55</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0.95</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28575"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기상 센서 : 기온, 일적산광량 (DLI)</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 점선 = 침수 시작일.</a:t>
            </a:r>
          </a:p>
        </p:txBody>
      </p:sp>
      <p:pic>
        <p:nvPicPr>
          <p:cNvPr id="27" name="Picture 26" descr="image.png"/>
          <p:cNvPicPr>
            <a:picLocks noChangeAspect="1"/>
          </p:cNvPicPr>
          <p:nvPr/>
        </p:nvPicPr>
        <p:blipFill>
          <a:blip r:embed="rId2"/>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처리 기간 동안 저온·중간 일사 조건</a:t>
            </a:r>
          </a:p>
          <a:p>
            <a:pPr marL="201168" indent="-201168" algn="l">
              <a:spcBef>
                <a:spcPts val="1000"/>
              </a:spcBef>
              <a:buFont typeface="Arial"/>
              <a:buChar char="•"/>
            </a:pPr>
            <a:r>
              <a:rPr lang="ko-KR" altLang="en-US" sz="1400" dirty="0">
                <a:solidFill>
                  <a:srgbClr val="000000"/>
                </a:solidFill>
              </a:rPr>
              <a:t>콩:  처리 초기에 로메인보다 고온·고일사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로메인 상추 (기공 → 명반응 → 광합성 능력 → 건물중)</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 상추는 회복이 빨랐지만 침수 기간 동안의 손실이 유지됨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Körner 2015 Curr Opin Plant Biol 25:107; Tardieu et al. 2018 Annu Rev Plant Biol; Haverroth et al. 2024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lettuce.png"/>
          <p:cNvPicPr>
            <a:picLocks noChangeAspect="1"/>
          </p:cNvPicPr>
          <p:nvPr/>
        </p:nvPicPr>
        <p:blipFill>
          <a:blip r:embed="rId2"/>
          <a:stretch>
            <a:fillRect/>
          </a:stretch>
        </p:blipFill>
        <p:spPr>
          <a:xfrm>
            <a:off x="502920" y="1874519"/>
            <a:ext cx="11155680" cy="3291840"/>
          </a:xfrm>
          <a:prstGeom prst="rect">
            <a:avLst/>
          </a:prstGeom>
        </p:spPr>
      </p:pic>
      <p:sp>
        <p:nvSpPr>
          <p:cNvPr id="58" name="Rounded Rectangle 57"/>
          <p:cNvSpPr/>
          <p:nvPr/>
        </p:nvSpPr>
        <p:spPr>
          <a:xfrm>
            <a:off x="93960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72488"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730752"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62636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520787"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675"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1082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생육</a:t>
            </a:r>
          </a:p>
          <a:p>
            <a:pPr algn="ctr"/>
            <a:r>
              <a:rPr sz="1050">
                <a:solidFill>
                  <a:srgbClr val="FFFFFF"/>
                </a:solidFill>
              </a:rPr>
              <a:t>지상부 건물중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Rizzo KT, Bailey BN (2026) Plant Cell Environ 49:1412–1423.</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