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90" r:id="rId3"/>
    <p:sldId id="391" r:id="rId4"/>
    <p:sldId id="392" r:id="rId5"/>
    <p:sldId id="373" r:id="rId6"/>
    <p:sldId id="393" r:id="rId7"/>
    <p:sldId id="412" r:id="rId40"/>
    <p:sldId id="394" r:id="rId8"/>
    <p:sldId id="376" r:id="rId9"/>
    <p:sldId id="395" r:id="rId10"/>
    <p:sldId id="377" r:id="rId12"/>
    <p:sldId id="381" r:id="rId14"/>
    <p:sldId id="397" r:id="rId15"/>
    <p:sldId id="398" r:id="rId17"/>
    <p:sldId id="399" r:id="rId18"/>
    <p:sldId id="413" r:id="rId41"/>
    <p:sldId id="400" r:id="rId19"/>
    <p:sldId id="301" r:id="rId20"/>
    <p:sldId id="401" r:id="rId21"/>
    <p:sldId id="407" r:id="rId22"/>
    <p:sldId id="383" r:id="rId23"/>
    <p:sldId id="378" r:id="rId26"/>
    <p:sldId id="379" r:id="rId27"/>
    <p:sldId id="375" r:id="rId28"/>
    <p:sldId id="414"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로메인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최근 집중호우와 폭염·가뭄이 짧은 간격으로 반복되면서 한 생육기 안에서 침수와 건조를 연이어 겪는 일이 늘고 있습니다. 침수는 근권 산소 결핍으로, 건조는 토양 수분 부족으로 기공을 닫게 하지만, 두 재해가 연속될 때 피해가 누적되는지, 선행 스트레스가 순화 효과를 주는지는 작물마다 다를 수 있습니다. 그런데 재해 유형별로 생리 반응이 어느 단계에서 제한되는지를 작물 간에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이 연구는 수분 재해의 영향을 네 단계로 나누어 보았습니다. 가장 먼저 반응하는 기공, 광계의 명반응, 광합성의 생화학적 능력, 그리고 최종적으로 생육과 수량입니다. 콩과 로메인 상추에 침수, 건조, 복합 처리를 적용하여 잎 생리 반응이 어느 단계까지 이어지는지, 기공이 얼마나 빨리 회복되는지, 생육과 수량의 감소로 이어지는지를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로메인 상추 클라우디우스이며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로메인 상추는 처리 후 16일, 콩은 55일까지 관찰했습니다. LI-600은 초기에는 매일, 이후에는 콩은 1~2주 간격, 로메인은 이틀 간격으로 측정했고 LI-6800 광합성 곡선은 콩은 9월 중순, 로메인은 10월 중순에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측정 당시의 광도와 기온 차이는 선행 연구를 따라 공변량으로 보정했습니다. 광합성의 생화학적 능력은 LI-6800의 A-Ci와 광-광합성 곡선으로 평가했고, 생육과 수량은 파괴 조사로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확인했습니다. 대조구 대비 누적 관수량은 건조구가 로메인 43%, 콩 40%로 설계인 50%에 가까웠습니다. 침수구는 콩이 87%였지만 로메인은 화분이 과습한 상태가 유지되어 56%만 관수되었습니다. 누적 증산량은 로메인이 건조 72%, 침수 84%, 복합 74%였고 콩은 건조 50%, 침수 88%였습니다. 다만 콩은 포트 밖으로 나간 뿌리가 있어 실제 수분 이용은 다를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첫 번째 단계인 기공입니다. 그래프와 표는 측정 광도와 기온을 보정한 값입니다. 침수 기간 동안 두 작물 모두 기공전도도가 감소했습니다. 로메인 상추는 침수 3일째 대조구의 10%까지 떨어졌다가 배수 직후 빠르게 회복했고, 콩은 침수 효과가 DAT 9까지 이어졌습니다. 건조는 두 작물 모두 후반에 기공전도도를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각 처리구의 기공전도도를 같은 날 대조구에 대한 비율로 나타낸 그래프입니다. 건조와 복합은 회색으로 두고 침수 위주로 설명하겠습니다. 로메인 상추는 침수 3일째 10%까지 떨어졌지만 배수 후 2~3일, 즉 DAT 5~6에 대조구 수준으로 회복했습니다. 콩은 DAT 9에도 52%로 회복되지 않았고 DAT 17 이후에야 대조구에 가까워졌습니다.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두 번째 단계인 명반응입니다. P2 구간은 광도 수준을 나누지 않고 통합하여 분석했습니다. 콩에서는 P1에서 침수구가 대조구보다 약간 낮았고, P2에서는 건조구의 Φ_PSII가 0.61로 대조구 0.70보다 낮았습니다. 로메인 상추는 P1과 P2 모두 처리 간 차이가 없었습니다. 따라서 로메인에서는 기공이 닫혔는데도 명반응은 영향을 받지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광합성의 생화학적 능력입니다. 콩은 9월 측정에서 건조구와 복합구의 최대 카르복실화 속도와 최대 전자전달 속도가 낮았고, 로메인 상추도 복합구에서 가장 낮은 경향을 보였습니다. 오른쪽 광-광합성 곡선의 역삼각형은 광포화점으로, 콩은 건조구에서 높았고 로메인은 처리 간 차이가 없었습니다. 다만 처리별로 측정일이 달라 측정일과 처리 효과가 섞여 있고 곡선 수도 처리당 3~4개로 적어 확정적으로 말하기는 어렵습니다.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로메인 상추는 건조구 16%, 침수구 34%, 복합구 43%의 지상부 건물중 감소를 보였습니다. 콩은 종실 건조중, 종실 수, 꼬투리 수와 100립 생체중 모두 처리 간 유의한 차이가 없었습니다. 표에 대조구 대비 감소율을 같이 적었는데, 100립 생체중은 5, 9, 1% 감소로 작았고 종실 건조중은 복합구에서 18%까지 감소하는 경향이 있었습니다. 다만 검출 한계가 약 40~50%이고 뿌리가 포트 밖으로 나간 영향이 있어 근거는 약합니다.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지금까지의 결과를 작물, 처리, 단계별로 정리한 표입니다. 로메인 상추는 기공이 침수 직후 크게 닫혔다가 며칠 만에 회복했고 명반응에는 변화가 없었지만, 건물중은 침수 34%, 복합 43% 감소했습니다. 콩은 기공 회복이 느렸고 건조구에서 명반응이 낮았지만 수량은 100립 생체중 기준 1~9% 감소하는 데 그쳤습니다.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먼저 콩입니다. 앞서 본 결과를 논리 순서대로 다시 정리하겠습니다. 침수 직후 기공전도도가 먼저 감소했고 DAT 9에도 대조구의 52%로 회복이 느렸습니다. 뿌리의 저산소는 아쿠아포린 기능과 뿌리 수리전도도를 떨어뜨려 잎의 수분 상태를 악화시키고 기공을 닫는 것으로 보고됩니다. 두 번째로 명반응은 건조구에서 P2에 낮아졌고, 세 번째로 광합성의 생화학적 능력도 건조·복합구에서 낮은 경향이었습니다. 그러나 네 번째 수량은 100립 생체중이 1~9% 감소하는 경향이었으나 큰 차이가 없었습니다. 즉 콩은 생리 지표에서는 차이가 있었지만 수량으로는 이어지지 않았습니다. 개화기 처리 후 55일의 회복 기간 동안 보상이 있었을 가능성이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로메인은 배수 2~3일 만에, 콩은 DAT 9 이후에 회복했습니다. 둘째, 명반응과 광합성 능력은 로메인에서 거의 변하지 않았고 콩은 건조구에서 낮았습니다. 셋째, 로메인은 기공이 회복되었는데도 침수 기간의 손실이 유지되어 건물중이 감소했고, 콩은 수량이 감소하는 경향이었지만 큰 차이는 없었습니다. 따라서 수분 스트레스에 대한 반응은 작물마다 다릅니다.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19</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측정일, 선형 PAR, 기온을 공변량으로 보정했고, 로메인 상추에서는 PAR만 보정한 결과와 기온까지 보정한 결과의 유의성 판정이 모든 지표에서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두 실험은 계절이 달라 환경 조건이 크게 다릅니다. 콩의 처리 초기 평균 기온은 28.4도, 로메인 상추는 18.2도로 약 10도 낮았고 일적산광량도 로메인이 낮았습니다. 따라서 같은 50% 관수라도 증발산 부하가 달라 건조 스트레스 강도가 다르며, 두 작물의 차이는 병렬 사례로 해석하겠습니다.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다음은 로메인 상추입니다. 침수 3일째 기공전도도가 대조구의 10%까지 떨어졌지만 배수 후 2~3일 만에 대조구 수준으로 회복했습니다. 명반응은 처리 간 차이가 없었고, 광합성의 생화학적 능력은 복합구에서만 낮은 경향이었습니다. 그럼에도 지상부 건물중은 건조 16%, 침수 34%, 복합 43% 감소했습니다. 식물의 생장은 탄소 공급보다 조직 성장과 세포 팽압이 먼저 제한되는 경우가 많아, 침수 기간 동안 생긴 생장 손실이 회복 후에도 유지된 것으로 해석됩니다. 로메인은 영양생장기에 처리했고 수확물이 지상부라 이 손실이 곧 수량 손실입니다.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보충 자료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정상 상태 형광 Fs의 절대값은 로메인 상추에서 처리 간 차이가 없었고, 콩에서는 침수·건조 처리구가 대조구보다 높았습니다.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전자전달속도는 측정 광도에 비례하므로 광도를 보정한 평균으로 비교했고, 로메인 상추에서는 침수구가 약 6~8% 낮은 경향을 보였지만 측정일 반복 기준으로는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 인용한 참고문헌입니다.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en-US" sz="4000" b="1" dirty="0"/>
              <a:t>침수 및 건조 복합재해에 대한 콩과</a:t>
            </a:r>
            <a:br>
              <a:rPr lang="en-US" altLang="ko-KR" sz="4000" b="1" dirty="0"/>
            </a:br>
            <a:r>
              <a:rPr lang="ko-KR" altLang="en-US" sz="4000" b="1" dirty="0"/>
              <a:t>로메인 상추의 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2026. 11. 6.</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Swain et al. (2018) Nat. Clim. Change 8:427–433; Zandalinas &amp; Mittler (2022) New Phytol. 234:1161–1167.</a:t>
            </a:r>
          </a:p>
        </p:txBody>
      </p:sp>
      <p:sp>
        <p:nvSpPr>
          <p:cNvPr id="27" name="Flow 1"/>
          <p:cNvSpPr/>
          <p:nvPr/>
        </p:nvSpPr>
        <p:spPr>
          <a:xfrm>
            <a:off x="841248" y="1325880"/>
            <a:ext cx="3154680" cy="868680"/>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069080"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53712" y="1325880"/>
            <a:ext cx="3154680" cy="868680"/>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781544"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266176" y="1325880"/>
            <a:ext cx="3081528" cy="868680"/>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32" name="Card 침수 (Waterlogging)"/>
          <p:cNvSpPr/>
          <p:nvPr/>
        </p:nvSpPr>
        <p:spPr>
          <a:xfrm>
            <a:off x="84124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3" name="Header 침수 (Waterlogging)"/>
          <p:cNvSpPr/>
          <p:nvPr/>
        </p:nvSpPr>
        <p:spPr>
          <a:xfrm>
            <a:off x="1024128" y="2578608"/>
            <a:ext cx="2926080" cy="420624"/>
          </a:xfrm>
          <a:prstGeom prst="roundRect">
            <a:avLst>
              <a:gd name="adj" fmla="val 25000"/>
            </a:avLst>
          </a:prstGeom>
          <a:solidFill>
            <a:srgbClr val="0B76A0"/>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침수 (Waterlogging)</a:t>
            </a:r>
          </a:p>
        </p:txBody>
      </p:sp>
      <p:sp>
        <p:nvSpPr>
          <p:cNvPr id="34" name="Text 침수 (Waterlogging)"/>
          <p:cNvSpPr txBox="1"/>
          <p:nvPr/>
        </p:nvSpPr>
        <p:spPr>
          <a:xfrm>
            <a:off x="102412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근권 산소 결핍 → 뿌리 호흡·양수분 흡수 저해</a:t>
            </a:r>
          </a:p>
          <a:p>
            <a:pPr marL="201168" indent="-201168" algn="l">
              <a:spcBef>
                <a:spcPts val="1000"/>
              </a:spcBef>
              <a:buFont typeface="Arial"/>
              <a:buChar char="•"/>
            </a:pPr>
            <a:r>
              <a:rPr lang="ko-KR" altLang="en-US" sz="1400" b="0" dirty="0">
                <a:solidFill>
                  <a:srgbClr val="000000"/>
                </a:solidFill>
              </a:rPr>
              <a:t>기공 닫힘 → 엽 내 CO</a:t>
            </a:r>
            <a:r>
              <a:rPr lang="ko-KR" altLang="en-US" sz="1400" b="0" baseline="-25000" dirty="0">
                <a:solidFill>
                  <a:srgbClr val="000000"/>
                </a:solidFill>
              </a:rPr>
              <a:t>2</a:t>
            </a:r>
            <a:r>
              <a:rPr lang="ko-KR" altLang="en-US" sz="1400" b="0" dirty="0">
                <a:solidFill>
                  <a:srgbClr val="000000"/>
                </a:solidFill>
              </a:rPr>
              <a:t> 공급 감소</a:t>
            </a:r>
          </a:p>
          <a:p>
            <a:pPr marL="201168" indent="-201168" algn="l">
              <a:spcBef>
                <a:spcPts val="1000"/>
              </a:spcBef>
              <a:buFont typeface="Arial"/>
              <a:buChar char="•"/>
            </a:pPr>
            <a:r>
              <a:rPr lang="ko-KR" altLang="en-US" sz="1400" b="0" dirty="0">
                <a:solidFill>
                  <a:srgbClr val="000000"/>
                </a:solidFill>
              </a:rPr>
              <a:t>배수 후에도 회복에 시간 소요</a:t>
            </a:r>
          </a:p>
        </p:txBody>
      </p:sp>
      <p:sp>
        <p:nvSpPr>
          <p:cNvPr id="35" name="Card 건조 (Drought)"/>
          <p:cNvSpPr/>
          <p:nvPr/>
        </p:nvSpPr>
        <p:spPr>
          <a:xfrm>
            <a:off x="445312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6" name="Header 건조 (Drought)"/>
          <p:cNvSpPr/>
          <p:nvPr/>
        </p:nvSpPr>
        <p:spPr>
          <a:xfrm>
            <a:off x="4636008" y="2578608"/>
            <a:ext cx="292608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건조 (Drought)</a:t>
            </a:r>
          </a:p>
        </p:txBody>
      </p:sp>
      <p:sp>
        <p:nvSpPr>
          <p:cNvPr id="37" name="Text 건조 (Drought)"/>
          <p:cNvSpPr txBox="1"/>
          <p:nvPr/>
        </p:nvSpPr>
        <p:spPr>
          <a:xfrm>
            <a:off x="463600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토양 수분 감소 → 엽 수분 상태 저하</a:t>
            </a:r>
          </a:p>
          <a:p>
            <a:pPr marL="201168" indent="-201168" algn="l">
              <a:spcBef>
                <a:spcPts val="1000"/>
              </a:spcBef>
              <a:buFont typeface="Arial"/>
              <a:buChar char="•"/>
            </a:pPr>
            <a:r>
              <a:rPr lang="ko-KR" altLang="en-US" sz="1400" b="0" dirty="0">
                <a:solidFill>
                  <a:srgbClr val="000000"/>
                </a:solidFill>
              </a:rPr>
              <a:t>기공 닫힘 → 증산·광합성 감소</a:t>
            </a:r>
          </a:p>
          <a:p>
            <a:pPr marL="201168" indent="-201168" algn="l">
              <a:spcBef>
                <a:spcPts val="1000"/>
              </a:spcBef>
              <a:buFont typeface="Arial"/>
              <a:buChar char="•"/>
            </a:pPr>
            <a:r>
              <a:rPr lang="ko-KR" altLang="en-US" sz="1400" b="0" dirty="0">
                <a:solidFill>
                  <a:srgbClr val="000000"/>
                </a:solidFill>
              </a:rPr>
              <a:t>지속 시 광화학 효율 저하 가능</a:t>
            </a:r>
          </a:p>
        </p:txBody>
      </p:sp>
      <p:sp>
        <p:nvSpPr>
          <p:cNvPr id="38" name="Card 복합 (침수 → 건조)"/>
          <p:cNvSpPr/>
          <p:nvPr/>
        </p:nvSpPr>
        <p:spPr>
          <a:xfrm>
            <a:off x="806500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9" name="Header 복합 (침수 → 건조)"/>
          <p:cNvSpPr/>
          <p:nvPr/>
        </p:nvSpPr>
        <p:spPr>
          <a:xfrm>
            <a:off x="8247888" y="2578608"/>
            <a:ext cx="292608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복합 (침수 → 건조)</a:t>
            </a:r>
          </a:p>
        </p:txBody>
      </p:sp>
      <p:sp>
        <p:nvSpPr>
          <p:cNvPr id="40" name="Text 복합 (침수 → 건조)"/>
          <p:cNvSpPr txBox="1"/>
          <p:nvPr/>
        </p:nvSpPr>
        <p:spPr>
          <a:xfrm>
            <a:off x="824788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침수 피해 회복 전에 건조에 노출</a:t>
            </a:r>
          </a:p>
          <a:p>
            <a:pPr marL="201168" indent="-201168" algn="l">
              <a:spcBef>
                <a:spcPts val="1000"/>
              </a:spcBef>
              <a:buFont typeface="Arial"/>
              <a:buChar char="•"/>
            </a:pPr>
            <a:r>
              <a:rPr lang="ko-KR" altLang="en-US" sz="1400" b="0" dirty="0">
                <a:solidFill>
                  <a:srgbClr val="000000"/>
                </a:solidFill>
              </a:rPr>
              <a:t>피해 누적 또는 선행 스트레스에 의한 순화 가능</a:t>
            </a:r>
          </a:p>
          <a:p>
            <a:pPr marL="201168" indent="-201168" algn="l">
              <a:spcBef>
                <a:spcPts val="1000"/>
              </a:spcBef>
              <a:buFont typeface="Arial"/>
              <a:buChar char="•"/>
            </a:pPr>
            <a:r>
              <a:rPr lang="ko-KR" altLang="en-US" sz="1400" b="0" dirty="0">
                <a:solidFill>
                  <a:srgbClr val="000000"/>
                </a:solidFill>
              </a:rPr>
              <a:t>작물·생육 단계별 반응 비교 정보 부족</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841248" y="1417320"/>
            <a:ext cx="1993392" cy="749808"/>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3474720" y="2130552"/>
            <a:ext cx="1993392" cy="749808"/>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p>
        </p:txBody>
      </p:sp>
      <p:sp>
        <p:nvSpPr>
          <p:cNvPr id="30" name="Step 4"/>
          <p:cNvSpPr/>
          <p:nvPr/>
        </p:nvSpPr>
        <p:spPr>
          <a:xfrm>
            <a:off x="6108192" y="2843784"/>
            <a:ext cx="1993392" cy="749808"/>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LSP</a:t>
            </a:r>
          </a:p>
        </p:txBody>
      </p:sp>
      <p:sp>
        <p:nvSpPr>
          <p:cNvPr id="31" name="Step 5"/>
          <p:cNvSpPr/>
          <p:nvPr/>
        </p:nvSpPr>
        <p:spPr>
          <a:xfrm>
            <a:off x="8741664" y="3557015"/>
            <a:ext cx="1993392" cy="749808"/>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498848"/>
            <a:ext cx="10515600" cy="1115568"/>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1">
                <a:solidFill>
                  <a:srgbClr val="E97132"/>
                </a:solidFill>
              </a:rPr>
              <a:t>2작물 × 4처리</a:t>
            </a:r>
            <a:r>
              <a:rPr sz="1600" b="0">
                <a:solidFill>
                  <a:srgbClr val="E97132"/>
                </a:solidFill>
              </a:rPr>
              <a:t>: 대조구 · 건조 · 침수 · 복합(침수 후 건조), 침수 기간은 두 작물 모두 3일</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복합구는 침수 종료 후 침수구 관수량의 50%를 관수. 침수는 포트를 물통에 옮겨 3일간 잠기게 함. 콩은 처리 전부터 일부 뿌리가 포트 하단 배수구로 빠져나가 지면에 닿음.</a:t>
            </a:r>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로메인 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처리 개시: 정식 3주 후 (영양생장기)</a:t>
            </a:r>
          </a:p>
          <a:p>
            <a:pPr marL="201168" indent="-201168" algn="l">
              <a:spcBef>
                <a:spcPts val="600"/>
              </a:spcBef>
              <a:buFont typeface="Arial"/>
              <a:buChar char="•"/>
            </a:pPr>
            <a:r>
              <a:rPr lang="ko-KR" altLang="en-US" sz="1300" b="0" dirty="0">
                <a:solidFill>
                  <a:srgbClr val="000000"/>
                </a:solidFill>
              </a:rPr>
              <a:t>관찰: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Daewonkong</a:t>
            </a:r>
          </a:p>
          <a:p>
            <a:pPr marL="201168" indent="-201168" algn="l">
              <a:spcBef>
                <a:spcPts val="600"/>
              </a:spcBef>
              <a:buFont typeface="Arial"/>
              <a:buChar char="•"/>
            </a:pPr>
            <a:r>
              <a:rPr lang="ko-KR" altLang="en-US" sz="1300" b="0" dirty="0">
                <a:solidFill>
                  <a:srgbClr val="000000"/>
                </a:solidFill>
              </a:rPr>
              <a:t>처리 개시: 개화기</a:t>
            </a:r>
          </a:p>
          <a:p>
            <a:pPr marL="201168" indent="-201168" algn="l">
              <a:spcBef>
                <a:spcPts val="600"/>
              </a:spcBef>
              <a:buFont typeface="Arial"/>
              <a:buChar char="•"/>
            </a:pPr>
            <a:r>
              <a:rPr lang="ko-KR" altLang="en-US" sz="1300" b="0" dirty="0">
                <a:solidFill>
                  <a:srgbClr val="000000"/>
                </a:solidFill>
              </a:rPr>
              <a:t>관찰: 처리 후 55일 (DAT 0~55)</a:t>
            </a:r>
          </a:p>
        </p:txBody>
      </p:sp>
      <p:sp>
        <p:nvSpPr>
          <p:cNvPr id="33" name="Pot label"/>
          <p:cNvSpPr txBox="1"/>
          <p:nvPr/>
        </p:nvSpPr>
        <p:spPr>
          <a:xfrm>
            <a:off x="608076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4" name="Leaf"/>
          <p:cNvSpPr/>
          <p:nvPr/>
        </p:nvSpPr>
        <p:spPr>
          <a:xfrm>
            <a:off x="637336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35" name="Stem"/>
          <p:cNvSpPr/>
          <p:nvPr/>
        </p:nvSpPr>
        <p:spPr>
          <a:xfrm>
            <a:off x="666597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36" name="Soil"/>
          <p:cNvSpPr/>
          <p:nvPr/>
        </p:nvSpPr>
        <p:spPr>
          <a:xfrm flipV="1">
            <a:off x="621792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37" name="Pot"/>
          <p:cNvSpPr/>
          <p:nvPr/>
        </p:nvSpPr>
        <p:spPr>
          <a:xfrm flipV="1">
            <a:off x="615391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0" name="Leaf"/>
          <p:cNvSpPr/>
          <p:nvPr/>
        </p:nvSpPr>
        <p:spPr>
          <a:xfrm>
            <a:off x="769924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1" name="Stem"/>
          <p:cNvSpPr/>
          <p:nvPr/>
        </p:nvSpPr>
        <p:spPr>
          <a:xfrm>
            <a:off x="799185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2" name="Soil"/>
          <p:cNvSpPr/>
          <p:nvPr/>
        </p:nvSpPr>
        <p:spPr>
          <a:xfrm flipV="1">
            <a:off x="754380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43" name="Pot"/>
          <p:cNvSpPr/>
          <p:nvPr/>
        </p:nvSpPr>
        <p:spPr>
          <a:xfrm flipV="1">
            <a:off x="747979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46" name="Leaf"/>
          <p:cNvSpPr/>
          <p:nvPr/>
        </p:nvSpPr>
        <p:spPr>
          <a:xfrm>
            <a:off x="902512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7" name="Stem"/>
          <p:cNvSpPr/>
          <p:nvPr/>
        </p:nvSpPr>
        <p:spPr>
          <a:xfrm>
            <a:off x="931773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8" name="Water"/>
          <p:cNvSpPr/>
          <p:nvPr/>
        </p:nvSpPr>
        <p:spPr>
          <a:xfrm>
            <a:off x="880567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49" name="Soil"/>
          <p:cNvSpPr/>
          <p:nvPr/>
        </p:nvSpPr>
        <p:spPr>
          <a:xfrm flipV="1">
            <a:off x="886968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50" name="Pot"/>
          <p:cNvSpPr/>
          <p:nvPr/>
        </p:nvSpPr>
        <p:spPr>
          <a:xfrm flipV="1">
            <a:off x="880567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3" name="Leaf"/>
          <p:cNvSpPr/>
          <p:nvPr/>
        </p:nvSpPr>
        <p:spPr>
          <a:xfrm>
            <a:off x="1035100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54" name="Stem"/>
          <p:cNvSpPr/>
          <p:nvPr/>
        </p:nvSpPr>
        <p:spPr>
          <a:xfrm>
            <a:off x="1064361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55" name="Water"/>
          <p:cNvSpPr/>
          <p:nvPr/>
        </p:nvSpPr>
        <p:spPr>
          <a:xfrm>
            <a:off x="1013155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56" name="Soil"/>
          <p:cNvSpPr/>
          <p:nvPr/>
        </p:nvSpPr>
        <p:spPr>
          <a:xfrm flipV="1">
            <a:off x="1019556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57" name="Pot"/>
          <p:cNvSpPr/>
          <p:nvPr/>
        </p:nvSpPr>
        <p:spPr>
          <a:xfrm flipV="1">
            <a:off x="1013155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50%</a:t>
            </a:r>
          </a:p>
        </p:txBody>
      </p:sp>
      <p:sp>
        <p:nvSpPr>
          <p:cNvPr id="59" name="Site"/>
          <p:cNvSpPr txBox="1"/>
          <p:nvPr/>
        </p:nvSpPr>
        <p:spPr>
          <a:xfrm>
            <a:off x="6035040" y="4983480"/>
            <a:ext cx="5303520"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재배: 전북대학교 부속농장  ·  ET: 전날 손실된 수분량 (증발산량)</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5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5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5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500"/>
                                        <p:tgtEl>
                                          <p:spTgt spid="58"/>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5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457200"/>
          </a:xfrm>
          <a:prstGeom prst="rect">
            <a:avLst/>
          </a:prstGeom>
          <a:noFill/>
        </p:spPr>
        <p:txBody>
          <a:bodyPr wrap="square" lIns="0" tIns="0" rIns="0" bIns="0">
            <a:spAutoFit/>
          </a:bodyPr>
          <a:lstStyle/>
          <a:p>
            <a:r>
              <a:rPr sz="1800" b="1">
                <a:solidFill>
                  <a:srgbClr val="0B76A0"/>
                </a:solidFill>
              </a:rPr>
              <a:t>콩</a:t>
            </a:r>
          </a:p>
        </p:txBody>
      </p:sp>
      <p:sp>
        <p:nvSpPr>
          <p:cNvPr id="22" name="Rounded Rectangle 21"/>
          <p:cNvSpPr/>
          <p:nvPr/>
        </p:nvSpPr>
        <p:spPr>
          <a:xfrm>
            <a:off x="1920240" y="201168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100" b="1">
                <a:solidFill>
                  <a:srgbClr val="FFFFFF"/>
                </a:solidFill>
              </a:rPr>
              <a:t>건조·복합 50% 관수</a:t>
            </a:r>
          </a:p>
        </p:txBody>
      </p:sp>
      <p:sp>
        <p:nvSpPr>
          <p:cNvPr id="39" name="TextBox 38"/>
          <p:cNvSpPr txBox="1"/>
          <p:nvPr/>
        </p:nvSpPr>
        <p:spPr>
          <a:xfrm>
            <a:off x="457200" y="2697480"/>
            <a:ext cx="1371600" cy="457200"/>
          </a:xfrm>
          <a:prstGeom prst="rect">
            <a:avLst/>
          </a:prstGeom>
          <a:noFill/>
        </p:spPr>
        <p:txBody>
          <a:bodyPr wrap="square" lIns="0" tIns="0" rIns="0" bIns="0">
            <a:spAutoFit/>
          </a:bodyPr>
          <a:lstStyle/>
          <a:p>
            <a:r>
              <a:rPr sz="1800" b="1">
                <a:solidFill>
                  <a:srgbClr val="2E7D32"/>
                </a:solidFill>
              </a:rPr>
              <a:t>로메인</a:t>
            </a:r>
          </a:p>
        </p:txBody>
      </p:sp>
      <p:sp>
        <p:nvSpPr>
          <p:cNvPr id="40" name="Rounded Rectangle 39"/>
          <p:cNvSpPr/>
          <p:nvPr/>
        </p:nvSpPr>
        <p:spPr>
          <a:xfrm>
            <a:off x="1920240" y="260604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606040"/>
            <a:ext cx="2258569"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건조</a:t>
            </a:r>
            <a:r>
              <a:rPr lang="en-US" altLang="ko-KR" sz="1100" b="1" dirty="0">
                <a:solidFill>
                  <a:srgbClr val="FFFFFF"/>
                </a:solidFill>
              </a:rPr>
              <a:t>·</a:t>
            </a:r>
            <a:r>
              <a:rPr lang="ko-KR" altLang="en-US" sz="1100" b="1" dirty="0">
                <a:solidFill>
                  <a:srgbClr val="FFFFFF"/>
                </a:solidFill>
              </a:rPr>
              <a:t>복합 </a:t>
            </a:r>
            <a:r>
              <a:rPr lang="en-US" altLang="ko-KR" sz="1100" b="1" dirty="0">
                <a:solidFill>
                  <a:srgbClr val="FFFFFF"/>
                </a:solidFill>
              </a:rPr>
              <a:t>50% </a:t>
            </a:r>
            <a:r>
              <a:rPr lang="ko-KR" altLang="en-US" sz="1100" b="1" dirty="0">
                <a:solidFill>
                  <a:srgbClr val="FFFFFF"/>
                </a:solidFill>
              </a:rPr>
              <a:t>관수</a:t>
            </a:r>
          </a:p>
        </p:txBody>
      </p:sp>
      <p:sp>
        <p:nvSpPr>
          <p:cNvPr id="58" name="Conclusion Box"/>
          <p:cNvSpPr/>
          <p:nvPr/>
        </p:nvSpPr>
        <p:spPr>
          <a:xfrm>
            <a:off x="841248" y="5440680"/>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a:t>
            </a:r>
            <a:r>
              <a:rPr sz="1600" b="1">
                <a:solidFill>
                  <a:srgbClr val="E97132"/>
                </a:solidFill>
              </a:rPr>
              <a:t>침수 시작일(DAT 0)</a:t>
            </a:r>
            <a:r>
              <a:rPr sz="1600" b="0">
                <a:solidFill>
                  <a:srgbClr val="E97132"/>
                </a:solidFill>
              </a:rPr>
              <a:t>을 기준으로 정렬하여 반응을 비교</a:t>
            </a:r>
          </a:p>
        </p:txBody>
      </p:sp>
      <p:sp>
        <p:nvSpPr>
          <p:cNvPr id="59"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콩 침수 8/12~14, 50% 관수는 8/15부터. 로메인 침수 10/7~10/10 오전, 50% 관수 10/12부터. 침수 시작일 = DAT 0.</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3246120"/>
            <a:ext cx="448056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콩</a:t>
            </a:r>
          </a:p>
        </p:txBody>
      </p:sp>
      <p:sp>
        <p:nvSpPr>
          <p:cNvPr id="66" name="Rounded Rectangle 65"/>
          <p:cNvSpPr/>
          <p:nvPr/>
        </p:nvSpPr>
        <p:spPr>
          <a:xfrm>
            <a:off x="6537960" y="3246120"/>
            <a:ext cx="493776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로메인 상추</a:t>
            </a:r>
          </a:p>
        </p:txBody>
      </p:sp>
      <p:sp>
        <p:nvSpPr>
          <p:cNvPr id="67" name="Rounded Rectangle 66"/>
          <p:cNvSpPr/>
          <p:nvPr/>
        </p:nvSpPr>
        <p:spPr>
          <a:xfrm>
            <a:off x="457200" y="3675887"/>
            <a:ext cx="1371600" cy="47548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LI-600</a:t>
            </a:r>
          </a:p>
        </p:txBody>
      </p:sp>
      <p:sp>
        <p:nvSpPr>
          <p:cNvPr id="68" name="Rounded Rectangle 67"/>
          <p:cNvSpPr/>
          <p:nvPr/>
        </p:nvSpPr>
        <p:spPr>
          <a:xfrm>
            <a:off x="1920240" y="3675887"/>
            <a:ext cx="4480560" cy="475488"/>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1~9)  /  P2 : 1~2주 간격</a:t>
            </a:r>
          </a:p>
        </p:txBody>
      </p:sp>
      <p:sp>
        <p:nvSpPr>
          <p:cNvPr id="69" name="Rounded Rectangle 68"/>
          <p:cNvSpPr/>
          <p:nvPr/>
        </p:nvSpPr>
        <p:spPr>
          <a:xfrm>
            <a:off x="6537960" y="3675887"/>
            <a:ext cx="4937760" cy="475488"/>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1~10)  /  P2 : 이틀 간격</a:t>
            </a:r>
          </a:p>
        </p:txBody>
      </p:sp>
      <p:sp>
        <p:nvSpPr>
          <p:cNvPr id="70" name="Rounded Rectangle 69"/>
          <p:cNvSpPr/>
          <p:nvPr/>
        </p:nvSpPr>
        <p:spPr>
          <a:xfrm>
            <a:off x="457200" y="4206240"/>
            <a:ext cx="1371600" cy="47548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LI-6800</a:t>
            </a:r>
          </a:p>
        </p:txBody>
      </p:sp>
      <p:sp>
        <p:nvSpPr>
          <p:cNvPr id="71" name="Rounded Rectangle 70"/>
          <p:cNvSpPr/>
          <p:nvPr/>
        </p:nvSpPr>
        <p:spPr>
          <a:xfrm>
            <a:off x="1920240" y="4206240"/>
            <a:ext cx="4480560" cy="475488"/>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P2 : 9월 중순  /  (9/2~9/17, DAT 21~36)</a:t>
            </a:r>
          </a:p>
        </p:txBody>
      </p:sp>
      <p:sp>
        <p:nvSpPr>
          <p:cNvPr id="72" name="Rounded Rectangle 71"/>
          <p:cNvSpPr/>
          <p:nvPr/>
        </p:nvSpPr>
        <p:spPr>
          <a:xfrm>
            <a:off x="6537960" y="4206240"/>
            <a:ext cx="4937760" cy="475488"/>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P1~P2 : 10월 중순  /  (10/16~10/19, DAT 9~12)</a:t>
            </a:r>
          </a:p>
        </p:txBody>
      </p:sp>
      <p:sp>
        <p:nvSpPr>
          <p:cNvPr id="73" name="Rounded Rectangle 72"/>
          <p:cNvSpPr/>
          <p:nvPr/>
        </p:nvSpPr>
        <p:spPr>
          <a:xfrm>
            <a:off x="457200" y="4736592"/>
            <a:ext cx="1371600" cy="47548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생육 조사</a:t>
            </a:r>
          </a:p>
        </p:txBody>
      </p:sp>
      <p:sp>
        <p:nvSpPr>
          <p:cNvPr id="74" name="Rounded Rectangle 73"/>
          <p:cNvSpPr/>
          <p:nvPr/>
        </p:nvSpPr>
        <p:spPr>
          <a:xfrm>
            <a:off x="1920240" y="4736592"/>
            <a:ext cx="4480560" cy="475488"/>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9/1 (DAT 20), 10/6 (DAT 55)</a:t>
            </a:r>
          </a:p>
        </p:txBody>
      </p:sp>
      <p:sp>
        <p:nvSpPr>
          <p:cNvPr id="75" name="Rounded Rectangle 74"/>
          <p:cNvSpPr/>
          <p:nvPr/>
        </p:nvSpPr>
        <p:spPr>
          <a:xfrm>
            <a:off x="6537960" y="4736592"/>
            <a:ext cx="4937760" cy="475488"/>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10/23 (DAT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통계: 측정일·PAR·기온 보정 평균 + 침수 × 관수 이원 ANOVA·Tukey</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P1 = 침수 시작~종료 후 7일(콩 DAT 1~9, 로메인 DAT 1~10), P2 = 이후. LI-600 값 = PAR·기온 보정 평균 (Ali et al., 2025; Gao et al., 2024). 생육은 전 개체 사용.</a:t>
            </a:r>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dirty="0" baseline="-2500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포로미터, 처리 개시 후 반복 측정, PAR·기온 보정 (Ali et al., 2025; Gao et al., 2024)</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dirty="0" baseline="-25000">
                <a:solidFill>
                  <a:srgbClr val="000000"/>
                </a:solidFill>
              </a:rPr>
              <a:t>PSII</a:t>
            </a:r>
            <a:r>
              <a:rPr lang="ko-KR" altLang="en-US" sz="1400" b="1" dirty="0">
                <a:solidFill>
                  <a:srgbClr val="000000"/>
                </a:solidFill>
              </a:rPr>
              <a:t>, F</a:t>
            </a:r>
            <a:r>
              <a:rPr lang="ko-KR" altLang="en-US" sz="1400" b="1" dirty="0" baseline="-25000">
                <a:solidFill>
                  <a:srgbClr val="000000"/>
                </a:solidFill>
              </a:rPr>
              <a:t>s</a:t>
            </a:r>
            <a:r>
              <a:rPr lang="ko-KR" altLang="en-US" sz="1400" b="1" dirty="0">
                <a:solidFill>
                  <a:srgbClr val="000000"/>
                </a:solidFill>
              </a:rPr>
              <a:t>, ETR</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명적응 형광, PAR·기온 보정 (Ali et al., 2025; Gao et al., 2024)</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dirty="0" baseline="-25000">
                <a:solidFill>
                  <a:srgbClr val="000000"/>
                </a:solidFill>
              </a:rPr>
              <a:t>cmax</a:t>
            </a:r>
            <a:r>
              <a:rPr lang="ko-KR" altLang="en-US" sz="1400" b="1" dirty="0">
                <a:solidFill>
                  <a:srgbClr val="000000"/>
                </a:solidFill>
              </a:rPr>
              <a:t>, J</a:t>
            </a:r>
            <a:r>
              <a:rPr lang="ko-KR" altLang="en-US" sz="1400" b="1" dirty="0" baseline="-25000">
                <a:solidFill>
                  <a:srgbClr val="000000"/>
                </a:solidFill>
              </a:rPr>
              <a:t>max</a:t>
            </a:r>
            <a:r>
              <a:rPr lang="ko-KR" altLang="en-US" sz="1400" b="1" dirty="0">
                <a:solidFill>
                  <a:srgbClr val="000000"/>
                </a:solidFill>
              </a:rPr>
              <a:t>, R</a:t>
            </a:r>
            <a:r>
              <a:rPr lang="ko-KR" altLang="en-US" sz="1400" b="1" dirty="0" baseline="-25000">
                <a:solidFill>
                  <a:srgbClr val="000000"/>
                </a:solidFill>
              </a:rPr>
              <a:t>d</a:t>
            </a:r>
            <a:r>
              <a:rPr lang="ko-KR" altLang="en-US" sz="1400" b="1" dirty="0">
                <a:solidFill>
                  <a:srgbClr val="000000"/>
                </a:solidFill>
              </a:rPr>
              <a:t>, A–PPFD (LSP)</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 A-Ci (FvCB), 광-광합성 곡선 (NRH 모형, LSP)</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100립 생체중, 종실 건조중, 지상부 건물중</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파괴 조사 (로메인 DAT 16, 콩 DAT 20·55)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로드셀·포트 무게 : 관수량, 누적 증산량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감수 관수는 실현됨 — 로메인 침수구는 과습으로 관수가 적었고 콩은 뿌리 이탈 가능성</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관수: 포트에 들어간 누적 관수량(대조구 대비), 콩 8/16~10/6, 로메인 10/12~10/22. 누적 증산량 = 일 증산량(전날 관수 후 − 당일 관수 전 무게)의 합; 콩은 로드셀 mm × 38.01 g/mm, 결측일 선형 보간, 로메인은 증산량·관수량 시트(DAT 6~16 평균).</a:t>
            </a:r>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(로메인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(로메인 · 콩, 대조구 대비)</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누적 관수량은 건조 43%·침수 56%·복합 37%, 누적 증산량은 건조 72%·침수 84%·복합 74% (대조구 대비, DAT 6~16)</a:t>
            </a:r>
          </a:p>
          <a:p>
            <a:pPr marL="201168" indent="-201168" algn="l">
              <a:spcBef>
                <a:spcPts val="1000"/>
              </a:spcBef>
              <a:buFont typeface="Arial"/>
              <a:buChar char="•"/>
            </a:pPr>
            <a:r>
              <a:rPr lang="ko-KR" altLang="en-US" sz="1400" dirty="0">
                <a:solidFill>
                  <a:srgbClr val="000000"/>
                </a:solidFill>
              </a:rPr>
              <a:t>콩:  누적 관수량은 건조 40%·침수 87%·복합 44%, 누적 증산량은 건조 50%·침수 88% (로드셀, DAT 4~54, 복합구 자료 없음)</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(g</a:t>
            </a:r>
            <a:r>
              <a:rPr lang="ko-KR" altLang="en-US" sz="2800" dirty="0" baseline="-25000"/>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14231821"/>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0.353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0.355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0.264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0.155 ab</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0.215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0.249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0.113 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0.264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0.346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0.255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0.161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0.226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0.237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0.144 ab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P1:</a:t>
            </a:r>
            <a:r>
              <a:rPr sz="1400">
                <a:solidFill>
                  <a:srgbClr val="000000"/>
                </a:solidFill>
              </a:rPr>
              <a:t> 침수구 0.26이 대조구 0.35보다 낮음</a:t>
            </a:r>
          </a:p>
          <a:p>
            <a:pPr marL="201168" indent="-201168">
              <a:spcBef>
                <a:spcPts val="0"/>
              </a:spcBef>
              <a:buFont typeface="Arial"/>
              <a:buChar char="•"/>
            </a:pPr>
            <a:r>
              <a:rPr sz="1400" b="1">
                <a:solidFill>
                  <a:srgbClr val="000000"/>
                </a:solidFill>
              </a:rPr>
              <a:t>콩 P2:</a:t>
            </a:r>
            <a:r>
              <a:rPr sz="1400">
                <a:solidFill>
                  <a:srgbClr val="000000"/>
                </a:solidFill>
              </a:rPr>
              <a:t> 건조·복합구 0.22~0.23이 대조구·침수구 0.35보다 낮음</a:t>
            </a:r>
          </a:p>
          <a:p>
            <a:pPr marL="201168" indent="-201168">
              <a:spcBef>
                <a:spcPts val="0"/>
              </a:spcBef>
              <a:buFont typeface="Arial"/>
              <a:buChar char="•"/>
            </a:pPr>
            <a:r>
              <a:rPr sz="1400" b="1">
                <a:solidFill>
                  <a:srgbClr val="000000"/>
                </a:solidFill>
              </a:rPr>
              <a:t>로메인 P1:</a:t>
            </a:r>
            <a:r>
              <a:rPr sz="1400">
                <a:solidFill>
                  <a:srgbClr val="000000"/>
                </a:solidFill>
              </a:rPr>
              <a:t> 침수 중 DAT 3에 대조구의 10%까지 급감했으나 DAT 5부터 대조구 수준으로 회복</a:t>
            </a:r>
          </a:p>
          <a:p>
            <a:pPr marL="201168" indent="-201168">
              <a:spcBef>
                <a:spcPts val="0"/>
              </a:spcBef>
              <a:buFont typeface="Arial"/>
              <a:buChar char="•"/>
            </a:pPr>
            <a:r>
              <a:rPr sz="1400">
                <a:solidFill>
                  <a:srgbClr val="000000"/>
                </a:solidFill>
              </a:rPr>
              <a:t>로메인 P2:  건조구 0.113이 침수구 0.161보다 낮음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a:t>
            </a:r>
            <a:r>
              <a:rPr sz="1600" b="1">
                <a:solidFill>
                  <a:srgbClr val="E97132"/>
                </a:solidFill>
              </a:rPr>
              <a:t>차이는 회복 속도에서 나타남</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PAR·기온 보정 평균, Tukey 문자. 그림: 보정 일평균, 음영 ± SE, 회색 띠 흐린 날, * 당일 P&lt;0.05(Holm).</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회복 (g</a:t>
            </a:r>
            <a:r>
              <a:rPr lang="ko-KR" altLang="en-US" sz="2800" dirty="0" baseline="-25000"/>
              <a:t>sw</a:t>
            </a:r>
            <a:r>
              <a:rPr lang="ko-KR" altLang="en-US" sz="2800" dirty="0"/>
              <a:t>, % of control)</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3일 침수에도 로메인은 배수 2~3일 만에 회복, 콩은 DAT 9까지 회복되지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각 처리 g</a:t>
            </a:r>
            <a:r>
              <a:rPr sz="1000" baseline="-25000">
                <a:solidFill>
                  <a:srgbClr val="595959"/>
                </a:solidFill>
              </a:rPr>
              <a:t>sw</a:t>
            </a:r>
            <a:r>
              <a:rPr sz="1000">
                <a:solidFill>
                  <a:srgbClr val="595959"/>
                </a:solidFill>
              </a:rPr>
              <a:t> ÷ 같은 날 대조구 g</a:t>
            </a:r>
            <a:r>
              <a:rPr sz="1000" baseline="-25000">
                <a:solidFill>
                  <a:srgbClr val="595959"/>
                </a:solidFill>
              </a:rPr>
              <a:t>sw</a:t>
            </a:r>
            <a:r>
              <a:rPr sz="1000">
                <a:solidFill>
                  <a:srgbClr val="595959"/>
                </a:solidFill>
              </a:rPr>
              <a:t> × 100 (PAR·기온 보정 일평균). * 대조 vs 처리 P&lt;0.05(Welch t, Holm 보정). 건조·복합은 회색. 콩 DAT 10~16은 측정 없음, 콩 건조·복합은 DAT 17부터 측정.</a:t>
            </a:r>
          </a:p>
        </p:txBody>
      </p:sp>
      <p:pic>
        <p:nvPicPr>
          <p:cNvPr id="27" name="Picture 26" descr="image.png"/>
          <p:cNvPicPr>
            <a:picLocks noChangeAspect="1"/>
          </p:cNvPicPr>
          <p:nvPr/>
        </p:nvPicPr>
        <p:blipFill>
          <a:blip r:embed="rId5"/>
          <a:stretch>
            <a:fillRect/>
          </a:stretch>
        </p:blipFill>
        <p:spPr>
          <a:xfrm>
            <a:off x="457200" y="1261872"/>
            <a:ext cx="7040880" cy="3200399"/>
          </a:xfrm>
          <a:prstGeom prst="rect">
            <a:avLst/>
          </a:prstGeom>
        </p:spPr>
      </p:pic>
      <p:sp>
        <p:nvSpPr>
          <p:cNvPr id="28" name="Recovery text"/>
          <p:cNvSpPr txBox="1"/>
          <p:nvPr/>
        </p:nvSpPr>
        <p:spPr>
          <a:xfrm>
            <a:off x="841248" y="4553712"/>
            <a:ext cx="6492240" cy="109728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250" b="1" dirty="0">
                <a:solidFill>
                  <a:srgbClr val="000000"/>
                </a:solidFill>
              </a:rPr>
              <a:t>로메인:</a:t>
            </a:r>
            <a:r>
              <a:rPr lang="ko-KR" altLang="en-US" sz="1250" dirty="0">
                <a:solidFill>
                  <a:srgbClr val="000000"/>
                </a:solidFill>
              </a:rPr>
              <a:t> 침수 DAT 3에 대조구의 10%까지 낮아졌다가 DAT 5~6(87~98%)에 대조구 수준으로 회복</a:t>
            </a:r>
          </a:p>
          <a:p>
            <a:pPr marL="201168" indent="-201168" algn="l">
              <a:spcBef>
                <a:spcPts val="600"/>
              </a:spcBef>
              <a:buFont typeface="Arial"/>
              <a:buChar char="•"/>
            </a:pPr>
            <a:r>
              <a:rPr lang="ko-KR" altLang="en-US" sz="1250" b="1" dirty="0">
                <a:solidFill>
                  <a:srgbClr val="000000"/>
                </a:solidFill>
              </a:rPr>
              <a:t>콩:</a:t>
            </a:r>
            <a:r>
              <a:rPr lang="ko-KR" altLang="en-US" sz="1250" dirty="0">
                <a:solidFill>
                  <a:srgbClr val="000000"/>
                </a:solidFill>
              </a:rPr>
              <a:t> 침수 종료 6일 후(DAT 9)에도 52%였고 DAT 17 86%, DAT 23 99%에 회복</a:t>
            </a:r>
          </a:p>
        </p:txBody>
      </p:sp>
      <p:sp>
        <p:nvSpPr>
          <p:cNvPr id="29" name="Stat box"/>
          <p:cNvSpPr/>
          <p:nvPr/>
        </p:nvSpPr>
        <p:spPr>
          <a:xfrm>
            <a:off x="7863840" y="1417320"/>
            <a:ext cx="3493008" cy="18745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0" name="Stat value"/>
          <p:cNvSpPr txBox="1"/>
          <p:nvPr/>
        </p:nvSpPr>
        <p:spPr>
          <a:xfrm>
            <a:off x="7909560" y="149047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400" dirty="0">
                <a:solidFill>
                  <a:srgbClr val="2E6B3F"/>
                </a:solidFill>
              </a:rPr>
              <a:t>2~3일</a:t>
            </a:r>
          </a:p>
        </p:txBody>
      </p:sp>
      <p:sp>
        <p:nvSpPr>
          <p:cNvPr id="31" name="Stat label"/>
          <p:cNvSpPr txBox="1"/>
          <p:nvPr/>
        </p:nvSpPr>
        <p:spPr>
          <a:xfrm>
            <a:off x="7936992" y="254203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로메인: 배수 후 대조구 수준까지 회복</a:t>
            </a:r>
          </a:p>
        </p:txBody>
      </p:sp>
      <p:sp>
        <p:nvSpPr>
          <p:cNvPr id="32" name="Stat box"/>
          <p:cNvSpPr/>
          <p:nvPr/>
        </p:nvSpPr>
        <p:spPr>
          <a:xfrm>
            <a:off x="7863840" y="3611880"/>
            <a:ext cx="3493008" cy="18745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3" name="Stat value"/>
          <p:cNvSpPr txBox="1"/>
          <p:nvPr/>
        </p:nvSpPr>
        <p:spPr>
          <a:xfrm>
            <a:off x="7909560" y="368503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000" dirty="0">
                <a:solidFill>
                  <a:srgbClr val="6B4226"/>
                </a:solidFill>
              </a:rPr>
              <a:t>DAT 9: 52%</a:t>
            </a:r>
          </a:p>
        </p:txBody>
      </p:sp>
      <p:sp>
        <p:nvSpPr>
          <p:cNvPr id="34" name="Stat label"/>
          <p:cNvSpPr txBox="1"/>
          <p:nvPr/>
        </p:nvSpPr>
        <p:spPr>
          <a:xfrm>
            <a:off x="7936992" y="473659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sp>
        <p:nvSpPr>
          <p:cNvPr id="4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2"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광계 II 양자수율 (Φ</a:t>
            </a:r>
            <a:r>
              <a:rPr lang="ko-KR" altLang="en-US" sz="2800" dirty="0" baseline="-25000"/>
              <a:t>PSII</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pic>
        <p:nvPicPr>
          <p:cNvPr id="14" name="Picture 13" descr="image.png"/>
          <p:cNvPicPr>
            <a:picLocks noChangeAspect="1"/>
          </p:cNvPicPr>
          <p:nvPr/>
        </p:nvPicPr>
        <p:blipFill>
          <a:blip r:embed="rId5"/>
          <a:stretch>
            <a:fillRect/>
          </a:stretch>
        </p:blipFill>
        <p:spPr>
          <a:xfrm>
            <a:off x="771006" y="1188720"/>
            <a:ext cx="6276107" cy="2510443"/>
          </a:xfrm>
          <a:prstGeom prst="rect">
            <a:avLst/>
          </a:prstGeom>
        </p:spPr>
      </p:pic>
      <p:graphicFrame>
        <p:nvGraphicFramePr>
          <p:cNvPr id="8" name="Table 7"/>
          <p:cNvGraphicFramePr>
            <a:graphicFrameLocks noGrp="1"/>
          </p:cNvGraphicFramePr>
          <p:nvPr/>
        </p:nvGraphicFramePr>
        <p:xfrm>
          <a:off x="457200" y="3790000"/>
          <a:ext cx="6858000" cy="1420416"/>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0.704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0.696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0.611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0.645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0.609 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0.595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0.649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0.679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0.660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0.591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0.642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0.631 bc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0.585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0.655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 0.679가 대조구 0.704보다 낮음</a:t>
            </a:r>
          </a:p>
          <a:p>
            <a:pPr marL="201168" indent="-201168">
              <a:spcBef>
                <a:spcPts val="0"/>
              </a:spcBef>
              <a:buFont typeface="Arial"/>
              <a:buChar char="•"/>
            </a:pPr>
            <a:r>
              <a:rPr sz="1400" b="1">
                <a:solidFill>
                  <a:srgbClr val="000000"/>
                </a:solidFill>
              </a:rPr>
              <a:t>콩 P2:</a:t>
            </a:r>
            <a:r>
              <a:rPr sz="1400">
                <a:solidFill>
                  <a:srgbClr val="000000"/>
                </a:solidFill>
              </a:rPr>
              <a:t> 건조구 0.609가 가장 낮고 대조구 0.696과 차이를 보임 (복합 0.631, 침수 0.660)</a:t>
            </a:r>
          </a:p>
          <a:p>
            <a:pPr marL="201168" indent="-201168">
              <a:spcBef>
                <a:spcPts val="0"/>
              </a:spcBef>
              <a:buFont typeface="Arial"/>
              <a:buChar char="•"/>
            </a:pPr>
            <a:r>
              <a:rPr sz="1400">
                <a:solidFill>
                  <a:srgbClr val="000000"/>
                </a:solidFill>
              </a:rPr>
              <a:t>로메인:  P1 0.585~0.611, P2 0.642~0.655로 4처리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건조구에서 Φ</a:t>
            </a:r>
            <a:r>
              <a:rPr sz="1600" baseline="-25000">
                <a:solidFill>
                  <a:srgbClr val="E97132"/>
                </a:solidFill>
              </a:rPr>
              <a:t>PSII</a:t>
            </a:r>
            <a:r>
              <a:rPr sz="1600">
                <a:solidFill>
                  <a:srgbClr val="E97132"/>
                </a:solidFill>
              </a:rPr>
              <a:t>가 낮았고, 로메인은 처리 간 차이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측정일·PAR·기온 보정 평균, Tukey 문자. P2는 PPFD 수준을 나누지 않고 통합하여 분석. 그림: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 (V</a:t>
            </a:r>
            <a:r>
              <a:rPr lang="ko-KR" altLang="en-US" sz="2800" dirty="0" baseline="-25000"/>
              <a:t>cmax</a:t>
            </a:r>
            <a:r>
              <a:rPr lang="ko-KR" altLang="en-US" sz="2800" dirty="0"/>
              <a:t>, J</a:t>
            </a:r>
            <a:r>
              <a:rPr lang="ko-KR" altLang="en-US" sz="2800" dirty="0" baseline="-25000"/>
              <a:t>max</a:t>
            </a:r>
            <a:r>
              <a:rPr lang="ko-KR" altLang="en-US" sz="2800" dirty="0"/>
              <a:t>, R</a:t>
            </a:r>
            <a:r>
              <a:rPr lang="ko-KR" altLang="en-US" sz="2800" dirty="0" baseline="-25000"/>
              <a:t>d</a:t>
            </a:r>
            <a:r>
              <a:rPr lang="ko-KR" altLang="en-US" sz="2800" dirty="0"/>
              <a:t>, A–PPFD)</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pic>
        <p:nvPicPr>
          <p:cNvPr id="14" name="Picture 13" descr="image.png"/>
          <p:cNvPicPr>
            <a:picLocks noChangeAspect="1"/>
          </p:cNvPicPr>
          <p:nvPr/>
        </p:nvPicPr>
        <p:blipFill>
          <a:blip r:embed="rId5"/>
          <a:stretch>
            <a:fillRect/>
          </a:stretch>
        </p:blipFill>
        <p:spPr>
          <a:xfrm>
            <a:off x="807720" y="1199097"/>
            <a:ext cx="6339840" cy="2926080"/>
          </a:xfrm>
          <a:prstGeom prst="rect">
            <a:avLst/>
          </a:prstGeom>
        </p:spPr>
      </p:pic>
      <p:graphicFrame>
        <p:nvGraphicFramePr>
          <p:cNvPr id="8" name="Table 7"/>
          <p:cNvGraphicFramePr>
            <a:graphicFrameLocks noGrp="1"/>
          </p:cNvGraphicFramePr>
          <p:nvPr/>
        </p:nvGraphicFramePr>
        <p:xfrm>
          <a:off x="457200" y="4160520"/>
          <a:ext cx="6903720" cy="1481328"/>
        </p:xfrm>
        <a:graphic>
          <a:graphicData uri="http://schemas.openxmlformats.org/drawingml/2006/table">
            <a:tbl>
              <a:tblPr>
                <a:tableStyleId>{2D5ABB26-0587-4C30-8999-92F81FD0307C}</a:tableStyleId>
              </a:tblPr>
              <a:tblGrid>
                <a:gridCol w="13258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4"/>
                    </a:ext>
                  </a:extLst>
                </a:gridCol>
              </a:tblGrid>
              <a:tr h="246888">
                <a:tc>
                  <a:txBody>
                    <a:bodyPr/>
                    <a:lstStyle/>
                    <a:p>
                      <a:pPr algn="l"/>
                      <a:r>
                        <a:rPr sz="1050" b="1">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V</a:t>
                      </a:r>
                      <a:r>
                        <a:rPr sz="1050" b="1" baseline="-25000">
                          <a:solidFill>
                            <a:srgbClr val="000000"/>
                          </a:solidFill>
                        </a:rPr>
                        <a:t>cmax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J</a:t>
                      </a:r>
                      <a:r>
                        <a:rPr sz="1050" b="1" baseline="-25000">
                          <a:solidFill>
                            <a:srgbClr val="000000"/>
                          </a:solidFill>
                        </a:rPr>
                        <a:t>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LSP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 V</a:t>
                      </a:r>
                      <a:r>
                        <a:rPr sz="1050" b="1" baseline="-25000">
                          <a:solidFill>
                            <a:srgbClr val="000000"/>
                          </a:solidFill>
                        </a:rPr>
                        <a:t>cmax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c>
                  <a:txBody>
                    <a:bodyPr/>
                    <a:lstStyle/>
                    <a:p>
                      <a:pPr algn="ctr"/>
                      <a:r>
                        <a:rPr sz="1050" b="1">
                          <a:solidFill>
                            <a:srgbClr val="000000"/>
                          </a:solidFill>
                        </a:rPr>
                        <a:t>Rom J</a:t>
                      </a:r>
                      <a:r>
                        <a:rPr sz="1050" b="1" baseline="-25000">
                          <a:solidFill>
                            <a:srgbClr val="000000"/>
                          </a:solidFill>
                        </a:rPr>
                        <a:t>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 LSP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r>
              <a:tr h="246888">
                <a:tc>
                  <a:txBody>
                    <a:bodyPr/>
                    <a:lstStyle/>
                    <a:p>
                      <a:pPr algn="l"/>
                      <a:r>
                        <a:rPr sz="1050" b="0">
                          <a:solidFill>
                            <a:srgbClr val="000000"/>
                          </a:solidFill>
                        </a:rPr>
                        <a:t>Pre-treatment</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60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83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576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98</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c>
                  <a:txBody>
                    <a:bodyPr/>
                    <a:lstStyle/>
                    <a:p>
                      <a:pPr algn="ctr"/>
                      <a:r>
                        <a:rPr sz="1050" b="0">
                          <a:solidFill>
                            <a:srgbClr val="000000"/>
                          </a:solidFill>
                        </a:rPr>
                        <a:t>173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572</a:t>
                      </a:r>
                    </a:p>
                  </a:txBody>
                  <a:tcPr marL="54864" marR="54864" marT="18288" marB="18288" anchor="ctr">
                    <a:lnL w="12700">
                      <a:noFill/>
                    </a:lnL>
                    <a:lnR w="12700">
                      <a:noFill/>
                    </a:lnR>
                    <a:lnT w="9525" cap="flat" cmpd="sng" algn="ctr">
                      <a:solidFill>
                        <a:srgbClr val="000000"/>
                      </a:solidFill>
                      <a:prstDash val="solid"/>
                    </a:lnT>
                    <a:lnB w="12700">
                      <a:noFill/>
                    </a:lnB>
                    <a:noFill/>
                  </a:tcPr>
                </a:tc>
              </a:tr>
              <a:tr h="246888">
                <a:tc>
                  <a:txBody>
                    <a:bodyPr/>
                    <a:lstStyle/>
                    <a:p>
                      <a:pPr algn="l"/>
                      <a:r>
                        <a:rPr sz="1050" b="0">
                          <a:solidFill>
                            <a:srgbClr val="000000"/>
                          </a:solidFill>
                        </a:rPr>
                        <a:t>Control</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90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150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561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104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c>
                  <a:txBody>
                    <a:bodyPr/>
                    <a:lstStyle/>
                    <a:p>
                      <a:pPr algn="ctr"/>
                      <a:r>
                        <a:rPr sz="1050" b="0">
                          <a:solidFill>
                            <a:srgbClr val="000000"/>
                          </a:solidFill>
                        </a:rPr>
                        <a:t>200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1350</a:t>
                      </a:r>
                    </a:p>
                  </a:txBody>
                  <a:tcPr marL="54864" marR="54864" marT="18288" marB="18288" anchor="ctr">
                    <a:lnL w="12700">
                      <a:noFill/>
                    </a:lnL>
                    <a:lnR w="12700">
                      <a:noFill/>
                    </a:lnR>
                    <a:lnT w="12700">
                      <a:noFill/>
                    </a:lnT>
                    <a:lnB w="12700">
                      <a:noFill/>
                    </a:lnB>
                    <a:noFill/>
                  </a:tcPr>
                </a:tc>
              </a:tr>
              <a:tr h="246888">
                <a:tc>
                  <a:txBody>
                    <a:bodyPr/>
                    <a:lstStyle/>
                    <a:p>
                      <a:pPr algn="l"/>
                      <a:r>
                        <a:rPr sz="105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68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104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816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94 ab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c>
                  <a:txBody>
                    <a:bodyPr/>
                    <a:lstStyle/>
                    <a:p>
                      <a:pPr algn="ctr"/>
                      <a:r>
                        <a:rPr sz="1050" b="0">
                          <a:solidFill>
                            <a:srgbClr val="000000"/>
                          </a:solidFill>
                        </a:rPr>
                        <a:t>175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1151</a:t>
                      </a:r>
                    </a:p>
                  </a:txBody>
                  <a:tcPr marL="54864" marR="54864" marT="18288" marB="18288" anchor="ctr">
                    <a:lnL w="12700">
                      <a:noFill/>
                    </a:lnL>
                    <a:lnR w="12700">
                      <a:noFill/>
                    </a:lnR>
                    <a:lnT w="12700">
                      <a:noFill/>
                    </a:lnT>
                    <a:lnB w="12700">
                      <a:noFill/>
                    </a:lnB>
                    <a:noFill/>
                  </a:tcPr>
                </a:tc>
              </a:tr>
              <a:tr h="246888">
                <a:tc>
                  <a:txBody>
                    <a:bodyPr/>
                    <a:lstStyle/>
                    <a:p>
                      <a:pPr algn="l"/>
                      <a:r>
                        <a:rPr sz="1050" b="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85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144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549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88 ab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c>
                  <a:txBody>
                    <a:bodyPr/>
                    <a:lstStyle/>
                    <a:p>
                      <a:pPr algn="ctr"/>
                      <a:r>
                        <a:rPr sz="1050" b="0">
                          <a:solidFill>
                            <a:srgbClr val="000000"/>
                          </a:solidFill>
                        </a:rPr>
                        <a:t>168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1981</a:t>
                      </a:r>
                    </a:p>
                  </a:txBody>
                  <a:tcPr marL="54864" marR="54864" marT="18288" marB="18288" anchor="ctr">
                    <a:lnL w="12700">
                      <a:noFill/>
                    </a:lnL>
                    <a:lnR w="12700">
                      <a:noFill/>
                    </a:lnR>
                    <a:lnT w="12700">
                      <a:noFill/>
                    </a:lnT>
                    <a:lnB w="12700">
                      <a:noFill/>
                    </a:lnB>
                    <a:noFill/>
                  </a:tcPr>
                </a:tc>
              </a:tr>
              <a:tr h="246888">
                <a:tc>
                  <a:txBody>
                    <a:bodyPr/>
                    <a:lstStyle/>
                    <a:p>
                      <a:pPr algn="l"/>
                      <a:r>
                        <a:rPr sz="1050" b="0">
                          <a:solidFill>
                            <a:srgbClr val="000000"/>
                          </a:solidFill>
                        </a:rPr>
                        <a:t>Combined</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75 ab</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120 b</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690 ab</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73 b</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c>
                  <a:txBody>
                    <a:bodyPr/>
                    <a:lstStyle/>
                    <a:p>
                      <a:pPr algn="ctr"/>
                      <a:r>
                        <a:rPr sz="1050" b="0">
                          <a:solidFill>
                            <a:srgbClr val="000000"/>
                          </a:solidFill>
                        </a:rPr>
                        <a:t>142 b</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841</a:t>
                      </a:r>
                    </a:p>
                  </a:txBody>
                  <a:tcPr marL="54864" marR="54864" marT="18288" marB="18288" anchor="ctr">
                    <a:lnL w="12700">
                      <a:noFill/>
                    </a:lnL>
                    <a:lnR w="12700">
                      <a:noFill/>
                    </a:lnR>
                    <a:lnT w="12700">
                      <a:noFill/>
                    </a:lnT>
                    <a:lnB w="19050" cap="flat" cmpd="sng" algn="ctr">
                      <a:solidFill>
                        <a:srgbClr val="000000"/>
                      </a:solidFill>
                      <a:prstDash val="solid"/>
                    </a:lnB>
                    <a:noFill/>
                  </a:tcPr>
                </a:tc>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a:t>
            </a:r>
            <a:r>
              <a:rPr sz="1400">
                <a:solidFill>
                  <a:srgbClr val="000000"/>
                </a:solidFill>
              </a:rPr>
              <a:t> 건조구의 V</a:t>
            </a:r>
            <a:r>
              <a:rPr sz="1400" baseline="-25000">
                <a:solidFill>
                  <a:srgbClr val="000000"/>
                </a:solidFill>
              </a:rPr>
              <a:t>cmax</a:t>
            </a:r>
            <a:r>
              <a:rPr sz="1400">
                <a:solidFill>
                  <a:srgbClr val="000000"/>
                </a:solidFill>
              </a:rPr>
              <a:t> 68·J</a:t>
            </a:r>
            <a:r>
              <a:rPr sz="1400" baseline="-25000">
                <a:solidFill>
                  <a:srgbClr val="000000"/>
                </a:solidFill>
              </a:rPr>
              <a:t>max</a:t>
            </a:r>
            <a:r>
              <a:rPr sz="1400">
                <a:solidFill>
                  <a:srgbClr val="000000"/>
                </a:solidFill>
              </a:rPr>
              <a:t> 104가 대조구 90·150보다 낮고, LSP는 건조구가 816으로 대조구 561보다 높음</a:t>
            </a:r>
          </a:p>
          <a:p>
            <a:pPr marL="201168" indent="-201168">
              <a:spcBef>
                <a:spcPts val="0"/>
              </a:spcBef>
              <a:buFont typeface="Arial"/>
              <a:buChar char="•"/>
            </a:pPr>
            <a:r>
              <a:rPr sz="1400">
                <a:solidFill>
                  <a:srgbClr val="000000"/>
                </a:solidFill>
              </a:rPr>
              <a:t>로메인:</a:t>
            </a:r>
            <a:r>
              <a:rPr sz="1400">
                <a:solidFill>
                  <a:srgbClr val="000000"/>
                </a:solidFill>
              </a:rPr>
              <a:t> 복합구의 V</a:t>
            </a:r>
            <a:r>
              <a:rPr sz="1400" baseline="-25000">
                <a:solidFill>
                  <a:srgbClr val="000000"/>
                </a:solidFill>
              </a:rPr>
              <a:t>cmax</a:t>
            </a:r>
            <a:r>
              <a:rPr sz="1400">
                <a:solidFill>
                  <a:srgbClr val="000000"/>
                </a:solidFill>
              </a:rPr>
              <a:t> 73·J</a:t>
            </a:r>
            <a:r>
              <a:rPr sz="1400" baseline="-25000">
                <a:solidFill>
                  <a:srgbClr val="000000"/>
                </a:solidFill>
              </a:rPr>
              <a:t>max</a:t>
            </a:r>
            <a:r>
              <a:rPr sz="1400">
                <a:solidFill>
                  <a:srgbClr val="000000"/>
                </a:solidFill>
              </a:rPr>
              <a:t> 142가 대조구 104·200보다 낮고, LSP는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건조·복합구(9월)와 로메인 복합구(10월)에서 V</a:t>
            </a:r>
            <a:r>
              <a:rPr sz="1600" baseline="-25000">
                <a:solidFill>
                  <a:srgbClr val="E97132"/>
                </a:solidFill>
              </a:rPr>
              <a:t>cmax</a:t>
            </a:r>
            <a:r>
              <a:rPr sz="1600">
                <a:solidFill>
                  <a:srgbClr val="E97132"/>
                </a:solidFill>
              </a:rPr>
              <a:t>·J</a:t>
            </a:r>
            <a:r>
              <a:rPr sz="1600" baseline="-25000">
                <a:solidFill>
                  <a:srgbClr val="E97132"/>
                </a:solidFill>
              </a:rPr>
              <a:t>max</a:t>
            </a:r>
            <a:r>
              <a:rPr sz="1600">
                <a:solidFill>
                  <a:srgbClr val="E97132"/>
                </a:solidFill>
              </a:rPr>
              <a:t>가 낮은 경향 — 측정일 교락으로 확정은 어려움</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상자: 사분위(n≥4), 가로선: 평균 ± SE(n&lt;4), 점: 개별 곡선, 문자: Tukey(ANOVA P&lt;0.05일 때만). 곡선: NRH 모형 평균, ▼ = LSP(Q80), 로메인 1,500 초과는 외삽(점선). 콩 9/2~9/17, 로메인 10/16~19 측정으로 처리와 측정일이 교락됨.</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 감소 경향이나 유의차 없음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평균 (대조구 대비 %), 건조·침수·복합 순. 로메인 10/23(DAT 16) 처리당 8~9주, 콩 10/6(DAT 55, R6~R7) 파괴조사 n=6~9. 그림: 평균 ± SE, 문자 Tukey(ANOVA P&lt;0.05일 때만). 100립 생체중 = 20립 표본 생체중 ÷ 종실 수 × 100.</a:t>
            </a:r>
          </a:p>
        </p:txBody>
      </p:sp>
      <p:pic>
        <p:nvPicPr>
          <p:cNvPr id="27" name="Picture 26" descr="image.png"/>
          <p:cNvPicPr>
            <a:picLocks noChangeAspect="1"/>
          </p:cNvPicPr>
          <p:nvPr/>
        </p:nvPicPr>
        <p:blipFill>
          <a:blip r:embed="rId5"/>
          <a:stretch>
            <a:fillRect/>
          </a:stretch>
        </p:blipFill>
        <p:spPr>
          <a:xfrm>
            <a:off x="658368" y="1143000"/>
            <a:ext cx="6638544" cy="1982941"/>
          </a:xfrm>
          <a:prstGeom prst="rect">
            <a:avLst/>
          </a:prstGeom>
        </p:spPr>
      </p:pic>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지상부 건물중이 건조 −16%, 침수 −34%, 복합 −43% 감소하고 생체중도 −29·−26·−38% 감소 (DAT 16)</a:t>
            </a:r>
          </a:p>
          <a:p>
            <a:pPr marL="201168" indent="-201168" algn="l">
              <a:spcBef>
                <a:spcPts val="1000"/>
              </a:spcBef>
              <a:buFont typeface="Arial"/>
              <a:buChar char="•"/>
            </a:pPr>
            <a:r>
              <a:rPr lang="ko-KR" altLang="en-US" sz="1400" dirty="0">
                <a:solidFill>
                  <a:srgbClr val="000000"/>
                </a:solidFill>
              </a:rPr>
              <a:t>콩:  100립 생체중은 −5·−9·−1%, 종실 건조중은 −4·−9·−18%로 감소하는 경향이나 처리 간 유의한 차이 없음 (DAT 55)</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nvGraphicFramePr>
        <p:xfrm>
          <a:off x="457200" y="3401568"/>
          <a:ext cx="7040879" cy="209854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233172">
                <a:tc>
                  <a:txBody>
                    <a:bodyPr/>
                    <a:lstStyle/>
                    <a:p>
                      <a:pPr algn="l"/>
                      <a:r>
                        <a:rPr sz="800" b="1" dirty="0">
                          <a:solidFill>
                            <a:srgbClr val="000000"/>
                          </a:solidFill>
                        </a:rPr>
                        <a:t>Crop · variable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Control</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Drought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Waterlog.</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Combined</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r>
                        <a:rPr sz="800" b="0">
                          <a:solidFill>
                            <a:srgbClr val="000000"/>
                          </a:solidFill>
                        </a:rPr>
                        <a:t>Romaine DAT 16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r>
                        <a:rPr sz="800" b="0">
                          <a:solidFill>
                            <a:srgbClr val="000000"/>
                          </a:solidFill>
                        </a:rPr>
                        <a:t>Shoot FW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90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63 (−29%)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66 (−26%)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55 (−38%)</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r>
                        <a:rPr lang="en-US" sz="800" b="0" dirty="0">
                          <a:solidFill>
                            <a:srgbClr val="000000"/>
                          </a:solidFill>
                        </a:rPr>
                        <a:t>Shoot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5.4 (−16%)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4.3 (−34%)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3.7 (−43%)</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r>
                        <a:rPr lang="en-US" sz="800" b="0" dirty="0">
                          <a:solidFill>
                            <a:srgbClr val="000000"/>
                          </a:solidFill>
                        </a:rPr>
                        <a:t>Soybean DAT 55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Seed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66 (−4%)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63 (−9%)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57 (−18%)</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Seed no.</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354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334 (−6%)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326 (−8%)</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300 (−15%)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Pod no.</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170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162 (−5%)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163 (−4%)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144 (−15%)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100-seed FW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57 (−5%)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55 (−9%)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59 (−1%)</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종합 : 지표별 반응 (대조구 대비)</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수량(100립 생체중) 감소 −1~9%에 그침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 큰 감소 · ↓ 감소 · – 차이 없음. ④ 대조구 대비 %: 로메인 지상부 건물중(DAT 16), 콩 생육 = 지상부 생체중(잎+줄기), 수량 = 100립 생체중(DAT 55). 생화학은 콩 9월·로메인 10월 곡선(측정일 교락).</a:t>
            </a: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dirty="0" baseline="-2500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dirty="0" baseline="-25000">
                <a:solidFill>
                  <a:srgbClr val="000000"/>
                </a:solidFill>
              </a:rPr>
              <a:t>PSII</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생화학</a:t>
            </a:r>
          </a:p>
          <a:p>
            <a:pPr marL="0" indent="0" algn="ctr">
              <a:spcBef>
                <a:spcPts val="0"/>
              </a:spcBef>
              <a:buNone/>
            </a:pPr>
            <a:r>
              <a:rPr lang="ko-KR" altLang="en-US" sz="1050" b="0" dirty="0">
                <a:solidFill>
                  <a:srgbClr val="FFFFFF"/>
                </a:solidFill>
              </a:rPr>
              <a:t>V</a:t>
            </a:r>
            <a:r>
              <a:rPr lang="ko-KR" altLang="en-US" sz="1050" b="0" dirty="0" baseline="-25000">
                <a:solidFill>
                  <a:srgbClr val="FFFFFF"/>
                </a:solidFill>
              </a:rPr>
              <a:t>cmax</a:t>
            </a:r>
            <a:r>
              <a:rPr lang="ko-KR" altLang="en-US" sz="1050" b="0" dirty="0">
                <a:solidFill>
                  <a:srgbClr val="FFFFFF"/>
                </a:solidFill>
              </a:rPr>
              <a:t> · J</a:t>
            </a:r>
            <a:r>
              <a:rPr lang="ko-KR" altLang="en-US" sz="1050" b="0" dirty="0" baseline="-25000">
                <a:solidFill>
                  <a:srgbClr val="FFFFFF"/>
                </a:solidFill>
              </a:rPr>
              <a:t>max</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대조구 대비 %</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39%)</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건물중 −16%</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(측정일 교락)</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−34%</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dirty="0" baseline="-2500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−43%</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(P2)</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a:t>
            </a:r>
            <a:r>
              <a:rPr lang="ko-KR" altLang="en-US" sz="1200" dirty="0" baseline="-25000">
                <a:solidFill>
                  <a:srgbClr val="000000"/>
                </a:solidFill>
              </a:rPr>
              <a:t>cmax</a:t>
            </a:r>
            <a:r>
              <a:rPr lang="ko-KR" altLang="en-US" sz="1200" dirty="0">
                <a:solidFill>
                  <a:srgbClr val="000000"/>
                </a:solidFill>
              </a:rPr>
              <a:t>·J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60" name="Cell"/>
          <p:cNvSpPr/>
          <p:nvPr/>
        </p:nvSpPr>
        <p:spPr>
          <a:xfrm>
            <a:off x="905256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−35%</a:t>
            </a:r>
          </a:p>
          <a:p>
            <a:pPr marL="0" indent="0" algn="ctr">
              <a:spcBef>
                <a:spcPts val="0"/>
              </a:spcBef>
              <a:buNone/>
            </a:pPr>
            <a:r>
              <a:rPr lang="ko-KR" altLang="en-US" sz="1200" dirty="0">
                <a:solidFill>
                  <a:srgbClr val="7F7F7F"/>
                </a:solidFill>
              </a:rPr>
              <a:t>수량 −4%</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(P1)</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−28%</a:t>
            </a:r>
          </a:p>
          <a:p>
            <a:pPr marL="0" indent="0" algn="ctr">
              <a:spcBef>
                <a:spcPts val="0"/>
              </a:spcBef>
              <a:buNone/>
            </a:pPr>
            <a:r>
              <a:rPr lang="ko-KR" altLang="en-US" sz="950" dirty="0">
                <a:solidFill>
                  <a:srgbClr val="7F7F7F"/>
                </a:solidFill>
              </a:rPr>
              <a:t>수량 −9%</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(P2)</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−19%</a:t>
            </a:r>
          </a:p>
          <a:p>
            <a:pPr marL="0" indent="0" algn="ctr">
              <a:spcBef>
                <a:spcPts val="0"/>
              </a:spcBef>
              <a:buNone/>
            </a:pPr>
            <a:r>
              <a:rPr lang="ko-KR" altLang="en-US" sz="950" dirty="0">
                <a:solidFill>
                  <a:srgbClr val="7F7F7F"/>
                </a:solidFill>
              </a:rPr>
              <a:t>수량 −1%</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5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5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5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fade">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500"/>
                                        <p:tgtEl>
                                          <p:spTgt spid="3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0"/>
                                        </p:tgtEl>
                                        <p:attrNameLst>
                                          <p:attrName>style.visibility</p:attrName>
                                        </p:attrNameLst>
                                      </p:cBhvr>
                                      <p:to>
                                        <p:strVal val="visible"/>
                                      </p:to>
                                    </p:set>
                                    <p:animEffect transition="in" filter="fade">
                                      <p:cBhvr>
                                        <p:cTn id="152" dur="500"/>
                                        <p:tgtEl>
                                          <p:spTgt spid="6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0"/>
                                        <p:tgtEl>
                                          <p:spTgt spid="6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fade">
                                      <p:cBhvr>
                                        <p:cTn id="158" dur="500"/>
                                        <p:tgtEl>
                                          <p:spTgt spid="7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콩 (기공 → 명반응 → 광합성 능력 → 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건조·복합은 회색. Tan et al. 2018 J Plant Physiol; Haverroth et al. 2024 Plant Physiol; Buckley 2019 New Phytol; Yeung et al. 2018 PNAS; Sasidharan et al. 2018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bean.png"/>
          <p:cNvPicPr>
            <a:picLocks noChangeAspect="1"/>
          </p:cNvPicPr>
          <p:nvPr/>
        </p:nvPicPr>
        <p:blipFill>
          <a:blip r:embed="rId4"/>
          <a:stretch>
            <a:fillRect/>
          </a:stretch>
        </p:blipFill>
        <p:spPr>
          <a:xfrm>
            <a:off x="502920" y="1874519"/>
            <a:ext cx="11155680" cy="3108960"/>
          </a:xfrm>
          <a:prstGeom prst="rect">
            <a:avLst/>
          </a:prstGeom>
        </p:spPr>
      </p:pic>
      <p:sp>
        <p:nvSpPr>
          <p:cNvPr id="58" name="Rounded Rectangle 57"/>
          <p:cNvSpPr/>
          <p:nvPr/>
        </p:nvSpPr>
        <p:spPr>
          <a:xfrm>
            <a:off x="71871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251606"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518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5984747"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18500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a:t>
            </a:r>
          </a:p>
        </p:txBody>
      </p:sp>
      <p:sp>
        <p:nvSpPr>
          <p:cNvPr id="63" name="Right Arrow 62"/>
          <p:cNvSpPr/>
          <p:nvPr/>
        </p:nvSpPr>
        <p:spPr>
          <a:xfrm>
            <a:off x="871788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91814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수량</a:t>
            </a:r>
          </a:p>
          <a:p>
            <a:pPr algn="ctr"/>
            <a:r>
              <a:rPr sz="1050">
                <a:solidFill>
                  <a:srgbClr val="FFFFFF"/>
                </a:solidFill>
              </a:rPr>
              <a:t>100립 생체중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18</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회복이 빠르나 생육 감소, 콩은 회복이 느리나 수량 차이 작음 — 반응은 작물마다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로메인은 배수 2~3일 후(DAT 5~6) 대조구 수준으로 회복했고, 콩은 배수 6일 후(DAT 9)에도 대조구의 52%였으며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로메인은 Φ</a:t>
            </a:r>
            <a:r>
              <a:rPr lang="ko-KR" altLang="en-US" sz="1300" dirty="0" baseline="-25000">
                <a:solidFill>
                  <a:srgbClr val="000000"/>
                </a:solidFill>
              </a:rPr>
              <a:t>PSII</a:t>
            </a:r>
            <a:r>
              <a:rPr lang="ko-KR" altLang="en-US" sz="1300" dirty="0">
                <a:solidFill>
                  <a:srgbClr val="000000"/>
                </a:solidFill>
              </a:rPr>
              <a:t>에 처리 차이가 없었고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는 복합구에서 낮은 경향(측정일 교락)이었다. 콩은 건조구에서 Φ</a:t>
            </a:r>
            <a:r>
              <a:rPr lang="ko-KR" altLang="en-US" sz="1300" dirty="0" baseline="-25000">
                <a:solidFill>
                  <a:srgbClr val="000000"/>
                </a:solidFill>
              </a:rPr>
              <a:t>PSII</a:t>
            </a:r>
            <a:r>
              <a:rPr lang="ko-KR" altLang="en-US" sz="1300" dirty="0">
                <a:solidFill>
                  <a:srgbClr val="000000"/>
                </a:solidFill>
              </a:rPr>
              <a:t>(P2)와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가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로메인은 기공이 회복되었는데도 침수 기간의 손실이 유지되어 지상부 건물중이 감소했다(건조 −16%, 침수 −34%, 복합 −43%). 콩은 수량(100립 생체중)이 1~9% 감소하는 경향이었으나 처리 간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dirty="0" baseline="-2500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이유: 같은 날에도 처리 간 PAR·기온이 달랐음 (콩 8/13 PAR 970 vs 632, 기온 33.3 vs 34.0 °C; 로메인 PAR 약 30~1,250)</a:t>
            </a:r>
          </a:p>
          <a:p>
            <a:pPr marL="201168" indent="-201168">
              <a:spcBef>
                <a:spcPts val="0"/>
              </a:spcBef>
              <a:buFont typeface="Arial"/>
              <a:buChar char="•"/>
            </a:pPr>
            <a:r>
              <a:rPr sz="1400" b="0">
                <a:solidFill>
                  <a:srgbClr val="000000"/>
                </a:solidFill>
              </a:rPr>
              <a:t>모형: y = μ + 처리 + 측정일 + β</a:t>
            </a:r>
            <a:r>
              <a:rPr sz="1400" b="0" baseline="-25000">
                <a:solidFill>
                  <a:srgbClr val="000000"/>
                </a:solidFill>
              </a:rPr>
              <a:t>1</a:t>
            </a:r>
            <a:r>
              <a:rPr sz="1400" b="0">
                <a:solidFill>
                  <a:srgbClr val="000000"/>
                </a:solidFill>
              </a:rPr>
              <a:t>·Q</a:t>
            </a:r>
            <a:r>
              <a:rPr sz="1400" b="0" baseline="-25000">
                <a:solidFill>
                  <a:srgbClr val="000000"/>
                </a:solidFill>
              </a:rPr>
              <a:t>amb</a:t>
            </a:r>
            <a:r>
              <a:rPr sz="1400" b="0">
                <a:solidFill>
                  <a:srgbClr val="000000"/>
                </a:solidFill>
              </a:rPr>
              <a:t> + β</a:t>
            </a:r>
            <a:r>
              <a:rPr sz="1400" b="0" baseline="-25000">
                <a:solidFill>
                  <a:srgbClr val="000000"/>
                </a:solidFill>
              </a:rPr>
              <a:t>2</a:t>
            </a:r>
            <a:r>
              <a:rPr sz="1400" b="0">
                <a:solidFill>
                  <a:srgbClr val="000000"/>
                </a:solidFill>
              </a:rPr>
              <a:t>·T</a:t>
            </a:r>
            <a:r>
              <a:rPr sz="1400" b="0" baseline="-25000">
                <a:solidFill>
                  <a:srgbClr val="000000"/>
                </a:solidFill>
              </a:rPr>
              <a:t>air</a:t>
            </a:r>
            <a:r>
              <a:rPr sz="1400" b="0">
                <a:solidFill>
                  <a:srgbClr val="000000"/>
                </a:solidFill>
              </a:rPr>
              <a:t> + ε (Ali et al., 2025; Gao et al., 2024)</a:t>
            </a:r>
          </a:p>
          <a:p>
            <a:pPr marL="201168" indent="-201168">
              <a:spcBef>
                <a:spcPts val="0"/>
              </a:spcBef>
              <a:buFont typeface="Arial"/>
              <a:buChar char="•"/>
            </a:pPr>
            <a:r>
              <a:rPr sz="1400" b="0">
                <a:solidFill>
                  <a:srgbClr val="000000"/>
                </a:solidFill>
              </a:rPr>
              <a:t>선형 PAR이 AIC 최소, Φ</a:t>
            </a:r>
            <a:r>
              <a:rPr sz="1400" b="0" baseline="-25000">
                <a:solidFill>
                  <a:srgbClr val="000000"/>
                </a:solidFill>
              </a:rPr>
              <a:t>PSII</a:t>
            </a:r>
            <a:r>
              <a:rPr sz="1400" b="0">
                <a:solidFill>
                  <a:srgbClr val="000000"/>
                </a:solidFill>
              </a:rPr>
              <a:t>는 PAR 100당 콩 −0.022, 로메인 −0.029 감소, 기온 기울기는 비유의</a:t>
            </a:r>
          </a:p>
          <a:p>
            <a:pPr marL="201168" indent="-201168">
              <a:spcBef>
                <a:spcPts val="0"/>
              </a:spcBef>
              <a:buFont typeface="Arial"/>
              <a:buChar char="•"/>
            </a:pPr>
            <a:r>
              <a:rPr sz="1400" b="0">
                <a:solidFill>
                  <a:srgbClr val="000000"/>
                </a:solidFill>
              </a:rPr>
              <a:t>로메인: g</a:t>
            </a:r>
            <a:r>
              <a:rPr sz="1400" b="0" baseline="-25000">
                <a:solidFill>
                  <a:srgbClr val="000000"/>
                </a:solidFill>
              </a:rPr>
              <a:t>sw</a:t>
            </a:r>
            <a:r>
              <a:rPr sz="1400" b="0">
                <a:solidFill>
                  <a:srgbClr val="000000"/>
                </a:solidFill>
              </a:rPr>
              <a:t>·Φ</a:t>
            </a:r>
            <a:r>
              <a:rPr sz="1400" b="0" baseline="-25000">
                <a:solidFill>
                  <a:srgbClr val="000000"/>
                </a:solidFill>
              </a:rPr>
              <a:t>PSII</a:t>
            </a:r>
            <a:r>
              <a:rPr sz="1400" b="0">
                <a:solidFill>
                  <a:srgbClr val="000000"/>
                </a:solidFill>
              </a:rPr>
              <a:t>·F</a:t>
            </a:r>
            <a:r>
              <a:rPr sz="1400" b="0" baseline="-25000">
                <a:solidFill>
                  <a:srgbClr val="000000"/>
                </a:solidFill>
              </a:rPr>
              <a:t>s</a:t>
            </a:r>
            <a:r>
              <a:rPr sz="1400" b="0">
                <a:solidFill>
                  <a:srgbClr val="000000"/>
                </a:solidFill>
              </a:rPr>
              <a:t>·ETR 모두 PAR만 보정과 PAR+기온 보정의 판정이 같음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90195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r>
                        <a:rPr sz="1050" b="1">
                          <a:solidFill>
                            <a:srgbClr val="000000"/>
                          </a:solidFill>
                        </a:rPr>
                        <a:t>A (PPFD 1500)</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Soybean</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Romaine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r>
                        <a:rPr sz="1050" b="0">
                          <a:solidFill>
                            <a:srgbClr val="000000"/>
                          </a:solidFill>
                        </a:rPr>
                        <a:t>Pre-treatment</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12.9</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22.6</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r>
                        <a:rPr sz="1050" b="0">
                          <a:solidFill>
                            <a:srgbClr val="000000"/>
                          </a:solidFill>
                        </a:rPr>
                        <a:t>Control</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16.4</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r>
                        <a:rPr sz="105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16.7</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r>
                        <a:rPr sz="1050" b="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12.5</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21.2</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r>
                        <a:rPr sz="1050" b="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15.8</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17.7</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1737360"/>
          </a:xfrm>
          <a:prstGeom prst="rect">
            <a:avLst/>
          </a:prstGeom>
          <a:noFill/>
        </p:spPr>
        <p:txBody>
          <a:bodyPr wrap="square">
            <a:spAutoFit/>
          </a:bodyPr>
          <a:lstStyle/>
          <a:p>
            <a:pPr marL="201168" indent="-201168">
              <a:buFont typeface="Arial"/>
              <a:buChar char="•"/>
            </a:pPr>
            <a:r>
              <a:rPr sz="1100" b="0">
                <a:solidFill>
                  <a:srgbClr val="000000"/>
                </a:solidFill>
              </a:rPr>
              <a:t>PPFD 8개 수준 모두에서 처리 간 유의차 없음</a:t>
            </a:r>
          </a:p>
          <a:p>
            <a:pPr marL="201168" indent="-201168">
              <a:buFont typeface="Arial"/>
              <a:buChar char="•"/>
            </a:pPr>
            <a:r>
              <a:rPr sz="1100" b="0">
                <a:solidFill>
                  <a:srgbClr val="000000"/>
                </a:solidFill>
              </a:rPr>
              <a:t>처리 전 곡선은 콩에서 처리 후보다 낮고(약 13), 로메인은 처리 전 약 23으로 처리 후(18~21)보다 높음</a:t>
            </a:r>
          </a:p>
          <a:p>
            <a:pPr marL="201168" indent="-201168">
              <a:buFont typeface="Arial"/>
              <a:buChar char="•"/>
            </a:pPr>
            <a:r>
              <a:rPr sz="1100" b="0">
                <a:solidFill>
                  <a:srgbClr val="000000"/>
                </a:solidFill>
              </a:rPr>
              <a:t>콩 침수구 12.5는 대조구 16.4보다 낮은 경향, 로메인 복합구 17.7도 낮은 경향</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값: 평균 ± SE (µmol CO</a:t>
            </a:r>
            <a:r>
              <a:rPr sz="1000" b="0" baseline="-25000">
                <a:solidFill>
                  <a:srgbClr val="595959"/>
                </a:solidFill>
              </a:rPr>
              <a:t>2</a:t>
            </a:r>
            <a:r>
              <a:rPr sz="1000" b="0">
                <a:solidFill>
                  <a:srgbClr val="595959"/>
                </a:solidFill>
              </a:rPr>
              <a:t> m</a:t>
            </a:r>
            <a:r>
              <a:rPr sz="1000" b="0" baseline="30000">
                <a:solidFill>
                  <a:srgbClr val="595959"/>
                </a:solidFill>
              </a:rPr>
              <a:t>−2</a:t>
            </a:r>
            <a:r>
              <a:rPr sz="1000" b="0">
                <a:solidFill>
                  <a:srgbClr val="595959"/>
                </a:solidFill>
              </a:rPr>
              <a:t>·s</a:t>
            </a:r>
            <a:r>
              <a:rPr sz="1000" b="0" baseline="30000">
                <a:solidFill>
                  <a:srgbClr val="595959"/>
                </a:solidFill>
              </a:rPr>
              <a:t>−1</a:t>
            </a:r>
            <a:r>
              <a:rPr sz="1000" b="0">
                <a:solidFill>
                  <a:srgbClr val="595959"/>
                </a:solidFill>
              </a:rPr>
              <a:t>). 콩 처리 전 7/22~23(3곡선), 로메인 처리 전 10/4(3곡선), 처리 후 처리당 3곡선(10/16~19). PPFD 수준별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dirty="0" baseline="-25000"/>
              <a:t>s</a:t>
            </a:r>
            <a:r>
              <a:rPr lang="ko-KR" altLang="en-US" sz="2800" dirty="0"/>
              <a:t>)</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129 b</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113 b</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157.3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142.1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161.0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141.8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139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131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158.0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141.6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134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161.6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144.5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F</a:t>
            </a:r>
            <a:r>
              <a:rPr sz="1400" baseline="-25000">
                <a:solidFill>
                  <a:srgbClr val="000000"/>
                </a:solidFill>
              </a:rPr>
              <a:t>s</a:t>
            </a:r>
            <a:r>
              <a:rPr sz="1400">
                <a:solidFill>
                  <a:srgbClr val="000000"/>
                </a:solidFill>
              </a:rPr>
              <a:t>: 콩 118, 로메인 154</a:t>
            </a:r>
          </a:p>
          <a:p>
            <a:pPr marL="201168" indent="-201168">
              <a:spcBef>
                <a:spcPts val="700"/>
              </a:spcBef>
              <a:buFont typeface="Arial"/>
              <a:buChar char="•"/>
            </a:pPr>
            <a:r>
              <a:rPr sz="1400">
                <a:solidFill>
                  <a:srgbClr val="000000"/>
                </a:solidFill>
              </a:rPr>
              <a:t>콩 P1 침수 139 &gt; 대조구 129, P2 건조·침수·복합 131~134 &gt; 대조구 113</a:t>
            </a:r>
          </a:p>
          <a:p>
            <a:pPr marL="201168" indent="-201168">
              <a:spcBef>
                <a:spcPts val="700"/>
              </a:spcBef>
              <a:buFont typeface="Arial"/>
              <a:buChar char="•"/>
            </a:pPr>
            <a:r>
              <a:rPr sz="1400">
                <a:solidFill>
                  <a:srgbClr val="000000"/>
                </a:solidFill>
              </a:rPr>
              <a:t>로메인 P1 155~162, P2 142~145로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 그림(보정 일평균):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26</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119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190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141.7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75.6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146 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137.8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78.3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110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180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132.7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72.7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165 bc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130.1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80.4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ETR: 콩 187</a:t>
            </a:r>
          </a:p>
          <a:p>
            <a:pPr marL="201168" indent="-201168">
              <a:spcBef>
                <a:spcPts val="700"/>
              </a:spcBef>
              <a:buFont typeface="Arial"/>
              <a:buChar char="•"/>
            </a:pPr>
            <a:r>
              <a:rPr sz="1400">
                <a:solidFill>
                  <a:srgbClr val="000000"/>
                </a:solidFill>
              </a:rPr>
              <a:t>콩 P1 대조구 119 &gt; 침수 110, P2 대조구 190 &gt; 복합 165 &gt; 건조 146</a:t>
            </a:r>
          </a:p>
          <a:p>
            <a:pPr marL="201168" indent="-201168">
              <a:spcBef>
                <a:spcPts val="700"/>
              </a:spcBef>
              <a:buFont typeface="Arial"/>
              <a:buChar char="•"/>
            </a:pPr>
            <a:r>
              <a:rPr sz="1400">
                <a:solidFill>
                  <a:srgbClr val="000000"/>
                </a:solidFill>
              </a:rPr>
              <a:t>로메인 P1 대조구 142 &gt; 침수 133·복합 130 경향, P2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27</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08/13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10:31–11:01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348</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0.61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08/14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10:19–10:36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08/15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08:31–08:40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08/16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08:43–08:57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08/17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08:37–08:51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08/18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08:54–09:05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08/19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09:42–10:01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08/20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09:32–09:45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162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08/21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08:18–08:25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08/29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11:39–12:32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76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09/04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10:25–11:02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09/11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10:16–10:43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09/25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09:19–09:59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10/02</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10:25–11:06</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338</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0.92</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로메인 상추</a:t>
            </a: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10/06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10:20–10:22</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214</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0.50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10/08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09:29–09:36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10/09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10:53–10:59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10/10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09:44–09:53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10/11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11:17–11:28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0.74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10/12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10:36–10:57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484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10/13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09:33–10:06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10/14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09:28–09:53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10/15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09:31–09:51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10/16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09:40–09:56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10/17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08:59–09:33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10/19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08:28–09:27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10/21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09:47–10:04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10/23</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09:33–09:55</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0.95</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a:solidFill>
                  <a:srgbClr val="595959"/>
                </a:solidFill>
              </a:rPr>
              <a:t>CI = 측정 구간 평균 SW / 같은 시각대 ±10일 90분위수 SW(맑은 날 기준). 날짜별 예외 없이 한 규칙으로 통일. 로메인 10/13은 SW 자료가 4분뿐(결측).</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기상 센서 : 기온, 일적산광량 (DLI)</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저온·중간 일사 조건에서 처리되어 증발산 부하와 건조 스트레스 강도가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밭콩: CR1000X 기상 센서, 로메인: 26번 온실 환경 데이터(CR300; 10/13·10/18 결측일 제외). 로메인 DLI = 일사량(MJ) × 2.02 mol/MJ 추정. 점선 = 침수 시작일.</a:t>
            </a:r>
          </a:p>
        </p:txBody>
      </p:sp>
      <p:pic>
        <p:nvPicPr>
          <p:cNvPr id="27" name="Picture 26" descr="image.png"/>
          <p:cNvPicPr>
            <a:picLocks noChangeAspect="1"/>
          </p:cNvPicPr>
          <p:nvPr/>
        </p:nvPicPr>
        <p:blipFill>
          <a:blip r:embed="rId2"/>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(로메인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dirty="0" baseline="30000">
                <a:solidFill>
                  <a:srgbClr val="595959"/>
                </a:solidFill>
              </a:rPr>
              <a:t>−2</a:t>
            </a:r>
            <a:r>
              <a:rPr lang="ko-KR" altLang="en-US" sz="1100" b="0" dirty="0">
                <a:solidFill>
                  <a:srgbClr val="595959"/>
                </a:solidFill>
              </a:rPr>
              <a:t>·d</a:t>
            </a:r>
            <a:r>
              <a:rPr lang="ko-KR" altLang="en-US" sz="1100" b="0" dirty="0" baseline="30000">
                <a:solidFill>
                  <a:srgbClr val="595959"/>
                </a:solidFill>
              </a:rPr>
              <a:t>−1</a:t>
            </a:r>
            <a:r>
              <a:rPr lang="ko-KR" altLang="en-US" sz="1100" b="0" dirty="0">
                <a:solidFill>
                  <a:srgbClr val="595959"/>
                </a:solidFill>
              </a:rPr>
              <a:t>, 로메인 vs 콩 DAT 0~16)</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처리 기간(10/7~10/23) 평균 기온 18.2 °C, DLI 17.5 mol·m</a:t>
            </a:r>
            <a:r>
              <a:rPr lang="ko-KR" altLang="en-US" sz="1400" dirty="0" baseline="30000">
                <a:solidFill>
                  <a:srgbClr val="000000"/>
                </a:solidFill>
              </a:rPr>
              <a:t>−2</a:t>
            </a:r>
            <a:r>
              <a:rPr lang="ko-KR" altLang="en-US" sz="1400" dirty="0">
                <a:solidFill>
                  <a:srgbClr val="000000"/>
                </a:solidFill>
              </a:rPr>
              <a:t>·d</a:t>
            </a:r>
            <a:r>
              <a:rPr lang="ko-KR" altLang="en-US" sz="1400" dirty="0" baseline="30000">
                <a:solidFill>
                  <a:srgbClr val="000000"/>
                </a:solidFill>
              </a:rPr>
              <a:t>−1</a:t>
            </a:r>
            <a:r>
              <a:rPr lang="ko-KR" altLang="en-US" sz="1400" dirty="0">
                <a:solidFill>
                  <a:srgbClr val="000000"/>
                </a:solidFill>
              </a:rPr>
              <a:t>로 저온·중간 일사 조건</a:t>
            </a:r>
          </a:p>
          <a:p>
            <a:pPr marL="201168" indent="-201168" algn="l">
              <a:spcBef>
                <a:spcPts val="1000"/>
              </a:spcBef>
              <a:buFont typeface="Arial"/>
              <a:buChar char="•"/>
            </a:pPr>
            <a:r>
              <a:rPr lang="ko-KR" altLang="en-US" sz="1400" dirty="0">
                <a:solidFill>
                  <a:srgbClr val="000000"/>
                </a:solidFill>
              </a:rPr>
              <a:t>콩:  처리 초기(DAT 0~16) 평균 기온 28.4 °C, DLI 22.0 mol·m</a:t>
            </a:r>
            <a:r>
              <a:rPr lang="ko-KR" altLang="en-US" sz="1400" dirty="0" baseline="30000">
                <a:solidFill>
                  <a:srgbClr val="000000"/>
                </a:solidFill>
              </a:rPr>
              <a:t>−2</a:t>
            </a:r>
            <a:r>
              <a:rPr lang="ko-KR" altLang="en-US" sz="1400" dirty="0">
                <a:solidFill>
                  <a:srgbClr val="000000"/>
                </a:solidFill>
              </a:rPr>
              <a:t>·d</a:t>
            </a:r>
            <a:r>
              <a:rPr lang="ko-KR" altLang="en-US" sz="1400" dirty="0" baseline="30000">
                <a:solidFill>
                  <a:srgbClr val="000000"/>
                </a:solidFill>
              </a:rPr>
              <a:t>−1</a:t>
            </a:r>
            <a:r>
              <a:rPr lang="ko-KR" altLang="en-US" sz="1400" dirty="0">
                <a:solidFill>
                  <a:srgbClr val="000000"/>
                </a:solidFill>
              </a:rPr>
              <a:t>로 로메인보다 약 10 °C 높은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로메인 상추 (기공 → 명반응 → 광합성 능력 → 건물중)</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 상추는 회복이 빨랐지만 침수 기간 동안의 손실이 유지됨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건조·복합은 회색. Körner 2015 Curr Opin Plant Biol 25:107; Tardieu et al. 2018 Annu Rev Plant Biol; Haverroth et al. 2024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lettuce.png"/>
          <p:cNvPicPr>
            <a:picLocks noChangeAspect="1"/>
          </p:cNvPicPr>
          <p:nvPr/>
        </p:nvPicPr>
        <p:blipFill>
          <a:blip r:embed="rId2"/>
          <a:stretch>
            <a:fillRect/>
          </a:stretch>
        </p:blipFill>
        <p:spPr>
          <a:xfrm>
            <a:off x="502920" y="1874519"/>
            <a:ext cx="11155680" cy="3108960"/>
          </a:xfrm>
          <a:prstGeom prst="rect">
            <a:avLst/>
          </a:prstGeom>
        </p:spPr>
      </p:pic>
      <p:sp>
        <p:nvSpPr>
          <p:cNvPr id="58" name="Rounded Rectangle 57"/>
          <p:cNvSpPr/>
          <p:nvPr/>
        </p:nvSpPr>
        <p:spPr>
          <a:xfrm>
            <a:off x="71871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251606"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518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5984747"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18500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a:t>
            </a:r>
          </a:p>
        </p:txBody>
      </p:sp>
      <p:sp>
        <p:nvSpPr>
          <p:cNvPr id="63" name="Right Arrow 62"/>
          <p:cNvSpPr/>
          <p:nvPr/>
        </p:nvSpPr>
        <p:spPr>
          <a:xfrm>
            <a:off x="871788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91814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생육</a:t>
            </a:r>
          </a:p>
          <a:p>
            <a:pPr algn="ctr"/>
            <a:r>
              <a:rPr sz="1050">
                <a:solidFill>
                  <a:srgbClr val="FFFFFF"/>
                </a:solidFill>
              </a:rPr>
              <a:t>지상부 건물중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