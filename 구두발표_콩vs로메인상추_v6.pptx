
<file path=[Content_Types].xml><?xml version="1.0" encoding="utf-8"?>
<Types xmlns="http://schemas.openxmlformats.org/package/2006/content-types">
  <Default Extension="jpeg" ContentType="image/jpeg"/>
  <Default Extension="png" ContentType="image/png"/>
  <Default Extension="png&amp;w=3840&amp;q=75"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
  </p:notesMasterIdLst>
  <p:sldIdLst>
    <p:sldId id="256" r:id="rId2"/>
    <p:sldId id="415" r:id="rId3"/>
    <p:sldId id="416" r:id="rId4"/>
    <p:sldId id="392" r:id="rId5"/>
    <p:sldId id="373" r:id="rId6"/>
    <p:sldId id="393" r:id="rId7"/>
    <p:sldId id="412" r:id="rId8"/>
    <p:sldId id="394" r:id="rId9"/>
    <p:sldId id="376" r:id="rId10"/>
    <p:sldId id="395" r:id="rId11"/>
    <p:sldId id="377" r:id="rId12"/>
    <p:sldId id="381" r:id="rId13"/>
    <p:sldId id="397" r:id="rId14"/>
    <p:sldId id="398" r:id="rId15"/>
    <p:sldId id="399" r:id="rId16"/>
    <p:sldId id="413" r:id="rId17"/>
    <p:sldId id="400" r:id="rId18"/>
    <p:sldId id="301" r:id="rId19"/>
    <p:sldId id="401" r:id="rId20"/>
    <p:sldId id="407" r:id="rId21"/>
    <p:sldId id="383" r:id="rId22"/>
    <p:sldId id="378" r:id="rId23"/>
    <p:sldId id="379" r:id="rId24"/>
    <p:sldId id="375" r:id="rId25"/>
    <p:sldId id="414" r:id="rId26"/>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F5738"/>
    <a:srgbClr val="76502F"/>
    <a:srgbClr val="7E5635"/>
    <a:srgbClr val="7A5431"/>
    <a:srgbClr val="6B4226"/>
    <a:srgbClr val="0F9ED5"/>
    <a:srgbClr val="136331"/>
    <a:srgbClr val="1E3A8A"/>
    <a:srgbClr val="991B1B"/>
    <a:srgbClr val="8D711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1273" autoAdjust="0"/>
  </p:normalViewPr>
  <p:slideViewPr>
    <p:cSldViewPr snapToGrid="0">
      <p:cViewPr varScale="1">
        <p:scale>
          <a:sx n="110" d="100"/>
          <a:sy n="110" d="100"/>
        </p:scale>
        <p:origin x="630" y="114"/>
      </p:cViewPr>
      <p:guideLst>
        <p:guide orient="horz" pos="2160"/>
        <p:guide pos="384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윤정민" userId="6b15c765-da21-42d7-95fe-61eaef7495af" providerId="ADAL" clId="{5C7C66C6-67D0-439D-9B00-412197ADBF19}"/>
    <pc:docChg chg="undo custSel addSld delSld modSld sldOrd">
      <pc:chgData name="윤정민" userId="6b15c765-da21-42d7-95fe-61eaef7495af" providerId="ADAL" clId="{5C7C66C6-67D0-439D-9B00-412197ADBF19}" dt="2026-10-30T01:34:00.518" v="2957" actId="14100"/>
      <pc:docMkLst>
        <pc:docMk/>
      </pc:docMkLst>
      <pc:sldChg chg="modSp mod">
        <pc:chgData name="윤정민" userId="6b15c765-da21-42d7-95fe-61eaef7495af" providerId="ADAL" clId="{5C7C66C6-67D0-439D-9B00-412197ADBF19}" dt="2026-10-30T01:33:35.113" v="2956" actId="14100"/>
        <pc:sldMkLst>
          <pc:docMk/>
          <pc:sldMk cId="0" sldId="377"/>
        </pc:sldMkLst>
        <pc:spChg chg="mod">
          <ac:chgData name="윤정민" userId="6b15c765-da21-42d7-95fe-61eaef7495af" providerId="ADAL" clId="{5C7C66C6-67D0-439D-9B00-412197ADBF19}" dt="2026-10-30T01:33:35.113" v="2956" actId="14100"/>
          <ac:spMkLst>
            <pc:docMk/>
            <pc:sldMk cId="0" sldId="377"/>
            <ac:spMk id="2" creationId="{00000000-0000-0000-0000-000000000000}"/>
          </ac:spMkLst>
        </pc:spChg>
      </pc:sldChg>
      <pc:sldChg chg="modSp mod">
        <pc:chgData name="윤정민" userId="6b15c765-da21-42d7-95fe-61eaef7495af" providerId="ADAL" clId="{5C7C66C6-67D0-439D-9B00-412197ADBF19}" dt="2026-10-30T01:34:00.518" v="2957" actId="14100"/>
        <pc:sldMkLst>
          <pc:docMk/>
          <pc:sldMk cId="0" sldId="397"/>
        </pc:sldMkLst>
        <pc:spChg chg="mod">
          <ac:chgData name="윤정민" userId="6b15c765-da21-42d7-95fe-61eaef7495af" providerId="ADAL" clId="{5C7C66C6-67D0-439D-9B00-412197ADBF19}" dt="2026-10-30T01:34:00.518" v="2957" actId="14100"/>
          <ac:spMkLst>
            <pc:docMk/>
            <pc:sldMk cId="0" sldId="397"/>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FC7B71-203A-44A4-BF64-F0E05ABB4A10}" type="datetimeFigureOut">
              <a:rPr lang="ko-KR" altLang="en-US" smtClean="0"/>
              <a:t>2026-11-01</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334595A-DD79-43DB-8171-24D3E6EC3B6F}" type="slidenum">
              <a:rPr lang="ko-KR" altLang="en-US" smtClean="0"/>
              <a:t>‹#›</a:t>
            </a:fld>
            <a:endParaRPr lang="ko-KR" altLang="en-US"/>
          </a:p>
        </p:txBody>
      </p:sp>
    </p:spTree>
    <p:extLst>
      <p:ext uri="{BB962C8B-B14F-4D97-AF65-F5344CB8AC3E}">
        <p14:creationId xmlns:p14="http://schemas.microsoft.com/office/powerpoint/2010/main" val="43043718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dirty="0"/>
              <a:t>(약 10초) </a:t>
            </a:r>
            <a:r>
              <a:rPr dirty="0" err="1"/>
              <a:t>안녕하십니까</a:t>
            </a:r>
            <a:r>
              <a:rPr dirty="0"/>
              <a:t>. </a:t>
            </a:r>
            <a:r>
              <a:rPr dirty="0" err="1"/>
              <a:t>전북대학교</a:t>
            </a:r>
            <a:r>
              <a:rPr dirty="0"/>
              <a:t> </a:t>
            </a:r>
            <a:r>
              <a:rPr dirty="0" err="1"/>
              <a:t>스마트농업AI융합학과</a:t>
            </a:r>
            <a:r>
              <a:rPr dirty="0"/>
              <a:t> </a:t>
            </a:r>
            <a:r>
              <a:rPr dirty="0" err="1"/>
              <a:t>윤정민입니다</a:t>
            </a:r>
            <a:r>
              <a:rPr dirty="0"/>
              <a:t>. </a:t>
            </a:r>
            <a:r>
              <a:rPr dirty="0" err="1"/>
              <a:t>오늘은</a:t>
            </a:r>
            <a:r>
              <a:rPr dirty="0"/>
              <a:t> </a:t>
            </a:r>
            <a:r>
              <a:rPr dirty="0" err="1"/>
              <a:t>침수와</a:t>
            </a:r>
            <a:r>
              <a:rPr dirty="0"/>
              <a:t> </a:t>
            </a:r>
            <a:r>
              <a:rPr dirty="0" err="1"/>
              <a:t>건조</a:t>
            </a:r>
            <a:r>
              <a:rPr dirty="0"/>
              <a:t>, </a:t>
            </a:r>
            <a:r>
              <a:rPr dirty="0" err="1"/>
              <a:t>그리고</a:t>
            </a:r>
            <a:r>
              <a:rPr dirty="0"/>
              <a:t> 두 </a:t>
            </a:r>
            <a:r>
              <a:rPr dirty="0" err="1"/>
              <a:t>재해가</a:t>
            </a:r>
            <a:r>
              <a:rPr dirty="0"/>
              <a:t> </a:t>
            </a:r>
            <a:r>
              <a:rPr dirty="0" err="1"/>
              <a:t>연속으로</a:t>
            </a:r>
            <a:r>
              <a:rPr dirty="0"/>
              <a:t> </a:t>
            </a:r>
            <a:r>
              <a:rPr dirty="0" err="1"/>
              <a:t>발생한</a:t>
            </a:r>
            <a:r>
              <a:rPr dirty="0"/>
              <a:t> </a:t>
            </a:r>
            <a:r>
              <a:rPr dirty="0" err="1"/>
              <a:t>복합재해</a:t>
            </a:r>
            <a:r>
              <a:rPr dirty="0"/>
              <a:t> </a:t>
            </a:r>
            <a:r>
              <a:rPr dirty="0" err="1"/>
              <a:t>조건에서</a:t>
            </a:r>
            <a:r>
              <a:rPr dirty="0"/>
              <a:t> </a:t>
            </a:r>
            <a:r>
              <a:rPr dirty="0" err="1"/>
              <a:t>콩과</a:t>
            </a:r>
            <a:r>
              <a:rPr dirty="0"/>
              <a:t> </a:t>
            </a:r>
            <a:r>
              <a:rPr lang="ko-KR" altLang="en-US" dirty="0"/>
              <a:t>상추</a:t>
            </a:r>
            <a:r>
              <a:rPr dirty="0"/>
              <a:t> </a:t>
            </a:r>
            <a:r>
              <a:rPr dirty="0" err="1"/>
              <a:t>상추의</a:t>
            </a:r>
            <a:r>
              <a:rPr dirty="0"/>
              <a:t> </a:t>
            </a:r>
            <a:r>
              <a:rPr dirty="0" err="1"/>
              <a:t>생리</a:t>
            </a:r>
            <a:r>
              <a:rPr dirty="0"/>
              <a:t> 및 </a:t>
            </a:r>
            <a:r>
              <a:rPr dirty="0" err="1"/>
              <a:t>생육</a:t>
            </a:r>
            <a:r>
              <a:rPr dirty="0"/>
              <a:t> </a:t>
            </a:r>
            <a:r>
              <a:rPr dirty="0" err="1"/>
              <a:t>반응을</a:t>
            </a:r>
            <a:r>
              <a:rPr dirty="0"/>
              <a:t> </a:t>
            </a:r>
            <a:r>
              <a:rPr dirty="0" err="1"/>
              <a:t>비교한</a:t>
            </a:r>
            <a:r>
              <a:rPr dirty="0"/>
              <a:t> </a:t>
            </a:r>
            <a:r>
              <a:rPr dirty="0" err="1"/>
              <a:t>결과를</a:t>
            </a:r>
            <a:r>
              <a:rPr dirty="0"/>
              <a:t> </a:t>
            </a:r>
            <a:r>
              <a:rPr dirty="0" err="1"/>
              <a:t>발표하겠습니다</a:t>
            </a:r>
            <a:r>
              <a:rPr dirty="0"/>
              <a:t>. (</a:t>
            </a:r>
            <a:r>
              <a:rPr dirty="0" err="1"/>
              <a:t>발표</a:t>
            </a:r>
            <a:r>
              <a:rPr dirty="0"/>
              <a:t> 10분, </a:t>
            </a:r>
            <a:r>
              <a:rPr dirty="0" err="1"/>
              <a:t>질의응답</a:t>
            </a:r>
            <a:r>
              <a:rPr dirty="0"/>
              <a:t> 2분)</a:t>
            </a:r>
          </a:p>
        </p:txBody>
      </p:sp>
      <p:sp>
        <p:nvSpPr>
          <p:cNvPr id="4" name="슬라이드 번호 개체 틀 3"/>
          <p:cNvSpPr>
            <a:spLocks noGrp="1"/>
          </p:cNvSpPr>
          <p:nvPr>
            <p:ph type="sldNum" sz="quarter" idx="5"/>
          </p:nvPr>
        </p:nvSpPr>
        <p:spPr/>
        <p:txBody>
          <a:bodyPr/>
          <a:lstStyle/>
          <a:p>
            <a:fld id="{9334595A-DD79-43DB-8171-24D3E6EC3B6F}" type="slidenum">
              <a:rPr lang="ko-KR" altLang="en-US" smtClean="0"/>
              <a:t>1</a:t>
            </a:fld>
            <a:endParaRPr lang="ko-KR" altLang="en-US"/>
          </a:p>
        </p:txBody>
      </p:sp>
    </p:spTree>
    <p:extLst>
      <p:ext uri="{BB962C8B-B14F-4D97-AF65-F5344CB8AC3E}">
        <p14:creationId xmlns:p14="http://schemas.microsoft.com/office/powerpoint/2010/main" val="236918032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35초) 최근에는 집중호우와 폭염·가뭄이 짧은 간격으로 반복되면서 한 작물이 한 생육기 안에서 침수와 건조를 연이어 겪는 복합재해가 늘고 있습니다. 2025년 7월 중순에도 남부지방에 집중호우가 내린 뒤 폭염이 이어졌습니다. 왼쪽 그림처럼 침수는 뿌리의 산소 결핍으로 기공을 닫게 하고 배수 후에도 회복에 시간이 걸립니다. 가운데 그림처럼 건조는 토양 수분 부족으로 엽의 수분 상태를 떨어뜨려 증산과 광합성을 줄입니다. 오른쪽 그림처럼 두 재해가 이어지면 피해가 누적될 수도, 앞선 스트레스가 순화 효과를 줄 수도 있는데, 작물과 생육 단계별로 어떻게 다른지 비교한 연구는 충분하지 않습니다.</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(약 30초) 이 </a:t>
            </a:r>
            <a:r>
              <a:rPr dirty="0" err="1"/>
              <a:t>연구는</a:t>
            </a:r>
            <a:r>
              <a:rPr dirty="0"/>
              <a:t> </a:t>
            </a:r>
            <a:r>
              <a:rPr dirty="0" err="1"/>
              <a:t>수분</a:t>
            </a:r>
            <a:r>
              <a:rPr dirty="0"/>
              <a:t> </a:t>
            </a:r>
            <a:r>
              <a:rPr dirty="0" err="1"/>
              <a:t>재해의</a:t>
            </a:r>
            <a:r>
              <a:rPr dirty="0"/>
              <a:t> </a:t>
            </a:r>
            <a:r>
              <a:rPr dirty="0" err="1"/>
              <a:t>영향을</a:t>
            </a:r>
            <a:r>
              <a:rPr dirty="0"/>
              <a:t> </a:t>
            </a:r>
            <a:r>
              <a:rPr dirty="0" err="1"/>
              <a:t>단계별로</a:t>
            </a:r>
            <a:r>
              <a:rPr dirty="0"/>
              <a:t> </a:t>
            </a:r>
            <a:r>
              <a:rPr dirty="0" err="1"/>
              <a:t>나누어</a:t>
            </a:r>
            <a:r>
              <a:rPr dirty="0"/>
              <a:t> </a:t>
            </a:r>
            <a:r>
              <a:rPr dirty="0" err="1"/>
              <a:t>보았습니다</a:t>
            </a:r>
            <a:r>
              <a:rPr dirty="0"/>
              <a:t>. </a:t>
            </a:r>
            <a:r>
              <a:rPr dirty="0" err="1"/>
              <a:t>잎에서는</a:t>
            </a:r>
            <a:r>
              <a:rPr dirty="0"/>
              <a:t> </a:t>
            </a:r>
            <a:r>
              <a:rPr dirty="0" err="1"/>
              <a:t>수분</a:t>
            </a:r>
            <a:r>
              <a:rPr dirty="0"/>
              <a:t> </a:t>
            </a:r>
            <a:r>
              <a:rPr dirty="0" err="1"/>
              <a:t>스트레스에</a:t>
            </a:r>
            <a:r>
              <a:rPr dirty="0"/>
              <a:t> </a:t>
            </a:r>
            <a:r>
              <a:rPr dirty="0" err="1"/>
              <a:t>가장</a:t>
            </a:r>
            <a:r>
              <a:rPr dirty="0"/>
              <a:t> </a:t>
            </a:r>
            <a:r>
              <a:rPr dirty="0" err="1"/>
              <a:t>먼저</a:t>
            </a:r>
            <a:r>
              <a:rPr dirty="0"/>
              <a:t> </a:t>
            </a:r>
            <a:r>
              <a:rPr dirty="0" err="1"/>
              <a:t>기공이</a:t>
            </a:r>
            <a:r>
              <a:rPr dirty="0"/>
              <a:t> </a:t>
            </a:r>
            <a:r>
              <a:rPr dirty="0" err="1"/>
              <a:t>닫혀</a:t>
            </a:r>
            <a:r>
              <a:rPr dirty="0"/>
              <a:t> </a:t>
            </a:r>
            <a:r>
              <a:rPr dirty="0" err="1"/>
              <a:t>이산화탄소</a:t>
            </a:r>
            <a:r>
              <a:rPr dirty="0"/>
              <a:t> </a:t>
            </a:r>
            <a:r>
              <a:rPr dirty="0" err="1"/>
              <a:t>공급이</a:t>
            </a:r>
            <a:r>
              <a:rPr dirty="0"/>
              <a:t> </a:t>
            </a:r>
            <a:r>
              <a:rPr dirty="0" err="1"/>
              <a:t>줄고</a:t>
            </a:r>
            <a:r>
              <a:rPr dirty="0"/>
              <a:t>, 그 뒤 두 </a:t>
            </a:r>
            <a:r>
              <a:rPr dirty="0" err="1"/>
              <a:t>경로가</a:t>
            </a:r>
            <a:r>
              <a:rPr dirty="0"/>
              <a:t> </a:t>
            </a:r>
            <a:r>
              <a:rPr dirty="0" err="1"/>
              <a:t>병렬로</a:t>
            </a:r>
            <a:r>
              <a:rPr dirty="0"/>
              <a:t> </a:t>
            </a:r>
            <a:r>
              <a:rPr dirty="0" err="1"/>
              <a:t>영향을</a:t>
            </a:r>
            <a:r>
              <a:rPr dirty="0"/>
              <a:t> </a:t>
            </a:r>
            <a:r>
              <a:rPr dirty="0" err="1"/>
              <a:t>받습니다</a:t>
            </a:r>
            <a:r>
              <a:rPr dirty="0"/>
              <a:t>. </a:t>
            </a:r>
            <a:r>
              <a:rPr dirty="0" err="1"/>
              <a:t>하나는</a:t>
            </a:r>
            <a:r>
              <a:rPr dirty="0"/>
              <a:t> </a:t>
            </a:r>
            <a:r>
              <a:rPr dirty="0" err="1"/>
              <a:t>틸라코이드</a:t>
            </a:r>
            <a:r>
              <a:rPr dirty="0"/>
              <a:t> </a:t>
            </a:r>
            <a:r>
              <a:rPr dirty="0" err="1"/>
              <a:t>막의</a:t>
            </a:r>
            <a:r>
              <a:rPr dirty="0"/>
              <a:t> PSII </a:t>
            </a:r>
            <a:r>
              <a:rPr dirty="0" err="1"/>
              <a:t>전자전달</a:t>
            </a:r>
            <a:r>
              <a:rPr dirty="0"/>
              <a:t>, 즉 </a:t>
            </a:r>
            <a:r>
              <a:rPr dirty="0" err="1"/>
              <a:t>명반응이고</a:t>
            </a:r>
            <a:r>
              <a:rPr dirty="0"/>
              <a:t>, </a:t>
            </a:r>
            <a:r>
              <a:rPr dirty="0" err="1"/>
              <a:t>다른</a:t>
            </a:r>
            <a:r>
              <a:rPr dirty="0"/>
              <a:t> </a:t>
            </a:r>
            <a:r>
              <a:rPr dirty="0" err="1"/>
              <a:t>하나는</a:t>
            </a:r>
            <a:r>
              <a:rPr dirty="0"/>
              <a:t> </a:t>
            </a:r>
            <a:r>
              <a:rPr dirty="0" err="1"/>
              <a:t>루비스코</a:t>
            </a:r>
            <a:r>
              <a:rPr dirty="0"/>
              <a:t> </a:t>
            </a:r>
            <a:r>
              <a:rPr dirty="0" err="1"/>
              <a:t>카르복실화와</a:t>
            </a:r>
            <a:r>
              <a:rPr dirty="0"/>
              <a:t> </a:t>
            </a:r>
            <a:r>
              <a:rPr dirty="0" err="1"/>
              <a:t>재생</a:t>
            </a:r>
            <a:r>
              <a:rPr dirty="0"/>
              <a:t> </a:t>
            </a:r>
            <a:r>
              <a:rPr dirty="0" err="1"/>
              <a:t>능력</a:t>
            </a:r>
            <a:r>
              <a:rPr dirty="0"/>
              <a:t>, 즉 </a:t>
            </a:r>
            <a:r>
              <a:rPr dirty="0" err="1"/>
              <a:t>광합성</a:t>
            </a:r>
            <a:r>
              <a:rPr dirty="0"/>
              <a:t> </a:t>
            </a:r>
            <a:r>
              <a:rPr dirty="0" err="1"/>
              <a:t>능력입니다</a:t>
            </a:r>
            <a:r>
              <a:rPr dirty="0"/>
              <a:t>. 이 세 </a:t>
            </a:r>
            <a:r>
              <a:rPr dirty="0" err="1"/>
              <a:t>단계의</a:t>
            </a:r>
            <a:r>
              <a:rPr dirty="0"/>
              <a:t> </a:t>
            </a:r>
            <a:r>
              <a:rPr dirty="0" err="1"/>
              <a:t>영향이</a:t>
            </a:r>
            <a:r>
              <a:rPr dirty="0"/>
              <a:t> </a:t>
            </a:r>
            <a:r>
              <a:rPr dirty="0" err="1"/>
              <a:t>누적되어</a:t>
            </a:r>
            <a:r>
              <a:rPr dirty="0"/>
              <a:t> </a:t>
            </a:r>
            <a:r>
              <a:rPr dirty="0" err="1"/>
              <a:t>생육과</a:t>
            </a:r>
            <a:r>
              <a:rPr dirty="0"/>
              <a:t> </a:t>
            </a:r>
            <a:r>
              <a:rPr dirty="0" err="1"/>
              <a:t>수량</a:t>
            </a:r>
            <a:r>
              <a:rPr dirty="0"/>
              <a:t> </a:t>
            </a:r>
            <a:r>
              <a:rPr dirty="0" err="1"/>
              <a:t>감소로</a:t>
            </a:r>
            <a:r>
              <a:rPr dirty="0"/>
              <a:t> </a:t>
            </a:r>
            <a:r>
              <a:rPr dirty="0" err="1"/>
              <a:t>이어지는지를</a:t>
            </a:r>
            <a:r>
              <a:rPr dirty="0"/>
              <a:t> </a:t>
            </a:r>
            <a:r>
              <a:rPr dirty="0" err="1"/>
              <a:t>콩과</a:t>
            </a:r>
            <a:r>
              <a:rPr dirty="0"/>
              <a:t> </a:t>
            </a:r>
            <a:r>
              <a:rPr lang="ko-KR" altLang="en-US" dirty="0"/>
              <a:t>상추</a:t>
            </a:r>
            <a:r>
              <a:rPr dirty="0"/>
              <a:t> </a:t>
            </a:r>
            <a:r>
              <a:rPr dirty="0" err="1"/>
              <a:t>상추에</a:t>
            </a:r>
            <a:r>
              <a:rPr dirty="0"/>
              <a:t> </a:t>
            </a:r>
            <a:r>
              <a:rPr dirty="0" err="1"/>
              <a:t>침수</a:t>
            </a:r>
            <a:r>
              <a:rPr dirty="0"/>
              <a:t>, </a:t>
            </a:r>
            <a:r>
              <a:rPr dirty="0" err="1"/>
              <a:t>건조</a:t>
            </a:r>
            <a:r>
              <a:rPr dirty="0"/>
              <a:t>, </a:t>
            </a:r>
            <a:r>
              <a:rPr dirty="0" err="1"/>
              <a:t>복합</a:t>
            </a:r>
            <a:r>
              <a:rPr dirty="0"/>
              <a:t> </a:t>
            </a:r>
            <a:r>
              <a:rPr dirty="0" err="1"/>
              <a:t>처리를</a:t>
            </a:r>
            <a:r>
              <a:rPr dirty="0"/>
              <a:t> </a:t>
            </a:r>
            <a:r>
              <a:rPr dirty="0" err="1"/>
              <a:t>적용하여</a:t>
            </a:r>
            <a:r>
              <a:rPr dirty="0"/>
              <a:t> </a:t>
            </a:r>
            <a:r>
              <a:rPr dirty="0" err="1"/>
              <a:t>비교했습니다</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(약 20초) </a:t>
            </a:r>
            <a:r>
              <a:rPr dirty="0" err="1"/>
              <a:t>공시</a:t>
            </a:r>
            <a:r>
              <a:rPr dirty="0"/>
              <a:t> </a:t>
            </a:r>
            <a:r>
              <a:rPr dirty="0" err="1"/>
              <a:t>작물은</a:t>
            </a:r>
            <a:r>
              <a:rPr dirty="0"/>
              <a:t> 콩 </a:t>
            </a:r>
            <a:r>
              <a:rPr dirty="0" err="1"/>
              <a:t>대원콩과</a:t>
            </a:r>
            <a:r>
              <a:rPr dirty="0"/>
              <a:t> </a:t>
            </a:r>
            <a:r>
              <a:rPr lang="ko-KR" altLang="en-US" dirty="0"/>
              <a:t>상추</a:t>
            </a:r>
            <a:r>
              <a:rPr dirty="0"/>
              <a:t> </a:t>
            </a:r>
            <a:r>
              <a:rPr dirty="0" err="1"/>
              <a:t>상추</a:t>
            </a:r>
            <a:r>
              <a:rPr dirty="0"/>
              <a:t> </a:t>
            </a:r>
            <a:r>
              <a:rPr dirty="0" err="1"/>
              <a:t>클라우디우스이며</a:t>
            </a:r>
            <a:r>
              <a:rPr dirty="0"/>
              <a:t> </a:t>
            </a:r>
            <a:r>
              <a:rPr dirty="0" err="1"/>
              <a:t>전북대학교</a:t>
            </a:r>
            <a:r>
              <a:rPr dirty="0"/>
              <a:t> </a:t>
            </a:r>
            <a:r>
              <a:rPr dirty="0" err="1"/>
              <a:t>부속농장에서</a:t>
            </a:r>
            <a:r>
              <a:rPr dirty="0"/>
              <a:t> </a:t>
            </a:r>
            <a:r>
              <a:rPr dirty="0" err="1"/>
              <a:t>재배했습니다</a:t>
            </a:r>
            <a:r>
              <a:rPr dirty="0"/>
              <a:t>. </a:t>
            </a:r>
            <a:r>
              <a:rPr dirty="0" err="1"/>
              <a:t>상추는</a:t>
            </a:r>
            <a:r>
              <a:rPr dirty="0"/>
              <a:t> </a:t>
            </a:r>
            <a:r>
              <a:rPr dirty="0" err="1"/>
              <a:t>정식</a:t>
            </a:r>
            <a:r>
              <a:rPr dirty="0"/>
              <a:t> 3주 후 </a:t>
            </a:r>
            <a:r>
              <a:rPr dirty="0" err="1"/>
              <a:t>영양생장기에</a:t>
            </a:r>
            <a:r>
              <a:rPr dirty="0"/>
              <a:t>, </a:t>
            </a:r>
            <a:r>
              <a:rPr dirty="0" err="1"/>
              <a:t>콩은</a:t>
            </a:r>
            <a:r>
              <a:rPr dirty="0"/>
              <a:t> </a:t>
            </a:r>
            <a:r>
              <a:rPr dirty="0" err="1"/>
              <a:t>개화기에</a:t>
            </a:r>
            <a:r>
              <a:rPr dirty="0"/>
              <a:t> </a:t>
            </a:r>
            <a:r>
              <a:rPr dirty="0" err="1"/>
              <a:t>처리를</a:t>
            </a:r>
            <a:r>
              <a:rPr dirty="0"/>
              <a:t> </a:t>
            </a:r>
            <a:r>
              <a:rPr dirty="0" err="1"/>
              <a:t>시작했습니다</a:t>
            </a:r>
            <a:r>
              <a:rPr dirty="0"/>
              <a:t>. </a:t>
            </a:r>
            <a:r>
              <a:rPr dirty="0" err="1"/>
              <a:t>처리구는</a:t>
            </a:r>
            <a:r>
              <a:rPr dirty="0"/>
              <a:t> </a:t>
            </a:r>
            <a:r>
              <a:rPr dirty="0" err="1"/>
              <a:t>전날</a:t>
            </a:r>
            <a:r>
              <a:rPr dirty="0"/>
              <a:t> </a:t>
            </a:r>
            <a:r>
              <a:rPr dirty="0" err="1"/>
              <a:t>손실된</a:t>
            </a:r>
            <a:r>
              <a:rPr dirty="0"/>
              <a:t> </a:t>
            </a:r>
            <a:r>
              <a:rPr dirty="0" err="1"/>
              <a:t>수분량</a:t>
            </a:r>
            <a:r>
              <a:rPr dirty="0"/>
              <a:t>, 즉 </a:t>
            </a:r>
            <a:r>
              <a:rPr dirty="0" err="1"/>
              <a:t>증발산량만큼</a:t>
            </a:r>
            <a:r>
              <a:rPr dirty="0"/>
              <a:t> </a:t>
            </a:r>
            <a:r>
              <a:rPr dirty="0" err="1"/>
              <a:t>관수한</a:t>
            </a:r>
            <a:r>
              <a:rPr dirty="0"/>
              <a:t> </a:t>
            </a:r>
            <a:r>
              <a:rPr dirty="0" err="1"/>
              <a:t>대조구</a:t>
            </a:r>
            <a:r>
              <a:rPr dirty="0"/>
              <a:t>, 50%만 </a:t>
            </a:r>
            <a:r>
              <a:rPr dirty="0" err="1"/>
              <a:t>관수한</a:t>
            </a:r>
            <a:r>
              <a:rPr dirty="0"/>
              <a:t> </a:t>
            </a:r>
            <a:r>
              <a:rPr dirty="0" err="1"/>
              <a:t>건조구</a:t>
            </a:r>
            <a:r>
              <a:rPr dirty="0"/>
              <a:t>, 3일간 </a:t>
            </a:r>
            <a:r>
              <a:rPr dirty="0" err="1"/>
              <a:t>침지한</a:t>
            </a:r>
            <a:r>
              <a:rPr dirty="0"/>
              <a:t> 뒤 </a:t>
            </a:r>
            <a:r>
              <a:rPr dirty="0" err="1"/>
              <a:t>정상</a:t>
            </a:r>
            <a:r>
              <a:rPr dirty="0"/>
              <a:t> </a:t>
            </a:r>
            <a:r>
              <a:rPr dirty="0" err="1"/>
              <a:t>관수한</a:t>
            </a:r>
            <a:r>
              <a:rPr dirty="0"/>
              <a:t> </a:t>
            </a:r>
            <a:r>
              <a:rPr dirty="0" err="1"/>
              <a:t>침수구</a:t>
            </a:r>
            <a:r>
              <a:rPr dirty="0"/>
              <a:t>, </a:t>
            </a:r>
            <a:r>
              <a:rPr dirty="0" err="1"/>
              <a:t>침수</a:t>
            </a:r>
            <a:r>
              <a:rPr dirty="0"/>
              <a:t> 후 50% </a:t>
            </a:r>
            <a:r>
              <a:rPr dirty="0" err="1"/>
              <a:t>관수한</a:t>
            </a:r>
            <a:r>
              <a:rPr dirty="0"/>
              <a:t> </a:t>
            </a:r>
            <a:r>
              <a:rPr dirty="0" err="1"/>
              <a:t>복합구의</a:t>
            </a:r>
            <a:r>
              <a:rPr dirty="0"/>
              <a:t> 네 </a:t>
            </a:r>
            <a:r>
              <a:rPr dirty="0" err="1"/>
              <a:t>가지입니다</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(약 15초) 두 </a:t>
            </a:r>
            <a:r>
              <a:rPr dirty="0" err="1"/>
              <a:t>실험은</a:t>
            </a:r>
            <a:r>
              <a:rPr dirty="0"/>
              <a:t> </a:t>
            </a:r>
            <a:r>
              <a:rPr dirty="0" err="1"/>
              <a:t>시기와</a:t>
            </a:r>
            <a:r>
              <a:rPr dirty="0"/>
              <a:t> </a:t>
            </a:r>
            <a:r>
              <a:rPr dirty="0" err="1"/>
              <a:t>기간이</a:t>
            </a:r>
            <a:r>
              <a:rPr dirty="0"/>
              <a:t> </a:t>
            </a:r>
            <a:r>
              <a:rPr dirty="0" err="1"/>
              <a:t>달라</a:t>
            </a:r>
            <a:r>
              <a:rPr dirty="0"/>
              <a:t> </a:t>
            </a:r>
            <a:r>
              <a:rPr dirty="0" err="1"/>
              <a:t>침수</a:t>
            </a:r>
            <a:r>
              <a:rPr dirty="0"/>
              <a:t> </a:t>
            </a:r>
            <a:r>
              <a:rPr dirty="0" err="1"/>
              <a:t>시작일을</a:t>
            </a:r>
            <a:r>
              <a:rPr dirty="0"/>
              <a:t> DAT 0으로 </a:t>
            </a:r>
            <a:r>
              <a:rPr dirty="0" err="1"/>
              <a:t>맞추어</a:t>
            </a:r>
            <a:r>
              <a:rPr dirty="0"/>
              <a:t> </a:t>
            </a:r>
            <a:r>
              <a:rPr dirty="0" err="1"/>
              <a:t>정렬했습니다</a:t>
            </a:r>
            <a:r>
              <a:rPr dirty="0"/>
              <a:t>. </a:t>
            </a:r>
            <a:r>
              <a:rPr lang="ko-KR" altLang="en-US" dirty="0"/>
              <a:t>상추</a:t>
            </a:r>
            <a:r>
              <a:rPr dirty="0"/>
              <a:t> </a:t>
            </a:r>
            <a:r>
              <a:rPr dirty="0" err="1"/>
              <a:t>상추는</a:t>
            </a:r>
            <a:r>
              <a:rPr dirty="0"/>
              <a:t> </a:t>
            </a:r>
            <a:r>
              <a:rPr dirty="0" err="1"/>
              <a:t>처리</a:t>
            </a:r>
            <a:r>
              <a:rPr dirty="0"/>
              <a:t> 후 16일, </a:t>
            </a:r>
            <a:r>
              <a:rPr dirty="0" err="1"/>
              <a:t>콩은</a:t>
            </a:r>
            <a:r>
              <a:rPr dirty="0"/>
              <a:t> 55일까지 </a:t>
            </a:r>
            <a:r>
              <a:rPr dirty="0" err="1"/>
              <a:t>관찰했습니다</a:t>
            </a:r>
            <a:r>
              <a:rPr dirty="0"/>
              <a:t>. LI-600은 </a:t>
            </a:r>
            <a:r>
              <a:rPr dirty="0" err="1"/>
              <a:t>초기에는</a:t>
            </a:r>
            <a:r>
              <a:rPr dirty="0"/>
              <a:t> </a:t>
            </a:r>
            <a:r>
              <a:rPr dirty="0" err="1"/>
              <a:t>매일</a:t>
            </a:r>
            <a:r>
              <a:rPr dirty="0"/>
              <a:t>, </a:t>
            </a:r>
            <a:r>
              <a:rPr dirty="0" err="1"/>
              <a:t>이후에는</a:t>
            </a:r>
            <a:r>
              <a:rPr dirty="0"/>
              <a:t> </a:t>
            </a:r>
            <a:r>
              <a:rPr dirty="0" err="1"/>
              <a:t>콩은</a:t>
            </a:r>
            <a:r>
              <a:rPr dirty="0"/>
              <a:t> 1~2주 </a:t>
            </a:r>
            <a:r>
              <a:rPr dirty="0" err="1"/>
              <a:t>간격</a:t>
            </a:r>
            <a:r>
              <a:rPr dirty="0"/>
              <a:t>, </a:t>
            </a:r>
            <a:r>
              <a:rPr lang="ko-KR" altLang="en-US" dirty="0"/>
              <a:t>상추는</a:t>
            </a:r>
            <a:r>
              <a:rPr dirty="0"/>
              <a:t> </a:t>
            </a:r>
            <a:r>
              <a:rPr dirty="0" err="1"/>
              <a:t>이틀</a:t>
            </a:r>
            <a:r>
              <a:rPr dirty="0"/>
              <a:t> </a:t>
            </a:r>
            <a:r>
              <a:rPr dirty="0" err="1"/>
              <a:t>간격으로</a:t>
            </a:r>
            <a:r>
              <a:rPr dirty="0"/>
              <a:t> </a:t>
            </a:r>
            <a:r>
              <a:rPr dirty="0" err="1"/>
              <a:t>측정했고</a:t>
            </a:r>
            <a:r>
              <a:rPr dirty="0"/>
              <a:t> LI-6800 </a:t>
            </a:r>
            <a:r>
              <a:rPr dirty="0" err="1"/>
              <a:t>광합성</a:t>
            </a:r>
            <a:r>
              <a:rPr dirty="0"/>
              <a:t> </a:t>
            </a:r>
            <a:r>
              <a:rPr dirty="0" err="1"/>
              <a:t>곡선은</a:t>
            </a:r>
            <a:r>
              <a:rPr dirty="0"/>
              <a:t> </a:t>
            </a:r>
            <a:r>
              <a:rPr dirty="0" err="1"/>
              <a:t>콩은</a:t>
            </a:r>
            <a:r>
              <a:rPr dirty="0"/>
              <a:t> 9월 </a:t>
            </a:r>
            <a:r>
              <a:rPr dirty="0" err="1"/>
              <a:t>중순</a:t>
            </a:r>
            <a:r>
              <a:rPr dirty="0"/>
              <a:t>, </a:t>
            </a:r>
            <a:r>
              <a:rPr lang="ko-KR" altLang="en-US" dirty="0"/>
              <a:t>상추는</a:t>
            </a:r>
            <a:r>
              <a:rPr dirty="0"/>
              <a:t> 10월 </a:t>
            </a:r>
            <a:r>
              <a:rPr dirty="0" err="1"/>
              <a:t>중순에</a:t>
            </a:r>
            <a:r>
              <a:rPr dirty="0"/>
              <a:t> </a:t>
            </a:r>
            <a:r>
              <a:rPr dirty="0" err="1"/>
              <a:t>측정했습니다</a:t>
            </a:r>
            <a:r>
              <a:rPr dirty="0"/>
              <a:t>. </a:t>
            </a:r>
            <a:r>
              <a:rPr dirty="0" err="1"/>
              <a:t>결과는</a:t>
            </a:r>
            <a:r>
              <a:rPr dirty="0"/>
              <a:t> </a:t>
            </a:r>
            <a:r>
              <a:rPr dirty="0" err="1"/>
              <a:t>침수</a:t>
            </a:r>
            <a:r>
              <a:rPr dirty="0"/>
              <a:t> </a:t>
            </a:r>
            <a:r>
              <a:rPr dirty="0" err="1"/>
              <a:t>시작부터</a:t>
            </a:r>
            <a:r>
              <a:rPr dirty="0"/>
              <a:t> </a:t>
            </a:r>
            <a:r>
              <a:rPr dirty="0" err="1"/>
              <a:t>종료</a:t>
            </a:r>
            <a:r>
              <a:rPr dirty="0"/>
              <a:t> 후 7일까지를 P1, 그 </a:t>
            </a:r>
            <a:r>
              <a:rPr dirty="0" err="1"/>
              <a:t>이후를</a:t>
            </a:r>
            <a:r>
              <a:rPr dirty="0"/>
              <a:t> P2로 </a:t>
            </a:r>
            <a:r>
              <a:rPr dirty="0" err="1"/>
              <a:t>나누어</a:t>
            </a:r>
            <a:r>
              <a:rPr dirty="0"/>
              <a:t> </a:t>
            </a:r>
            <a:r>
              <a:rPr dirty="0" err="1"/>
              <a:t>제시합니다</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20초) 앞서 제시한 네 단계에 맞추어 지표를 측정했습니다. 기공전도도와 명반응은 LI-600으로 반복 측정했고, 형광 지표는 측정 당시의 광도와 기온 차이를 선행 연구를 따라 공변량으로 보정했고, 기공전도도는 보정하지 않은 값을 사용했습니다. 광합성 능력은 LI-6800의 A-Ci와 광-광합성 곡선으로 평가했고, 생육과 수량은 파괴 조사로 측정했습니다.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(약 20초) 두 </a:t>
            </a:r>
            <a:r>
              <a:rPr dirty="0" err="1"/>
              <a:t>실험은</a:t>
            </a:r>
            <a:r>
              <a:rPr dirty="0"/>
              <a:t> </a:t>
            </a:r>
            <a:r>
              <a:rPr dirty="0" err="1"/>
              <a:t>계절이</a:t>
            </a:r>
            <a:r>
              <a:rPr dirty="0"/>
              <a:t> </a:t>
            </a:r>
            <a:r>
              <a:rPr dirty="0" err="1"/>
              <a:t>달라</a:t>
            </a:r>
            <a:r>
              <a:rPr dirty="0"/>
              <a:t> </a:t>
            </a:r>
            <a:r>
              <a:rPr dirty="0" err="1"/>
              <a:t>환경</a:t>
            </a:r>
            <a:r>
              <a:rPr dirty="0"/>
              <a:t> </a:t>
            </a:r>
            <a:r>
              <a:rPr dirty="0" err="1"/>
              <a:t>조건이</a:t>
            </a:r>
            <a:r>
              <a:rPr dirty="0"/>
              <a:t> </a:t>
            </a:r>
            <a:r>
              <a:rPr dirty="0" err="1"/>
              <a:t>크게</a:t>
            </a:r>
            <a:r>
              <a:rPr dirty="0"/>
              <a:t> </a:t>
            </a:r>
            <a:r>
              <a:rPr dirty="0" err="1"/>
              <a:t>다릅니다</a:t>
            </a:r>
            <a:r>
              <a:rPr dirty="0"/>
              <a:t>. </a:t>
            </a:r>
            <a:r>
              <a:rPr dirty="0" err="1"/>
              <a:t>콩의</a:t>
            </a:r>
            <a:r>
              <a:rPr dirty="0"/>
              <a:t> </a:t>
            </a:r>
            <a:r>
              <a:rPr dirty="0" err="1"/>
              <a:t>처리</a:t>
            </a:r>
            <a:r>
              <a:rPr dirty="0"/>
              <a:t> </a:t>
            </a:r>
            <a:r>
              <a:rPr dirty="0" err="1"/>
              <a:t>초기</a:t>
            </a:r>
            <a:r>
              <a:rPr dirty="0"/>
              <a:t> </a:t>
            </a:r>
            <a:r>
              <a:rPr dirty="0" err="1"/>
              <a:t>평균</a:t>
            </a:r>
            <a:r>
              <a:rPr dirty="0"/>
              <a:t> </a:t>
            </a:r>
            <a:r>
              <a:rPr dirty="0" err="1"/>
              <a:t>기온은</a:t>
            </a:r>
            <a:r>
              <a:rPr dirty="0"/>
              <a:t> 28.4도, </a:t>
            </a:r>
            <a:r>
              <a:rPr lang="ko-KR" altLang="en-US" dirty="0"/>
              <a:t>상추</a:t>
            </a:r>
            <a:r>
              <a:rPr dirty="0"/>
              <a:t> </a:t>
            </a:r>
            <a:r>
              <a:rPr dirty="0" err="1"/>
              <a:t>상추는</a:t>
            </a:r>
            <a:r>
              <a:rPr dirty="0"/>
              <a:t> 18.2도로 약 10도 </a:t>
            </a:r>
            <a:r>
              <a:rPr dirty="0" err="1"/>
              <a:t>낮았고</a:t>
            </a:r>
            <a:r>
              <a:rPr dirty="0"/>
              <a:t> </a:t>
            </a:r>
            <a:r>
              <a:rPr dirty="0" err="1"/>
              <a:t>일적산광량도</a:t>
            </a:r>
            <a:r>
              <a:rPr dirty="0"/>
              <a:t> </a:t>
            </a:r>
            <a:r>
              <a:rPr lang="ko-KR" altLang="en-US" dirty="0"/>
              <a:t>상추가</a:t>
            </a:r>
            <a:r>
              <a:rPr dirty="0"/>
              <a:t> </a:t>
            </a:r>
            <a:r>
              <a:rPr dirty="0" err="1"/>
              <a:t>낮았습니다</a:t>
            </a:r>
            <a:r>
              <a:rPr dirty="0"/>
              <a:t>. </a:t>
            </a:r>
            <a:r>
              <a:rPr dirty="0" err="1"/>
              <a:t>따라서</a:t>
            </a:r>
            <a:r>
              <a:rPr dirty="0"/>
              <a:t> </a:t>
            </a:r>
            <a:r>
              <a:rPr dirty="0" err="1"/>
              <a:t>같은</a:t>
            </a:r>
            <a:r>
              <a:rPr dirty="0"/>
              <a:t> 50% </a:t>
            </a:r>
            <a:r>
              <a:rPr dirty="0" err="1"/>
              <a:t>관수라도</a:t>
            </a:r>
            <a:r>
              <a:rPr dirty="0"/>
              <a:t> </a:t>
            </a:r>
            <a:r>
              <a:rPr dirty="0" err="1"/>
              <a:t>증발산</a:t>
            </a:r>
            <a:r>
              <a:rPr dirty="0"/>
              <a:t> </a:t>
            </a:r>
            <a:r>
              <a:rPr dirty="0" err="1"/>
              <a:t>부하가</a:t>
            </a:r>
            <a:r>
              <a:rPr dirty="0"/>
              <a:t> </a:t>
            </a:r>
            <a:r>
              <a:rPr dirty="0" err="1"/>
              <a:t>달라</a:t>
            </a:r>
            <a:r>
              <a:rPr dirty="0"/>
              <a:t> </a:t>
            </a:r>
            <a:r>
              <a:rPr dirty="0" err="1"/>
              <a:t>건조</a:t>
            </a:r>
            <a:r>
              <a:rPr dirty="0"/>
              <a:t> </a:t>
            </a:r>
            <a:r>
              <a:rPr dirty="0" err="1"/>
              <a:t>스트레스</a:t>
            </a:r>
            <a:r>
              <a:rPr dirty="0"/>
              <a:t> </a:t>
            </a:r>
            <a:r>
              <a:rPr dirty="0" err="1"/>
              <a:t>강도가</a:t>
            </a:r>
            <a:r>
              <a:rPr dirty="0"/>
              <a:t> </a:t>
            </a:r>
            <a:r>
              <a:rPr dirty="0" err="1"/>
              <a:t>다르며</a:t>
            </a:r>
            <a:r>
              <a:rPr dirty="0"/>
              <a:t>, 두 </a:t>
            </a:r>
            <a:r>
              <a:rPr dirty="0" err="1"/>
              <a:t>작물의</a:t>
            </a:r>
            <a:r>
              <a:rPr dirty="0"/>
              <a:t> </a:t>
            </a:r>
            <a:r>
              <a:rPr dirty="0" err="1"/>
              <a:t>차이는</a:t>
            </a:r>
            <a:r>
              <a:rPr dirty="0"/>
              <a:t> </a:t>
            </a:r>
            <a:r>
              <a:rPr dirty="0" err="1"/>
              <a:t>병렬</a:t>
            </a:r>
            <a:r>
              <a:rPr dirty="0"/>
              <a:t> </a:t>
            </a:r>
            <a:r>
              <a:rPr dirty="0" err="1"/>
              <a:t>사례로</a:t>
            </a:r>
            <a:r>
              <a:rPr dirty="0"/>
              <a:t> </a:t>
            </a:r>
            <a:r>
              <a:rPr dirty="0" err="1"/>
              <a:t>해석하겠습니다</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(약 30초) </a:t>
            </a:r>
            <a:r>
              <a:rPr dirty="0" err="1"/>
              <a:t>결과를</a:t>
            </a:r>
            <a:r>
              <a:rPr dirty="0"/>
              <a:t> </a:t>
            </a:r>
            <a:r>
              <a:rPr dirty="0" err="1"/>
              <a:t>보기</a:t>
            </a:r>
            <a:r>
              <a:rPr dirty="0"/>
              <a:t> </a:t>
            </a:r>
            <a:r>
              <a:rPr dirty="0" err="1"/>
              <a:t>전에</a:t>
            </a:r>
            <a:r>
              <a:rPr dirty="0"/>
              <a:t> </a:t>
            </a:r>
            <a:r>
              <a:rPr dirty="0" err="1"/>
              <a:t>처리가</a:t>
            </a:r>
            <a:r>
              <a:rPr dirty="0"/>
              <a:t> </a:t>
            </a:r>
            <a:r>
              <a:rPr dirty="0" err="1"/>
              <a:t>실제로</a:t>
            </a:r>
            <a:r>
              <a:rPr dirty="0"/>
              <a:t> </a:t>
            </a:r>
            <a:r>
              <a:rPr dirty="0" err="1"/>
              <a:t>어떻게</a:t>
            </a:r>
            <a:r>
              <a:rPr dirty="0"/>
              <a:t> </a:t>
            </a:r>
            <a:r>
              <a:rPr dirty="0" err="1"/>
              <a:t>들어갔는지</a:t>
            </a:r>
            <a:r>
              <a:rPr dirty="0"/>
              <a:t> </a:t>
            </a:r>
            <a:r>
              <a:rPr dirty="0" err="1"/>
              <a:t>확인했습니다</a:t>
            </a:r>
            <a:r>
              <a:rPr dirty="0"/>
              <a:t>. </a:t>
            </a:r>
            <a:r>
              <a:rPr dirty="0" err="1"/>
              <a:t>대조구</a:t>
            </a:r>
            <a:r>
              <a:rPr dirty="0"/>
              <a:t> </a:t>
            </a:r>
            <a:r>
              <a:rPr dirty="0" err="1"/>
              <a:t>대비</a:t>
            </a:r>
            <a:r>
              <a:rPr dirty="0"/>
              <a:t> </a:t>
            </a:r>
            <a:r>
              <a:rPr dirty="0" err="1"/>
              <a:t>누적</a:t>
            </a:r>
            <a:r>
              <a:rPr dirty="0"/>
              <a:t> </a:t>
            </a:r>
            <a:r>
              <a:rPr dirty="0" err="1"/>
              <a:t>관수량은</a:t>
            </a:r>
            <a:r>
              <a:rPr dirty="0"/>
              <a:t> </a:t>
            </a:r>
            <a:r>
              <a:rPr dirty="0" err="1"/>
              <a:t>건조구가</a:t>
            </a:r>
            <a:r>
              <a:rPr dirty="0"/>
              <a:t> </a:t>
            </a:r>
            <a:r>
              <a:rPr lang="ko-KR" altLang="en-US" dirty="0"/>
              <a:t>상추</a:t>
            </a:r>
            <a:r>
              <a:rPr dirty="0"/>
              <a:t> 43%, 콩 40%로 </a:t>
            </a:r>
            <a:r>
              <a:rPr dirty="0" err="1"/>
              <a:t>설계인</a:t>
            </a:r>
            <a:r>
              <a:rPr dirty="0"/>
              <a:t> 50%에 </a:t>
            </a:r>
            <a:r>
              <a:rPr dirty="0" err="1"/>
              <a:t>가까웠습니다</a:t>
            </a:r>
            <a:r>
              <a:rPr dirty="0"/>
              <a:t>. </a:t>
            </a:r>
            <a:r>
              <a:rPr dirty="0" err="1"/>
              <a:t>침수구는</a:t>
            </a:r>
            <a:r>
              <a:rPr dirty="0"/>
              <a:t> </a:t>
            </a:r>
            <a:r>
              <a:rPr dirty="0" err="1"/>
              <a:t>콩이</a:t>
            </a:r>
            <a:r>
              <a:rPr dirty="0"/>
              <a:t> 87%였지만 </a:t>
            </a:r>
            <a:r>
              <a:rPr lang="ko-KR" altLang="en-US" dirty="0"/>
              <a:t>상추는</a:t>
            </a:r>
            <a:r>
              <a:rPr dirty="0"/>
              <a:t> </a:t>
            </a:r>
            <a:r>
              <a:rPr dirty="0" err="1"/>
              <a:t>화분이</a:t>
            </a:r>
            <a:r>
              <a:rPr dirty="0"/>
              <a:t> </a:t>
            </a:r>
            <a:r>
              <a:rPr dirty="0" err="1"/>
              <a:t>과습한</a:t>
            </a:r>
            <a:r>
              <a:rPr dirty="0"/>
              <a:t> </a:t>
            </a:r>
            <a:r>
              <a:rPr dirty="0" err="1"/>
              <a:t>상태가</a:t>
            </a:r>
            <a:r>
              <a:rPr dirty="0"/>
              <a:t> </a:t>
            </a:r>
            <a:r>
              <a:rPr dirty="0" err="1"/>
              <a:t>유지되어</a:t>
            </a:r>
            <a:r>
              <a:rPr dirty="0"/>
              <a:t> 56%만 </a:t>
            </a:r>
            <a:r>
              <a:rPr dirty="0" err="1"/>
              <a:t>관수되었습니다</a:t>
            </a:r>
            <a:r>
              <a:rPr dirty="0"/>
              <a:t>. </a:t>
            </a:r>
            <a:r>
              <a:rPr dirty="0" err="1"/>
              <a:t>복합구는</a:t>
            </a:r>
            <a:r>
              <a:rPr dirty="0"/>
              <a:t> </a:t>
            </a:r>
            <a:r>
              <a:rPr lang="ko-KR" altLang="en-US" dirty="0"/>
              <a:t>상추</a:t>
            </a:r>
            <a:r>
              <a:rPr dirty="0"/>
              <a:t> 37%, 콩 44%였습니다. </a:t>
            </a:r>
            <a:r>
              <a:rPr dirty="0" err="1"/>
              <a:t>다만</a:t>
            </a:r>
            <a:r>
              <a:rPr dirty="0"/>
              <a:t> </a:t>
            </a:r>
            <a:r>
              <a:rPr dirty="0" err="1"/>
              <a:t>콩은</a:t>
            </a:r>
            <a:r>
              <a:rPr dirty="0"/>
              <a:t> </a:t>
            </a:r>
            <a:r>
              <a:rPr dirty="0" err="1"/>
              <a:t>포트</a:t>
            </a:r>
            <a:r>
              <a:rPr dirty="0"/>
              <a:t> </a:t>
            </a:r>
            <a:r>
              <a:rPr dirty="0" err="1"/>
              <a:t>밖으로</a:t>
            </a:r>
            <a:r>
              <a:rPr dirty="0"/>
              <a:t> </a:t>
            </a:r>
            <a:r>
              <a:rPr dirty="0" err="1"/>
              <a:t>나간</a:t>
            </a:r>
            <a:r>
              <a:rPr dirty="0"/>
              <a:t> </a:t>
            </a:r>
            <a:r>
              <a:rPr dirty="0" err="1"/>
              <a:t>뿌리가</a:t>
            </a:r>
            <a:r>
              <a:rPr dirty="0"/>
              <a:t> </a:t>
            </a:r>
            <a:r>
              <a:rPr dirty="0" err="1"/>
              <a:t>있어</a:t>
            </a:r>
            <a:r>
              <a:rPr dirty="0"/>
              <a:t> </a:t>
            </a:r>
            <a:r>
              <a:rPr dirty="0" err="1"/>
              <a:t>실제</a:t>
            </a:r>
            <a:r>
              <a:rPr dirty="0"/>
              <a:t> </a:t>
            </a:r>
            <a:r>
              <a:rPr dirty="0" err="1"/>
              <a:t>수분</a:t>
            </a:r>
            <a:r>
              <a:rPr dirty="0"/>
              <a:t> </a:t>
            </a:r>
            <a:r>
              <a:rPr dirty="0" err="1"/>
              <a:t>이용은</a:t>
            </a:r>
            <a:r>
              <a:rPr dirty="0"/>
              <a:t> </a:t>
            </a:r>
            <a:r>
              <a:rPr dirty="0" err="1"/>
              <a:t>다를</a:t>
            </a:r>
            <a:r>
              <a:rPr dirty="0"/>
              <a:t> 수 </a:t>
            </a:r>
            <a:r>
              <a:rPr dirty="0" err="1"/>
              <a:t>있습니다</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(약 40초) 첫 </a:t>
            </a:r>
            <a:r>
              <a:rPr dirty="0" err="1"/>
              <a:t>번째</a:t>
            </a:r>
            <a:r>
              <a:rPr dirty="0"/>
              <a:t> </a:t>
            </a:r>
            <a:r>
              <a:rPr dirty="0" err="1"/>
              <a:t>단계인</a:t>
            </a:r>
            <a:r>
              <a:rPr dirty="0"/>
              <a:t> </a:t>
            </a:r>
            <a:r>
              <a:rPr dirty="0" err="1"/>
              <a:t>기공입니다</a:t>
            </a:r>
            <a:r>
              <a:rPr dirty="0"/>
              <a:t>. </a:t>
            </a:r>
            <a:r>
              <a:rPr dirty="0" err="1"/>
              <a:t>그래프와</a:t>
            </a:r>
            <a:r>
              <a:rPr dirty="0"/>
              <a:t> </a:t>
            </a:r>
            <a:r>
              <a:rPr dirty="0" err="1"/>
              <a:t>표는</a:t>
            </a:r>
            <a:r>
              <a:rPr dirty="0"/>
              <a:t> </a:t>
            </a:r>
            <a:r>
              <a:rPr dirty="0" err="1"/>
              <a:t>측정</a:t>
            </a:r>
            <a:r>
              <a:rPr dirty="0"/>
              <a:t> </a:t>
            </a:r>
            <a:r>
              <a:rPr dirty="0" err="1"/>
              <a:t>광도와</a:t>
            </a:r>
            <a:r>
              <a:rPr dirty="0"/>
              <a:t> </a:t>
            </a:r>
            <a:r>
              <a:rPr dirty="0" err="1"/>
              <a:t>기온을</a:t>
            </a:r>
            <a:r>
              <a:rPr dirty="0"/>
              <a:t> </a:t>
            </a:r>
            <a:r>
              <a:rPr dirty="0" err="1"/>
              <a:t>보정한</a:t>
            </a:r>
            <a:r>
              <a:rPr dirty="0"/>
              <a:t> </a:t>
            </a:r>
            <a:r>
              <a:rPr dirty="0" err="1"/>
              <a:t>값입니다</a:t>
            </a:r>
            <a:r>
              <a:rPr dirty="0"/>
              <a:t>. </a:t>
            </a:r>
            <a:r>
              <a:rPr dirty="0" err="1"/>
              <a:t>침수</a:t>
            </a:r>
            <a:r>
              <a:rPr dirty="0"/>
              <a:t> </a:t>
            </a:r>
            <a:r>
              <a:rPr dirty="0" err="1"/>
              <a:t>기간</a:t>
            </a:r>
            <a:r>
              <a:rPr dirty="0"/>
              <a:t> </a:t>
            </a:r>
            <a:r>
              <a:rPr dirty="0" err="1"/>
              <a:t>동안</a:t>
            </a:r>
            <a:r>
              <a:rPr dirty="0"/>
              <a:t> 두 </a:t>
            </a:r>
            <a:r>
              <a:rPr dirty="0" err="1"/>
              <a:t>작물</a:t>
            </a:r>
            <a:r>
              <a:rPr dirty="0"/>
              <a:t> </a:t>
            </a:r>
            <a:r>
              <a:rPr dirty="0" err="1"/>
              <a:t>모두</a:t>
            </a:r>
            <a:r>
              <a:rPr dirty="0"/>
              <a:t> </a:t>
            </a:r>
            <a:r>
              <a:rPr dirty="0" err="1"/>
              <a:t>기공전도도가</a:t>
            </a:r>
            <a:r>
              <a:rPr dirty="0"/>
              <a:t> </a:t>
            </a:r>
            <a:r>
              <a:rPr dirty="0" err="1"/>
              <a:t>감소했습니다</a:t>
            </a:r>
            <a:r>
              <a:rPr dirty="0"/>
              <a:t>. </a:t>
            </a:r>
            <a:r>
              <a:rPr lang="ko-KR" altLang="en-US" dirty="0"/>
              <a:t>상추</a:t>
            </a:r>
            <a:r>
              <a:rPr dirty="0"/>
              <a:t> </a:t>
            </a:r>
            <a:r>
              <a:rPr dirty="0" err="1"/>
              <a:t>상추는</a:t>
            </a:r>
            <a:r>
              <a:rPr dirty="0"/>
              <a:t> </a:t>
            </a:r>
            <a:r>
              <a:rPr dirty="0" err="1"/>
              <a:t>침수</a:t>
            </a:r>
            <a:r>
              <a:rPr dirty="0"/>
              <a:t> 3일째 </a:t>
            </a:r>
            <a:r>
              <a:rPr dirty="0" err="1"/>
              <a:t>대조구의</a:t>
            </a:r>
            <a:r>
              <a:rPr dirty="0"/>
              <a:t> 10%까지 </a:t>
            </a:r>
            <a:r>
              <a:rPr dirty="0" err="1"/>
              <a:t>떨어졌다가</a:t>
            </a:r>
            <a:r>
              <a:rPr dirty="0"/>
              <a:t> </a:t>
            </a:r>
            <a:r>
              <a:rPr dirty="0" err="1"/>
              <a:t>배수</a:t>
            </a:r>
            <a:r>
              <a:rPr dirty="0"/>
              <a:t> </a:t>
            </a:r>
            <a:r>
              <a:rPr dirty="0" err="1"/>
              <a:t>직후</a:t>
            </a:r>
            <a:r>
              <a:rPr dirty="0"/>
              <a:t> </a:t>
            </a:r>
            <a:r>
              <a:rPr dirty="0" err="1"/>
              <a:t>빠르게</a:t>
            </a:r>
            <a:r>
              <a:rPr dirty="0"/>
              <a:t> </a:t>
            </a:r>
            <a:r>
              <a:rPr dirty="0" err="1"/>
              <a:t>회복했고</a:t>
            </a:r>
            <a:r>
              <a:rPr dirty="0"/>
              <a:t>, </a:t>
            </a:r>
            <a:r>
              <a:rPr dirty="0" err="1"/>
              <a:t>콩은</a:t>
            </a:r>
            <a:r>
              <a:rPr dirty="0"/>
              <a:t> </a:t>
            </a:r>
            <a:r>
              <a:rPr dirty="0" err="1"/>
              <a:t>침수</a:t>
            </a:r>
            <a:r>
              <a:rPr dirty="0"/>
              <a:t> </a:t>
            </a:r>
            <a:r>
              <a:rPr dirty="0" err="1"/>
              <a:t>효과가</a:t>
            </a:r>
            <a:r>
              <a:rPr dirty="0"/>
              <a:t> DAT 9까지 </a:t>
            </a:r>
            <a:r>
              <a:rPr dirty="0" err="1"/>
              <a:t>이어졌습니다</a:t>
            </a:r>
            <a:r>
              <a:rPr dirty="0"/>
              <a:t>. </a:t>
            </a:r>
            <a:r>
              <a:rPr dirty="0" err="1"/>
              <a:t>건조는</a:t>
            </a:r>
            <a:r>
              <a:rPr dirty="0"/>
              <a:t> 두 </a:t>
            </a:r>
            <a:r>
              <a:rPr dirty="0" err="1"/>
              <a:t>작물</a:t>
            </a:r>
            <a:r>
              <a:rPr dirty="0"/>
              <a:t> </a:t>
            </a:r>
            <a:r>
              <a:rPr dirty="0" err="1"/>
              <a:t>모두</a:t>
            </a:r>
            <a:r>
              <a:rPr dirty="0"/>
              <a:t> </a:t>
            </a:r>
            <a:r>
              <a:rPr dirty="0" err="1"/>
              <a:t>후반에</a:t>
            </a:r>
            <a:r>
              <a:rPr dirty="0"/>
              <a:t> </a:t>
            </a:r>
            <a:r>
              <a:rPr dirty="0" err="1"/>
              <a:t>기공전도도를</a:t>
            </a:r>
            <a:r>
              <a:rPr dirty="0"/>
              <a:t> </a:t>
            </a:r>
            <a:r>
              <a:rPr dirty="0" err="1"/>
              <a:t>낮췄습니다</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(약 50초) 각 </a:t>
            </a:r>
            <a:r>
              <a:rPr dirty="0" err="1"/>
              <a:t>처리구의</a:t>
            </a:r>
            <a:r>
              <a:rPr dirty="0"/>
              <a:t> </a:t>
            </a:r>
            <a:r>
              <a:rPr dirty="0" err="1"/>
              <a:t>기공전도도를</a:t>
            </a:r>
            <a:r>
              <a:rPr dirty="0"/>
              <a:t> </a:t>
            </a:r>
            <a:r>
              <a:rPr dirty="0" err="1"/>
              <a:t>같은</a:t>
            </a:r>
            <a:r>
              <a:rPr dirty="0"/>
              <a:t> 날 </a:t>
            </a:r>
            <a:r>
              <a:rPr dirty="0" err="1"/>
              <a:t>대조구에</a:t>
            </a:r>
            <a:r>
              <a:rPr dirty="0"/>
              <a:t> </a:t>
            </a:r>
            <a:r>
              <a:rPr dirty="0" err="1"/>
              <a:t>대한</a:t>
            </a:r>
            <a:r>
              <a:rPr dirty="0"/>
              <a:t> </a:t>
            </a:r>
            <a:r>
              <a:rPr dirty="0" err="1"/>
              <a:t>비율로</a:t>
            </a:r>
            <a:r>
              <a:rPr dirty="0"/>
              <a:t> </a:t>
            </a:r>
            <a:r>
              <a:rPr dirty="0" err="1"/>
              <a:t>나타낸</a:t>
            </a:r>
            <a:r>
              <a:rPr dirty="0"/>
              <a:t> </a:t>
            </a:r>
            <a:r>
              <a:rPr dirty="0" err="1"/>
              <a:t>그래프입니다</a:t>
            </a:r>
            <a:r>
              <a:rPr dirty="0"/>
              <a:t>. </a:t>
            </a:r>
            <a:r>
              <a:rPr dirty="0" err="1"/>
              <a:t>건조와</a:t>
            </a:r>
            <a:r>
              <a:rPr dirty="0"/>
              <a:t> </a:t>
            </a:r>
            <a:r>
              <a:rPr dirty="0" err="1"/>
              <a:t>복합은</a:t>
            </a:r>
            <a:r>
              <a:rPr dirty="0"/>
              <a:t> </a:t>
            </a:r>
            <a:r>
              <a:rPr dirty="0" err="1"/>
              <a:t>회색으로</a:t>
            </a:r>
            <a:r>
              <a:rPr dirty="0"/>
              <a:t> </a:t>
            </a:r>
            <a:r>
              <a:rPr dirty="0" err="1"/>
              <a:t>두고</a:t>
            </a:r>
            <a:r>
              <a:rPr dirty="0"/>
              <a:t> </a:t>
            </a:r>
            <a:r>
              <a:rPr dirty="0" err="1"/>
              <a:t>침수</a:t>
            </a:r>
            <a:r>
              <a:rPr dirty="0"/>
              <a:t> </a:t>
            </a:r>
            <a:r>
              <a:rPr dirty="0" err="1"/>
              <a:t>위주로</a:t>
            </a:r>
            <a:r>
              <a:rPr dirty="0"/>
              <a:t> </a:t>
            </a:r>
            <a:r>
              <a:rPr dirty="0" err="1"/>
              <a:t>설명하겠습니다</a:t>
            </a:r>
            <a:r>
              <a:rPr dirty="0"/>
              <a:t>. </a:t>
            </a:r>
            <a:r>
              <a:rPr lang="ko-KR" altLang="en-US" dirty="0"/>
              <a:t>상추</a:t>
            </a:r>
            <a:r>
              <a:rPr dirty="0"/>
              <a:t> </a:t>
            </a:r>
            <a:r>
              <a:rPr dirty="0" err="1"/>
              <a:t>상추는</a:t>
            </a:r>
            <a:r>
              <a:rPr dirty="0"/>
              <a:t> </a:t>
            </a:r>
            <a:r>
              <a:rPr dirty="0" err="1"/>
              <a:t>침수</a:t>
            </a:r>
            <a:r>
              <a:rPr dirty="0"/>
              <a:t> 3일째 10%까지 </a:t>
            </a:r>
            <a:r>
              <a:rPr dirty="0" err="1"/>
              <a:t>떨어졌지만</a:t>
            </a:r>
            <a:r>
              <a:rPr dirty="0"/>
              <a:t> </a:t>
            </a:r>
            <a:r>
              <a:rPr dirty="0" err="1"/>
              <a:t>배수</a:t>
            </a:r>
            <a:r>
              <a:rPr dirty="0"/>
              <a:t> 후 2~3일, 즉 DAT 5~6에 </a:t>
            </a:r>
            <a:r>
              <a:rPr dirty="0" err="1"/>
              <a:t>대조구</a:t>
            </a:r>
            <a:r>
              <a:rPr dirty="0"/>
              <a:t> </a:t>
            </a:r>
            <a:r>
              <a:rPr dirty="0" err="1"/>
              <a:t>수준으로</a:t>
            </a:r>
            <a:r>
              <a:rPr dirty="0"/>
              <a:t> </a:t>
            </a:r>
            <a:r>
              <a:rPr dirty="0" err="1"/>
              <a:t>회복했습니다</a:t>
            </a:r>
            <a:r>
              <a:rPr dirty="0"/>
              <a:t>. </a:t>
            </a:r>
            <a:r>
              <a:rPr dirty="0" err="1"/>
              <a:t>콩은</a:t>
            </a:r>
            <a:r>
              <a:rPr dirty="0"/>
              <a:t> DAT 9에도 48%로 </a:t>
            </a:r>
            <a:r>
              <a:rPr dirty="0" err="1"/>
              <a:t>회복되지</a:t>
            </a:r>
            <a:r>
              <a:rPr dirty="0"/>
              <a:t> </a:t>
            </a:r>
            <a:r>
              <a:rPr dirty="0" err="1"/>
              <a:t>않았고</a:t>
            </a:r>
            <a:r>
              <a:rPr dirty="0"/>
              <a:t> DAT 17 </a:t>
            </a:r>
            <a:r>
              <a:rPr dirty="0" err="1"/>
              <a:t>이후에야</a:t>
            </a:r>
            <a:r>
              <a:rPr dirty="0"/>
              <a:t> </a:t>
            </a:r>
            <a:r>
              <a:rPr dirty="0" err="1"/>
              <a:t>대조구에</a:t>
            </a:r>
            <a:r>
              <a:rPr dirty="0"/>
              <a:t> </a:t>
            </a:r>
            <a:r>
              <a:rPr dirty="0" err="1"/>
              <a:t>가까워졌습니다</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(약 35초) 두 </a:t>
            </a:r>
            <a:r>
              <a:rPr dirty="0" err="1"/>
              <a:t>번째</a:t>
            </a:r>
            <a:r>
              <a:rPr dirty="0"/>
              <a:t> </a:t>
            </a:r>
            <a:r>
              <a:rPr dirty="0" err="1"/>
              <a:t>단계인</a:t>
            </a:r>
            <a:r>
              <a:rPr dirty="0"/>
              <a:t> </a:t>
            </a:r>
            <a:r>
              <a:rPr dirty="0" err="1"/>
              <a:t>명반응입니다</a:t>
            </a:r>
            <a:r>
              <a:rPr dirty="0"/>
              <a:t>. P2 </a:t>
            </a:r>
            <a:r>
              <a:rPr dirty="0" err="1"/>
              <a:t>구간은</a:t>
            </a:r>
            <a:r>
              <a:rPr dirty="0"/>
              <a:t> </a:t>
            </a:r>
            <a:r>
              <a:rPr dirty="0" err="1"/>
              <a:t>광도</a:t>
            </a:r>
            <a:r>
              <a:rPr dirty="0"/>
              <a:t> </a:t>
            </a:r>
            <a:r>
              <a:rPr dirty="0" err="1"/>
              <a:t>수준을</a:t>
            </a:r>
            <a:r>
              <a:rPr dirty="0"/>
              <a:t> </a:t>
            </a:r>
            <a:r>
              <a:rPr dirty="0" err="1"/>
              <a:t>나누지</a:t>
            </a:r>
            <a:r>
              <a:rPr dirty="0"/>
              <a:t> </a:t>
            </a:r>
            <a:r>
              <a:rPr dirty="0" err="1"/>
              <a:t>않고</a:t>
            </a:r>
            <a:r>
              <a:rPr dirty="0"/>
              <a:t> </a:t>
            </a:r>
            <a:r>
              <a:rPr dirty="0" err="1"/>
              <a:t>통합하여</a:t>
            </a:r>
            <a:r>
              <a:rPr dirty="0"/>
              <a:t> </a:t>
            </a:r>
            <a:r>
              <a:rPr dirty="0" err="1"/>
              <a:t>분석했습니다</a:t>
            </a:r>
            <a:r>
              <a:rPr dirty="0"/>
              <a:t>. </a:t>
            </a:r>
            <a:r>
              <a:rPr dirty="0" err="1"/>
              <a:t>콩에서는</a:t>
            </a:r>
            <a:r>
              <a:rPr dirty="0"/>
              <a:t> P1에서 </a:t>
            </a:r>
            <a:r>
              <a:rPr dirty="0" err="1"/>
              <a:t>침수구가</a:t>
            </a:r>
            <a:r>
              <a:rPr dirty="0"/>
              <a:t> </a:t>
            </a:r>
            <a:r>
              <a:rPr dirty="0" err="1"/>
              <a:t>대조구보다</a:t>
            </a:r>
            <a:r>
              <a:rPr dirty="0"/>
              <a:t> </a:t>
            </a:r>
            <a:r>
              <a:rPr dirty="0" err="1"/>
              <a:t>약간</a:t>
            </a:r>
            <a:r>
              <a:rPr dirty="0"/>
              <a:t> </a:t>
            </a:r>
            <a:r>
              <a:rPr dirty="0" err="1"/>
              <a:t>낮았고</a:t>
            </a:r>
            <a:r>
              <a:rPr dirty="0"/>
              <a:t>, P2에서는 </a:t>
            </a:r>
            <a:r>
              <a:rPr dirty="0" err="1"/>
              <a:t>건조구의</a:t>
            </a:r>
            <a:r>
              <a:rPr dirty="0"/>
              <a:t> </a:t>
            </a:r>
            <a:r>
              <a:rPr dirty="0" err="1"/>
              <a:t>Φ_PSII가</a:t>
            </a:r>
            <a:r>
              <a:rPr dirty="0"/>
              <a:t> 0.61로 </a:t>
            </a:r>
            <a:r>
              <a:rPr dirty="0" err="1"/>
              <a:t>대조구</a:t>
            </a:r>
            <a:r>
              <a:rPr dirty="0"/>
              <a:t> 0.70보다 </a:t>
            </a:r>
            <a:r>
              <a:rPr dirty="0" err="1"/>
              <a:t>낮았습니다</a:t>
            </a:r>
            <a:r>
              <a:rPr dirty="0"/>
              <a:t>. </a:t>
            </a:r>
            <a:r>
              <a:rPr lang="ko-KR" altLang="en-US" dirty="0"/>
              <a:t>상추</a:t>
            </a:r>
            <a:r>
              <a:rPr dirty="0"/>
              <a:t> </a:t>
            </a:r>
            <a:r>
              <a:rPr dirty="0" err="1"/>
              <a:t>상추는</a:t>
            </a:r>
            <a:r>
              <a:rPr dirty="0"/>
              <a:t> P1과 P2 </a:t>
            </a:r>
            <a:r>
              <a:rPr dirty="0" err="1"/>
              <a:t>모두</a:t>
            </a:r>
            <a:r>
              <a:rPr dirty="0"/>
              <a:t> </a:t>
            </a:r>
            <a:r>
              <a:rPr dirty="0" err="1"/>
              <a:t>처리</a:t>
            </a:r>
            <a:r>
              <a:rPr dirty="0"/>
              <a:t> 간 </a:t>
            </a:r>
            <a:r>
              <a:rPr dirty="0" err="1"/>
              <a:t>차이가</a:t>
            </a:r>
            <a:r>
              <a:rPr dirty="0"/>
              <a:t> </a:t>
            </a:r>
            <a:r>
              <a:rPr dirty="0" err="1"/>
              <a:t>없었습니다</a:t>
            </a:r>
            <a:r>
              <a:rPr dirty="0"/>
              <a:t>. </a:t>
            </a:r>
            <a:r>
              <a:rPr dirty="0" err="1"/>
              <a:t>따라서</a:t>
            </a:r>
            <a:r>
              <a:rPr dirty="0"/>
              <a:t> </a:t>
            </a:r>
            <a:r>
              <a:rPr lang="ko-KR" altLang="en-US" dirty="0"/>
              <a:t>상추에서는</a:t>
            </a:r>
            <a:r>
              <a:rPr dirty="0"/>
              <a:t> </a:t>
            </a:r>
            <a:r>
              <a:rPr dirty="0" err="1"/>
              <a:t>기공이</a:t>
            </a:r>
            <a:r>
              <a:rPr dirty="0"/>
              <a:t> </a:t>
            </a:r>
            <a:r>
              <a:rPr dirty="0" err="1"/>
              <a:t>닫혔는데도</a:t>
            </a:r>
            <a:r>
              <a:rPr dirty="0"/>
              <a:t> </a:t>
            </a:r>
            <a:r>
              <a:rPr dirty="0" err="1"/>
              <a:t>명반응은</a:t>
            </a:r>
            <a:r>
              <a:rPr dirty="0"/>
              <a:t> </a:t>
            </a:r>
            <a:r>
              <a:rPr dirty="0" err="1"/>
              <a:t>영향을</a:t>
            </a:r>
            <a:r>
              <a:rPr dirty="0"/>
              <a:t> </a:t>
            </a:r>
            <a:r>
              <a:rPr dirty="0" err="1"/>
              <a:t>받지</a:t>
            </a:r>
            <a:r>
              <a:rPr dirty="0"/>
              <a:t> </a:t>
            </a:r>
            <a:r>
              <a:rPr dirty="0" err="1"/>
              <a:t>않았습니다</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(약 35초) 세 </a:t>
            </a:r>
            <a:r>
              <a:rPr dirty="0" err="1"/>
              <a:t>번째</a:t>
            </a:r>
            <a:r>
              <a:rPr dirty="0"/>
              <a:t> </a:t>
            </a:r>
            <a:r>
              <a:rPr dirty="0" err="1"/>
              <a:t>단계인</a:t>
            </a:r>
            <a:r>
              <a:rPr dirty="0"/>
              <a:t> </a:t>
            </a:r>
            <a:r>
              <a:rPr dirty="0" err="1"/>
              <a:t>광합성</a:t>
            </a:r>
            <a:r>
              <a:rPr dirty="0"/>
              <a:t> </a:t>
            </a:r>
            <a:r>
              <a:rPr dirty="0" err="1"/>
              <a:t>능력입니다</a:t>
            </a:r>
            <a:r>
              <a:rPr dirty="0"/>
              <a:t>. </a:t>
            </a:r>
            <a:r>
              <a:rPr dirty="0" err="1"/>
              <a:t>콩은</a:t>
            </a:r>
            <a:r>
              <a:rPr dirty="0"/>
              <a:t> 9월 </a:t>
            </a:r>
            <a:r>
              <a:rPr dirty="0" err="1"/>
              <a:t>측정에서</a:t>
            </a:r>
            <a:r>
              <a:rPr dirty="0"/>
              <a:t> </a:t>
            </a:r>
            <a:r>
              <a:rPr dirty="0" err="1"/>
              <a:t>건조구와</a:t>
            </a:r>
            <a:r>
              <a:rPr dirty="0"/>
              <a:t> </a:t>
            </a:r>
            <a:r>
              <a:rPr dirty="0" err="1"/>
              <a:t>복합구의</a:t>
            </a:r>
            <a:r>
              <a:rPr dirty="0"/>
              <a:t> </a:t>
            </a:r>
            <a:r>
              <a:rPr dirty="0" err="1"/>
              <a:t>최대</a:t>
            </a:r>
            <a:r>
              <a:rPr dirty="0"/>
              <a:t> </a:t>
            </a:r>
            <a:r>
              <a:rPr dirty="0" err="1"/>
              <a:t>카르복실화</a:t>
            </a:r>
            <a:r>
              <a:rPr dirty="0"/>
              <a:t> </a:t>
            </a:r>
            <a:r>
              <a:rPr dirty="0" err="1"/>
              <a:t>속도와</a:t>
            </a:r>
            <a:r>
              <a:rPr dirty="0"/>
              <a:t> </a:t>
            </a:r>
            <a:r>
              <a:rPr dirty="0" err="1"/>
              <a:t>최대</a:t>
            </a:r>
            <a:r>
              <a:rPr dirty="0"/>
              <a:t> </a:t>
            </a:r>
            <a:r>
              <a:rPr dirty="0" err="1"/>
              <a:t>전자전달</a:t>
            </a:r>
            <a:r>
              <a:rPr dirty="0"/>
              <a:t> </a:t>
            </a:r>
            <a:r>
              <a:rPr dirty="0" err="1"/>
              <a:t>속도가</a:t>
            </a:r>
            <a:r>
              <a:rPr dirty="0"/>
              <a:t> </a:t>
            </a:r>
            <a:r>
              <a:rPr dirty="0" err="1"/>
              <a:t>낮았고</a:t>
            </a:r>
            <a:r>
              <a:rPr dirty="0"/>
              <a:t>, </a:t>
            </a:r>
            <a:r>
              <a:rPr lang="ko-KR" altLang="en-US" dirty="0"/>
              <a:t>상추</a:t>
            </a:r>
            <a:r>
              <a:rPr dirty="0"/>
              <a:t> </a:t>
            </a:r>
            <a:r>
              <a:rPr dirty="0" err="1"/>
              <a:t>상추도</a:t>
            </a:r>
            <a:r>
              <a:rPr dirty="0"/>
              <a:t> </a:t>
            </a:r>
            <a:r>
              <a:rPr dirty="0" err="1"/>
              <a:t>복합구에서</a:t>
            </a:r>
            <a:r>
              <a:rPr dirty="0"/>
              <a:t> </a:t>
            </a:r>
            <a:r>
              <a:rPr dirty="0" err="1"/>
              <a:t>가장</a:t>
            </a:r>
            <a:r>
              <a:rPr dirty="0"/>
              <a:t> </a:t>
            </a:r>
            <a:r>
              <a:rPr dirty="0" err="1"/>
              <a:t>낮은</a:t>
            </a:r>
            <a:r>
              <a:rPr dirty="0"/>
              <a:t> </a:t>
            </a:r>
            <a:r>
              <a:rPr dirty="0" err="1"/>
              <a:t>경향을</a:t>
            </a:r>
            <a:r>
              <a:rPr dirty="0"/>
              <a:t> </a:t>
            </a:r>
            <a:r>
              <a:rPr dirty="0" err="1"/>
              <a:t>보였습니다</a:t>
            </a:r>
            <a:r>
              <a:rPr dirty="0"/>
              <a:t>. </a:t>
            </a:r>
            <a:r>
              <a:rPr dirty="0" err="1"/>
              <a:t>암호흡</a:t>
            </a:r>
            <a:r>
              <a:rPr dirty="0"/>
              <a:t>, </a:t>
            </a:r>
            <a:r>
              <a:rPr dirty="0" err="1"/>
              <a:t>최대</a:t>
            </a:r>
            <a:r>
              <a:rPr dirty="0"/>
              <a:t> </a:t>
            </a:r>
            <a:r>
              <a:rPr dirty="0" err="1"/>
              <a:t>광합성</a:t>
            </a:r>
            <a:r>
              <a:rPr dirty="0"/>
              <a:t> </a:t>
            </a:r>
            <a:r>
              <a:rPr dirty="0" err="1"/>
              <a:t>속도</a:t>
            </a:r>
            <a:r>
              <a:rPr dirty="0"/>
              <a:t>, </a:t>
            </a:r>
            <a:r>
              <a:rPr dirty="0" err="1"/>
              <a:t>양자수율은</a:t>
            </a:r>
            <a:r>
              <a:rPr dirty="0"/>
              <a:t> 두 </a:t>
            </a:r>
            <a:r>
              <a:rPr dirty="0" err="1"/>
              <a:t>작물</a:t>
            </a:r>
            <a:r>
              <a:rPr dirty="0"/>
              <a:t> </a:t>
            </a:r>
            <a:r>
              <a:rPr dirty="0" err="1"/>
              <a:t>모두</a:t>
            </a:r>
            <a:r>
              <a:rPr dirty="0"/>
              <a:t> </a:t>
            </a:r>
            <a:r>
              <a:rPr dirty="0" err="1"/>
              <a:t>처리</a:t>
            </a:r>
            <a:r>
              <a:rPr dirty="0"/>
              <a:t> 간 </a:t>
            </a:r>
            <a:r>
              <a:rPr dirty="0" err="1"/>
              <a:t>차이가</a:t>
            </a:r>
            <a:r>
              <a:rPr dirty="0"/>
              <a:t> </a:t>
            </a:r>
            <a:r>
              <a:rPr dirty="0" err="1"/>
              <a:t>없었습니다</a:t>
            </a:r>
            <a:r>
              <a:rPr dirty="0"/>
              <a:t>. </a:t>
            </a:r>
            <a:r>
              <a:rPr dirty="0" err="1"/>
              <a:t>다만</a:t>
            </a:r>
            <a:r>
              <a:rPr dirty="0"/>
              <a:t> </a:t>
            </a:r>
            <a:r>
              <a:rPr dirty="0" err="1"/>
              <a:t>처리별로</a:t>
            </a:r>
            <a:r>
              <a:rPr dirty="0"/>
              <a:t> </a:t>
            </a:r>
            <a:r>
              <a:rPr dirty="0" err="1"/>
              <a:t>측정일이</a:t>
            </a:r>
            <a:r>
              <a:rPr dirty="0"/>
              <a:t> </a:t>
            </a:r>
            <a:r>
              <a:rPr dirty="0" err="1"/>
              <a:t>달라</a:t>
            </a:r>
            <a:r>
              <a:rPr dirty="0"/>
              <a:t> </a:t>
            </a:r>
            <a:r>
              <a:rPr dirty="0" err="1"/>
              <a:t>측정일과</a:t>
            </a:r>
            <a:r>
              <a:rPr dirty="0"/>
              <a:t> </a:t>
            </a:r>
            <a:r>
              <a:rPr dirty="0" err="1"/>
              <a:t>처리</a:t>
            </a:r>
            <a:r>
              <a:rPr dirty="0"/>
              <a:t> </a:t>
            </a:r>
            <a:r>
              <a:rPr dirty="0" err="1"/>
              <a:t>효과가</a:t>
            </a:r>
            <a:r>
              <a:rPr dirty="0"/>
              <a:t> </a:t>
            </a:r>
            <a:r>
              <a:rPr dirty="0" err="1"/>
              <a:t>섞여</a:t>
            </a:r>
            <a:r>
              <a:rPr dirty="0"/>
              <a:t> </a:t>
            </a:r>
            <a:r>
              <a:rPr dirty="0" err="1"/>
              <a:t>있고</a:t>
            </a:r>
            <a:r>
              <a:rPr dirty="0"/>
              <a:t> </a:t>
            </a:r>
            <a:r>
              <a:rPr dirty="0" err="1"/>
              <a:t>곡선</a:t>
            </a:r>
            <a:r>
              <a:rPr dirty="0"/>
              <a:t> </a:t>
            </a:r>
            <a:r>
              <a:rPr dirty="0" err="1"/>
              <a:t>수도</a:t>
            </a:r>
            <a:r>
              <a:rPr dirty="0"/>
              <a:t> </a:t>
            </a:r>
            <a:r>
              <a:rPr dirty="0" err="1"/>
              <a:t>처리당</a:t>
            </a:r>
            <a:r>
              <a:rPr dirty="0"/>
              <a:t> 3~4개로 </a:t>
            </a:r>
            <a:r>
              <a:rPr dirty="0" err="1"/>
              <a:t>적어</a:t>
            </a:r>
            <a:r>
              <a:rPr dirty="0"/>
              <a:t> </a:t>
            </a:r>
            <a:r>
              <a:rPr dirty="0" err="1"/>
              <a:t>확정적으로</a:t>
            </a:r>
            <a:r>
              <a:rPr dirty="0"/>
              <a:t> </a:t>
            </a:r>
            <a:r>
              <a:rPr dirty="0" err="1"/>
              <a:t>말하기는</a:t>
            </a:r>
            <a:r>
              <a:rPr dirty="0"/>
              <a:t> </a:t>
            </a:r>
            <a:r>
              <a:rPr dirty="0" err="1"/>
              <a:t>어렵습니다</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(약 50초) 네 </a:t>
            </a:r>
            <a:r>
              <a:rPr dirty="0" err="1"/>
              <a:t>번째</a:t>
            </a:r>
            <a:r>
              <a:rPr dirty="0"/>
              <a:t> </a:t>
            </a:r>
            <a:r>
              <a:rPr dirty="0" err="1"/>
              <a:t>단계인</a:t>
            </a:r>
            <a:r>
              <a:rPr dirty="0"/>
              <a:t> </a:t>
            </a:r>
            <a:r>
              <a:rPr dirty="0" err="1"/>
              <a:t>생육과</a:t>
            </a:r>
            <a:r>
              <a:rPr dirty="0"/>
              <a:t> </a:t>
            </a:r>
            <a:r>
              <a:rPr dirty="0" err="1"/>
              <a:t>수량입니다</a:t>
            </a:r>
            <a:r>
              <a:rPr dirty="0"/>
              <a:t>. </a:t>
            </a:r>
            <a:r>
              <a:rPr lang="ko-KR" altLang="en-US" dirty="0"/>
              <a:t>상추</a:t>
            </a:r>
            <a:r>
              <a:rPr dirty="0"/>
              <a:t> </a:t>
            </a:r>
            <a:r>
              <a:rPr dirty="0" err="1"/>
              <a:t>상추는</a:t>
            </a:r>
            <a:r>
              <a:rPr dirty="0"/>
              <a:t> </a:t>
            </a:r>
            <a:r>
              <a:rPr dirty="0" err="1"/>
              <a:t>건조구</a:t>
            </a:r>
            <a:r>
              <a:rPr dirty="0"/>
              <a:t> 16%, </a:t>
            </a:r>
            <a:r>
              <a:rPr dirty="0" err="1"/>
              <a:t>침수구</a:t>
            </a:r>
            <a:r>
              <a:rPr dirty="0"/>
              <a:t> 34%, </a:t>
            </a:r>
            <a:r>
              <a:rPr dirty="0" err="1"/>
              <a:t>복합구</a:t>
            </a:r>
            <a:r>
              <a:rPr dirty="0"/>
              <a:t> 43%의 </a:t>
            </a:r>
            <a:r>
              <a:rPr dirty="0" err="1"/>
              <a:t>지상부</a:t>
            </a:r>
            <a:r>
              <a:rPr dirty="0"/>
              <a:t> </a:t>
            </a:r>
            <a:r>
              <a:rPr dirty="0" err="1"/>
              <a:t>건물중</a:t>
            </a:r>
            <a:r>
              <a:rPr dirty="0"/>
              <a:t> </a:t>
            </a:r>
            <a:r>
              <a:rPr dirty="0" err="1"/>
              <a:t>감소를</a:t>
            </a:r>
            <a:r>
              <a:rPr dirty="0"/>
              <a:t> </a:t>
            </a:r>
            <a:r>
              <a:rPr dirty="0" err="1"/>
              <a:t>보였습니다</a:t>
            </a:r>
            <a:r>
              <a:rPr dirty="0"/>
              <a:t>. </a:t>
            </a:r>
            <a:r>
              <a:rPr dirty="0" err="1"/>
              <a:t>콩은</a:t>
            </a:r>
            <a:r>
              <a:rPr dirty="0"/>
              <a:t> </a:t>
            </a:r>
            <a:r>
              <a:rPr dirty="0" err="1"/>
              <a:t>종실</a:t>
            </a:r>
            <a:r>
              <a:rPr dirty="0"/>
              <a:t> </a:t>
            </a:r>
            <a:r>
              <a:rPr dirty="0" err="1"/>
              <a:t>생체중</a:t>
            </a:r>
            <a:r>
              <a:rPr dirty="0"/>
              <a:t>, </a:t>
            </a:r>
            <a:r>
              <a:rPr dirty="0" err="1"/>
              <a:t>종실</a:t>
            </a:r>
            <a:r>
              <a:rPr dirty="0"/>
              <a:t> </a:t>
            </a:r>
            <a:r>
              <a:rPr dirty="0" err="1"/>
              <a:t>건조중</a:t>
            </a:r>
            <a:r>
              <a:rPr dirty="0"/>
              <a:t>, </a:t>
            </a:r>
            <a:r>
              <a:rPr dirty="0" err="1"/>
              <a:t>종실</a:t>
            </a:r>
            <a:r>
              <a:rPr dirty="0"/>
              <a:t> 수, </a:t>
            </a:r>
            <a:r>
              <a:rPr dirty="0" err="1"/>
              <a:t>꼬투리</a:t>
            </a:r>
            <a:r>
              <a:rPr dirty="0"/>
              <a:t> 수 </a:t>
            </a:r>
            <a:r>
              <a:rPr dirty="0" err="1"/>
              <a:t>모두</a:t>
            </a:r>
            <a:r>
              <a:rPr dirty="0"/>
              <a:t> </a:t>
            </a:r>
            <a:r>
              <a:rPr dirty="0" err="1"/>
              <a:t>처리</a:t>
            </a:r>
            <a:r>
              <a:rPr dirty="0"/>
              <a:t> 간 </a:t>
            </a:r>
            <a:r>
              <a:rPr dirty="0" err="1"/>
              <a:t>유의한</a:t>
            </a:r>
            <a:r>
              <a:rPr dirty="0"/>
              <a:t> </a:t>
            </a:r>
            <a:r>
              <a:rPr dirty="0" err="1"/>
              <a:t>차이가</a:t>
            </a:r>
            <a:r>
              <a:rPr dirty="0"/>
              <a:t> </a:t>
            </a:r>
            <a:r>
              <a:rPr dirty="0" err="1"/>
              <a:t>없었습니다</a:t>
            </a:r>
            <a:r>
              <a:rPr dirty="0"/>
              <a:t>. </a:t>
            </a:r>
            <a:r>
              <a:rPr dirty="0" err="1"/>
              <a:t>표에</a:t>
            </a:r>
            <a:r>
              <a:rPr dirty="0"/>
              <a:t> </a:t>
            </a:r>
            <a:r>
              <a:rPr dirty="0" err="1"/>
              <a:t>대조구</a:t>
            </a:r>
            <a:r>
              <a:rPr dirty="0"/>
              <a:t> </a:t>
            </a:r>
            <a:r>
              <a:rPr dirty="0" err="1"/>
              <a:t>대비</a:t>
            </a:r>
            <a:r>
              <a:rPr dirty="0"/>
              <a:t> </a:t>
            </a:r>
            <a:r>
              <a:rPr dirty="0" err="1"/>
              <a:t>감소율을</a:t>
            </a:r>
            <a:r>
              <a:rPr dirty="0"/>
              <a:t> </a:t>
            </a:r>
            <a:r>
              <a:rPr dirty="0" err="1"/>
              <a:t>같이</a:t>
            </a:r>
            <a:r>
              <a:rPr dirty="0"/>
              <a:t> </a:t>
            </a:r>
            <a:r>
              <a:rPr dirty="0" err="1"/>
              <a:t>적었는데</a:t>
            </a:r>
            <a:r>
              <a:rPr dirty="0"/>
              <a:t>, </a:t>
            </a:r>
            <a:r>
              <a:rPr dirty="0" err="1"/>
              <a:t>종실</a:t>
            </a:r>
            <a:r>
              <a:rPr dirty="0"/>
              <a:t> </a:t>
            </a:r>
            <a:r>
              <a:rPr dirty="0" err="1"/>
              <a:t>생체중은</a:t>
            </a:r>
            <a:r>
              <a:rPr dirty="0"/>
              <a:t> </a:t>
            </a:r>
            <a:r>
              <a:rPr dirty="0" err="1"/>
              <a:t>건조</a:t>
            </a:r>
            <a:r>
              <a:rPr dirty="0"/>
              <a:t> 5%, </a:t>
            </a:r>
            <a:r>
              <a:rPr dirty="0" err="1"/>
              <a:t>침수</a:t>
            </a:r>
            <a:r>
              <a:rPr dirty="0"/>
              <a:t> 5%, </a:t>
            </a:r>
            <a:r>
              <a:rPr dirty="0" err="1"/>
              <a:t>복합</a:t>
            </a:r>
            <a:r>
              <a:rPr dirty="0"/>
              <a:t> 14% </a:t>
            </a:r>
            <a:r>
              <a:rPr dirty="0" err="1"/>
              <a:t>감소했고</a:t>
            </a:r>
            <a:r>
              <a:rPr dirty="0"/>
              <a:t> </a:t>
            </a:r>
            <a:r>
              <a:rPr dirty="0" err="1"/>
              <a:t>종실</a:t>
            </a:r>
            <a:r>
              <a:rPr dirty="0"/>
              <a:t> </a:t>
            </a:r>
            <a:r>
              <a:rPr dirty="0" err="1"/>
              <a:t>건조중은</a:t>
            </a:r>
            <a:r>
              <a:rPr dirty="0"/>
              <a:t> </a:t>
            </a:r>
            <a:r>
              <a:rPr dirty="0" err="1"/>
              <a:t>복합구에서</a:t>
            </a:r>
            <a:r>
              <a:rPr dirty="0"/>
              <a:t> 18%까지 </a:t>
            </a:r>
            <a:r>
              <a:rPr dirty="0" err="1"/>
              <a:t>감소하는</a:t>
            </a:r>
            <a:r>
              <a:rPr dirty="0"/>
              <a:t> </a:t>
            </a:r>
            <a:r>
              <a:rPr dirty="0" err="1"/>
              <a:t>경향이</a:t>
            </a:r>
            <a:r>
              <a:rPr dirty="0"/>
              <a:t> </a:t>
            </a:r>
            <a:r>
              <a:rPr dirty="0" err="1"/>
              <a:t>있었습니다</a:t>
            </a:r>
            <a:r>
              <a:rPr dirty="0"/>
              <a:t>. </a:t>
            </a:r>
            <a:r>
              <a:rPr dirty="0" err="1"/>
              <a:t>다만</a:t>
            </a:r>
            <a:r>
              <a:rPr dirty="0"/>
              <a:t> </a:t>
            </a:r>
            <a:r>
              <a:rPr dirty="0" err="1"/>
              <a:t>검출</a:t>
            </a:r>
            <a:r>
              <a:rPr dirty="0"/>
              <a:t> </a:t>
            </a:r>
            <a:r>
              <a:rPr dirty="0" err="1"/>
              <a:t>한계가</a:t>
            </a:r>
            <a:r>
              <a:rPr dirty="0"/>
              <a:t> 약 40~50%이고 </a:t>
            </a:r>
            <a:r>
              <a:rPr dirty="0" err="1"/>
              <a:t>뿌리가</a:t>
            </a:r>
            <a:r>
              <a:rPr dirty="0"/>
              <a:t> </a:t>
            </a:r>
            <a:r>
              <a:rPr dirty="0" err="1"/>
              <a:t>포트</a:t>
            </a:r>
            <a:r>
              <a:rPr dirty="0"/>
              <a:t> </a:t>
            </a:r>
            <a:r>
              <a:rPr dirty="0" err="1"/>
              <a:t>밖으로</a:t>
            </a:r>
            <a:r>
              <a:rPr dirty="0"/>
              <a:t> </a:t>
            </a:r>
            <a:r>
              <a:rPr dirty="0" err="1"/>
              <a:t>나간</a:t>
            </a:r>
            <a:r>
              <a:rPr dirty="0"/>
              <a:t> </a:t>
            </a:r>
            <a:r>
              <a:rPr dirty="0" err="1"/>
              <a:t>영향이</a:t>
            </a:r>
            <a:r>
              <a:rPr dirty="0"/>
              <a:t> </a:t>
            </a:r>
            <a:r>
              <a:rPr dirty="0" err="1"/>
              <a:t>있어</a:t>
            </a:r>
            <a:r>
              <a:rPr dirty="0"/>
              <a:t> </a:t>
            </a:r>
            <a:r>
              <a:rPr dirty="0" err="1"/>
              <a:t>근거는</a:t>
            </a:r>
            <a:r>
              <a:rPr dirty="0"/>
              <a:t> </a:t>
            </a:r>
            <a:r>
              <a:rPr dirty="0" err="1"/>
              <a:t>약합니다</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(약 20초) </a:t>
            </a:r>
            <a:r>
              <a:rPr dirty="0" err="1"/>
              <a:t>지금까지의</a:t>
            </a:r>
            <a:r>
              <a:rPr dirty="0"/>
              <a:t> </a:t>
            </a:r>
            <a:r>
              <a:rPr dirty="0" err="1"/>
              <a:t>결과를</a:t>
            </a:r>
            <a:r>
              <a:rPr dirty="0"/>
              <a:t> </a:t>
            </a:r>
            <a:r>
              <a:rPr dirty="0" err="1"/>
              <a:t>작물</a:t>
            </a:r>
            <a:r>
              <a:rPr dirty="0"/>
              <a:t>, </a:t>
            </a:r>
            <a:r>
              <a:rPr dirty="0" err="1"/>
              <a:t>처리</a:t>
            </a:r>
            <a:r>
              <a:rPr dirty="0"/>
              <a:t>, </a:t>
            </a:r>
            <a:r>
              <a:rPr dirty="0" err="1"/>
              <a:t>단계별로</a:t>
            </a:r>
            <a:r>
              <a:rPr dirty="0"/>
              <a:t> </a:t>
            </a:r>
            <a:r>
              <a:rPr dirty="0" err="1"/>
              <a:t>정리한</a:t>
            </a:r>
            <a:r>
              <a:rPr dirty="0"/>
              <a:t> </a:t>
            </a:r>
            <a:r>
              <a:rPr dirty="0" err="1"/>
              <a:t>표입니다</a:t>
            </a:r>
            <a:r>
              <a:rPr dirty="0"/>
              <a:t>. </a:t>
            </a:r>
            <a:r>
              <a:rPr lang="ko-KR" altLang="en-US" dirty="0"/>
              <a:t>상추</a:t>
            </a:r>
            <a:r>
              <a:rPr dirty="0"/>
              <a:t> </a:t>
            </a:r>
            <a:r>
              <a:rPr dirty="0" err="1"/>
              <a:t>상추는</a:t>
            </a:r>
            <a:r>
              <a:rPr dirty="0"/>
              <a:t> </a:t>
            </a:r>
            <a:r>
              <a:rPr dirty="0" err="1"/>
              <a:t>기공이</a:t>
            </a:r>
            <a:r>
              <a:rPr dirty="0"/>
              <a:t> </a:t>
            </a:r>
            <a:r>
              <a:rPr dirty="0" err="1"/>
              <a:t>침수</a:t>
            </a:r>
            <a:r>
              <a:rPr dirty="0"/>
              <a:t> </a:t>
            </a:r>
            <a:r>
              <a:rPr dirty="0" err="1"/>
              <a:t>직후</a:t>
            </a:r>
            <a:r>
              <a:rPr dirty="0"/>
              <a:t> </a:t>
            </a:r>
            <a:r>
              <a:rPr dirty="0" err="1"/>
              <a:t>크게</a:t>
            </a:r>
            <a:r>
              <a:rPr dirty="0"/>
              <a:t> </a:t>
            </a:r>
            <a:r>
              <a:rPr dirty="0" err="1"/>
              <a:t>닫혔다가</a:t>
            </a:r>
            <a:r>
              <a:rPr dirty="0"/>
              <a:t> </a:t>
            </a:r>
            <a:r>
              <a:rPr dirty="0" err="1"/>
              <a:t>며칠</a:t>
            </a:r>
            <a:r>
              <a:rPr dirty="0"/>
              <a:t> </a:t>
            </a:r>
            <a:r>
              <a:rPr dirty="0" err="1"/>
              <a:t>만에</a:t>
            </a:r>
            <a:r>
              <a:rPr dirty="0"/>
              <a:t> </a:t>
            </a:r>
            <a:r>
              <a:rPr dirty="0" err="1"/>
              <a:t>회복했고</a:t>
            </a:r>
            <a:r>
              <a:rPr dirty="0"/>
              <a:t> </a:t>
            </a:r>
            <a:r>
              <a:rPr dirty="0" err="1"/>
              <a:t>명반응에는</a:t>
            </a:r>
            <a:r>
              <a:rPr dirty="0"/>
              <a:t> </a:t>
            </a:r>
            <a:r>
              <a:rPr dirty="0" err="1"/>
              <a:t>변화가</a:t>
            </a:r>
            <a:r>
              <a:rPr dirty="0"/>
              <a:t> </a:t>
            </a:r>
            <a:r>
              <a:rPr dirty="0" err="1"/>
              <a:t>없었지만</a:t>
            </a:r>
            <a:r>
              <a:rPr dirty="0"/>
              <a:t>, </a:t>
            </a:r>
            <a:r>
              <a:rPr dirty="0" err="1"/>
              <a:t>건물중은</a:t>
            </a:r>
            <a:r>
              <a:rPr dirty="0"/>
              <a:t> </a:t>
            </a:r>
            <a:r>
              <a:rPr dirty="0" err="1"/>
              <a:t>침수</a:t>
            </a:r>
            <a:r>
              <a:rPr dirty="0"/>
              <a:t> 34%, </a:t>
            </a:r>
            <a:r>
              <a:rPr dirty="0" err="1"/>
              <a:t>복합</a:t>
            </a:r>
            <a:r>
              <a:rPr dirty="0"/>
              <a:t> 43% </a:t>
            </a:r>
            <a:r>
              <a:rPr dirty="0" err="1"/>
              <a:t>감소했습니다</a:t>
            </a:r>
            <a:r>
              <a:rPr dirty="0"/>
              <a:t>. </a:t>
            </a:r>
            <a:r>
              <a:rPr dirty="0" err="1"/>
              <a:t>콩은</a:t>
            </a:r>
            <a:r>
              <a:rPr dirty="0"/>
              <a:t> </a:t>
            </a:r>
            <a:r>
              <a:rPr dirty="0" err="1"/>
              <a:t>기공</a:t>
            </a:r>
            <a:r>
              <a:rPr dirty="0"/>
              <a:t> </a:t>
            </a:r>
            <a:r>
              <a:rPr dirty="0" err="1"/>
              <a:t>회복이</a:t>
            </a:r>
            <a:r>
              <a:rPr dirty="0"/>
              <a:t> </a:t>
            </a:r>
            <a:r>
              <a:rPr dirty="0" err="1"/>
              <a:t>느렸고</a:t>
            </a:r>
            <a:r>
              <a:rPr dirty="0"/>
              <a:t> </a:t>
            </a:r>
            <a:r>
              <a:rPr dirty="0" err="1"/>
              <a:t>건조구에서</a:t>
            </a:r>
            <a:r>
              <a:rPr dirty="0"/>
              <a:t> </a:t>
            </a:r>
            <a:r>
              <a:rPr dirty="0" err="1"/>
              <a:t>명반응이</a:t>
            </a:r>
            <a:r>
              <a:rPr dirty="0"/>
              <a:t> </a:t>
            </a:r>
            <a:r>
              <a:rPr dirty="0" err="1"/>
              <a:t>낮았지만</a:t>
            </a:r>
            <a:r>
              <a:rPr dirty="0"/>
              <a:t> </a:t>
            </a:r>
            <a:r>
              <a:rPr dirty="0" err="1"/>
              <a:t>수량은</a:t>
            </a:r>
            <a:r>
              <a:rPr dirty="0"/>
              <a:t> </a:t>
            </a:r>
            <a:r>
              <a:rPr dirty="0" err="1"/>
              <a:t>종실</a:t>
            </a:r>
            <a:r>
              <a:rPr dirty="0"/>
              <a:t> </a:t>
            </a:r>
            <a:r>
              <a:rPr dirty="0" err="1"/>
              <a:t>생체중</a:t>
            </a:r>
            <a:r>
              <a:rPr dirty="0"/>
              <a:t> </a:t>
            </a:r>
            <a:r>
              <a:rPr dirty="0" err="1"/>
              <a:t>기준</a:t>
            </a:r>
            <a:r>
              <a:rPr dirty="0"/>
              <a:t> 5~14% </a:t>
            </a:r>
            <a:r>
              <a:rPr dirty="0" err="1"/>
              <a:t>감소하는</a:t>
            </a:r>
            <a:r>
              <a:rPr dirty="0"/>
              <a:t> 데 </a:t>
            </a:r>
            <a:r>
              <a:rPr dirty="0" err="1"/>
              <a:t>그쳤습니다</a:t>
            </a:r>
            <a:r>
              <a:rPr dirty="0"/>
              <a:t>. </a:t>
            </a:r>
            <a:r>
              <a:rPr dirty="0" err="1"/>
              <a:t>같은</a:t>
            </a:r>
            <a:r>
              <a:rPr dirty="0"/>
              <a:t> </a:t>
            </a:r>
            <a:r>
              <a:rPr dirty="0" err="1"/>
              <a:t>수분</a:t>
            </a:r>
            <a:r>
              <a:rPr dirty="0"/>
              <a:t> </a:t>
            </a:r>
            <a:r>
              <a:rPr dirty="0" err="1"/>
              <a:t>재해라도</a:t>
            </a:r>
            <a:r>
              <a:rPr dirty="0"/>
              <a:t> </a:t>
            </a:r>
            <a:r>
              <a:rPr dirty="0" err="1"/>
              <a:t>작물에</a:t>
            </a:r>
            <a:r>
              <a:rPr dirty="0"/>
              <a:t> </a:t>
            </a:r>
            <a:r>
              <a:rPr dirty="0" err="1"/>
              <a:t>따라</a:t>
            </a:r>
            <a:r>
              <a:rPr dirty="0"/>
              <a:t> </a:t>
            </a:r>
            <a:r>
              <a:rPr dirty="0" err="1"/>
              <a:t>영향이</a:t>
            </a:r>
            <a:r>
              <a:rPr dirty="0"/>
              <a:t> </a:t>
            </a:r>
            <a:r>
              <a:rPr dirty="0" err="1"/>
              <a:t>나타나는</a:t>
            </a:r>
            <a:r>
              <a:rPr dirty="0"/>
              <a:t> </a:t>
            </a:r>
            <a:r>
              <a:rPr dirty="0" err="1"/>
              <a:t>단계가</a:t>
            </a:r>
            <a:r>
              <a:rPr dirty="0"/>
              <a:t> </a:t>
            </a:r>
            <a:r>
              <a:rPr dirty="0" err="1"/>
              <a:t>다릅니다</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60초) 먼저 콩입니다. 앞서 본 결과를 논리 순서대로 다시 정리하겠습니다. 침수 직후 기공전도도가 먼저 감소했고 DAT 9에도 대조구의 48%로 회복이 느렸습니다. 뿌리의 저산소는 아쿠아포린 기능과 뿌리 수리전도도를 떨어뜨려 잎의 수분 상태를 악화시키고 기공을 닫는 것으로 보고됩니다. 두 번째로 명반응은 건조구에서 P2에 낮아졌고, 세 번째로 광합성 능력도 건조·복합구에서 낮은 경향이었습니다. 그러나 네 번째 수량은 종실 생체중이 5~14% 감소하는 경향이었으나 큰 차이가 없었습니다. 즉 콩은 생리 지표에서는 차이가 있었지만 수량으로는 이어지지 않았습니다. 개화기 처리 후 55일의 회복 기간 동안 보상이 있었을 가능성이 있으나 이는 가설입니다.</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(약 60초) </a:t>
            </a:r>
            <a:r>
              <a:rPr dirty="0" err="1"/>
              <a:t>다음은</a:t>
            </a:r>
            <a:r>
              <a:rPr dirty="0"/>
              <a:t> </a:t>
            </a:r>
            <a:r>
              <a:rPr lang="ko-KR" altLang="en-US" dirty="0"/>
              <a:t>상추</a:t>
            </a:r>
            <a:r>
              <a:rPr dirty="0"/>
              <a:t> </a:t>
            </a:r>
            <a:r>
              <a:rPr dirty="0" err="1"/>
              <a:t>상추입니다</a:t>
            </a:r>
            <a:r>
              <a:rPr dirty="0"/>
              <a:t>. </a:t>
            </a:r>
            <a:r>
              <a:rPr dirty="0" err="1"/>
              <a:t>침수</a:t>
            </a:r>
            <a:r>
              <a:rPr dirty="0"/>
              <a:t> 3일째 </a:t>
            </a:r>
            <a:r>
              <a:rPr dirty="0" err="1"/>
              <a:t>기공전도도가</a:t>
            </a:r>
            <a:r>
              <a:rPr dirty="0"/>
              <a:t> </a:t>
            </a:r>
            <a:r>
              <a:rPr dirty="0" err="1"/>
              <a:t>대조구의</a:t>
            </a:r>
            <a:r>
              <a:rPr dirty="0"/>
              <a:t> 10%까지 </a:t>
            </a:r>
            <a:r>
              <a:rPr dirty="0" err="1"/>
              <a:t>떨어졌지만</a:t>
            </a:r>
            <a:r>
              <a:rPr dirty="0"/>
              <a:t> </a:t>
            </a:r>
            <a:r>
              <a:rPr dirty="0" err="1"/>
              <a:t>배수</a:t>
            </a:r>
            <a:r>
              <a:rPr dirty="0"/>
              <a:t> 후 2~3일 </a:t>
            </a:r>
            <a:r>
              <a:rPr dirty="0" err="1"/>
              <a:t>만에</a:t>
            </a:r>
            <a:r>
              <a:rPr dirty="0"/>
              <a:t> </a:t>
            </a:r>
            <a:r>
              <a:rPr dirty="0" err="1"/>
              <a:t>대조구</a:t>
            </a:r>
            <a:r>
              <a:rPr dirty="0"/>
              <a:t> </a:t>
            </a:r>
            <a:r>
              <a:rPr dirty="0" err="1"/>
              <a:t>수준으로</a:t>
            </a:r>
            <a:r>
              <a:rPr dirty="0"/>
              <a:t> </a:t>
            </a:r>
            <a:r>
              <a:rPr dirty="0" err="1"/>
              <a:t>회복했습니다</a:t>
            </a:r>
            <a:r>
              <a:rPr dirty="0"/>
              <a:t>. </a:t>
            </a:r>
            <a:r>
              <a:rPr dirty="0" err="1"/>
              <a:t>명반응은</a:t>
            </a:r>
            <a:r>
              <a:rPr dirty="0"/>
              <a:t> </a:t>
            </a:r>
            <a:r>
              <a:rPr dirty="0" err="1"/>
              <a:t>처리</a:t>
            </a:r>
            <a:r>
              <a:rPr dirty="0"/>
              <a:t> 간 </a:t>
            </a:r>
            <a:r>
              <a:rPr dirty="0" err="1"/>
              <a:t>차이가</a:t>
            </a:r>
            <a:r>
              <a:rPr dirty="0"/>
              <a:t> </a:t>
            </a:r>
            <a:r>
              <a:rPr dirty="0" err="1"/>
              <a:t>없었고</a:t>
            </a:r>
            <a:r>
              <a:rPr dirty="0"/>
              <a:t>, </a:t>
            </a:r>
            <a:r>
              <a:rPr dirty="0" err="1"/>
              <a:t>광합성</a:t>
            </a:r>
            <a:r>
              <a:rPr dirty="0"/>
              <a:t> </a:t>
            </a:r>
            <a:r>
              <a:rPr dirty="0" err="1"/>
              <a:t>능력은</a:t>
            </a:r>
            <a:r>
              <a:rPr dirty="0"/>
              <a:t> </a:t>
            </a:r>
            <a:r>
              <a:rPr dirty="0" err="1"/>
              <a:t>복합구에서만</a:t>
            </a:r>
            <a:r>
              <a:rPr dirty="0"/>
              <a:t> </a:t>
            </a:r>
            <a:r>
              <a:rPr dirty="0" err="1"/>
              <a:t>낮은</a:t>
            </a:r>
            <a:r>
              <a:rPr dirty="0"/>
              <a:t> </a:t>
            </a:r>
            <a:r>
              <a:rPr dirty="0" err="1"/>
              <a:t>경향이었습니다</a:t>
            </a:r>
            <a:r>
              <a:rPr dirty="0"/>
              <a:t>. </a:t>
            </a:r>
            <a:r>
              <a:rPr dirty="0" err="1"/>
              <a:t>그럼에도</a:t>
            </a:r>
            <a:r>
              <a:rPr dirty="0"/>
              <a:t> </a:t>
            </a:r>
            <a:r>
              <a:rPr dirty="0" err="1"/>
              <a:t>지상부</a:t>
            </a:r>
            <a:r>
              <a:rPr dirty="0"/>
              <a:t> </a:t>
            </a:r>
            <a:r>
              <a:rPr dirty="0" err="1"/>
              <a:t>건물중은</a:t>
            </a:r>
            <a:r>
              <a:rPr dirty="0"/>
              <a:t> </a:t>
            </a:r>
            <a:r>
              <a:rPr dirty="0" err="1"/>
              <a:t>건조</a:t>
            </a:r>
            <a:r>
              <a:rPr dirty="0"/>
              <a:t> 16%, </a:t>
            </a:r>
            <a:r>
              <a:rPr dirty="0" err="1"/>
              <a:t>침수</a:t>
            </a:r>
            <a:r>
              <a:rPr dirty="0"/>
              <a:t> 34%, </a:t>
            </a:r>
            <a:r>
              <a:rPr dirty="0" err="1"/>
              <a:t>복합</a:t>
            </a:r>
            <a:r>
              <a:rPr dirty="0"/>
              <a:t> 43% </a:t>
            </a:r>
            <a:r>
              <a:rPr dirty="0" err="1"/>
              <a:t>감소했습니다</a:t>
            </a:r>
            <a:r>
              <a:rPr dirty="0"/>
              <a:t>. </a:t>
            </a:r>
            <a:r>
              <a:rPr dirty="0" err="1"/>
              <a:t>식물의</a:t>
            </a:r>
            <a:r>
              <a:rPr dirty="0"/>
              <a:t> </a:t>
            </a:r>
            <a:r>
              <a:rPr dirty="0" err="1"/>
              <a:t>생장은</a:t>
            </a:r>
            <a:r>
              <a:rPr dirty="0"/>
              <a:t> </a:t>
            </a:r>
            <a:r>
              <a:rPr dirty="0" err="1"/>
              <a:t>탄소</a:t>
            </a:r>
            <a:r>
              <a:rPr dirty="0"/>
              <a:t> </a:t>
            </a:r>
            <a:r>
              <a:rPr dirty="0" err="1"/>
              <a:t>공급보다</a:t>
            </a:r>
            <a:r>
              <a:rPr dirty="0"/>
              <a:t> </a:t>
            </a:r>
            <a:r>
              <a:rPr dirty="0" err="1"/>
              <a:t>조직</a:t>
            </a:r>
            <a:r>
              <a:rPr dirty="0"/>
              <a:t> </a:t>
            </a:r>
            <a:r>
              <a:rPr dirty="0" err="1"/>
              <a:t>성장과</a:t>
            </a:r>
            <a:r>
              <a:rPr dirty="0"/>
              <a:t> </a:t>
            </a:r>
            <a:r>
              <a:rPr dirty="0" err="1"/>
              <a:t>세포</a:t>
            </a:r>
            <a:r>
              <a:rPr dirty="0"/>
              <a:t> </a:t>
            </a:r>
            <a:r>
              <a:rPr dirty="0" err="1"/>
              <a:t>팽압이</a:t>
            </a:r>
            <a:r>
              <a:rPr dirty="0"/>
              <a:t> </a:t>
            </a:r>
            <a:r>
              <a:rPr dirty="0" err="1"/>
              <a:t>먼저</a:t>
            </a:r>
            <a:r>
              <a:rPr dirty="0"/>
              <a:t> </a:t>
            </a:r>
            <a:r>
              <a:rPr dirty="0" err="1"/>
              <a:t>제한되는</a:t>
            </a:r>
            <a:r>
              <a:rPr dirty="0"/>
              <a:t> </a:t>
            </a:r>
            <a:r>
              <a:rPr dirty="0" err="1"/>
              <a:t>경우가</a:t>
            </a:r>
            <a:r>
              <a:rPr dirty="0"/>
              <a:t> </a:t>
            </a:r>
            <a:r>
              <a:rPr dirty="0" err="1"/>
              <a:t>많아</a:t>
            </a:r>
            <a:r>
              <a:rPr dirty="0"/>
              <a:t>, </a:t>
            </a:r>
            <a:r>
              <a:rPr dirty="0" err="1"/>
              <a:t>침수</a:t>
            </a:r>
            <a:r>
              <a:rPr dirty="0"/>
              <a:t> </a:t>
            </a:r>
            <a:r>
              <a:rPr dirty="0" err="1"/>
              <a:t>기간</a:t>
            </a:r>
            <a:r>
              <a:rPr dirty="0"/>
              <a:t> </a:t>
            </a:r>
            <a:r>
              <a:rPr dirty="0" err="1"/>
              <a:t>동안</a:t>
            </a:r>
            <a:r>
              <a:rPr dirty="0"/>
              <a:t> </a:t>
            </a:r>
            <a:r>
              <a:rPr dirty="0" err="1"/>
              <a:t>생긴</a:t>
            </a:r>
            <a:r>
              <a:rPr dirty="0"/>
              <a:t> </a:t>
            </a:r>
            <a:r>
              <a:rPr dirty="0" err="1"/>
              <a:t>생장</a:t>
            </a:r>
            <a:r>
              <a:rPr dirty="0"/>
              <a:t> </a:t>
            </a:r>
            <a:r>
              <a:rPr dirty="0" err="1"/>
              <a:t>손실이</a:t>
            </a:r>
            <a:r>
              <a:rPr dirty="0"/>
              <a:t> </a:t>
            </a:r>
            <a:r>
              <a:rPr dirty="0" err="1"/>
              <a:t>회복</a:t>
            </a:r>
            <a:r>
              <a:rPr dirty="0"/>
              <a:t> </a:t>
            </a:r>
            <a:r>
              <a:rPr dirty="0" err="1"/>
              <a:t>후에도</a:t>
            </a:r>
            <a:r>
              <a:rPr dirty="0"/>
              <a:t> </a:t>
            </a:r>
            <a:r>
              <a:rPr dirty="0" err="1"/>
              <a:t>유지된</a:t>
            </a:r>
            <a:r>
              <a:rPr dirty="0"/>
              <a:t> </a:t>
            </a:r>
            <a:r>
              <a:rPr dirty="0" err="1"/>
              <a:t>것으로</a:t>
            </a:r>
            <a:r>
              <a:rPr dirty="0"/>
              <a:t> </a:t>
            </a:r>
            <a:r>
              <a:rPr dirty="0" err="1"/>
              <a:t>해석됩니다</a:t>
            </a:r>
            <a:r>
              <a:rPr dirty="0"/>
              <a:t>. </a:t>
            </a:r>
            <a:r>
              <a:rPr lang="ko-KR" altLang="en-US" dirty="0"/>
              <a:t>상추는</a:t>
            </a:r>
            <a:r>
              <a:rPr dirty="0"/>
              <a:t> </a:t>
            </a:r>
            <a:r>
              <a:rPr dirty="0" err="1"/>
              <a:t>영양생장기에</a:t>
            </a:r>
            <a:r>
              <a:rPr dirty="0"/>
              <a:t> </a:t>
            </a:r>
            <a:r>
              <a:rPr dirty="0" err="1"/>
              <a:t>처리했고</a:t>
            </a:r>
            <a:r>
              <a:rPr dirty="0"/>
              <a:t> </a:t>
            </a:r>
            <a:r>
              <a:rPr dirty="0" err="1"/>
              <a:t>수확물이</a:t>
            </a:r>
            <a:r>
              <a:rPr dirty="0"/>
              <a:t> </a:t>
            </a:r>
            <a:r>
              <a:rPr dirty="0" err="1"/>
              <a:t>지상부라</a:t>
            </a:r>
            <a:r>
              <a:rPr dirty="0"/>
              <a:t> 이 </a:t>
            </a:r>
            <a:r>
              <a:rPr dirty="0" err="1"/>
              <a:t>손실이</a:t>
            </a:r>
            <a:r>
              <a:rPr dirty="0"/>
              <a:t> 곧 </a:t>
            </a:r>
            <a:r>
              <a:rPr dirty="0" err="1"/>
              <a:t>수량</a:t>
            </a:r>
            <a:r>
              <a:rPr dirty="0"/>
              <a:t> </a:t>
            </a:r>
            <a:r>
              <a:rPr dirty="0" err="1"/>
              <a:t>손실입니다</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(약 40초) </a:t>
            </a:r>
            <a:r>
              <a:rPr dirty="0" err="1"/>
              <a:t>결론입니다</a:t>
            </a:r>
            <a:r>
              <a:rPr dirty="0"/>
              <a:t>. </a:t>
            </a:r>
            <a:r>
              <a:rPr dirty="0" err="1"/>
              <a:t>첫째</a:t>
            </a:r>
            <a:r>
              <a:rPr dirty="0"/>
              <a:t>, </a:t>
            </a:r>
            <a:r>
              <a:rPr dirty="0" err="1"/>
              <a:t>침수는</a:t>
            </a:r>
            <a:r>
              <a:rPr dirty="0"/>
              <a:t> 두 </a:t>
            </a:r>
            <a:r>
              <a:rPr dirty="0" err="1"/>
              <a:t>작물에서</a:t>
            </a:r>
            <a:r>
              <a:rPr dirty="0"/>
              <a:t> </a:t>
            </a:r>
            <a:r>
              <a:rPr dirty="0" err="1"/>
              <a:t>기공을</a:t>
            </a:r>
            <a:r>
              <a:rPr dirty="0"/>
              <a:t> </a:t>
            </a:r>
            <a:r>
              <a:rPr dirty="0" err="1"/>
              <a:t>먼저</a:t>
            </a:r>
            <a:r>
              <a:rPr dirty="0"/>
              <a:t> </a:t>
            </a:r>
            <a:r>
              <a:rPr dirty="0" err="1"/>
              <a:t>제한했고</a:t>
            </a:r>
            <a:r>
              <a:rPr dirty="0"/>
              <a:t> </a:t>
            </a:r>
            <a:r>
              <a:rPr lang="ko-KR" altLang="en-US" dirty="0"/>
              <a:t>상추는</a:t>
            </a:r>
            <a:r>
              <a:rPr dirty="0"/>
              <a:t> </a:t>
            </a:r>
            <a:r>
              <a:rPr dirty="0" err="1"/>
              <a:t>배수</a:t>
            </a:r>
            <a:r>
              <a:rPr dirty="0"/>
              <a:t> 2~3일 </a:t>
            </a:r>
            <a:r>
              <a:rPr dirty="0" err="1"/>
              <a:t>만에</a:t>
            </a:r>
            <a:r>
              <a:rPr dirty="0"/>
              <a:t>, </a:t>
            </a:r>
            <a:r>
              <a:rPr dirty="0" err="1"/>
              <a:t>콩은</a:t>
            </a:r>
            <a:r>
              <a:rPr dirty="0"/>
              <a:t> DAT 9 </a:t>
            </a:r>
            <a:r>
              <a:rPr dirty="0" err="1"/>
              <a:t>이후에</a:t>
            </a:r>
            <a:r>
              <a:rPr dirty="0"/>
              <a:t> </a:t>
            </a:r>
            <a:r>
              <a:rPr dirty="0" err="1"/>
              <a:t>회복했습니다</a:t>
            </a:r>
            <a:r>
              <a:rPr dirty="0"/>
              <a:t>. </a:t>
            </a:r>
            <a:r>
              <a:rPr dirty="0" err="1"/>
              <a:t>둘째</a:t>
            </a:r>
            <a:r>
              <a:rPr dirty="0"/>
              <a:t>, </a:t>
            </a:r>
            <a:r>
              <a:rPr dirty="0" err="1"/>
              <a:t>명반응과</a:t>
            </a:r>
            <a:r>
              <a:rPr dirty="0"/>
              <a:t> </a:t>
            </a:r>
            <a:r>
              <a:rPr dirty="0" err="1"/>
              <a:t>광합성</a:t>
            </a:r>
            <a:r>
              <a:rPr dirty="0"/>
              <a:t> </a:t>
            </a:r>
            <a:r>
              <a:rPr dirty="0" err="1"/>
              <a:t>능력은</a:t>
            </a:r>
            <a:r>
              <a:rPr dirty="0"/>
              <a:t> </a:t>
            </a:r>
            <a:r>
              <a:rPr lang="ko-KR" altLang="en-US" dirty="0"/>
              <a:t>상추에서</a:t>
            </a:r>
            <a:r>
              <a:rPr dirty="0"/>
              <a:t> </a:t>
            </a:r>
            <a:r>
              <a:rPr dirty="0" err="1"/>
              <a:t>거의</a:t>
            </a:r>
            <a:r>
              <a:rPr dirty="0"/>
              <a:t> </a:t>
            </a:r>
            <a:r>
              <a:rPr dirty="0" err="1"/>
              <a:t>변하지</a:t>
            </a:r>
            <a:r>
              <a:rPr dirty="0"/>
              <a:t> </a:t>
            </a:r>
            <a:r>
              <a:rPr dirty="0" err="1"/>
              <a:t>않았고</a:t>
            </a:r>
            <a:r>
              <a:rPr dirty="0"/>
              <a:t> </a:t>
            </a:r>
            <a:r>
              <a:rPr dirty="0" err="1"/>
              <a:t>콩은</a:t>
            </a:r>
            <a:r>
              <a:rPr dirty="0"/>
              <a:t> </a:t>
            </a:r>
            <a:r>
              <a:rPr dirty="0" err="1"/>
              <a:t>건조구에서</a:t>
            </a:r>
            <a:r>
              <a:rPr dirty="0"/>
              <a:t> </a:t>
            </a:r>
            <a:r>
              <a:rPr dirty="0" err="1"/>
              <a:t>낮았습니다</a:t>
            </a:r>
            <a:r>
              <a:rPr dirty="0"/>
              <a:t>. </a:t>
            </a:r>
            <a:r>
              <a:rPr dirty="0" err="1"/>
              <a:t>셋째</a:t>
            </a:r>
            <a:r>
              <a:rPr dirty="0"/>
              <a:t>, </a:t>
            </a:r>
            <a:r>
              <a:rPr lang="ko-KR" altLang="en-US" dirty="0"/>
              <a:t>상추는</a:t>
            </a:r>
            <a:r>
              <a:rPr dirty="0"/>
              <a:t> </a:t>
            </a:r>
            <a:r>
              <a:rPr dirty="0" err="1"/>
              <a:t>기공이</a:t>
            </a:r>
            <a:r>
              <a:rPr dirty="0"/>
              <a:t> </a:t>
            </a:r>
            <a:r>
              <a:rPr dirty="0" err="1"/>
              <a:t>회복되었는데도</a:t>
            </a:r>
            <a:r>
              <a:rPr dirty="0"/>
              <a:t> </a:t>
            </a:r>
            <a:r>
              <a:rPr dirty="0" err="1"/>
              <a:t>침수</a:t>
            </a:r>
            <a:r>
              <a:rPr dirty="0"/>
              <a:t> </a:t>
            </a:r>
            <a:r>
              <a:rPr dirty="0" err="1"/>
              <a:t>기간의</a:t>
            </a:r>
            <a:r>
              <a:rPr dirty="0"/>
              <a:t> </a:t>
            </a:r>
            <a:r>
              <a:rPr dirty="0" err="1"/>
              <a:t>손실이</a:t>
            </a:r>
            <a:r>
              <a:rPr dirty="0"/>
              <a:t> </a:t>
            </a:r>
            <a:r>
              <a:rPr dirty="0" err="1"/>
              <a:t>유지되어</a:t>
            </a:r>
            <a:r>
              <a:rPr dirty="0"/>
              <a:t> </a:t>
            </a:r>
            <a:r>
              <a:rPr dirty="0" err="1"/>
              <a:t>건물중이</a:t>
            </a:r>
            <a:r>
              <a:rPr dirty="0"/>
              <a:t> </a:t>
            </a:r>
            <a:r>
              <a:rPr dirty="0" err="1"/>
              <a:t>감소했고</a:t>
            </a:r>
            <a:r>
              <a:rPr dirty="0"/>
              <a:t>, </a:t>
            </a:r>
            <a:r>
              <a:rPr dirty="0" err="1"/>
              <a:t>콩은</a:t>
            </a:r>
            <a:r>
              <a:rPr dirty="0"/>
              <a:t> </a:t>
            </a:r>
            <a:r>
              <a:rPr dirty="0" err="1"/>
              <a:t>수량이</a:t>
            </a:r>
            <a:r>
              <a:rPr dirty="0"/>
              <a:t> </a:t>
            </a:r>
            <a:r>
              <a:rPr dirty="0" err="1"/>
              <a:t>감소하는</a:t>
            </a:r>
            <a:r>
              <a:rPr dirty="0"/>
              <a:t> </a:t>
            </a:r>
            <a:r>
              <a:rPr dirty="0" err="1"/>
              <a:t>경향이었지만</a:t>
            </a:r>
            <a:r>
              <a:rPr dirty="0"/>
              <a:t> 큰 </a:t>
            </a:r>
            <a:r>
              <a:rPr dirty="0" err="1"/>
              <a:t>차이는</a:t>
            </a:r>
            <a:r>
              <a:rPr dirty="0"/>
              <a:t> </a:t>
            </a:r>
            <a:r>
              <a:rPr dirty="0" err="1"/>
              <a:t>없었습니다</a:t>
            </a:r>
            <a:r>
              <a:rPr dirty="0"/>
              <a:t>. </a:t>
            </a:r>
            <a:r>
              <a:rPr dirty="0" err="1"/>
              <a:t>따라서</a:t>
            </a:r>
            <a:r>
              <a:rPr dirty="0"/>
              <a:t> </a:t>
            </a:r>
            <a:r>
              <a:rPr dirty="0" err="1"/>
              <a:t>수분</a:t>
            </a:r>
            <a:r>
              <a:rPr dirty="0"/>
              <a:t> </a:t>
            </a:r>
            <a:r>
              <a:rPr dirty="0" err="1"/>
              <a:t>스트레스에</a:t>
            </a:r>
            <a:r>
              <a:rPr dirty="0"/>
              <a:t> </a:t>
            </a:r>
            <a:r>
              <a:rPr dirty="0" err="1"/>
              <a:t>대한</a:t>
            </a:r>
            <a:r>
              <a:rPr dirty="0"/>
              <a:t> </a:t>
            </a:r>
            <a:r>
              <a:rPr dirty="0" err="1"/>
              <a:t>반응은</a:t>
            </a:r>
            <a:r>
              <a:rPr dirty="0"/>
              <a:t> </a:t>
            </a:r>
            <a:r>
              <a:rPr dirty="0" err="1"/>
              <a:t>작물마다</a:t>
            </a:r>
            <a:r>
              <a:rPr dirty="0"/>
              <a:t> </a:t>
            </a:r>
            <a:r>
              <a:rPr dirty="0" err="1"/>
              <a:t>다릅니다</a:t>
            </a:r>
            <a:r>
              <a:rPr dirty="0"/>
              <a:t>. </a:t>
            </a:r>
            <a:r>
              <a:rPr dirty="0" err="1"/>
              <a:t>감사합니다</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이상으로 발표를 마치겠습니다. 감사합니다. (질의응답 2분)</a:t>
            </a:r>
          </a:p>
        </p:txBody>
      </p:sp>
      <p:sp>
        <p:nvSpPr>
          <p:cNvPr id="4" name="슬라이드 번호 개체 틀 3"/>
          <p:cNvSpPr>
            <a:spLocks noGrp="1"/>
          </p:cNvSpPr>
          <p:nvPr>
            <p:ph type="sldNum" sz="quarter" idx="5"/>
          </p:nvPr>
        </p:nvSpPr>
        <p:spPr/>
        <p:txBody>
          <a:bodyPr/>
          <a:lstStyle/>
          <a:p>
            <a:fld id="{9334595A-DD79-43DB-8171-24D3E6EC3B6F}" type="slidenum">
              <a:rPr lang="ko-KR" altLang="en-US" smtClean="0"/>
              <a:t>18</a:t>
            </a:fld>
            <a:endParaRPr lang="ko-KR" altLang="en-US"/>
          </a:p>
        </p:txBody>
      </p:sp>
    </p:spTree>
    <p:extLst>
      <p:ext uri="{BB962C8B-B14F-4D97-AF65-F5344CB8AC3E}">
        <p14:creationId xmlns:p14="http://schemas.microsoft.com/office/powerpoint/2010/main" val="34955834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질의응답용 보충 자료 목록입니다.</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질의응답용</a:t>
            </a:r>
            <a:r>
              <a:rPr dirty="0"/>
              <a:t> </a:t>
            </a:r>
            <a:r>
              <a:rPr dirty="0" err="1"/>
              <a:t>자료입니다</a:t>
            </a:r>
            <a:r>
              <a:rPr dirty="0"/>
              <a:t>. LI-600은 </a:t>
            </a:r>
            <a:r>
              <a:rPr dirty="0" err="1"/>
              <a:t>야외</a:t>
            </a:r>
            <a:r>
              <a:rPr dirty="0"/>
              <a:t> </a:t>
            </a:r>
            <a:r>
              <a:rPr dirty="0" err="1"/>
              <a:t>광에서</a:t>
            </a:r>
            <a:r>
              <a:rPr dirty="0"/>
              <a:t> </a:t>
            </a:r>
            <a:r>
              <a:rPr dirty="0" err="1"/>
              <a:t>측정하기</a:t>
            </a:r>
            <a:r>
              <a:rPr dirty="0"/>
              <a:t> </a:t>
            </a:r>
            <a:r>
              <a:rPr dirty="0" err="1"/>
              <a:t>때문에</a:t>
            </a:r>
            <a:r>
              <a:rPr dirty="0"/>
              <a:t> </a:t>
            </a:r>
            <a:r>
              <a:rPr dirty="0" err="1"/>
              <a:t>같은</a:t>
            </a:r>
            <a:r>
              <a:rPr dirty="0"/>
              <a:t> </a:t>
            </a:r>
            <a:r>
              <a:rPr dirty="0" err="1"/>
              <a:t>날에도</a:t>
            </a:r>
            <a:r>
              <a:rPr dirty="0"/>
              <a:t> </a:t>
            </a:r>
            <a:r>
              <a:rPr dirty="0" err="1"/>
              <a:t>처리마다</a:t>
            </a:r>
            <a:r>
              <a:rPr dirty="0"/>
              <a:t> </a:t>
            </a:r>
            <a:r>
              <a:rPr dirty="0" err="1"/>
              <a:t>측정</a:t>
            </a:r>
            <a:r>
              <a:rPr dirty="0"/>
              <a:t> </a:t>
            </a:r>
            <a:r>
              <a:rPr dirty="0" err="1"/>
              <a:t>광도와</a:t>
            </a:r>
            <a:r>
              <a:rPr dirty="0"/>
              <a:t> </a:t>
            </a:r>
            <a:r>
              <a:rPr dirty="0" err="1"/>
              <a:t>기온이</a:t>
            </a:r>
            <a:r>
              <a:rPr dirty="0"/>
              <a:t> </a:t>
            </a:r>
            <a:r>
              <a:rPr dirty="0" err="1"/>
              <a:t>달랐습니다</a:t>
            </a:r>
            <a:r>
              <a:rPr dirty="0"/>
              <a:t>. </a:t>
            </a:r>
            <a:r>
              <a:rPr dirty="0" err="1"/>
              <a:t>그래서</a:t>
            </a:r>
            <a:r>
              <a:rPr dirty="0"/>
              <a:t> </a:t>
            </a:r>
            <a:r>
              <a:rPr dirty="0" err="1"/>
              <a:t>측정일</a:t>
            </a:r>
            <a:r>
              <a:rPr dirty="0"/>
              <a:t>, </a:t>
            </a:r>
            <a:r>
              <a:rPr dirty="0" err="1"/>
              <a:t>선형</a:t>
            </a:r>
            <a:r>
              <a:rPr dirty="0"/>
              <a:t> PAR, </a:t>
            </a:r>
            <a:r>
              <a:rPr dirty="0" err="1"/>
              <a:t>기온을</a:t>
            </a:r>
            <a:r>
              <a:rPr dirty="0"/>
              <a:t> </a:t>
            </a:r>
            <a:r>
              <a:rPr dirty="0" err="1"/>
              <a:t>공변량으로</a:t>
            </a:r>
            <a:r>
              <a:rPr dirty="0"/>
              <a:t> </a:t>
            </a:r>
            <a:r>
              <a:rPr dirty="0" err="1"/>
              <a:t>보정했고</a:t>
            </a:r>
            <a:r>
              <a:rPr dirty="0"/>
              <a:t>, </a:t>
            </a:r>
            <a:r>
              <a:rPr lang="ko-KR" altLang="en-US" dirty="0"/>
              <a:t>상추</a:t>
            </a:r>
            <a:r>
              <a:rPr dirty="0"/>
              <a:t> </a:t>
            </a:r>
            <a:r>
              <a:rPr dirty="0" err="1"/>
              <a:t>상추에서는</a:t>
            </a:r>
            <a:r>
              <a:rPr dirty="0"/>
              <a:t> </a:t>
            </a:r>
            <a:r>
              <a:rPr dirty="0" err="1"/>
              <a:t>PAR만</a:t>
            </a:r>
            <a:r>
              <a:rPr dirty="0"/>
              <a:t> </a:t>
            </a:r>
            <a:r>
              <a:rPr dirty="0" err="1"/>
              <a:t>보정한</a:t>
            </a:r>
            <a:r>
              <a:rPr dirty="0"/>
              <a:t> </a:t>
            </a:r>
            <a:r>
              <a:rPr dirty="0" err="1"/>
              <a:t>결과와</a:t>
            </a:r>
            <a:r>
              <a:rPr dirty="0"/>
              <a:t> </a:t>
            </a:r>
            <a:r>
              <a:rPr dirty="0" err="1"/>
              <a:t>기온까지</a:t>
            </a:r>
            <a:r>
              <a:rPr dirty="0"/>
              <a:t> </a:t>
            </a:r>
            <a:r>
              <a:rPr dirty="0" err="1"/>
              <a:t>보정한</a:t>
            </a:r>
            <a:r>
              <a:rPr dirty="0"/>
              <a:t> </a:t>
            </a:r>
            <a:r>
              <a:rPr dirty="0" err="1"/>
              <a:t>결과의</a:t>
            </a:r>
            <a:r>
              <a:rPr dirty="0"/>
              <a:t> </a:t>
            </a:r>
            <a:r>
              <a:rPr dirty="0" err="1"/>
              <a:t>유의성</a:t>
            </a:r>
            <a:r>
              <a:rPr dirty="0"/>
              <a:t> </a:t>
            </a:r>
            <a:r>
              <a:rPr dirty="0" err="1"/>
              <a:t>판정이</a:t>
            </a:r>
            <a:r>
              <a:rPr dirty="0"/>
              <a:t> </a:t>
            </a:r>
            <a:r>
              <a:rPr dirty="0" err="1"/>
              <a:t>모든</a:t>
            </a:r>
            <a:r>
              <a:rPr dirty="0"/>
              <a:t> </a:t>
            </a:r>
            <a:r>
              <a:rPr dirty="0" err="1"/>
              <a:t>지표에서</a:t>
            </a:r>
            <a:r>
              <a:rPr dirty="0"/>
              <a:t> </a:t>
            </a:r>
            <a:r>
              <a:rPr dirty="0" err="1"/>
              <a:t>같았습니다</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질의응답용 자료입니다. 광합성 광반응 곡선은 PPFD 8개 수준 모두에서 두 작물 모두 처리 간 유의한 차이가 없었습니다.</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질의응답용</a:t>
            </a:r>
            <a:r>
              <a:rPr dirty="0"/>
              <a:t> </a:t>
            </a:r>
            <a:r>
              <a:rPr dirty="0" err="1"/>
              <a:t>자료입니다</a:t>
            </a:r>
            <a:r>
              <a:rPr dirty="0"/>
              <a:t>. </a:t>
            </a:r>
            <a:r>
              <a:rPr dirty="0" err="1"/>
              <a:t>정상</a:t>
            </a:r>
            <a:r>
              <a:rPr dirty="0"/>
              <a:t> </a:t>
            </a:r>
            <a:r>
              <a:rPr dirty="0" err="1"/>
              <a:t>상태</a:t>
            </a:r>
            <a:r>
              <a:rPr dirty="0"/>
              <a:t> </a:t>
            </a:r>
            <a:r>
              <a:rPr dirty="0" err="1"/>
              <a:t>형광</a:t>
            </a:r>
            <a:r>
              <a:rPr dirty="0"/>
              <a:t> </a:t>
            </a:r>
            <a:r>
              <a:rPr dirty="0" err="1"/>
              <a:t>Fs의</a:t>
            </a:r>
            <a:r>
              <a:rPr dirty="0"/>
              <a:t> </a:t>
            </a:r>
            <a:r>
              <a:rPr dirty="0" err="1"/>
              <a:t>절대값은</a:t>
            </a:r>
            <a:r>
              <a:rPr dirty="0"/>
              <a:t> </a:t>
            </a:r>
            <a:r>
              <a:rPr lang="ko-KR" altLang="en-US" dirty="0"/>
              <a:t>상추</a:t>
            </a:r>
            <a:r>
              <a:rPr dirty="0"/>
              <a:t> </a:t>
            </a:r>
            <a:r>
              <a:rPr dirty="0" err="1"/>
              <a:t>상추에서</a:t>
            </a:r>
            <a:r>
              <a:rPr dirty="0"/>
              <a:t> </a:t>
            </a:r>
            <a:r>
              <a:rPr dirty="0" err="1"/>
              <a:t>처리</a:t>
            </a:r>
            <a:r>
              <a:rPr dirty="0"/>
              <a:t> 간 </a:t>
            </a:r>
            <a:r>
              <a:rPr dirty="0" err="1"/>
              <a:t>차이가</a:t>
            </a:r>
            <a:r>
              <a:rPr dirty="0"/>
              <a:t> </a:t>
            </a:r>
            <a:r>
              <a:rPr dirty="0" err="1"/>
              <a:t>없었고</a:t>
            </a:r>
            <a:r>
              <a:rPr dirty="0"/>
              <a:t>, </a:t>
            </a:r>
            <a:r>
              <a:rPr dirty="0" err="1"/>
              <a:t>콩에서는</a:t>
            </a:r>
            <a:r>
              <a:rPr dirty="0"/>
              <a:t> </a:t>
            </a:r>
            <a:r>
              <a:rPr dirty="0" err="1"/>
              <a:t>침수·건조</a:t>
            </a:r>
            <a:r>
              <a:rPr dirty="0"/>
              <a:t> </a:t>
            </a:r>
            <a:r>
              <a:rPr dirty="0" err="1"/>
              <a:t>처리구가</a:t>
            </a:r>
            <a:r>
              <a:rPr dirty="0"/>
              <a:t> </a:t>
            </a:r>
            <a:r>
              <a:rPr dirty="0" err="1"/>
              <a:t>대조구보다</a:t>
            </a:r>
            <a:r>
              <a:rPr dirty="0"/>
              <a:t> </a:t>
            </a:r>
            <a:r>
              <a:rPr dirty="0" err="1"/>
              <a:t>높았습니다</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질의응답용</a:t>
            </a:r>
            <a:r>
              <a:rPr dirty="0"/>
              <a:t> </a:t>
            </a:r>
            <a:r>
              <a:rPr dirty="0" err="1"/>
              <a:t>자료입니다</a:t>
            </a:r>
            <a:r>
              <a:rPr dirty="0"/>
              <a:t>. </a:t>
            </a:r>
            <a:r>
              <a:rPr dirty="0" err="1"/>
              <a:t>전자전달속도는</a:t>
            </a:r>
            <a:r>
              <a:rPr dirty="0"/>
              <a:t> </a:t>
            </a:r>
            <a:r>
              <a:rPr dirty="0" err="1"/>
              <a:t>측정</a:t>
            </a:r>
            <a:r>
              <a:rPr dirty="0"/>
              <a:t> </a:t>
            </a:r>
            <a:r>
              <a:rPr dirty="0" err="1"/>
              <a:t>광도에</a:t>
            </a:r>
            <a:r>
              <a:rPr dirty="0"/>
              <a:t> </a:t>
            </a:r>
            <a:r>
              <a:rPr dirty="0" err="1"/>
              <a:t>비례하므로</a:t>
            </a:r>
            <a:r>
              <a:rPr dirty="0"/>
              <a:t> </a:t>
            </a:r>
            <a:r>
              <a:rPr dirty="0" err="1"/>
              <a:t>광도를</a:t>
            </a:r>
            <a:r>
              <a:rPr dirty="0"/>
              <a:t> </a:t>
            </a:r>
            <a:r>
              <a:rPr dirty="0" err="1"/>
              <a:t>보정한</a:t>
            </a:r>
            <a:r>
              <a:rPr dirty="0"/>
              <a:t> </a:t>
            </a:r>
            <a:r>
              <a:rPr dirty="0" err="1"/>
              <a:t>평균으로</a:t>
            </a:r>
            <a:r>
              <a:rPr dirty="0"/>
              <a:t> </a:t>
            </a:r>
            <a:r>
              <a:rPr dirty="0" err="1"/>
              <a:t>비교했고</a:t>
            </a:r>
            <a:r>
              <a:rPr dirty="0"/>
              <a:t>, </a:t>
            </a:r>
            <a:r>
              <a:rPr lang="ko-KR" altLang="en-US" dirty="0"/>
              <a:t>상추</a:t>
            </a:r>
            <a:r>
              <a:rPr dirty="0"/>
              <a:t> </a:t>
            </a:r>
            <a:r>
              <a:rPr dirty="0" err="1"/>
              <a:t>상추에서는</a:t>
            </a:r>
            <a:r>
              <a:rPr dirty="0"/>
              <a:t> </a:t>
            </a:r>
            <a:r>
              <a:rPr dirty="0" err="1"/>
              <a:t>침수구가</a:t>
            </a:r>
            <a:r>
              <a:rPr dirty="0"/>
              <a:t> 약 6~8% </a:t>
            </a:r>
            <a:r>
              <a:rPr dirty="0" err="1"/>
              <a:t>낮은</a:t>
            </a:r>
            <a:r>
              <a:rPr dirty="0"/>
              <a:t> </a:t>
            </a:r>
            <a:r>
              <a:rPr dirty="0" err="1"/>
              <a:t>경향을</a:t>
            </a:r>
            <a:r>
              <a:rPr dirty="0"/>
              <a:t> </a:t>
            </a:r>
            <a:r>
              <a:rPr dirty="0" err="1"/>
              <a:t>보였지만</a:t>
            </a:r>
            <a:r>
              <a:rPr dirty="0"/>
              <a:t> </a:t>
            </a:r>
            <a:r>
              <a:rPr dirty="0" err="1"/>
              <a:t>측정일</a:t>
            </a:r>
            <a:r>
              <a:rPr dirty="0"/>
              <a:t> </a:t>
            </a:r>
            <a:r>
              <a:rPr dirty="0" err="1"/>
              <a:t>반복</a:t>
            </a:r>
            <a:r>
              <a:rPr dirty="0"/>
              <a:t> </a:t>
            </a:r>
            <a:r>
              <a:rPr dirty="0" err="1"/>
              <a:t>기준으로는</a:t>
            </a:r>
            <a:r>
              <a:rPr dirty="0"/>
              <a:t> </a:t>
            </a:r>
            <a:r>
              <a:rPr dirty="0" err="1"/>
              <a:t>유의하지</a:t>
            </a:r>
            <a:r>
              <a:rPr dirty="0"/>
              <a:t> </a:t>
            </a:r>
            <a:r>
              <a:rPr dirty="0" err="1"/>
              <a:t>않았습니다</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질의응답용 자료입니다. 흐린 날은 제외하지 않고 측정 광도와 기온으로 보정했으며, 맑음지수 0.5 미만인 날을 그림에 회색 띠로 표시했습니다.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발표에 인용한 참고문헌입니다.</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072F4-2873-FA64-1793-1B59A9006EAB}"/>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35C725AA-7A3D-1E01-136A-BA5E31AAFAE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333D4592-A7B5-1B8E-7084-C40EC53F029F}"/>
              </a:ext>
            </a:extLst>
          </p:cNvPr>
          <p:cNvSpPr>
            <a:spLocks noGrp="1"/>
          </p:cNvSpPr>
          <p:nvPr>
            <p:ph type="dt" sz="half" idx="10"/>
          </p:nvPr>
        </p:nvSpPr>
        <p:spPr/>
        <p:txBody>
          <a:bodyPr/>
          <a:lstStyle/>
          <a:p>
            <a:fld id="{23B7423D-07B6-40C2-A3B1-DE84ED9F9226}" type="datetime1">
              <a:rPr lang="ko-KR" altLang="en-US" smtClean="0"/>
              <a:t>2026-11-01</a:t>
            </a:fld>
            <a:endParaRPr lang="ko-KR" altLang="en-US"/>
          </a:p>
        </p:txBody>
      </p:sp>
      <p:sp>
        <p:nvSpPr>
          <p:cNvPr id="5" name="바닥글 개체 틀 4">
            <a:extLst>
              <a:ext uri="{FF2B5EF4-FFF2-40B4-BE49-F238E27FC236}">
                <a16:creationId xmlns:a16="http://schemas.microsoft.com/office/drawing/2014/main" id="{5648F786-E4C0-F7C0-32CD-34E91CEF7B7C}"/>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E5BECFB-E902-EC85-FEC1-E4AB644B19F1}"/>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7104303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50C47BA-E2E9-69D7-F6E0-02DC3B986CE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4A97C6CC-8DA3-FD4D-87B4-868FAA53564E}"/>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4702C51B-FB8D-E7C1-6733-5EC2ECA1CBAC}"/>
              </a:ext>
            </a:extLst>
          </p:cNvPr>
          <p:cNvSpPr>
            <a:spLocks noGrp="1"/>
          </p:cNvSpPr>
          <p:nvPr>
            <p:ph type="dt" sz="half" idx="10"/>
          </p:nvPr>
        </p:nvSpPr>
        <p:spPr/>
        <p:txBody>
          <a:bodyPr/>
          <a:lstStyle/>
          <a:p>
            <a:fld id="{9D045C9A-BDB9-48A9-9066-A45ABF71364F}" type="datetime1">
              <a:rPr lang="ko-KR" altLang="en-US" smtClean="0"/>
              <a:t>2026-11-01</a:t>
            </a:fld>
            <a:endParaRPr lang="ko-KR" altLang="en-US"/>
          </a:p>
        </p:txBody>
      </p:sp>
      <p:sp>
        <p:nvSpPr>
          <p:cNvPr id="5" name="바닥글 개체 틀 4">
            <a:extLst>
              <a:ext uri="{FF2B5EF4-FFF2-40B4-BE49-F238E27FC236}">
                <a16:creationId xmlns:a16="http://schemas.microsoft.com/office/drawing/2014/main" id="{A98E2A7E-4A0C-FD9F-1ED0-7811F3E13D7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FC65C28-2F83-31A3-5148-349E65E68D7E}"/>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3437119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19FBAAD-2832-D2E6-9201-28DBD75909FF}"/>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A763489E-C9A3-CFD5-E26E-C4F2F9B4076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DB9888C3-0185-B4BB-FE7C-08442FC7E7ED}"/>
              </a:ext>
            </a:extLst>
          </p:cNvPr>
          <p:cNvSpPr>
            <a:spLocks noGrp="1"/>
          </p:cNvSpPr>
          <p:nvPr>
            <p:ph type="dt" sz="half" idx="10"/>
          </p:nvPr>
        </p:nvSpPr>
        <p:spPr/>
        <p:txBody>
          <a:bodyPr/>
          <a:lstStyle/>
          <a:p>
            <a:fld id="{8DF124EE-B7C9-47F6-AC19-1FC82632F435}" type="datetime1">
              <a:rPr lang="ko-KR" altLang="en-US" smtClean="0"/>
              <a:t>2026-11-01</a:t>
            </a:fld>
            <a:endParaRPr lang="ko-KR" altLang="en-US"/>
          </a:p>
        </p:txBody>
      </p:sp>
      <p:sp>
        <p:nvSpPr>
          <p:cNvPr id="5" name="바닥글 개체 틀 4">
            <a:extLst>
              <a:ext uri="{FF2B5EF4-FFF2-40B4-BE49-F238E27FC236}">
                <a16:creationId xmlns:a16="http://schemas.microsoft.com/office/drawing/2014/main" id="{370C6D9C-5A42-E114-6EA7-D4D918C2ED4E}"/>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8AB716F0-7AC5-35C9-215B-75DBDDF026EB}"/>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39161435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48125F4-6D71-334C-84D5-A1ACC974BC79}"/>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ACA27950-5013-95BA-AFC7-A8A163281073}"/>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08FFBEAB-A7F2-2965-ACDF-C78C8B766434}"/>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87428652-A26B-FC7B-C0DE-C56897C8B859}"/>
              </a:ext>
            </a:extLst>
          </p:cNvPr>
          <p:cNvSpPr>
            <a:spLocks noGrp="1"/>
          </p:cNvSpPr>
          <p:nvPr>
            <p:ph type="dt" sz="half" idx="10"/>
          </p:nvPr>
        </p:nvSpPr>
        <p:spPr/>
        <p:txBody>
          <a:bodyPr/>
          <a:lstStyle/>
          <a:p>
            <a:fld id="{36F2CE93-FFF2-48C5-876B-C29D334070AC}" type="datetime1">
              <a:rPr lang="ko-KR" altLang="en-US" smtClean="0"/>
              <a:t>2026-11-01</a:t>
            </a:fld>
            <a:endParaRPr lang="ko-KR" altLang="en-US"/>
          </a:p>
        </p:txBody>
      </p:sp>
      <p:sp>
        <p:nvSpPr>
          <p:cNvPr id="6" name="바닥글 개체 틀 5">
            <a:extLst>
              <a:ext uri="{FF2B5EF4-FFF2-40B4-BE49-F238E27FC236}">
                <a16:creationId xmlns:a16="http://schemas.microsoft.com/office/drawing/2014/main" id="{2854ECFA-AB42-AC1C-4117-09D00A9DBF22}"/>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1583EDE-A663-AC4C-23CA-8E1840BC53A0}"/>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18233861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9D429BE-5249-9056-163C-74FA9783FB17}"/>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B23B763C-22D9-C80F-CCDE-0707C6AC9AC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DB574F77-2209-A440-F7AB-3060E96F4A81}"/>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DD1B2901-98D7-6D8A-F650-669806F465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71FDDB69-9C13-7002-F81F-1C1EFD7B74AB}"/>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7A01F8E8-08B1-62D8-B503-4283DFACB61C}"/>
              </a:ext>
            </a:extLst>
          </p:cNvPr>
          <p:cNvSpPr>
            <a:spLocks noGrp="1"/>
          </p:cNvSpPr>
          <p:nvPr>
            <p:ph type="dt" sz="half" idx="10"/>
          </p:nvPr>
        </p:nvSpPr>
        <p:spPr/>
        <p:txBody>
          <a:bodyPr/>
          <a:lstStyle/>
          <a:p>
            <a:fld id="{F1614133-4840-4F08-BA32-D57CA94E303C}" type="datetime1">
              <a:rPr lang="ko-KR" altLang="en-US" smtClean="0"/>
              <a:t>2026-11-01</a:t>
            </a:fld>
            <a:endParaRPr lang="ko-KR" altLang="en-US"/>
          </a:p>
        </p:txBody>
      </p:sp>
      <p:sp>
        <p:nvSpPr>
          <p:cNvPr id="8" name="바닥글 개체 틀 7">
            <a:extLst>
              <a:ext uri="{FF2B5EF4-FFF2-40B4-BE49-F238E27FC236}">
                <a16:creationId xmlns:a16="http://schemas.microsoft.com/office/drawing/2014/main" id="{BF9B74BF-BE22-63C7-48D7-C09BC9875D32}"/>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AE248C76-A4AD-26F0-801B-E0C228FD7DD7}"/>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39593023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0262E28-2DBA-605A-BECA-20063F14785B}"/>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738E0772-E95D-EF89-1540-90BAF501D61D}"/>
              </a:ext>
            </a:extLst>
          </p:cNvPr>
          <p:cNvSpPr>
            <a:spLocks noGrp="1"/>
          </p:cNvSpPr>
          <p:nvPr>
            <p:ph type="dt" sz="half" idx="10"/>
          </p:nvPr>
        </p:nvSpPr>
        <p:spPr/>
        <p:txBody>
          <a:bodyPr/>
          <a:lstStyle/>
          <a:p>
            <a:fld id="{2A691F09-6923-414B-A1FA-93B7B6B05A06}" type="datetime1">
              <a:rPr lang="ko-KR" altLang="en-US" smtClean="0"/>
              <a:t>2026-11-01</a:t>
            </a:fld>
            <a:endParaRPr lang="ko-KR" altLang="en-US"/>
          </a:p>
        </p:txBody>
      </p:sp>
      <p:sp>
        <p:nvSpPr>
          <p:cNvPr id="4" name="바닥글 개체 틀 3">
            <a:extLst>
              <a:ext uri="{FF2B5EF4-FFF2-40B4-BE49-F238E27FC236}">
                <a16:creationId xmlns:a16="http://schemas.microsoft.com/office/drawing/2014/main" id="{AA18BA7F-B0B9-9AEB-CFFF-E6BB717243A1}"/>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D9C7F523-2E13-CF6D-4554-8D965EA1A8C2}"/>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9871634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1FBE8BF9-A354-4992-F8C2-90BF87854A8F}"/>
              </a:ext>
            </a:extLst>
          </p:cNvPr>
          <p:cNvSpPr>
            <a:spLocks noGrp="1"/>
          </p:cNvSpPr>
          <p:nvPr>
            <p:ph type="dt" sz="half" idx="10"/>
          </p:nvPr>
        </p:nvSpPr>
        <p:spPr/>
        <p:txBody>
          <a:bodyPr/>
          <a:lstStyle/>
          <a:p>
            <a:fld id="{F061528D-0A4B-4725-BECB-0A804A98733B}" type="datetime1">
              <a:rPr lang="ko-KR" altLang="en-US" smtClean="0"/>
              <a:t>2026-11-01</a:t>
            </a:fld>
            <a:endParaRPr lang="ko-KR" altLang="en-US"/>
          </a:p>
        </p:txBody>
      </p:sp>
      <p:sp>
        <p:nvSpPr>
          <p:cNvPr id="3" name="바닥글 개체 틀 2">
            <a:extLst>
              <a:ext uri="{FF2B5EF4-FFF2-40B4-BE49-F238E27FC236}">
                <a16:creationId xmlns:a16="http://schemas.microsoft.com/office/drawing/2014/main" id="{300C3AA4-8FE3-F53A-0F4F-13CDD6F77C2D}"/>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79ECA705-4832-583C-C769-782684C72C2A}"/>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19712289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334CB40-F222-33F8-2930-F8C8F170FB72}"/>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DF683CDC-0D06-E8FF-5CB6-AD0E41A04EA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345D3C8C-90E8-FE3F-941F-50AF76CE21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184B14FF-82AA-1021-E783-8543CC459F1B}"/>
              </a:ext>
            </a:extLst>
          </p:cNvPr>
          <p:cNvSpPr>
            <a:spLocks noGrp="1"/>
          </p:cNvSpPr>
          <p:nvPr>
            <p:ph type="dt" sz="half" idx="10"/>
          </p:nvPr>
        </p:nvSpPr>
        <p:spPr/>
        <p:txBody>
          <a:bodyPr/>
          <a:lstStyle/>
          <a:p>
            <a:fld id="{D9BA0492-4290-4283-8041-C72F2A3FD572}" type="datetime1">
              <a:rPr lang="ko-KR" altLang="en-US" smtClean="0"/>
              <a:t>2026-11-01</a:t>
            </a:fld>
            <a:endParaRPr lang="ko-KR" altLang="en-US"/>
          </a:p>
        </p:txBody>
      </p:sp>
      <p:sp>
        <p:nvSpPr>
          <p:cNvPr id="6" name="바닥글 개체 틀 5">
            <a:extLst>
              <a:ext uri="{FF2B5EF4-FFF2-40B4-BE49-F238E27FC236}">
                <a16:creationId xmlns:a16="http://schemas.microsoft.com/office/drawing/2014/main" id="{D71E3FCC-569A-6CE6-D4EF-75FFC816590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BA45CEF7-23C1-61E3-0CB0-E857E9E82381}"/>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22528165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18FDFA6-91D5-3744-B2AE-8AD520F1E02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E68EC9AF-67D0-C116-F5BD-AFF40AB496C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2E4B042C-7642-FF7C-B5B2-E432270BB5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518D809-019A-150B-309F-5E84A5321D96}"/>
              </a:ext>
            </a:extLst>
          </p:cNvPr>
          <p:cNvSpPr>
            <a:spLocks noGrp="1"/>
          </p:cNvSpPr>
          <p:nvPr>
            <p:ph type="dt" sz="half" idx="10"/>
          </p:nvPr>
        </p:nvSpPr>
        <p:spPr/>
        <p:txBody>
          <a:bodyPr/>
          <a:lstStyle/>
          <a:p>
            <a:fld id="{3933010E-CE60-4360-8079-7BED3621D0DA}" type="datetime1">
              <a:rPr lang="ko-KR" altLang="en-US" smtClean="0"/>
              <a:t>2026-11-01</a:t>
            </a:fld>
            <a:endParaRPr lang="ko-KR" altLang="en-US"/>
          </a:p>
        </p:txBody>
      </p:sp>
      <p:sp>
        <p:nvSpPr>
          <p:cNvPr id="6" name="바닥글 개체 틀 5">
            <a:extLst>
              <a:ext uri="{FF2B5EF4-FFF2-40B4-BE49-F238E27FC236}">
                <a16:creationId xmlns:a16="http://schemas.microsoft.com/office/drawing/2014/main" id="{138F648C-2B44-F25B-BA65-0F0EA93209C6}"/>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BC610761-27DA-5D7F-A72E-03EC8DD59948}"/>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30258447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6FABC10-DCAE-3EA5-9B62-E982FA39E5A7}"/>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0DB3CE13-292C-C63A-86DA-B62C68FA0395}"/>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8A5F8A6-B9F4-6134-3C3F-3B42A7DB1090}"/>
              </a:ext>
            </a:extLst>
          </p:cNvPr>
          <p:cNvSpPr>
            <a:spLocks noGrp="1"/>
          </p:cNvSpPr>
          <p:nvPr>
            <p:ph type="dt" sz="half" idx="10"/>
          </p:nvPr>
        </p:nvSpPr>
        <p:spPr/>
        <p:txBody>
          <a:bodyPr/>
          <a:lstStyle/>
          <a:p>
            <a:fld id="{F199F8C8-AD83-442B-B306-C2E74F989BB3}" type="datetime1">
              <a:rPr lang="ko-KR" altLang="en-US" smtClean="0"/>
              <a:t>2026-11-01</a:t>
            </a:fld>
            <a:endParaRPr lang="ko-KR" altLang="en-US"/>
          </a:p>
        </p:txBody>
      </p:sp>
      <p:sp>
        <p:nvSpPr>
          <p:cNvPr id="5" name="바닥글 개체 틀 4">
            <a:extLst>
              <a:ext uri="{FF2B5EF4-FFF2-40B4-BE49-F238E27FC236}">
                <a16:creationId xmlns:a16="http://schemas.microsoft.com/office/drawing/2014/main" id="{8749D320-0180-2E7B-CB63-6406A988DB7A}"/>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32DEF9D-4DBA-4D73-41B0-D03A47769FBC}"/>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5067091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91EA5634-B559-9843-AFE5-E5585D0EF465}"/>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41F5A501-6259-5E2A-4E7B-7823242DCDE2}"/>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C7567E4-4880-C0C0-8932-6BF750727C4E}"/>
              </a:ext>
            </a:extLst>
          </p:cNvPr>
          <p:cNvSpPr>
            <a:spLocks noGrp="1"/>
          </p:cNvSpPr>
          <p:nvPr>
            <p:ph type="dt" sz="half" idx="10"/>
          </p:nvPr>
        </p:nvSpPr>
        <p:spPr/>
        <p:txBody>
          <a:bodyPr/>
          <a:lstStyle/>
          <a:p>
            <a:fld id="{26090C41-AFF9-488A-8C02-EEA924D341C6}" type="datetime1">
              <a:rPr lang="ko-KR" altLang="en-US" smtClean="0"/>
              <a:t>2026-11-01</a:t>
            </a:fld>
            <a:endParaRPr lang="ko-KR" altLang="en-US"/>
          </a:p>
        </p:txBody>
      </p:sp>
      <p:sp>
        <p:nvSpPr>
          <p:cNvPr id="5" name="바닥글 개체 틀 4">
            <a:extLst>
              <a:ext uri="{FF2B5EF4-FFF2-40B4-BE49-F238E27FC236}">
                <a16:creationId xmlns:a16="http://schemas.microsoft.com/office/drawing/2014/main" id="{6148955D-85B0-2FB5-B2D9-EFD9AE0F0D06}"/>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2F28678-A0B9-C385-2F24-B9CE6337BEF3}"/>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32020337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B28C9D72-72B9-1829-B00B-B4FFF7CBCD7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DC67C0B4-28E8-F572-9FD7-8D8C462D975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B9ED7AAD-7768-C084-52A6-0F737C0AE9C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219DF18-70C5-4E96-87E8-EA7D036EB1FB}" type="datetime1">
              <a:rPr lang="ko-KR" altLang="en-US" smtClean="0"/>
              <a:t>2026-11-01</a:t>
            </a:fld>
            <a:endParaRPr lang="ko-KR" altLang="en-US"/>
          </a:p>
        </p:txBody>
      </p:sp>
      <p:sp>
        <p:nvSpPr>
          <p:cNvPr id="5" name="바닥글 개체 틀 4">
            <a:extLst>
              <a:ext uri="{FF2B5EF4-FFF2-40B4-BE49-F238E27FC236}">
                <a16:creationId xmlns:a16="http://schemas.microsoft.com/office/drawing/2014/main" id="{13DBE269-CA62-A3AD-C7CF-3E5EB58183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98E5383-3E5C-18D7-E7DF-D4D22932716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16037627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amp;w=3840&amp;q=75"/></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E2CE28E-68F2-8698-8327-B6D337810C4C}"/>
              </a:ext>
            </a:extLst>
          </p:cNvPr>
          <p:cNvSpPr>
            <a:spLocks noGrp="1"/>
          </p:cNvSpPr>
          <p:nvPr>
            <p:ph type="ctrTitle"/>
          </p:nvPr>
        </p:nvSpPr>
        <p:spPr>
          <a:xfrm>
            <a:off x="1480457" y="1367249"/>
            <a:ext cx="9231086" cy="2475807"/>
          </a:xfrm>
        </p:spPr>
        <p:txBody>
          <a:bodyPr>
            <a:normAutofit/>
          </a:bodyPr>
          <a:lstStyle/>
          <a:p>
            <a:r>
              <a:rPr lang="ko-KR" altLang="ko-KR" sz="4400" b="1" dirty="0"/>
              <a:t>침수 및 건조 복합재해에 대한 </a:t>
            </a:r>
            <a:br>
              <a:rPr lang="en-US" altLang="ko-KR" sz="4400" b="1" dirty="0"/>
            </a:br>
            <a:r>
              <a:rPr lang="ko-KR" altLang="ko-KR" sz="4400" b="1" dirty="0"/>
              <a:t>생육 및 생리 반응 비교</a:t>
            </a:r>
            <a:br>
              <a:rPr lang="en-US" altLang="ko-KR" sz="4000" b="1" dirty="0"/>
            </a:br>
            <a:br>
              <a:rPr lang="en-US" altLang="ko-KR" sz="1600" b="1" dirty="0"/>
            </a:br>
            <a:r>
              <a:rPr lang="en-US" altLang="ko-KR" sz="1600" b="1" dirty="0">
                <a:latin typeface="Times New Roman" panose="02020603050405020304" pitchFamily="18" charset="0"/>
                <a:cs typeface="Times New Roman" panose="02020603050405020304" pitchFamily="18" charset="0"/>
              </a:rPr>
              <a:t>Comparison of Growth and Physiological Responses of Soybean and Romaine Lettuce to Flooding, Drought, and Combined Stress</a:t>
            </a:r>
            <a:endParaRPr lang="ko-KR" altLang="en-US" sz="2700" b="1" dirty="0">
              <a:latin typeface="Times New Roman" panose="02020603050405020304" pitchFamily="18" charset="0"/>
              <a:cs typeface="Times New Roman" panose="02020603050405020304" pitchFamily="18" charset="0"/>
            </a:endParaRPr>
          </a:p>
        </p:txBody>
      </p:sp>
      <p:sp>
        <p:nvSpPr>
          <p:cNvPr id="3" name="부제목 2">
            <a:extLst>
              <a:ext uri="{FF2B5EF4-FFF2-40B4-BE49-F238E27FC236}">
                <a16:creationId xmlns:a16="http://schemas.microsoft.com/office/drawing/2014/main" id="{1CE9F5BD-D28B-5F96-2E69-88270E8FFD15}"/>
              </a:ext>
            </a:extLst>
          </p:cNvPr>
          <p:cNvSpPr>
            <a:spLocks noGrp="1"/>
          </p:cNvSpPr>
          <p:nvPr>
            <p:ph type="subTitle" idx="1"/>
          </p:nvPr>
        </p:nvSpPr>
        <p:spPr>
          <a:xfrm>
            <a:off x="1524000" y="4255580"/>
            <a:ext cx="9144000" cy="2344850"/>
          </a:xfrm>
        </p:spPr>
        <p:txBody>
          <a:bodyPr>
            <a:normAutofit/>
          </a:bodyPr>
          <a:lstStyle/>
          <a:p>
            <a:pPr>
              <a:lnSpc>
                <a:spcPct val="80000"/>
              </a:lnSpc>
            </a:pPr>
            <a:endParaRPr lang="en-US" altLang="ko-KR" sz="2000" dirty="0"/>
          </a:p>
          <a:p>
            <a:pPr>
              <a:lnSpc>
                <a:spcPct val="80000"/>
              </a:lnSpc>
            </a:pPr>
            <a:endParaRPr lang="en-US" altLang="ko-KR" sz="1800" dirty="0"/>
          </a:p>
          <a:p>
            <a:endParaRPr lang="en-US" altLang="ko-KR" sz="1800" dirty="0"/>
          </a:p>
          <a:p>
            <a:endParaRPr lang="ko-KR" altLang="en-US" sz="1800" dirty="0"/>
          </a:p>
        </p:txBody>
      </p:sp>
      <p:pic>
        <p:nvPicPr>
          <p:cNvPr id="1026" name="Picture 2" descr="폰트, 그래픽, 로고, 텍스트이(가) 표시된 사진&#10;&#10;자동 생성된 설명">
            <a:extLst>
              <a:ext uri="{FF2B5EF4-FFF2-40B4-BE49-F238E27FC236}">
                <a16:creationId xmlns:a16="http://schemas.microsoft.com/office/drawing/2014/main" id="{1F5D21A4-5CE8-CA11-3AC9-D4DA2CEEAE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21381" y="5788448"/>
            <a:ext cx="2213666" cy="720000"/>
          </a:xfrm>
          <a:prstGeom prst="rect">
            <a:avLst/>
          </a:prstGeom>
          <a:noFill/>
          <a:extLst>
            <a:ext uri="{909E8E84-426E-40DD-AFC4-6F175D3DCCD1}">
              <a14:hiddenFill xmlns:a14="http://schemas.microsoft.com/office/drawing/2010/main">
                <a:solidFill>
                  <a:srgbClr val="FFFFFF"/>
                </a:solidFill>
              </a14:hiddenFill>
            </a:ext>
          </a:extLst>
        </p:spPr>
      </p:pic>
      <p:cxnSp>
        <p:nvCxnSpPr>
          <p:cNvPr id="9" name="직선 연결선 8">
            <a:extLst>
              <a:ext uri="{FF2B5EF4-FFF2-40B4-BE49-F238E27FC236}">
                <a16:creationId xmlns:a16="http://schemas.microsoft.com/office/drawing/2014/main" id="{98A2E225-EF8F-F661-C3B4-5EE926C3C211}"/>
              </a:ext>
            </a:extLst>
          </p:cNvPr>
          <p:cNvCxnSpPr>
            <a:cxnSpLocks/>
          </p:cNvCxnSpPr>
          <p:nvPr/>
        </p:nvCxnSpPr>
        <p:spPr>
          <a:xfrm>
            <a:off x="783772" y="89376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cxnSp>
        <p:nvCxnSpPr>
          <p:cNvPr id="11" name="직선 연결선 10">
            <a:extLst>
              <a:ext uri="{FF2B5EF4-FFF2-40B4-BE49-F238E27FC236}">
                <a16:creationId xmlns:a16="http://schemas.microsoft.com/office/drawing/2014/main" id="{F25E478C-FA31-1F67-05B3-34C5962519CF}"/>
              </a:ext>
            </a:extLst>
          </p:cNvPr>
          <p:cNvCxnSpPr>
            <a:cxnSpLocks/>
          </p:cNvCxnSpPr>
          <p:nvPr/>
        </p:nvCxnSpPr>
        <p:spPr>
          <a:xfrm>
            <a:off x="1480457" y="4014412"/>
            <a:ext cx="9231086" cy="0"/>
          </a:xfrm>
          <a:prstGeom prst="line">
            <a:avLst/>
          </a:prstGeom>
          <a:ln w="28575"/>
        </p:spPr>
        <p:style>
          <a:lnRef idx="2">
            <a:schemeClr val="accent1"/>
          </a:lnRef>
          <a:fillRef idx="0">
            <a:schemeClr val="accent1"/>
          </a:fillRef>
          <a:effectRef idx="1">
            <a:schemeClr val="accent1"/>
          </a:effectRef>
          <a:fontRef idx="minor">
            <a:schemeClr val="tx1"/>
          </a:fontRef>
        </p:style>
      </p:cxnSp>
      <p:pic>
        <p:nvPicPr>
          <p:cNvPr id="4" name="Picture 2" descr="사)한국원예학회">
            <a:extLst>
              <a:ext uri="{FF2B5EF4-FFF2-40B4-BE49-F238E27FC236}">
                <a16:creationId xmlns:a16="http://schemas.microsoft.com/office/drawing/2014/main" id="{4869A5E8-6B1D-FCB7-158B-34C00508FE3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3772" y="88083"/>
            <a:ext cx="3170000" cy="7200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전북대학교 로고 브랜드 시그니처 마크 상징물 다운로드 LOGO UI MI CI AI BI JPG">
            <a:extLst>
              <a:ext uri="{FF2B5EF4-FFF2-40B4-BE49-F238E27FC236}">
                <a16:creationId xmlns:a16="http://schemas.microsoft.com/office/drawing/2014/main" id="{6B76D25D-FBEA-3892-9D2A-4667E65B445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59410" y="5788448"/>
            <a:ext cx="2936590" cy="720000"/>
          </a:xfrm>
          <a:prstGeom prst="rect">
            <a:avLst/>
          </a:prstGeom>
          <a:noFill/>
          <a:extLst>
            <a:ext uri="{909E8E84-426E-40DD-AFC4-6F175D3DCCD1}">
              <a14:hiddenFill xmlns:a14="http://schemas.microsoft.com/office/drawing/2010/main">
                <a:solidFill>
                  <a:srgbClr val="FFFFFF"/>
                </a:solidFill>
              </a14:hiddenFill>
            </a:ext>
          </a:extLst>
        </p:spPr>
      </p:pic>
      <p:sp>
        <p:nvSpPr>
          <p:cNvPr id="5" name="부제목 2">
            <a:extLst>
              <a:ext uri="{FF2B5EF4-FFF2-40B4-BE49-F238E27FC236}">
                <a16:creationId xmlns:a16="http://schemas.microsoft.com/office/drawing/2014/main" id="{510EA85C-DDC4-B272-8D57-37B6606FB19D}"/>
              </a:ext>
            </a:extLst>
          </p:cNvPr>
          <p:cNvSpPr txBox="1">
            <a:spLocks/>
          </p:cNvSpPr>
          <p:nvPr/>
        </p:nvSpPr>
        <p:spPr>
          <a:xfrm>
            <a:off x="1676400" y="4407980"/>
            <a:ext cx="9144000" cy="2344850"/>
          </a:xfrm>
          <a:prstGeom prst="rect">
            <a:avLst/>
          </a:prstGeom>
        </p:spPr>
        <p:txBody>
          <a:bodyPr vert="horz" lIns="91440" tIns="45720" rIns="91440" bIns="45720" rtlCol="0">
            <a:norm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nSpc>
                <a:spcPct val="80000"/>
              </a:lnSpc>
            </a:pPr>
            <a:r>
              <a:rPr lang="ko-KR" altLang="en-US" sz="2000" dirty="0"/>
              <a:t>전북대학교</a:t>
            </a:r>
            <a:r>
              <a:rPr lang="en-US" altLang="ko-KR" sz="2000" dirty="0"/>
              <a:t> </a:t>
            </a:r>
            <a:r>
              <a:rPr lang="ko-KR" altLang="en-US" sz="2000" dirty="0" err="1"/>
              <a:t>스마트농업AI융합학과</a:t>
            </a:r>
            <a:endParaRPr lang="en-US" altLang="ko-KR" sz="2000" dirty="0"/>
          </a:p>
          <a:p>
            <a:pPr>
              <a:lnSpc>
                <a:spcPct val="80000"/>
              </a:lnSpc>
            </a:pPr>
            <a:r>
              <a:rPr lang="ko-KR" altLang="en-US" sz="1800" dirty="0"/>
              <a:t>석사과정 윤정민</a:t>
            </a:r>
            <a:endParaRPr lang="en-US" altLang="ko-KR" sz="1800" dirty="0"/>
          </a:p>
          <a:p>
            <a:endParaRPr lang="en-US" altLang="ko-KR" sz="800" dirty="0"/>
          </a:p>
          <a:p>
            <a:r>
              <a:rPr lang="en-US" altLang="ko-KR" sz="1800" dirty="0"/>
              <a:t>2026. 11. 4.</a:t>
            </a:r>
            <a:endParaRPr lang="ko-KR" altLang="en-US" sz="1800" dirty="0"/>
          </a:p>
        </p:txBody>
      </p:sp>
    </p:spTree>
    <p:extLst>
      <p:ext uri="{BB962C8B-B14F-4D97-AF65-F5344CB8AC3E}">
        <p14:creationId xmlns:p14="http://schemas.microsoft.com/office/powerpoint/2010/main" val="23968554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연구 배경</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2</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b="0">
                <a:solidFill>
                  <a:srgbClr val="E97132"/>
                </a:solidFill>
              </a:rPr>
              <a:t>수분 재해 유형에 따라 </a:t>
            </a:r>
            <a:r>
              <a:rPr sz="1600" b="1">
                <a:solidFill>
                  <a:srgbClr val="E97132"/>
                </a:solidFill>
              </a:rPr>
              <a:t>생리 반응이 어느 단계에서 제한되는지</a:t>
            </a:r>
            <a:r>
              <a:rPr sz="1600" b="0">
                <a:solidFill>
                  <a:srgbClr val="E97132"/>
                </a:solidFill>
              </a:rPr>
              <a:t> 비교한 연구는 충분하지 않음</a:t>
            </a:r>
          </a:p>
        </p:txBody>
      </p:sp>
      <p:sp>
        <p:nvSpPr>
          <p:cNvPr id="27" name="Flow 1"/>
          <p:cNvSpPr/>
          <p:nvPr/>
        </p:nvSpPr>
        <p:spPr>
          <a:xfrm>
            <a:off x="1123614" y="1188720"/>
            <a:ext cx="3017520" cy="713232"/>
          </a:xfrm>
          <a:prstGeom prst="roundRect">
            <a:avLst>
              <a:gd name="adj" fmla="val 20000"/>
            </a:avLst>
          </a:prstGeom>
          <a:solidFill>
            <a:srgbClr val="DCEBF7"/>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0B76A0"/>
                </a:solidFill>
              </a:rPr>
              <a:t>집중호우</a:t>
            </a:r>
          </a:p>
          <a:p>
            <a:pPr marL="0" indent="0" algn="ctr">
              <a:spcBef>
                <a:spcPts val="0"/>
              </a:spcBef>
              <a:buNone/>
            </a:pPr>
            <a:r>
              <a:rPr lang="ko-KR" altLang="en-US" sz="1250" b="0" dirty="0">
                <a:solidFill>
                  <a:srgbClr val="000000"/>
                </a:solidFill>
              </a:rPr>
              <a:t>→ 침수 (근권 산소 결핍)</a:t>
            </a:r>
          </a:p>
        </p:txBody>
      </p:sp>
      <p:sp>
        <p:nvSpPr>
          <p:cNvPr id="28" name="Arrow 1"/>
          <p:cNvSpPr/>
          <p:nvPr/>
        </p:nvSpPr>
        <p:spPr>
          <a:xfrm>
            <a:off x="4177710" y="1408176"/>
            <a:ext cx="365760" cy="274320"/>
          </a:xfrm>
          <a:prstGeom prst="rightArrow">
            <a:avLst/>
          </a:prstGeom>
          <a:solidFill>
            <a:srgbClr val="BFBFBF"/>
          </a:solidFill>
          <a:ln>
            <a:noFill/>
          </a:ln>
        </p:spPr>
        <p:txBody>
          <a:bodyPr wrap="square" lIns="73152" tIns="36576" rIns="73152" bIns="36576" rtlCol="0" anchor="ctr">
            <a:noAutofit/>
          </a:bodyPr>
          <a:lstStyle/>
          <a:p>
            <a:endParaRPr lang="ko-KR"/>
          </a:p>
        </p:txBody>
      </p:sp>
      <p:sp>
        <p:nvSpPr>
          <p:cNvPr id="29" name="Flow 2"/>
          <p:cNvSpPr/>
          <p:nvPr/>
        </p:nvSpPr>
        <p:spPr>
          <a:xfrm>
            <a:off x="4580046" y="1188720"/>
            <a:ext cx="3017520" cy="713232"/>
          </a:xfrm>
          <a:prstGeom prst="roundRect">
            <a:avLst>
              <a:gd name="adj" fmla="val 20000"/>
            </a:avLst>
          </a:prstGeom>
          <a:solidFill>
            <a:srgbClr val="F8E1D3"/>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AF5524"/>
                </a:solidFill>
              </a:rPr>
              <a:t>폭염·가뭄</a:t>
            </a:r>
          </a:p>
          <a:p>
            <a:pPr marL="0" indent="0" algn="ctr">
              <a:spcBef>
                <a:spcPts val="0"/>
              </a:spcBef>
              <a:buNone/>
            </a:pPr>
            <a:r>
              <a:rPr lang="ko-KR" altLang="en-US" sz="1250" b="0" dirty="0">
                <a:solidFill>
                  <a:srgbClr val="000000"/>
                </a:solidFill>
              </a:rPr>
              <a:t>→ 건조 (토양 수분 부족)</a:t>
            </a:r>
          </a:p>
        </p:txBody>
      </p:sp>
      <p:sp>
        <p:nvSpPr>
          <p:cNvPr id="30" name="Arrow 2"/>
          <p:cNvSpPr/>
          <p:nvPr/>
        </p:nvSpPr>
        <p:spPr>
          <a:xfrm>
            <a:off x="7641823" y="1408176"/>
            <a:ext cx="365760" cy="274320"/>
          </a:xfrm>
          <a:prstGeom prst="rightArrow">
            <a:avLst/>
          </a:prstGeom>
          <a:solidFill>
            <a:srgbClr val="BFBFBF"/>
          </a:solidFill>
          <a:ln>
            <a:noFill/>
          </a:ln>
        </p:spPr>
        <p:txBody>
          <a:bodyPr wrap="square" lIns="73152" tIns="36576" rIns="73152" bIns="36576" rtlCol="0" anchor="ctr">
            <a:noAutofit/>
          </a:bodyPr>
          <a:lstStyle/>
          <a:p>
            <a:endParaRPr lang="ko-KR"/>
          </a:p>
        </p:txBody>
      </p:sp>
      <p:sp>
        <p:nvSpPr>
          <p:cNvPr id="31" name="Flow 3"/>
          <p:cNvSpPr/>
          <p:nvPr/>
        </p:nvSpPr>
        <p:spPr>
          <a:xfrm>
            <a:off x="8051840" y="1188720"/>
            <a:ext cx="3017520" cy="713232"/>
          </a:xfrm>
          <a:prstGeom prst="roundRect">
            <a:avLst>
              <a:gd name="adj" fmla="val 20000"/>
            </a:avLst>
          </a:prstGeom>
          <a:solidFill>
            <a:srgbClr val="E3E9F1"/>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156082"/>
                </a:solidFill>
              </a:rPr>
              <a:t>짧은 간격으로 반복</a:t>
            </a:r>
          </a:p>
          <a:p>
            <a:pPr marL="0" indent="0" algn="ctr">
              <a:spcBef>
                <a:spcPts val="0"/>
              </a:spcBef>
              <a:buNone/>
            </a:pPr>
            <a:r>
              <a:rPr lang="ko-KR" altLang="en-US" sz="1250" b="0" dirty="0">
                <a:solidFill>
                  <a:srgbClr val="000000"/>
                </a:solidFill>
              </a:rPr>
              <a:t>→ 한 생육기 내 복합재해</a:t>
            </a:r>
          </a:p>
        </p:txBody>
      </p:sp>
      <p:sp>
        <p:nvSpPr>
          <p:cNvPr id="58" name="Nav 서론"/>
          <p:cNvSpPr txBox="1"/>
          <p:nvPr/>
        </p:nvSpPr>
        <p:spPr>
          <a:xfrm>
            <a:off x="841248" y="100584"/>
            <a:ext cx="1371600" cy="329184"/>
          </a:xfrm>
          <a:prstGeom prst="rect">
            <a:avLst/>
          </a:prstGeom>
          <a:noFill/>
        </p:spPr>
        <p:txBody>
          <a:bodyPr wrap="none" lIns="0" tIns="0" rIns="0" bIns="0" anchor="ctr">
            <a:spAutoFit/>
          </a:bodyPr>
          <a:lstStyle/>
          <a:p>
            <a:pPr algn="ctr"/>
            <a:r>
              <a:rPr sz="1450" b="1" u="sng">
                <a:solidFill>
                  <a:srgbClr val="1A1A1A"/>
                </a:solidFill>
              </a:rPr>
              <a:t>서론</a:t>
            </a:r>
          </a:p>
        </p:txBody>
      </p:sp>
      <p:sp>
        <p:nvSpPr>
          <p:cNvPr id="59"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60"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61"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62"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pic>
        <p:nvPicPr>
          <p:cNvPr id="63" name="Picture 62" descr="triptych.png"/>
          <p:cNvPicPr>
            <a:picLocks noChangeAspect="1"/>
          </p:cNvPicPr>
          <p:nvPr/>
        </p:nvPicPr>
        <p:blipFill>
          <a:blip r:embed="rId4"/>
          <a:stretch>
            <a:fillRect/>
          </a:stretch>
        </p:blipFill>
        <p:spPr>
          <a:xfrm>
            <a:off x="978408" y="1965960"/>
            <a:ext cx="10241280" cy="3071794"/>
          </a:xfrm>
          <a:prstGeom prst="rect">
            <a:avLst/>
          </a:prstGeom>
        </p:spPr>
      </p:pic>
      <p:sp>
        <p:nvSpPr>
          <p:cNvPr id="64" name="TextBox 63"/>
          <p:cNvSpPr txBox="1"/>
          <p:nvPr/>
        </p:nvSpPr>
        <p:spPr>
          <a:xfrm>
            <a:off x="1032174" y="5105010"/>
            <a:ext cx="3200400" cy="640080"/>
          </a:xfrm>
          <a:prstGeom prst="rect">
            <a:avLst/>
          </a:prstGeom>
          <a:noFill/>
        </p:spPr>
        <p:txBody>
          <a:bodyPr wrap="square">
            <a:spAutoFit/>
          </a:bodyPr>
          <a:lstStyle/>
          <a:p>
            <a:pPr algn="ctr"/>
            <a:r>
              <a:rPr sz="1200" b="1">
                <a:solidFill>
                  <a:srgbClr val="333333"/>
                </a:solidFill>
              </a:rPr>
              <a:t>근권 산소 결핍 → 기공 닫힘</a:t>
            </a:r>
          </a:p>
          <a:p>
            <a:pPr algn="ctr"/>
            <a:r>
              <a:rPr sz="1200">
                <a:solidFill>
                  <a:srgbClr val="333333"/>
                </a:solidFill>
              </a:rPr>
              <a:t>엽 내 CO</a:t>
            </a:r>
            <a:r>
              <a:rPr sz="1200" baseline="-25000">
                <a:solidFill>
                  <a:srgbClr val="333333"/>
                </a:solidFill>
              </a:rPr>
              <a:t>2</a:t>
            </a:r>
            <a:r>
              <a:rPr sz="1200">
                <a:solidFill>
                  <a:srgbClr val="333333"/>
                </a:solidFill>
              </a:rPr>
              <a:t> 공급 감소, 회복 지연</a:t>
            </a:r>
          </a:p>
        </p:txBody>
      </p:sp>
      <p:sp>
        <p:nvSpPr>
          <p:cNvPr id="65" name="TextBox 64"/>
          <p:cNvSpPr txBox="1"/>
          <p:nvPr/>
        </p:nvSpPr>
        <p:spPr>
          <a:xfrm>
            <a:off x="4488606" y="5105010"/>
            <a:ext cx="3200400" cy="640080"/>
          </a:xfrm>
          <a:prstGeom prst="rect">
            <a:avLst/>
          </a:prstGeom>
          <a:noFill/>
        </p:spPr>
        <p:txBody>
          <a:bodyPr wrap="square">
            <a:spAutoFit/>
          </a:bodyPr>
          <a:lstStyle/>
          <a:p>
            <a:pPr algn="ctr"/>
            <a:r>
              <a:rPr sz="1200" b="1">
                <a:solidFill>
                  <a:srgbClr val="333333"/>
                </a:solidFill>
              </a:rPr>
              <a:t>토양 수분 부족 → 엽 수분 저하</a:t>
            </a:r>
          </a:p>
          <a:p>
            <a:pPr algn="ctr"/>
            <a:r>
              <a:rPr sz="1200">
                <a:solidFill>
                  <a:srgbClr val="333333"/>
                </a:solidFill>
              </a:rPr>
              <a:t>증산·광합성 감소</a:t>
            </a:r>
          </a:p>
        </p:txBody>
      </p:sp>
      <p:sp>
        <p:nvSpPr>
          <p:cNvPr id="66" name="TextBox 65"/>
          <p:cNvSpPr txBox="1"/>
          <p:nvPr/>
        </p:nvSpPr>
        <p:spPr>
          <a:xfrm>
            <a:off x="7960400" y="5105010"/>
            <a:ext cx="3200400" cy="640080"/>
          </a:xfrm>
          <a:prstGeom prst="rect">
            <a:avLst/>
          </a:prstGeom>
          <a:noFill/>
        </p:spPr>
        <p:txBody>
          <a:bodyPr wrap="square">
            <a:spAutoFit/>
          </a:bodyPr>
          <a:lstStyle/>
          <a:p>
            <a:pPr algn="ctr"/>
            <a:r>
              <a:rPr sz="1200" b="1">
                <a:solidFill>
                  <a:srgbClr val="333333"/>
                </a:solidFill>
              </a:rPr>
              <a:t>침수 회복 전 건조 노출</a:t>
            </a:r>
          </a:p>
          <a:p>
            <a:pPr algn="ctr"/>
            <a:r>
              <a:rPr sz="1200">
                <a:solidFill>
                  <a:srgbClr val="333333"/>
                </a:solidFill>
              </a:rPr>
              <a:t>피해 누적 또는 순화 가능</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500"/>
                                        <p:tgtEl>
                                          <p:spTgt spid="2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500"/>
                                        <p:tgtEl>
                                          <p:spTgt spid="2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1"/>
                                        </p:tgtEl>
                                        <p:attrNameLst>
                                          <p:attrName>style.visibility</p:attrName>
                                        </p:attrNameLst>
                                      </p:cBhvr>
                                      <p:to>
                                        <p:strVal val="visible"/>
                                      </p:to>
                                    </p:set>
                                    <p:animEffect transition="in" filter="fade">
                                      <p:cBhvr>
                                        <p:cTn id="19" dur="500"/>
                                        <p:tgtEl>
                                          <p:spTgt spid="3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25"/>
                                        </p:tgtEl>
                                        <p:attrNameLst>
                                          <p:attrName>style.visibility</p:attrName>
                                        </p:attrNameLst>
                                      </p:cBhvr>
                                      <p:to>
                                        <p:strVal val="visible"/>
                                      </p:to>
                                    </p:set>
                                    <p:animEffect transition="in" filter="fade">
                                      <p:cBhvr>
                                        <p:cTn id="24"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7" grpId="0" animBg="1"/>
      <p:bldP spid="28" grpId="0" animBg="1"/>
      <p:bldP spid="29" grpId="0" animBg="1"/>
      <p:bldP spid="30" grpId="0" animBg="1"/>
      <p:bldP spid="3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연구 목적</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3</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dirty="0" err="1">
                <a:solidFill>
                  <a:srgbClr val="E97132"/>
                </a:solidFill>
              </a:rPr>
              <a:t>핵심</a:t>
            </a:r>
            <a:r>
              <a:rPr sz="1600" dirty="0">
                <a:solidFill>
                  <a:srgbClr val="E97132"/>
                </a:solidFill>
              </a:rPr>
              <a:t> </a:t>
            </a:r>
            <a:r>
              <a:rPr sz="1600" dirty="0" err="1">
                <a:solidFill>
                  <a:srgbClr val="E97132"/>
                </a:solidFill>
              </a:rPr>
              <a:t>질문</a:t>
            </a:r>
            <a:r>
              <a:rPr sz="1600" dirty="0">
                <a:solidFill>
                  <a:srgbClr val="E97132"/>
                </a:solidFill>
              </a:rPr>
              <a:t>: </a:t>
            </a:r>
            <a:r>
              <a:rPr sz="1600" dirty="0" err="1">
                <a:solidFill>
                  <a:srgbClr val="E97132"/>
                </a:solidFill>
              </a:rPr>
              <a:t>같은</a:t>
            </a:r>
            <a:r>
              <a:rPr sz="1600" dirty="0">
                <a:solidFill>
                  <a:srgbClr val="E97132"/>
                </a:solidFill>
              </a:rPr>
              <a:t> </a:t>
            </a:r>
            <a:r>
              <a:rPr sz="1600" dirty="0" err="1">
                <a:solidFill>
                  <a:srgbClr val="E97132"/>
                </a:solidFill>
              </a:rPr>
              <a:t>침수·건조</a:t>
            </a:r>
            <a:r>
              <a:rPr sz="1600" dirty="0">
                <a:solidFill>
                  <a:srgbClr val="E97132"/>
                </a:solidFill>
              </a:rPr>
              <a:t> </a:t>
            </a:r>
            <a:r>
              <a:rPr sz="1600" dirty="0" err="1">
                <a:solidFill>
                  <a:srgbClr val="E97132"/>
                </a:solidFill>
              </a:rPr>
              <a:t>재해에</a:t>
            </a:r>
            <a:r>
              <a:rPr sz="1600" dirty="0">
                <a:solidFill>
                  <a:srgbClr val="E97132"/>
                </a:solidFill>
              </a:rPr>
              <a:t> </a:t>
            </a:r>
            <a:r>
              <a:rPr sz="1600" dirty="0" err="1">
                <a:solidFill>
                  <a:srgbClr val="E97132"/>
                </a:solidFill>
              </a:rPr>
              <a:t>콩과</a:t>
            </a:r>
            <a:r>
              <a:rPr sz="1600" dirty="0">
                <a:solidFill>
                  <a:srgbClr val="E97132"/>
                </a:solidFill>
              </a:rPr>
              <a:t> </a:t>
            </a:r>
            <a:r>
              <a:rPr lang="ko-KR" altLang="en-US" sz="1600" dirty="0">
                <a:solidFill>
                  <a:srgbClr val="E97132"/>
                </a:solidFill>
              </a:rPr>
              <a:t>상추</a:t>
            </a:r>
            <a:r>
              <a:rPr sz="1600" dirty="0">
                <a:solidFill>
                  <a:srgbClr val="E97132"/>
                </a:solidFill>
              </a:rPr>
              <a:t> </a:t>
            </a:r>
            <a:r>
              <a:rPr sz="1600" dirty="0" err="1">
                <a:solidFill>
                  <a:srgbClr val="E97132"/>
                </a:solidFill>
              </a:rPr>
              <a:t>상추의</a:t>
            </a:r>
            <a:r>
              <a:rPr sz="1600" dirty="0">
                <a:solidFill>
                  <a:srgbClr val="E97132"/>
                </a:solidFill>
              </a:rPr>
              <a:t> </a:t>
            </a:r>
            <a:r>
              <a:rPr sz="1600" dirty="0" err="1">
                <a:solidFill>
                  <a:srgbClr val="E97132"/>
                </a:solidFill>
              </a:rPr>
              <a:t>생리·생육</a:t>
            </a:r>
            <a:r>
              <a:rPr sz="1600" dirty="0">
                <a:solidFill>
                  <a:srgbClr val="E97132"/>
                </a:solidFill>
              </a:rPr>
              <a:t> </a:t>
            </a:r>
            <a:r>
              <a:rPr sz="1600" dirty="0" err="1">
                <a:solidFill>
                  <a:srgbClr val="E97132"/>
                </a:solidFill>
              </a:rPr>
              <a:t>반응은</a:t>
            </a:r>
            <a:r>
              <a:rPr sz="1600" dirty="0">
                <a:solidFill>
                  <a:srgbClr val="E97132"/>
                </a:solidFill>
              </a:rPr>
              <a:t> </a:t>
            </a:r>
            <a:r>
              <a:rPr sz="1600" dirty="0" err="1">
                <a:solidFill>
                  <a:srgbClr val="E97132"/>
                </a:solidFill>
              </a:rPr>
              <a:t>어떻게</a:t>
            </a:r>
            <a:r>
              <a:rPr sz="1600" dirty="0">
                <a:solidFill>
                  <a:srgbClr val="E97132"/>
                </a:solidFill>
              </a:rPr>
              <a:t> </a:t>
            </a:r>
            <a:r>
              <a:rPr sz="1600" dirty="0" err="1">
                <a:solidFill>
                  <a:srgbClr val="E97132"/>
                </a:solidFill>
              </a:rPr>
              <a:t>다른가</a:t>
            </a:r>
            <a:r>
              <a:rPr sz="1600" dirty="0">
                <a:solidFill>
                  <a:srgbClr val="E97132"/>
                </a:solidFill>
              </a:rPr>
              <a:t>?</a:t>
            </a:r>
          </a:p>
        </p:txBody>
      </p:sp>
      <p:sp>
        <p:nvSpPr>
          <p:cNvPr id="27" name="Step 1"/>
          <p:cNvSpPr/>
          <p:nvPr/>
        </p:nvSpPr>
        <p:spPr>
          <a:xfrm>
            <a:off x="7406640" y="1188720"/>
            <a:ext cx="1691640" cy="786384"/>
          </a:xfrm>
          <a:prstGeom prst="roundRect">
            <a:avLst>
              <a:gd name="adj" fmla="val 14000"/>
            </a:avLst>
          </a:prstGeom>
          <a:solidFill>
            <a:srgbClr val="E8F1F8"/>
          </a:solid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000000"/>
                </a:solidFill>
              </a:rPr>
              <a:t>기공</a:t>
            </a:r>
          </a:p>
          <a:p>
            <a:pPr marL="0" indent="0" algn="ctr">
              <a:spcBef>
                <a:spcPts val="0"/>
              </a:spcBef>
              <a:buNone/>
            </a:pPr>
            <a:r>
              <a:rPr lang="ko-KR" altLang="en-US" sz="1100" b="0" dirty="0">
                <a:solidFill>
                  <a:srgbClr val="000000"/>
                </a:solidFill>
              </a:rPr>
              <a:t>g</a:t>
            </a:r>
            <a:r>
              <a:rPr lang="ko-KR" altLang="en-US" sz="1100" b="0" baseline="-25000" dirty="0">
                <a:solidFill>
                  <a:srgbClr val="000000"/>
                </a:solidFill>
              </a:rPr>
              <a:t>sw</a:t>
            </a:r>
          </a:p>
        </p:txBody>
      </p:sp>
      <p:sp>
        <p:nvSpPr>
          <p:cNvPr id="28" name="Step 2"/>
          <p:cNvSpPr/>
          <p:nvPr/>
        </p:nvSpPr>
        <p:spPr>
          <a:xfrm>
            <a:off x="7406640" y="2084832"/>
            <a:ext cx="1691640" cy="786384"/>
          </a:xfrm>
          <a:prstGeom prst="roundRect">
            <a:avLst>
              <a:gd name="adj" fmla="val 14000"/>
            </a:avLst>
          </a:prstGeom>
          <a:solidFill>
            <a:srgbClr val="C9DFEE"/>
          </a:solid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000000"/>
                </a:solidFill>
              </a:rPr>
              <a:t>명반응</a:t>
            </a:r>
          </a:p>
          <a:p>
            <a:pPr marL="0" indent="0" algn="ctr">
              <a:spcBef>
                <a:spcPts val="0"/>
              </a:spcBef>
              <a:buNone/>
            </a:pPr>
            <a:r>
              <a:rPr lang="ko-KR" altLang="en-US" sz="1100" b="0" dirty="0">
                <a:solidFill>
                  <a:srgbClr val="000000"/>
                </a:solidFill>
              </a:rPr>
              <a:t>Φ</a:t>
            </a:r>
            <a:r>
              <a:rPr lang="ko-KR" altLang="en-US" sz="1100" b="0" baseline="-25000" dirty="0">
                <a:solidFill>
                  <a:srgbClr val="000000"/>
                </a:solidFill>
              </a:rPr>
              <a:t>PSII</a:t>
            </a:r>
          </a:p>
        </p:txBody>
      </p:sp>
      <p:sp>
        <p:nvSpPr>
          <p:cNvPr id="30" name="Step 4"/>
          <p:cNvSpPr/>
          <p:nvPr/>
        </p:nvSpPr>
        <p:spPr>
          <a:xfrm>
            <a:off x="7406640" y="2980944"/>
            <a:ext cx="1691640" cy="786384"/>
          </a:xfrm>
          <a:prstGeom prst="roundRect">
            <a:avLst>
              <a:gd name="adj" fmla="val 14000"/>
            </a:avLst>
          </a:prstGeom>
          <a:solidFill>
            <a:srgbClr val="5E9CC6"/>
          </a:solid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FFFFFF"/>
                </a:solidFill>
              </a:rPr>
              <a:t>광합성 능력</a:t>
            </a:r>
          </a:p>
          <a:p>
            <a:pPr marL="0" indent="0" algn="ctr">
              <a:spcBef>
                <a:spcPts val="0"/>
              </a:spcBef>
              <a:buNone/>
            </a:pPr>
            <a:r>
              <a:rPr lang="ko-KR" altLang="en-US" sz="1100" b="0" dirty="0">
                <a:solidFill>
                  <a:srgbClr val="FFFFFF"/>
                </a:solidFill>
              </a:rPr>
              <a:t>V</a:t>
            </a:r>
            <a:r>
              <a:rPr lang="ko-KR" altLang="en-US" sz="1100" b="0" baseline="-25000" dirty="0">
                <a:solidFill>
                  <a:srgbClr val="FFFFFF"/>
                </a:solidFill>
              </a:rPr>
              <a:t>cmax</a:t>
            </a:r>
            <a:r>
              <a:rPr lang="ko-KR" altLang="en-US" sz="1100" b="0" dirty="0">
                <a:solidFill>
                  <a:srgbClr val="FFFFFF"/>
                </a:solidFill>
              </a:rPr>
              <a:t> · J</a:t>
            </a:r>
            <a:r>
              <a:rPr lang="ko-KR" altLang="en-US" sz="1100" b="0" baseline="-25000" dirty="0">
                <a:solidFill>
                  <a:srgbClr val="FFFFFF"/>
                </a:solidFill>
              </a:rPr>
              <a:t>max</a:t>
            </a:r>
            <a:r>
              <a:rPr lang="ko-KR" altLang="en-US" sz="1100" b="0" dirty="0">
                <a:solidFill>
                  <a:srgbClr val="FFFFFF"/>
                </a:solidFill>
              </a:rPr>
              <a:t> · A</a:t>
            </a:r>
            <a:r>
              <a:rPr lang="ko-KR" altLang="en-US" sz="1100" b="0" baseline="-25000" dirty="0">
                <a:solidFill>
                  <a:srgbClr val="FFFFFF"/>
                </a:solidFill>
              </a:rPr>
              <a:t>max</a:t>
            </a:r>
          </a:p>
        </p:txBody>
      </p:sp>
      <p:sp>
        <p:nvSpPr>
          <p:cNvPr id="31" name="Step 5"/>
          <p:cNvSpPr/>
          <p:nvPr/>
        </p:nvSpPr>
        <p:spPr>
          <a:xfrm>
            <a:off x="7406640" y="3877056"/>
            <a:ext cx="1691640" cy="786384"/>
          </a:xfrm>
          <a:prstGeom prst="roundRect">
            <a:avLst>
              <a:gd name="adj" fmla="val 14000"/>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500" b="1" dirty="0" err="1">
                <a:solidFill>
                  <a:srgbClr val="FFFFFF"/>
                </a:solidFill>
              </a:rPr>
              <a:t>생육·수량</a:t>
            </a:r>
            <a:endParaRPr lang="ko-KR" altLang="en-US" sz="1500" b="1" dirty="0">
              <a:solidFill>
                <a:srgbClr val="FFFFFF"/>
              </a:solidFill>
            </a:endParaRPr>
          </a:p>
          <a:p>
            <a:pPr marL="0" indent="0" algn="ctr">
              <a:spcBef>
                <a:spcPts val="0"/>
              </a:spcBef>
              <a:buNone/>
            </a:pPr>
            <a:r>
              <a:rPr lang="ko-KR" altLang="en-US" sz="1100" b="0" dirty="0">
                <a:solidFill>
                  <a:srgbClr val="FFFFFF"/>
                </a:solidFill>
              </a:rPr>
              <a:t>수량 · 지상부 건물중</a:t>
            </a:r>
          </a:p>
        </p:txBody>
      </p:sp>
      <p:sp>
        <p:nvSpPr>
          <p:cNvPr id="33" name="Objective"/>
          <p:cNvSpPr/>
          <p:nvPr/>
        </p:nvSpPr>
        <p:spPr>
          <a:xfrm>
            <a:off x="841248" y="4846320"/>
            <a:ext cx="10515600" cy="868680"/>
          </a:xfrm>
          <a:prstGeom prst="roundRect">
            <a:avLst>
              <a:gd name="adj" fmla="val 10000"/>
            </a:avLst>
          </a:prstGeom>
          <a:solidFill>
            <a:srgbClr val="F2F6F9"/>
          </a:solidFill>
          <a:ln w="15875">
            <a:solidFill>
              <a:srgbClr val="156082"/>
            </a:solidFill>
          </a:ln>
        </p:spPr>
        <p:txBody>
          <a:bodyPr wrap="square" lIns="228600" tIns="73152" rIns="228600" bIns="73152" rtlCol="0" anchor="ctr">
            <a:noAutofit/>
          </a:bodyPr>
          <a:lstStyle/>
          <a:p>
            <a:pPr marL="0" indent="0" algn="l">
              <a:spcBef>
                <a:spcPts val="0"/>
              </a:spcBef>
              <a:buNone/>
            </a:pPr>
            <a:r>
              <a:rPr lang="ko-KR" altLang="en-US" sz="1400" b="1" dirty="0">
                <a:solidFill>
                  <a:srgbClr val="000000"/>
                </a:solidFill>
              </a:rPr>
              <a:t>연구 목적</a:t>
            </a:r>
            <a:r>
              <a:rPr lang="ko-KR" altLang="en-US" sz="1400" dirty="0">
                <a:solidFill>
                  <a:srgbClr val="000000"/>
                </a:solidFill>
              </a:rPr>
              <a:t>  콩과 상추 상추에 침수·건조·복합 처리를 적용하여</a:t>
            </a:r>
          </a:p>
          <a:p>
            <a:pPr marL="0" indent="0" algn="l">
              <a:spcBef>
                <a:spcPts val="400"/>
              </a:spcBef>
              <a:buNone/>
            </a:pPr>
            <a:r>
              <a:rPr lang="ko-KR" altLang="en-US" sz="1400" dirty="0">
                <a:solidFill>
                  <a:srgbClr val="000000"/>
                </a:solidFill>
              </a:rPr>
              <a:t>잎 생리 반응이 </a:t>
            </a:r>
            <a:r>
              <a:rPr lang="ko-KR" altLang="en-US" sz="1400" b="1" dirty="0">
                <a:solidFill>
                  <a:srgbClr val="000000"/>
                </a:solidFill>
              </a:rPr>
              <a:t>어느 단계까지 확대되는지</a:t>
            </a:r>
            <a:r>
              <a:rPr lang="ko-KR" altLang="en-US" sz="1400" dirty="0">
                <a:solidFill>
                  <a:srgbClr val="000000"/>
                </a:solidFill>
              </a:rPr>
              <a:t>, 기공이 </a:t>
            </a:r>
            <a:r>
              <a:rPr lang="ko-KR" altLang="en-US" sz="1400" b="1" dirty="0">
                <a:solidFill>
                  <a:srgbClr val="000000"/>
                </a:solidFill>
              </a:rPr>
              <a:t>얼마나 빨리 회복되는지</a:t>
            </a:r>
            <a:r>
              <a:rPr lang="ko-KR" altLang="en-US" sz="1400" dirty="0">
                <a:solidFill>
                  <a:srgbClr val="000000"/>
                </a:solidFill>
              </a:rPr>
              <a:t>, </a:t>
            </a:r>
            <a:r>
              <a:rPr lang="ko-KR" altLang="en-US" sz="1400" b="1" dirty="0">
                <a:solidFill>
                  <a:srgbClr val="000000"/>
                </a:solidFill>
              </a:rPr>
              <a:t>생육·수량 감소로 이어지는지</a:t>
            </a:r>
            <a:r>
              <a:rPr lang="ko-KR" altLang="en-US" sz="1400" dirty="0">
                <a:solidFill>
                  <a:srgbClr val="000000"/>
                </a:solidFill>
              </a:rPr>
              <a:t> 비교</a:t>
            </a:r>
          </a:p>
        </p:txBody>
      </p:sp>
      <p:sp>
        <p:nvSpPr>
          <p:cNvPr id="41" name="Nav 서론"/>
          <p:cNvSpPr txBox="1"/>
          <p:nvPr/>
        </p:nvSpPr>
        <p:spPr>
          <a:xfrm>
            <a:off x="841248" y="100584"/>
            <a:ext cx="1371600" cy="329184"/>
          </a:xfrm>
          <a:prstGeom prst="rect">
            <a:avLst/>
          </a:prstGeom>
          <a:noFill/>
        </p:spPr>
        <p:txBody>
          <a:bodyPr wrap="none" lIns="0" tIns="0" rIns="0" bIns="0" anchor="ctr">
            <a:spAutoFit/>
          </a:bodyPr>
          <a:lstStyle/>
          <a:p>
            <a:pPr algn="ctr"/>
            <a:r>
              <a:rPr sz="1450" b="1" u="sng">
                <a:solidFill>
                  <a:srgbClr val="1A1A1A"/>
                </a:solidFill>
              </a:rPr>
              <a:t>서론</a:t>
            </a:r>
          </a:p>
        </p:txBody>
      </p:sp>
      <p:sp>
        <p:nvSpPr>
          <p:cNvPr id="42"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43"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44"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45"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pic>
        <p:nvPicPr>
          <p:cNvPr id="46" name="Picture 45" descr="mechanism.png"/>
          <p:cNvPicPr>
            <a:picLocks noChangeAspect="1"/>
          </p:cNvPicPr>
          <p:nvPr/>
        </p:nvPicPr>
        <p:blipFill>
          <a:blip r:embed="rId4"/>
          <a:stretch>
            <a:fillRect/>
          </a:stretch>
        </p:blipFill>
        <p:spPr>
          <a:xfrm>
            <a:off x="841248" y="1188720"/>
            <a:ext cx="6400800" cy="3575898"/>
          </a:xfrm>
          <a:prstGeom prst="rect">
            <a:avLst/>
          </a:prstGeom>
        </p:spPr>
      </p:pic>
      <p:sp>
        <p:nvSpPr>
          <p:cNvPr id="47" name="TextBox 46"/>
          <p:cNvSpPr txBox="1"/>
          <p:nvPr/>
        </p:nvSpPr>
        <p:spPr>
          <a:xfrm>
            <a:off x="9189720" y="1188720"/>
            <a:ext cx="2240280" cy="786384"/>
          </a:xfrm>
          <a:prstGeom prst="rect">
            <a:avLst/>
          </a:prstGeom>
          <a:noFill/>
        </p:spPr>
        <p:txBody>
          <a:bodyPr wrap="square" lIns="45720" tIns="18288" rIns="45720" bIns="18288" anchor="ctr">
            <a:spAutoFit/>
          </a:bodyPr>
          <a:lstStyle/>
          <a:p>
            <a:pPr algn="l"/>
            <a:r>
              <a:rPr sz="1050">
                <a:solidFill>
                  <a:srgbClr val="333333"/>
                </a:solidFill>
              </a:rPr>
              <a:t>수분 스트레스에 가장 먼저 반응해 닫히고, 엽 내 CO</a:t>
            </a:r>
            <a:r>
              <a:rPr sz="1050" baseline="-25000">
                <a:solidFill>
                  <a:srgbClr val="333333"/>
                </a:solidFill>
              </a:rPr>
              <a:t>2</a:t>
            </a:r>
            <a:r>
              <a:rPr sz="1050">
                <a:solidFill>
                  <a:srgbClr val="333333"/>
                </a:solidFill>
              </a:rPr>
              <a:t> 공급이 감소</a:t>
            </a:r>
          </a:p>
        </p:txBody>
      </p:sp>
      <p:sp>
        <p:nvSpPr>
          <p:cNvPr id="48" name="TextBox 47"/>
          <p:cNvSpPr txBox="1"/>
          <p:nvPr/>
        </p:nvSpPr>
        <p:spPr>
          <a:xfrm>
            <a:off x="9189720" y="2084832"/>
            <a:ext cx="2240280" cy="786384"/>
          </a:xfrm>
          <a:prstGeom prst="rect">
            <a:avLst/>
          </a:prstGeom>
          <a:noFill/>
        </p:spPr>
        <p:txBody>
          <a:bodyPr wrap="square" lIns="45720" tIns="18288" rIns="45720" bIns="18288" anchor="ctr">
            <a:spAutoFit/>
          </a:bodyPr>
          <a:lstStyle/>
          <a:p>
            <a:pPr algn="l"/>
            <a:r>
              <a:rPr sz="1050" b="0">
                <a:solidFill>
                  <a:srgbClr val="333333"/>
                </a:solidFill>
              </a:rPr>
              <a:t>틸라코이드 막 PSII 전자전달이 저해되어 광화학 효율 저하</a:t>
            </a:r>
          </a:p>
        </p:txBody>
      </p:sp>
      <p:sp>
        <p:nvSpPr>
          <p:cNvPr id="49" name="TextBox 48"/>
          <p:cNvSpPr txBox="1"/>
          <p:nvPr/>
        </p:nvSpPr>
        <p:spPr>
          <a:xfrm>
            <a:off x="9189720" y="2980944"/>
            <a:ext cx="2240280" cy="786384"/>
          </a:xfrm>
          <a:prstGeom prst="rect">
            <a:avLst/>
          </a:prstGeom>
          <a:noFill/>
        </p:spPr>
        <p:txBody>
          <a:bodyPr wrap="square" lIns="45720" tIns="18288" rIns="45720" bIns="18288" anchor="ctr">
            <a:spAutoFit/>
          </a:bodyPr>
          <a:lstStyle/>
          <a:p>
            <a:pPr algn="l"/>
            <a:r>
              <a:rPr sz="1050" b="0">
                <a:solidFill>
                  <a:srgbClr val="333333"/>
                </a:solidFill>
              </a:rPr>
              <a:t>루비스코 카르복실화와 RuBP 재생 능력 저하 (②와 병렬로 평가)</a:t>
            </a:r>
          </a:p>
        </p:txBody>
      </p:sp>
      <p:sp>
        <p:nvSpPr>
          <p:cNvPr id="50" name="TextBox 49"/>
          <p:cNvSpPr txBox="1"/>
          <p:nvPr/>
        </p:nvSpPr>
        <p:spPr>
          <a:xfrm>
            <a:off x="9189720" y="3877056"/>
            <a:ext cx="2240280" cy="786384"/>
          </a:xfrm>
          <a:prstGeom prst="rect">
            <a:avLst/>
          </a:prstGeom>
          <a:noFill/>
        </p:spPr>
        <p:txBody>
          <a:bodyPr wrap="square" lIns="45720" tIns="18288" rIns="45720" bIns="18288" anchor="ctr">
            <a:spAutoFit/>
          </a:bodyPr>
          <a:lstStyle/>
          <a:p>
            <a:pPr algn="l"/>
            <a:r>
              <a:rPr sz="1050" b="0">
                <a:solidFill>
                  <a:srgbClr val="333333"/>
                </a:solidFill>
              </a:rPr>
              <a:t>①~③의 영향이 누적되어 생육·수량 감소로 이어지는지 평가</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5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5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5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fade">
                                      <p:cBhvr>
                                        <p:cTn id="3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7" grpId="0" animBg="1"/>
      <p:bldP spid="28" grpId="0" animBg="1"/>
      <p:bldP spid="30" grpId="0" animBg="1"/>
      <p:bldP spid="31" grpId="0" animBg="1"/>
      <p:bldP spid="3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공시 작물 및 수분 처리</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4</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b="1">
                <a:solidFill>
                  <a:srgbClr val="E97132"/>
                </a:solidFill>
              </a:rPr>
              <a:t>2작물 × 4처리</a:t>
            </a:r>
            <a:r>
              <a:rPr sz="1600" b="0">
                <a:solidFill>
                  <a:srgbClr val="E97132"/>
                </a:solidFill>
              </a:rPr>
              <a:t>: 대조구 · 건조 · 침수 · 복합(침수 후 건조), 침수 기간은 두 작물 모두 3일</a:t>
            </a:r>
          </a:p>
        </p:txBody>
      </p:sp>
      <p:sp>
        <p:nvSpPr>
          <p:cNvPr id="27" name="Card 상추"/>
          <p:cNvSpPr/>
          <p:nvPr/>
        </p:nvSpPr>
        <p:spPr>
          <a:xfrm>
            <a:off x="841248" y="1508760"/>
            <a:ext cx="4892040" cy="155448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28" name="Header 상추"/>
          <p:cNvSpPr/>
          <p:nvPr/>
        </p:nvSpPr>
        <p:spPr>
          <a:xfrm>
            <a:off x="1024128" y="1298448"/>
            <a:ext cx="4526280" cy="420624"/>
          </a:xfrm>
          <a:prstGeom prst="roundRect">
            <a:avLst>
              <a:gd name="adj" fmla="val 25000"/>
            </a:avLst>
          </a:prstGeom>
          <a:solidFill>
            <a:srgbClr val="2E6B3F"/>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FFFFFF"/>
                </a:solidFill>
              </a:rPr>
              <a:t>상추</a:t>
            </a:r>
          </a:p>
        </p:txBody>
      </p:sp>
      <p:sp>
        <p:nvSpPr>
          <p:cNvPr id="29" name="Text 상추"/>
          <p:cNvSpPr txBox="1"/>
          <p:nvPr/>
        </p:nvSpPr>
        <p:spPr>
          <a:xfrm>
            <a:off x="1024128" y="1892808"/>
            <a:ext cx="4572000" cy="105156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300" b="0" i="1" dirty="0">
                <a:solidFill>
                  <a:srgbClr val="000000"/>
                </a:solidFill>
              </a:rPr>
              <a:t>Lactuca sativa</a:t>
            </a:r>
            <a:r>
              <a:rPr lang="ko-KR" altLang="en-US" sz="1300" b="0" i="0" dirty="0">
                <a:solidFill>
                  <a:srgbClr val="000000"/>
                </a:solidFill>
              </a:rPr>
              <a:t> L. cv. Claudius</a:t>
            </a:r>
          </a:p>
          <a:p>
            <a:pPr marL="201168" indent="-201168" algn="l">
              <a:spcBef>
                <a:spcPts val="600"/>
              </a:spcBef>
              <a:buFont typeface="Arial"/>
              <a:buChar char="•"/>
            </a:pPr>
            <a:r>
              <a:rPr lang="ko-KR" altLang="en-US" sz="1300" b="0" dirty="0">
                <a:solidFill>
                  <a:srgbClr val="000000"/>
                </a:solidFill>
              </a:rPr>
              <a:t>정식일 </a:t>
            </a:r>
            <a:r>
              <a:rPr lang="en-US" altLang="ko-KR" sz="1300" b="0" dirty="0">
                <a:solidFill>
                  <a:srgbClr val="000000"/>
                </a:solidFill>
              </a:rPr>
              <a:t>: 26. 9. 15.</a:t>
            </a:r>
          </a:p>
          <a:p>
            <a:pPr marL="201168" indent="-201168" algn="l">
              <a:spcBef>
                <a:spcPts val="600"/>
              </a:spcBef>
              <a:buFont typeface="Arial"/>
              <a:buChar char="•"/>
            </a:pPr>
            <a:r>
              <a:rPr lang="ko-KR" altLang="en-US" sz="1300" b="0" dirty="0">
                <a:solidFill>
                  <a:srgbClr val="000000"/>
                </a:solidFill>
              </a:rPr>
              <a:t>처리 개시 : </a:t>
            </a:r>
            <a:r>
              <a:rPr lang="en-US" altLang="ko-KR" sz="1300" b="0" dirty="0">
                <a:solidFill>
                  <a:srgbClr val="000000"/>
                </a:solidFill>
              </a:rPr>
              <a:t>26. 10. 7.</a:t>
            </a:r>
            <a:endParaRPr lang="ko-KR" altLang="en-US" sz="1300" b="0" dirty="0">
              <a:solidFill>
                <a:srgbClr val="000000"/>
              </a:solidFill>
            </a:endParaRPr>
          </a:p>
          <a:p>
            <a:pPr marL="201168" indent="-201168" algn="l">
              <a:spcBef>
                <a:spcPts val="600"/>
              </a:spcBef>
              <a:buFont typeface="Arial"/>
              <a:buChar char="•"/>
            </a:pPr>
            <a:r>
              <a:rPr lang="ko-KR" altLang="en-US" sz="1300" b="0" dirty="0">
                <a:solidFill>
                  <a:srgbClr val="000000"/>
                </a:solidFill>
              </a:rPr>
              <a:t>관찰 : 처리 후 16일 (DAT 0~16)</a:t>
            </a:r>
          </a:p>
        </p:txBody>
      </p:sp>
      <p:sp>
        <p:nvSpPr>
          <p:cNvPr id="30" name="Card 콩"/>
          <p:cNvSpPr/>
          <p:nvPr/>
        </p:nvSpPr>
        <p:spPr>
          <a:xfrm>
            <a:off x="841248" y="3611880"/>
            <a:ext cx="4892040" cy="155448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31" name="Header 콩"/>
          <p:cNvSpPr/>
          <p:nvPr/>
        </p:nvSpPr>
        <p:spPr>
          <a:xfrm>
            <a:off x="1024128" y="3401568"/>
            <a:ext cx="4526280" cy="420624"/>
          </a:xfrm>
          <a:prstGeom prst="roundRect">
            <a:avLst>
              <a:gd name="adj" fmla="val 25000"/>
            </a:avLst>
          </a:prstGeom>
          <a:solidFill>
            <a:srgbClr val="6B4226"/>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FFFFFF"/>
                </a:solidFill>
              </a:rPr>
              <a:t>콩</a:t>
            </a:r>
          </a:p>
        </p:txBody>
      </p:sp>
      <p:sp>
        <p:nvSpPr>
          <p:cNvPr id="32" name="Text 콩"/>
          <p:cNvSpPr txBox="1"/>
          <p:nvPr/>
        </p:nvSpPr>
        <p:spPr>
          <a:xfrm>
            <a:off x="1024128" y="3995928"/>
            <a:ext cx="4572000" cy="105156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300" b="0" i="1" dirty="0">
                <a:solidFill>
                  <a:srgbClr val="000000"/>
                </a:solidFill>
              </a:rPr>
              <a:t>Glycine max</a:t>
            </a:r>
            <a:r>
              <a:rPr lang="ko-KR" altLang="en-US" sz="1300" b="0" i="0" dirty="0">
                <a:solidFill>
                  <a:srgbClr val="000000"/>
                </a:solidFill>
              </a:rPr>
              <a:t> (L.) Merr. cv. </a:t>
            </a:r>
            <a:r>
              <a:rPr lang="ko-KR" altLang="en-US" sz="1300" b="0" i="0" dirty="0" err="1">
                <a:solidFill>
                  <a:srgbClr val="000000"/>
                </a:solidFill>
              </a:rPr>
              <a:t>Daewonkong</a:t>
            </a:r>
            <a:endParaRPr lang="ko-KR" altLang="en-US" sz="1300" b="0" i="0" dirty="0">
              <a:solidFill>
                <a:srgbClr val="000000"/>
              </a:solidFill>
            </a:endParaRPr>
          </a:p>
          <a:p>
            <a:pPr marL="201168" indent="-201168" algn="l">
              <a:spcBef>
                <a:spcPts val="600"/>
              </a:spcBef>
              <a:buFont typeface="Arial"/>
              <a:buChar char="•"/>
            </a:pPr>
            <a:r>
              <a:rPr lang="ko-KR" altLang="en-US" sz="1300" b="0" dirty="0">
                <a:solidFill>
                  <a:srgbClr val="000000"/>
                </a:solidFill>
              </a:rPr>
              <a:t>파종일 </a:t>
            </a:r>
            <a:r>
              <a:rPr lang="en-US" altLang="ko-KR" sz="1300" b="0" dirty="0">
                <a:solidFill>
                  <a:srgbClr val="000000"/>
                </a:solidFill>
              </a:rPr>
              <a:t>: 26. 6. 26.</a:t>
            </a:r>
          </a:p>
          <a:p>
            <a:pPr marL="201168" indent="-201168" algn="l">
              <a:spcBef>
                <a:spcPts val="600"/>
              </a:spcBef>
              <a:buFont typeface="Arial"/>
              <a:buChar char="•"/>
            </a:pPr>
            <a:r>
              <a:rPr lang="ko-KR" altLang="en-US" sz="1300" b="0" dirty="0">
                <a:solidFill>
                  <a:srgbClr val="000000"/>
                </a:solidFill>
              </a:rPr>
              <a:t>처리 개시 : </a:t>
            </a:r>
            <a:r>
              <a:rPr lang="en-US" altLang="ko-KR" sz="1300" b="0" dirty="0">
                <a:solidFill>
                  <a:srgbClr val="000000"/>
                </a:solidFill>
              </a:rPr>
              <a:t>26. 8. 12. (R1)</a:t>
            </a:r>
            <a:endParaRPr lang="ko-KR" altLang="en-US" sz="1300" b="0" dirty="0">
              <a:solidFill>
                <a:srgbClr val="000000"/>
              </a:solidFill>
            </a:endParaRPr>
          </a:p>
          <a:p>
            <a:pPr marL="201168" indent="-201168" algn="l">
              <a:spcBef>
                <a:spcPts val="600"/>
              </a:spcBef>
              <a:buFont typeface="Arial"/>
              <a:buChar char="•"/>
            </a:pPr>
            <a:r>
              <a:rPr lang="ko-KR" altLang="en-US" sz="1300" b="0" dirty="0">
                <a:solidFill>
                  <a:srgbClr val="000000"/>
                </a:solidFill>
              </a:rPr>
              <a:t>관찰 : 처리 후 55일 (DAT 0~55)</a:t>
            </a:r>
          </a:p>
        </p:txBody>
      </p:sp>
      <p:sp>
        <p:nvSpPr>
          <p:cNvPr id="33" name="Pot label"/>
          <p:cNvSpPr txBox="1"/>
          <p:nvPr/>
        </p:nvSpPr>
        <p:spPr>
          <a:xfrm>
            <a:off x="6080760" y="1349832"/>
            <a:ext cx="1234440" cy="36576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3A3A3A"/>
                </a:solidFill>
              </a:rPr>
              <a:t>대조구</a:t>
            </a:r>
          </a:p>
        </p:txBody>
      </p:sp>
      <p:sp>
        <p:nvSpPr>
          <p:cNvPr id="38" name="Pot desc"/>
          <p:cNvSpPr txBox="1"/>
          <p:nvPr/>
        </p:nvSpPr>
        <p:spPr>
          <a:xfrm>
            <a:off x="6035040" y="4187952"/>
            <a:ext cx="1325880" cy="64008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150" b="0" dirty="0">
                <a:solidFill>
                  <a:srgbClr val="000000"/>
                </a:solidFill>
              </a:rPr>
              <a:t>ET 100% 관수</a:t>
            </a:r>
          </a:p>
        </p:txBody>
      </p:sp>
      <p:sp>
        <p:nvSpPr>
          <p:cNvPr id="39" name="Pot label"/>
          <p:cNvSpPr txBox="1"/>
          <p:nvPr/>
        </p:nvSpPr>
        <p:spPr>
          <a:xfrm>
            <a:off x="7406640" y="1349832"/>
            <a:ext cx="1234440" cy="36576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8A7F70"/>
                </a:solidFill>
              </a:rPr>
              <a:t>건조</a:t>
            </a:r>
          </a:p>
        </p:txBody>
      </p:sp>
      <p:sp>
        <p:nvSpPr>
          <p:cNvPr id="44" name="Pot desc"/>
          <p:cNvSpPr txBox="1"/>
          <p:nvPr/>
        </p:nvSpPr>
        <p:spPr>
          <a:xfrm>
            <a:off x="7360920" y="4187952"/>
            <a:ext cx="1325880" cy="64008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150" b="0" dirty="0">
                <a:solidFill>
                  <a:srgbClr val="000000"/>
                </a:solidFill>
              </a:rPr>
              <a:t>ET 50% 관수</a:t>
            </a:r>
          </a:p>
        </p:txBody>
      </p:sp>
      <p:sp>
        <p:nvSpPr>
          <p:cNvPr id="45" name="Pot label"/>
          <p:cNvSpPr txBox="1"/>
          <p:nvPr/>
        </p:nvSpPr>
        <p:spPr>
          <a:xfrm>
            <a:off x="8732520" y="1349832"/>
            <a:ext cx="1234440" cy="36576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1F4E79"/>
                </a:solidFill>
              </a:rPr>
              <a:t>침수</a:t>
            </a:r>
          </a:p>
        </p:txBody>
      </p:sp>
      <p:sp>
        <p:nvSpPr>
          <p:cNvPr id="51" name="Pot desc"/>
          <p:cNvSpPr txBox="1"/>
          <p:nvPr/>
        </p:nvSpPr>
        <p:spPr>
          <a:xfrm>
            <a:off x="8686800" y="4187952"/>
            <a:ext cx="1325880" cy="64008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150" b="0" dirty="0">
                <a:solidFill>
                  <a:srgbClr val="000000"/>
                </a:solidFill>
              </a:rPr>
              <a:t>3일 침지 →</a:t>
            </a:r>
          </a:p>
          <a:p>
            <a:pPr marL="0" indent="0" algn="ctr">
              <a:spcBef>
                <a:spcPts val="0"/>
              </a:spcBef>
              <a:buNone/>
            </a:pPr>
            <a:r>
              <a:rPr lang="ko-KR" altLang="en-US" sz="1150" b="0" dirty="0">
                <a:solidFill>
                  <a:srgbClr val="000000"/>
                </a:solidFill>
              </a:rPr>
              <a:t>ET 100%</a:t>
            </a:r>
          </a:p>
        </p:txBody>
      </p:sp>
      <p:sp>
        <p:nvSpPr>
          <p:cNvPr id="52" name="Pot label"/>
          <p:cNvSpPr txBox="1"/>
          <p:nvPr/>
        </p:nvSpPr>
        <p:spPr>
          <a:xfrm>
            <a:off x="10058400" y="1349832"/>
            <a:ext cx="1234440" cy="36576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6F93B8"/>
                </a:solidFill>
              </a:rPr>
              <a:t>복합</a:t>
            </a:r>
          </a:p>
        </p:txBody>
      </p:sp>
      <p:sp>
        <p:nvSpPr>
          <p:cNvPr id="58" name="Pot desc"/>
          <p:cNvSpPr txBox="1"/>
          <p:nvPr/>
        </p:nvSpPr>
        <p:spPr>
          <a:xfrm>
            <a:off x="10012680" y="4187952"/>
            <a:ext cx="1325880" cy="64008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150" b="0" dirty="0">
                <a:solidFill>
                  <a:srgbClr val="000000"/>
                </a:solidFill>
              </a:rPr>
              <a:t>3일 침지 →</a:t>
            </a:r>
          </a:p>
          <a:p>
            <a:pPr marL="0" indent="0" algn="ctr">
              <a:spcBef>
                <a:spcPts val="0"/>
              </a:spcBef>
              <a:buNone/>
            </a:pPr>
            <a:r>
              <a:rPr lang="ko-KR" altLang="en-US" sz="1150" b="0" dirty="0">
                <a:solidFill>
                  <a:srgbClr val="000000"/>
                </a:solidFill>
              </a:rPr>
              <a:t>ET 50%</a:t>
            </a:r>
          </a:p>
        </p:txBody>
      </p:sp>
      <p:sp>
        <p:nvSpPr>
          <p:cNvPr id="117"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18"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450" b="1" u="sng">
                <a:solidFill>
                  <a:srgbClr val="1A1A1A"/>
                </a:solidFill>
              </a:rPr>
              <a:t>재료 및 방법</a:t>
            </a:r>
          </a:p>
        </p:txBody>
      </p:sp>
      <p:sp>
        <p:nvSpPr>
          <p:cNvPr id="119"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120"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21"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pic>
        <p:nvPicPr>
          <p:cNvPr id="7" name="그림 6">
            <a:extLst>
              <a:ext uri="{FF2B5EF4-FFF2-40B4-BE49-F238E27FC236}">
                <a16:creationId xmlns:a16="http://schemas.microsoft.com/office/drawing/2014/main" id="{92F3155C-81E1-9801-E207-EE433DDEBFEA}"/>
              </a:ext>
            </a:extLst>
          </p:cNvPr>
          <p:cNvPicPr>
            <a:picLocks noChangeAspect="1"/>
          </p:cNvPicPr>
          <p:nvPr/>
        </p:nvPicPr>
        <p:blipFill>
          <a:blip r:embed="rId4">
            <a:extLst>
              <a:ext uri="{28A0092B-C50C-407E-A947-70E740481C1C}">
                <a14:useLocalDpi xmlns:a14="http://schemas.microsoft.com/office/drawing/2010/main" val="0"/>
              </a:ext>
            </a:extLst>
          </a:blip>
          <a:srcRect l="3749" t="18150" r="3281" b="13259"/>
          <a:stretch>
            <a:fillRect/>
          </a:stretch>
        </p:blipFill>
        <p:spPr>
          <a:xfrm>
            <a:off x="6042333" y="1965954"/>
            <a:ext cx="5365896" cy="195769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500"/>
                                        <p:tgtEl>
                                          <p:spTgt spid="2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500"/>
                                        <p:tgtEl>
                                          <p:spTgt spid="2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1"/>
                                        </p:tgtEl>
                                        <p:attrNameLst>
                                          <p:attrName>style.visibility</p:attrName>
                                        </p:attrNameLst>
                                      </p:cBhvr>
                                      <p:to>
                                        <p:strVal val="visible"/>
                                      </p:to>
                                    </p:set>
                                    <p:animEffect transition="in" filter="fade">
                                      <p:cBhvr>
                                        <p:cTn id="19" dur="500"/>
                                        <p:tgtEl>
                                          <p:spTgt spid="3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5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500"/>
                                        <p:tgtEl>
                                          <p:spTgt spid="3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500"/>
                                        <p:tgtEl>
                                          <p:spTgt spid="3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9"/>
                                        </p:tgtEl>
                                        <p:attrNameLst>
                                          <p:attrName>style.visibility</p:attrName>
                                        </p:attrNameLst>
                                      </p:cBhvr>
                                      <p:to>
                                        <p:strVal val="visible"/>
                                      </p:to>
                                    </p:set>
                                    <p:animEffect transition="in" filter="fade">
                                      <p:cBhvr>
                                        <p:cTn id="35" dur="500"/>
                                        <p:tgtEl>
                                          <p:spTgt spid="3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4"/>
                                        </p:tgtEl>
                                        <p:attrNameLst>
                                          <p:attrName>style.visibility</p:attrName>
                                        </p:attrNameLst>
                                      </p:cBhvr>
                                      <p:to>
                                        <p:strVal val="visible"/>
                                      </p:to>
                                    </p:set>
                                    <p:animEffect transition="in" filter="fade">
                                      <p:cBhvr>
                                        <p:cTn id="38" dur="500"/>
                                        <p:tgtEl>
                                          <p:spTgt spid="44"/>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45"/>
                                        </p:tgtEl>
                                        <p:attrNameLst>
                                          <p:attrName>style.visibility</p:attrName>
                                        </p:attrNameLst>
                                      </p:cBhvr>
                                      <p:to>
                                        <p:strVal val="visible"/>
                                      </p:to>
                                    </p:set>
                                    <p:animEffect transition="in" filter="fade">
                                      <p:cBhvr>
                                        <p:cTn id="43" dur="500"/>
                                        <p:tgtEl>
                                          <p:spTgt spid="4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51"/>
                                        </p:tgtEl>
                                        <p:attrNameLst>
                                          <p:attrName>style.visibility</p:attrName>
                                        </p:attrNameLst>
                                      </p:cBhvr>
                                      <p:to>
                                        <p:strVal val="visible"/>
                                      </p:to>
                                    </p:set>
                                    <p:animEffect transition="in" filter="fade">
                                      <p:cBhvr>
                                        <p:cTn id="46" dur="500"/>
                                        <p:tgtEl>
                                          <p:spTgt spid="51"/>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52"/>
                                        </p:tgtEl>
                                        <p:attrNameLst>
                                          <p:attrName>style.visibility</p:attrName>
                                        </p:attrNameLst>
                                      </p:cBhvr>
                                      <p:to>
                                        <p:strVal val="visible"/>
                                      </p:to>
                                    </p:set>
                                    <p:animEffect transition="in" filter="fade">
                                      <p:cBhvr>
                                        <p:cTn id="51" dur="500"/>
                                        <p:tgtEl>
                                          <p:spTgt spid="5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58"/>
                                        </p:tgtEl>
                                        <p:attrNameLst>
                                          <p:attrName>style.visibility</p:attrName>
                                        </p:attrNameLst>
                                      </p:cBhvr>
                                      <p:to>
                                        <p:strVal val="visible"/>
                                      </p:to>
                                    </p:set>
                                    <p:animEffect transition="in" filter="fade">
                                      <p:cBhvr>
                                        <p:cTn id="54" dur="500"/>
                                        <p:tgtEl>
                                          <p:spTgt spid="5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7" grpId="0" animBg="1"/>
      <p:bldP spid="28" grpId="0" animBg="1"/>
      <p:bldP spid="29" grpId="0" animBg="1"/>
      <p:bldP spid="30" grpId="0" animBg="1"/>
      <p:bldP spid="31" grpId="0" animBg="1"/>
      <p:bldP spid="32" grpId="0" animBg="1"/>
      <p:bldP spid="33" grpId="0" animBg="1"/>
      <p:bldP spid="38" grpId="0" animBg="1"/>
      <p:bldP spid="39" grpId="0" animBg="1"/>
      <p:bldP spid="44" grpId="0" animBg="1"/>
      <p:bldP spid="45" grpId="0" animBg="1"/>
      <p:bldP spid="51" grpId="0" animBg="1"/>
      <p:bldP spid="52" grpId="0" animBg="1"/>
      <p:bldP spid="5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처리 일정과 측정 시기 (DAT 기준 정렬)</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5</a:t>
            </a:fld>
            <a:endParaRPr lang="ko-KR" altLang="en-US"/>
          </a:p>
        </p:txBody>
      </p:sp>
      <p:sp>
        <p:nvSpPr>
          <p:cNvPr id="7" name="TextBox 6"/>
          <p:cNvSpPr txBox="1"/>
          <p:nvPr/>
        </p:nvSpPr>
        <p:spPr>
          <a:xfrm>
            <a:off x="457200" y="1371600"/>
            <a:ext cx="1097280" cy="274320"/>
          </a:xfrm>
          <a:prstGeom prst="rect">
            <a:avLst/>
          </a:prstGeom>
          <a:noFill/>
        </p:spPr>
        <p:txBody>
          <a:bodyPr wrap="square" lIns="0" tIns="0" rIns="0" bIns="0">
            <a:spAutoFit/>
          </a:bodyPr>
          <a:lstStyle/>
          <a:p>
            <a:r>
              <a:rPr sz="1100" b="0">
                <a:solidFill>
                  <a:srgbClr val="595959"/>
                </a:solidFill>
              </a:rPr>
              <a:t>DAT (일)</a:t>
            </a:r>
          </a:p>
        </p:txBody>
      </p:sp>
      <p:sp>
        <p:nvSpPr>
          <p:cNvPr id="8" name="TextBox 7"/>
          <p:cNvSpPr txBox="1"/>
          <p:nvPr/>
        </p:nvSpPr>
        <p:spPr>
          <a:xfrm>
            <a:off x="1691640" y="1371600"/>
            <a:ext cx="457200" cy="274320"/>
          </a:xfrm>
          <a:prstGeom prst="rect">
            <a:avLst/>
          </a:prstGeom>
          <a:noFill/>
        </p:spPr>
        <p:txBody>
          <a:bodyPr wrap="square" lIns="0" tIns="0" rIns="0" bIns="0">
            <a:spAutoFit/>
          </a:bodyPr>
          <a:lstStyle/>
          <a:p>
            <a:pPr algn="ctr"/>
            <a:r>
              <a:rPr sz="1100" b="0">
                <a:solidFill>
                  <a:srgbClr val="595959"/>
                </a:solidFill>
              </a:rPr>
              <a:t>0</a:t>
            </a:r>
          </a:p>
        </p:txBody>
      </p:sp>
      <p:sp>
        <p:nvSpPr>
          <p:cNvPr id="9" name="TextBox 8"/>
          <p:cNvSpPr txBox="1"/>
          <p:nvPr/>
        </p:nvSpPr>
        <p:spPr>
          <a:xfrm>
            <a:off x="2560320" y="1371600"/>
            <a:ext cx="457200" cy="274320"/>
          </a:xfrm>
          <a:prstGeom prst="rect">
            <a:avLst/>
          </a:prstGeom>
          <a:noFill/>
        </p:spPr>
        <p:txBody>
          <a:bodyPr wrap="square" lIns="0" tIns="0" rIns="0" bIns="0">
            <a:spAutoFit/>
          </a:bodyPr>
          <a:lstStyle/>
          <a:p>
            <a:pPr algn="ctr"/>
            <a:r>
              <a:rPr sz="1100" b="0">
                <a:solidFill>
                  <a:srgbClr val="595959"/>
                </a:solidFill>
              </a:rPr>
              <a:t>5</a:t>
            </a:r>
          </a:p>
        </p:txBody>
      </p:sp>
      <p:sp>
        <p:nvSpPr>
          <p:cNvPr id="10" name="TextBox 9"/>
          <p:cNvSpPr txBox="1"/>
          <p:nvPr/>
        </p:nvSpPr>
        <p:spPr>
          <a:xfrm>
            <a:off x="3429000" y="1371600"/>
            <a:ext cx="457200" cy="274320"/>
          </a:xfrm>
          <a:prstGeom prst="rect">
            <a:avLst/>
          </a:prstGeom>
          <a:noFill/>
        </p:spPr>
        <p:txBody>
          <a:bodyPr wrap="square" lIns="0" tIns="0" rIns="0" bIns="0">
            <a:spAutoFit/>
          </a:bodyPr>
          <a:lstStyle/>
          <a:p>
            <a:pPr algn="ctr"/>
            <a:r>
              <a:rPr sz="1100" b="0">
                <a:solidFill>
                  <a:srgbClr val="595959"/>
                </a:solidFill>
              </a:rPr>
              <a:t>10</a:t>
            </a:r>
          </a:p>
        </p:txBody>
      </p:sp>
      <p:sp>
        <p:nvSpPr>
          <p:cNvPr id="11" name="TextBox 10"/>
          <p:cNvSpPr txBox="1"/>
          <p:nvPr/>
        </p:nvSpPr>
        <p:spPr>
          <a:xfrm>
            <a:off x="4297680" y="1371600"/>
            <a:ext cx="457200" cy="274320"/>
          </a:xfrm>
          <a:prstGeom prst="rect">
            <a:avLst/>
          </a:prstGeom>
          <a:noFill/>
        </p:spPr>
        <p:txBody>
          <a:bodyPr wrap="square" lIns="0" tIns="0" rIns="0" bIns="0">
            <a:spAutoFit/>
          </a:bodyPr>
          <a:lstStyle/>
          <a:p>
            <a:pPr algn="ctr"/>
            <a:r>
              <a:rPr sz="1100" b="0">
                <a:solidFill>
                  <a:srgbClr val="595959"/>
                </a:solidFill>
              </a:rPr>
              <a:t>15</a:t>
            </a:r>
          </a:p>
        </p:txBody>
      </p:sp>
      <p:sp>
        <p:nvSpPr>
          <p:cNvPr id="12" name="TextBox 11"/>
          <p:cNvSpPr txBox="1"/>
          <p:nvPr/>
        </p:nvSpPr>
        <p:spPr>
          <a:xfrm>
            <a:off x="5166360" y="1371600"/>
            <a:ext cx="457200" cy="274320"/>
          </a:xfrm>
          <a:prstGeom prst="rect">
            <a:avLst/>
          </a:prstGeom>
          <a:noFill/>
        </p:spPr>
        <p:txBody>
          <a:bodyPr wrap="square" lIns="0" tIns="0" rIns="0" bIns="0">
            <a:spAutoFit/>
          </a:bodyPr>
          <a:lstStyle/>
          <a:p>
            <a:pPr algn="ctr"/>
            <a:r>
              <a:rPr sz="1100" b="0">
                <a:solidFill>
                  <a:srgbClr val="595959"/>
                </a:solidFill>
              </a:rPr>
              <a:t>20</a:t>
            </a:r>
          </a:p>
        </p:txBody>
      </p:sp>
      <p:sp>
        <p:nvSpPr>
          <p:cNvPr id="13" name="TextBox 12"/>
          <p:cNvSpPr txBox="1"/>
          <p:nvPr/>
        </p:nvSpPr>
        <p:spPr>
          <a:xfrm>
            <a:off x="6035040" y="1371600"/>
            <a:ext cx="457200" cy="274320"/>
          </a:xfrm>
          <a:prstGeom prst="rect">
            <a:avLst/>
          </a:prstGeom>
          <a:noFill/>
        </p:spPr>
        <p:txBody>
          <a:bodyPr wrap="square" lIns="0" tIns="0" rIns="0" bIns="0">
            <a:spAutoFit/>
          </a:bodyPr>
          <a:lstStyle/>
          <a:p>
            <a:pPr algn="ctr"/>
            <a:r>
              <a:rPr sz="1100" b="0">
                <a:solidFill>
                  <a:srgbClr val="595959"/>
                </a:solidFill>
              </a:rPr>
              <a:t>25</a:t>
            </a:r>
          </a:p>
        </p:txBody>
      </p:sp>
      <p:sp>
        <p:nvSpPr>
          <p:cNvPr id="14" name="TextBox 13"/>
          <p:cNvSpPr txBox="1"/>
          <p:nvPr/>
        </p:nvSpPr>
        <p:spPr>
          <a:xfrm>
            <a:off x="6903720" y="1371600"/>
            <a:ext cx="457200" cy="274320"/>
          </a:xfrm>
          <a:prstGeom prst="rect">
            <a:avLst/>
          </a:prstGeom>
          <a:noFill/>
        </p:spPr>
        <p:txBody>
          <a:bodyPr wrap="square" lIns="0" tIns="0" rIns="0" bIns="0">
            <a:spAutoFit/>
          </a:bodyPr>
          <a:lstStyle/>
          <a:p>
            <a:pPr algn="ctr"/>
            <a:r>
              <a:rPr sz="1100" b="0">
                <a:solidFill>
                  <a:srgbClr val="595959"/>
                </a:solidFill>
              </a:rPr>
              <a:t>30</a:t>
            </a:r>
          </a:p>
        </p:txBody>
      </p:sp>
      <p:sp>
        <p:nvSpPr>
          <p:cNvPr id="15" name="TextBox 14"/>
          <p:cNvSpPr txBox="1"/>
          <p:nvPr/>
        </p:nvSpPr>
        <p:spPr>
          <a:xfrm>
            <a:off x="7772400" y="1371600"/>
            <a:ext cx="457200" cy="274320"/>
          </a:xfrm>
          <a:prstGeom prst="rect">
            <a:avLst/>
          </a:prstGeom>
          <a:noFill/>
        </p:spPr>
        <p:txBody>
          <a:bodyPr wrap="square" lIns="0" tIns="0" rIns="0" bIns="0">
            <a:spAutoFit/>
          </a:bodyPr>
          <a:lstStyle/>
          <a:p>
            <a:pPr algn="ctr"/>
            <a:r>
              <a:rPr sz="1100" b="0">
                <a:solidFill>
                  <a:srgbClr val="595959"/>
                </a:solidFill>
              </a:rPr>
              <a:t>35</a:t>
            </a:r>
          </a:p>
        </p:txBody>
      </p:sp>
      <p:sp>
        <p:nvSpPr>
          <p:cNvPr id="16" name="TextBox 15"/>
          <p:cNvSpPr txBox="1"/>
          <p:nvPr/>
        </p:nvSpPr>
        <p:spPr>
          <a:xfrm>
            <a:off x="8641080" y="1371600"/>
            <a:ext cx="457200" cy="274320"/>
          </a:xfrm>
          <a:prstGeom prst="rect">
            <a:avLst/>
          </a:prstGeom>
          <a:noFill/>
        </p:spPr>
        <p:txBody>
          <a:bodyPr wrap="square" lIns="0" tIns="0" rIns="0" bIns="0">
            <a:spAutoFit/>
          </a:bodyPr>
          <a:lstStyle/>
          <a:p>
            <a:pPr algn="ctr"/>
            <a:r>
              <a:rPr sz="1100" b="0">
                <a:solidFill>
                  <a:srgbClr val="595959"/>
                </a:solidFill>
              </a:rPr>
              <a:t>40</a:t>
            </a:r>
          </a:p>
        </p:txBody>
      </p:sp>
      <p:sp>
        <p:nvSpPr>
          <p:cNvPr id="17" name="TextBox 16"/>
          <p:cNvSpPr txBox="1"/>
          <p:nvPr/>
        </p:nvSpPr>
        <p:spPr>
          <a:xfrm>
            <a:off x="9509760" y="1371600"/>
            <a:ext cx="457200" cy="274320"/>
          </a:xfrm>
          <a:prstGeom prst="rect">
            <a:avLst/>
          </a:prstGeom>
          <a:noFill/>
        </p:spPr>
        <p:txBody>
          <a:bodyPr wrap="square" lIns="0" tIns="0" rIns="0" bIns="0">
            <a:spAutoFit/>
          </a:bodyPr>
          <a:lstStyle/>
          <a:p>
            <a:pPr algn="ctr"/>
            <a:r>
              <a:rPr sz="1100" b="0">
                <a:solidFill>
                  <a:srgbClr val="595959"/>
                </a:solidFill>
              </a:rPr>
              <a:t>45</a:t>
            </a:r>
          </a:p>
        </p:txBody>
      </p:sp>
      <p:sp>
        <p:nvSpPr>
          <p:cNvPr id="18" name="TextBox 17"/>
          <p:cNvSpPr txBox="1"/>
          <p:nvPr/>
        </p:nvSpPr>
        <p:spPr>
          <a:xfrm>
            <a:off x="10378440" y="1371600"/>
            <a:ext cx="457200" cy="274320"/>
          </a:xfrm>
          <a:prstGeom prst="rect">
            <a:avLst/>
          </a:prstGeom>
          <a:noFill/>
        </p:spPr>
        <p:txBody>
          <a:bodyPr wrap="square" lIns="0" tIns="0" rIns="0" bIns="0">
            <a:spAutoFit/>
          </a:bodyPr>
          <a:lstStyle/>
          <a:p>
            <a:pPr algn="ctr"/>
            <a:r>
              <a:rPr sz="1100" b="0">
                <a:solidFill>
                  <a:srgbClr val="595959"/>
                </a:solidFill>
              </a:rPr>
              <a:t>50</a:t>
            </a:r>
          </a:p>
        </p:txBody>
      </p:sp>
      <p:sp>
        <p:nvSpPr>
          <p:cNvPr id="19" name="TextBox 18"/>
          <p:cNvSpPr txBox="1"/>
          <p:nvPr/>
        </p:nvSpPr>
        <p:spPr>
          <a:xfrm>
            <a:off x="11247119" y="1371600"/>
            <a:ext cx="457200" cy="274320"/>
          </a:xfrm>
          <a:prstGeom prst="rect">
            <a:avLst/>
          </a:prstGeom>
          <a:noFill/>
        </p:spPr>
        <p:txBody>
          <a:bodyPr wrap="square" lIns="0" tIns="0" rIns="0" bIns="0">
            <a:spAutoFit/>
          </a:bodyPr>
          <a:lstStyle/>
          <a:p>
            <a:pPr algn="ctr"/>
            <a:r>
              <a:rPr sz="1100" b="0">
                <a:solidFill>
                  <a:srgbClr val="595959"/>
                </a:solidFill>
              </a:rPr>
              <a:t>55</a:t>
            </a:r>
          </a:p>
        </p:txBody>
      </p:sp>
      <p:cxnSp>
        <p:nvCxnSpPr>
          <p:cNvPr id="20" name="Connector 19"/>
          <p:cNvCxnSpPr/>
          <p:nvPr/>
        </p:nvCxnSpPr>
        <p:spPr>
          <a:xfrm>
            <a:off x="1920240" y="1691640"/>
            <a:ext cx="9555479" cy="0"/>
          </a:xfrm>
          <a:prstGeom prst="line">
            <a:avLst/>
          </a:prstGeom>
          <a:ln>
            <a:solidFill>
              <a:srgbClr val="7F7F7F"/>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7200" y="2103120"/>
            <a:ext cx="1371600" cy="276999"/>
          </a:xfrm>
          <a:prstGeom prst="rect">
            <a:avLst/>
          </a:prstGeom>
          <a:noFill/>
        </p:spPr>
        <p:txBody>
          <a:bodyPr wrap="square" lIns="0" tIns="0" rIns="0" bIns="0">
            <a:spAutoFit/>
          </a:bodyPr>
          <a:lstStyle/>
          <a:p>
            <a:r>
              <a:rPr sz="1800" b="1">
                <a:solidFill>
                  <a:srgbClr val="6B4226"/>
                </a:solidFill>
              </a:rPr>
              <a:t>콩</a:t>
            </a:r>
          </a:p>
        </p:txBody>
      </p:sp>
      <p:sp>
        <p:nvSpPr>
          <p:cNvPr id="22" name="Rounded Rectangle 21"/>
          <p:cNvSpPr/>
          <p:nvPr/>
        </p:nvSpPr>
        <p:spPr>
          <a:xfrm>
            <a:off x="1920240" y="2011680"/>
            <a:ext cx="521207" cy="457200"/>
          </a:xfrm>
          <a:prstGeom prst="roundRect">
            <a:avLst>
              <a:gd name="adj" fmla="val 2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lIns="18288" rIns="18288" rtlCol="0" anchor="ctr"/>
          <a:lstStyle/>
          <a:p>
            <a:pPr algn="ctr"/>
            <a:r>
              <a:rPr sz="900" b="1">
                <a:solidFill>
                  <a:srgbClr val="FFFFFF"/>
                </a:solidFill>
              </a:rPr>
              <a:t>침수</a:t>
            </a:r>
          </a:p>
        </p:txBody>
      </p:sp>
      <p:sp>
        <p:nvSpPr>
          <p:cNvPr id="23" name="Rounded Rectangle 22"/>
          <p:cNvSpPr/>
          <p:nvPr/>
        </p:nvSpPr>
        <p:spPr>
          <a:xfrm>
            <a:off x="2441448" y="2011680"/>
            <a:ext cx="9034272" cy="457200"/>
          </a:xfrm>
          <a:prstGeom prst="roundRect">
            <a:avLst>
              <a:gd name="adj" fmla="val 20000"/>
            </a:avLst>
          </a:prstGeom>
          <a:solidFill>
            <a:srgbClr val="AF5524"/>
          </a:solidFill>
          <a:ln>
            <a:noFill/>
          </a:ln>
          <a:effectLst/>
        </p:spPr>
        <p:style>
          <a:lnRef idx="1">
            <a:schemeClr val="accent1"/>
          </a:lnRef>
          <a:fillRef idx="3">
            <a:schemeClr val="accent1"/>
          </a:fillRef>
          <a:effectRef idx="2">
            <a:schemeClr val="accent1"/>
          </a:effectRef>
          <a:fontRef idx="minor">
            <a:schemeClr val="lt1"/>
          </a:fontRef>
        </p:style>
        <p:txBody>
          <a:bodyPr lIns="18288" rIns="18288" rtlCol="0" anchor="ctr"/>
          <a:lstStyle/>
          <a:p>
            <a:pPr algn="ctr"/>
            <a:r>
              <a:rPr lang="ko-KR" altLang="en-US" sz="1100" b="1" dirty="0">
                <a:solidFill>
                  <a:srgbClr val="FFFFFF"/>
                </a:solidFill>
              </a:rPr>
              <a:t>처리 기간</a:t>
            </a:r>
            <a:endParaRPr sz="1100" b="1" dirty="0">
              <a:solidFill>
                <a:srgbClr val="FFFFFF"/>
              </a:solidFill>
            </a:endParaRPr>
          </a:p>
        </p:txBody>
      </p:sp>
      <p:sp>
        <p:nvSpPr>
          <p:cNvPr id="39" name="TextBox 38"/>
          <p:cNvSpPr txBox="1"/>
          <p:nvPr/>
        </p:nvSpPr>
        <p:spPr>
          <a:xfrm>
            <a:off x="457200" y="2926080"/>
            <a:ext cx="1371600" cy="276999"/>
          </a:xfrm>
          <a:prstGeom prst="rect">
            <a:avLst/>
          </a:prstGeom>
          <a:noFill/>
        </p:spPr>
        <p:txBody>
          <a:bodyPr wrap="square" lIns="0" tIns="0" rIns="0" bIns="0">
            <a:spAutoFit/>
          </a:bodyPr>
          <a:lstStyle/>
          <a:p>
            <a:r>
              <a:rPr lang="ko-KR" altLang="en-US" b="1" dirty="0">
                <a:solidFill>
                  <a:srgbClr val="2E7D32"/>
                </a:solidFill>
              </a:rPr>
              <a:t>상추</a:t>
            </a:r>
            <a:endParaRPr sz="1800" b="1" dirty="0">
              <a:solidFill>
                <a:srgbClr val="2E7D32"/>
              </a:solidFill>
            </a:endParaRPr>
          </a:p>
        </p:txBody>
      </p:sp>
      <p:sp>
        <p:nvSpPr>
          <p:cNvPr id="40" name="Rounded Rectangle 39"/>
          <p:cNvSpPr/>
          <p:nvPr/>
        </p:nvSpPr>
        <p:spPr>
          <a:xfrm>
            <a:off x="1920240" y="2834640"/>
            <a:ext cx="521207" cy="457200"/>
          </a:xfrm>
          <a:prstGeom prst="roundRect">
            <a:avLst>
              <a:gd name="adj" fmla="val 2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lIns="18288" rIns="18288" rtlCol="0" anchor="ctr"/>
          <a:lstStyle/>
          <a:p>
            <a:pPr algn="ctr"/>
            <a:r>
              <a:rPr sz="900" b="1">
                <a:solidFill>
                  <a:srgbClr val="FFFFFF"/>
                </a:solidFill>
              </a:rPr>
              <a:t>침수</a:t>
            </a:r>
          </a:p>
        </p:txBody>
      </p:sp>
      <p:sp>
        <p:nvSpPr>
          <p:cNvPr id="42" name="Rounded Rectangle 41"/>
          <p:cNvSpPr/>
          <p:nvPr/>
        </p:nvSpPr>
        <p:spPr>
          <a:xfrm>
            <a:off x="2441447" y="2834640"/>
            <a:ext cx="2258569" cy="457200"/>
          </a:xfrm>
          <a:prstGeom prst="roundRect">
            <a:avLst>
              <a:gd name="adj" fmla="val 20000"/>
            </a:avLst>
          </a:prstGeom>
          <a:solidFill>
            <a:srgbClr val="AF5524"/>
          </a:solidFill>
          <a:ln>
            <a:noFill/>
          </a:ln>
          <a:effectLst/>
        </p:spPr>
        <p:style>
          <a:lnRef idx="1">
            <a:schemeClr val="accent1"/>
          </a:lnRef>
          <a:fillRef idx="3">
            <a:schemeClr val="accent1"/>
          </a:fillRef>
          <a:effectRef idx="2">
            <a:schemeClr val="accent1"/>
          </a:effectRef>
          <a:fontRef idx="minor">
            <a:schemeClr val="lt1"/>
          </a:fontRef>
        </p:style>
        <p:txBody>
          <a:bodyPr lIns="18288" rIns="18288" rtlCol="0" anchor="ctr"/>
          <a:lstStyle/>
          <a:p>
            <a:pPr algn="ctr"/>
            <a:r>
              <a:rPr lang="ko-KR" altLang="en-US" sz="1100" b="1" dirty="0">
                <a:solidFill>
                  <a:srgbClr val="FFFFFF"/>
                </a:solidFill>
              </a:rPr>
              <a:t>처리 기간</a:t>
            </a:r>
          </a:p>
        </p:txBody>
      </p:sp>
      <p:sp>
        <p:nvSpPr>
          <p:cNvPr id="58" name="Conclusion Box"/>
          <p:cNvSpPr/>
          <p:nvPr/>
        </p:nvSpPr>
        <p:spPr>
          <a:xfrm>
            <a:off x="841248" y="5532120"/>
            <a:ext cx="10570464" cy="502920"/>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b="0">
                <a:solidFill>
                  <a:srgbClr val="E97132"/>
                </a:solidFill>
              </a:rPr>
              <a:t>P1 : 침수 시작 ~ 종료 후 7일 (초기 반응·회복 시작)  ·  P2 : 이후 (회복 후기·건조 영향)</a:t>
            </a:r>
          </a:p>
        </p:txBody>
      </p:sp>
      <p:sp>
        <p:nvSpPr>
          <p:cNvPr id="60"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61"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450" b="1" u="sng">
                <a:solidFill>
                  <a:srgbClr val="1A1A1A"/>
                </a:solidFill>
              </a:rPr>
              <a:t>재료 및 방법</a:t>
            </a:r>
          </a:p>
        </p:txBody>
      </p:sp>
      <p:sp>
        <p:nvSpPr>
          <p:cNvPr id="62"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63"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64"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65" name="Rounded Rectangle 64"/>
          <p:cNvSpPr/>
          <p:nvPr/>
        </p:nvSpPr>
        <p:spPr>
          <a:xfrm>
            <a:off x="1920240" y="2505456"/>
            <a:ext cx="1824228" cy="201168"/>
          </a:xfrm>
          <a:prstGeom prst="roundRect">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000" b="1">
                <a:solidFill>
                  <a:srgbClr val="FFFFFF"/>
                </a:solidFill>
              </a:rPr>
              <a:t>P1</a:t>
            </a:r>
          </a:p>
        </p:txBody>
      </p:sp>
      <p:sp>
        <p:nvSpPr>
          <p:cNvPr id="66" name="Rounded Rectangle 65"/>
          <p:cNvSpPr/>
          <p:nvPr/>
        </p:nvSpPr>
        <p:spPr>
          <a:xfrm>
            <a:off x="3744468" y="2505456"/>
            <a:ext cx="7731252" cy="201168"/>
          </a:xfrm>
          <a:prstGeom prst="round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000" b="1">
                <a:solidFill>
                  <a:srgbClr val="FFFFFF"/>
                </a:solidFill>
              </a:rPr>
              <a:t>P2</a:t>
            </a:r>
          </a:p>
        </p:txBody>
      </p:sp>
      <p:sp>
        <p:nvSpPr>
          <p:cNvPr id="67" name="Rounded Rectangle 66"/>
          <p:cNvSpPr/>
          <p:nvPr/>
        </p:nvSpPr>
        <p:spPr>
          <a:xfrm>
            <a:off x="1920240" y="3328416"/>
            <a:ext cx="1824228" cy="201168"/>
          </a:xfrm>
          <a:prstGeom prst="roundRect">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000" b="1">
                <a:solidFill>
                  <a:srgbClr val="FFFFFF"/>
                </a:solidFill>
              </a:rPr>
              <a:t>P1</a:t>
            </a:r>
          </a:p>
        </p:txBody>
      </p:sp>
      <p:sp>
        <p:nvSpPr>
          <p:cNvPr id="68" name="Rounded Rectangle 67"/>
          <p:cNvSpPr/>
          <p:nvPr/>
        </p:nvSpPr>
        <p:spPr>
          <a:xfrm>
            <a:off x="3744468" y="3328416"/>
            <a:ext cx="955547" cy="201168"/>
          </a:xfrm>
          <a:prstGeom prst="round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000" b="1">
                <a:solidFill>
                  <a:srgbClr val="FFFFFF"/>
                </a:solidFill>
              </a:rPr>
              <a:t>P2</a:t>
            </a:r>
          </a:p>
        </p:txBody>
      </p:sp>
      <p:sp>
        <p:nvSpPr>
          <p:cNvPr id="69" name="Rounded Rectangle 68"/>
          <p:cNvSpPr/>
          <p:nvPr/>
        </p:nvSpPr>
        <p:spPr>
          <a:xfrm>
            <a:off x="3423780" y="3703320"/>
            <a:ext cx="3960000" cy="365760"/>
          </a:xfrm>
          <a:prstGeom prst="roundRect">
            <a:avLst/>
          </a:prstGeom>
          <a:solidFill>
            <a:srgbClr val="6B4226"/>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200" b="1">
                <a:solidFill>
                  <a:srgbClr val="FFFFFF"/>
                </a:solidFill>
              </a:rPr>
              <a:t>콩</a:t>
            </a:r>
          </a:p>
        </p:txBody>
      </p:sp>
      <p:sp>
        <p:nvSpPr>
          <p:cNvPr id="70" name="Rounded Rectangle 69"/>
          <p:cNvSpPr/>
          <p:nvPr/>
        </p:nvSpPr>
        <p:spPr>
          <a:xfrm>
            <a:off x="7515720" y="3703320"/>
            <a:ext cx="3960000" cy="365760"/>
          </a:xfrm>
          <a:prstGeom prst="roundRect">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200" b="1" dirty="0" err="1">
                <a:solidFill>
                  <a:srgbClr val="FFFFFF"/>
                </a:solidFill>
              </a:rPr>
              <a:t>상추</a:t>
            </a:r>
            <a:endParaRPr sz="1200" b="1" dirty="0">
              <a:solidFill>
                <a:srgbClr val="FFFFFF"/>
              </a:solidFill>
            </a:endParaRPr>
          </a:p>
        </p:txBody>
      </p:sp>
      <p:sp>
        <p:nvSpPr>
          <p:cNvPr id="71" name="Rounded Rectangle 70"/>
          <p:cNvSpPr/>
          <p:nvPr/>
        </p:nvSpPr>
        <p:spPr>
          <a:xfrm>
            <a:off x="1920240" y="4114800"/>
            <a:ext cx="1371600" cy="402336"/>
          </a:xfrm>
          <a:prstGeom prst="roundRect">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300" b="1" dirty="0">
                <a:solidFill>
                  <a:srgbClr val="FFFFFF"/>
                </a:solidFill>
              </a:rPr>
              <a:t>LI-600</a:t>
            </a:r>
          </a:p>
        </p:txBody>
      </p:sp>
      <p:sp>
        <p:nvSpPr>
          <p:cNvPr id="72" name="Rounded Rectangle 71"/>
          <p:cNvSpPr/>
          <p:nvPr/>
        </p:nvSpPr>
        <p:spPr>
          <a:xfrm>
            <a:off x="3423780" y="4114800"/>
            <a:ext cx="3960000" cy="402336"/>
          </a:xfrm>
          <a:prstGeom prst="roundRect">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150" b="0" dirty="0">
                <a:solidFill>
                  <a:srgbClr val="1F2D3A"/>
                </a:solidFill>
              </a:rPr>
              <a:t>P1 : </a:t>
            </a:r>
            <a:r>
              <a:rPr sz="1150" b="0" dirty="0" err="1">
                <a:solidFill>
                  <a:srgbClr val="1F2D3A"/>
                </a:solidFill>
              </a:rPr>
              <a:t>매일</a:t>
            </a:r>
            <a:r>
              <a:rPr sz="1150" b="0" dirty="0">
                <a:solidFill>
                  <a:srgbClr val="1F2D3A"/>
                </a:solidFill>
              </a:rPr>
              <a:t> (DAT 1~</a:t>
            </a:r>
            <a:r>
              <a:rPr lang="en-US" sz="1150" b="0" dirty="0">
                <a:solidFill>
                  <a:srgbClr val="1F2D3A"/>
                </a:solidFill>
              </a:rPr>
              <a:t>10</a:t>
            </a:r>
            <a:r>
              <a:rPr sz="1150" b="0" dirty="0">
                <a:solidFill>
                  <a:srgbClr val="1F2D3A"/>
                </a:solidFill>
              </a:rPr>
              <a:t>)  /  P2 : 1~2주 </a:t>
            </a:r>
            <a:r>
              <a:rPr sz="1150" b="0" dirty="0" err="1">
                <a:solidFill>
                  <a:srgbClr val="1F2D3A"/>
                </a:solidFill>
              </a:rPr>
              <a:t>간격</a:t>
            </a:r>
            <a:endParaRPr sz="1150" b="0" dirty="0">
              <a:solidFill>
                <a:srgbClr val="1F2D3A"/>
              </a:solidFill>
            </a:endParaRPr>
          </a:p>
        </p:txBody>
      </p:sp>
      <p:sp>
        <p:nvSpPr>
          <p:cNvPr id="73" name="Rounded Rectangle 72"/>
          <p:cNvSpPr/>
          <p:nvPr/>
        </p:nvSpPr>
        <p:spPr>
          <a:xfrm>
            <a:off x="7515720" y="4114800"/>
            <a:ext cx="3960000" cy="402336"/>
          </a:xfrm>
          <a:prstGeom prst="roundRect">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150" b="0">
                <a:solidFill>
                  <a:srgbClr val="1F2D3A"/>
                </a:solidFill>
              </a:rPr>
              <a:t>P1 : 매일 (DAT 1~10)  /  P2 : 이틀 간격</a:t>
            </a:r>
          </a:p>
        </p:txBody>
      </p:sp>
      <p:sp>
        <p:nvSpPr>
          <p:cNvPr id="74" name="Rounded Rectangle 73"/>
          <p:cNvSpPr/>
          <p:nvPr/>
        </p:nvSpPr>
        <p:spPr>
          <a:xfrm>
            <a:off x="1920240" y="4572000"/>
            <a:ext cx="1371600" cy="402336"/>
          </a:xfrm>
          <a:prstGeom prst="roundRect">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300" b="1">
                <a:solidFill>
                  <a:srgbClr val="FFFFFF"/>
                </a:solidFill>
              </a:rPr>
              <a:t>LI-6800</a:t>
            </a:r>
          </a:p>
        </p:txBody>
      </p:sp>
      <p:sp>
        <p:nvSpPr>
          <p:cNvPr id="75" name="Rounded Rectangle 74"/>
          <p:cNvSpPr/>
          <p:nvPr/>
        </p:nvSpPr>
        <p:spPr>
          <a:xfrm>
            <a:off x="3423780" y="4572000"/>
            <a:ext cx="3960000" cy="402336"/>
          </a:xfrm>
          <a:prstGeom prst="roundRect">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150" b="0" dirty="0">
                <a:solidFill>
                  <a:srgbClr val="1F2D3A"/>
                </a:solidFill>
              </a:rPr>
              <a:t>9/2~9/17, DAT 21~36</a:t>
            </a:r>
          </a:p>
        </p:txBody>
      </p:sp>
      <p:sp>
        <p:nvSpPr>
          <p:cNvPr id="76" name="Rounded Rectangle 75"/>
          <p:cNvSpPr/>
          <p:nvPr/>
        </p:nvSpPr>
        <p:spPr>
          <a:xfrm>
            <a:off x="7515720" y="4572000"/>
            <a:ext cx="3960000" cy="402336"/>
          </a:xfrm>
          <a:prstGeom prst="roundRect">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150" b="0" dirty="0">
                <a:solidFill>
                  <a:srgbClr val="1F2D3A"/>
                </a:solidFill>
              </a:rPr>
              <a:t>10/16~10/19, DAT 9~1</a:t>
            </a:r>
            <a:r>
              <a:rPr lang="en-US" altLang="ko-KR" sz="1150" b="0" dirty="0">
                <a:solidFill>
                  <a:srgbClr val="1F2D3A"/>
                </a:solidFill>
              </a:rPr>
              <a:t>2</a:t>
            </a:r>
            <a:endParaRPr sz="1150" b="0" dirty="0">
              <a:solidFill>
                <a:srgbClr val="1F2D3A"/>
              </a:solidFill>
            </a:endParaRPr>
          </a:p>
        </p:txBody>
      </p:sp>
      <p:sp>
        <p:nvSpPr>
          <p:cNvPr id="77" name="Rounded Rectangle 76"/>
          <p:cNvSpPr/>
          <p:nvPr/>
        </p:nvSpPr>
        <p:spPr>
          <a:xfrm>
            <a:off x="1920240" y="5029200"/>
            <a:ext cx="1371600" cy="402336"/>
          </a:xfrm>
          <a:prstGeom prst="roundRect">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300" b="1">
                <a:solidFill>
                  <a:srgbClr val="FFFFFF"/>
                </a:solidFill>
              </a:rPr>
              <a:t>생육 조사</a:t>
            </a:r>
          </a:p>
        </p:txBody>
      </p:sp>
      <p:sp>
        <p:nvSpPr>
          <p:cNvPr id="78" name="Rounded Rectangle 77"/>
          <p:cNvSpPr/>
          <p:nvPr/>
        </p:nvSpPr>
        <p:spPr>
          <a:xfrm>
            <a:off x="3423780" y="5029200"/>
            <a:ext cx="3960000" cy="402336"/>
          </a:xfrm>
          <a:prstGeom prst="roundRect">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150" b="0" dirty="0">
                <a:solidFill>
                  <a:srgbClr val="1F2D3A"/>
                </a:solidFill>
              </a:rPr>
              <a:t>10/6 (DAT 55)</a:t>
            </a:r>
          </a:p>
        </p:txBody>
      </p:sp>
      <p:sp>
        <p:nvSpPr>
          <p:cNvPr id="79" name="Rounded Rectangle 78"/>
          <p:cNvSpPr/>
          <p:nvPr/>
        </p:nvSpPr>
        <p:spPr>
          <a:xfrm>
            <a:off x="7515720" y="5029200"/>
            <a:ext cx="3960000" cy="402336"/>
          </a:xfrm>
          <a:prstGeom prst="roundRect">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150" b="0">
                <a:solidFill>
                  <a:srgbClr val="1F2D3A"/>
                </a:solidFill>
              </a:rPr>
              <a:t>10/23 (DAT 16)</a:t>
            </a:r>
          </a:p>
        </p:txBody>
      </p:sp>
      <p:pic>
        <p:nvPicPr>
          <p:cNvPr id="5" name="그림 4" descr="LI-6800 Portable Photosynthesis System | LI-COR">
            <a:extLst>
              <a:ext uri="{FF2B5EF4-FFF2-40B4-BE49-F238E27FC236}">
                <a16:creationId xmlns:a16="http://schemas.microsoft.com/office/drawing/2014/main" id="{A30E5B42-BC1B-8BD5-4F88-7EA44E6BF7CF}"/>
              </a:ext>
            </a:extLst>
          </p:cNvPr>
          <p:cNvPicPr>
            <a:picLocks noChangeAspect="1"/>
          </p:cNvPicPr>
          <p:nvPr/>
        </p:nvPicPr>
        <p:blipFill>
          <a:blip r:embed="rId4"/>
          <a:stretch>
            <a:fillRect/>
          </a:stretch>
        </p:blipFill>
        <p:spPr>
          <a:xfrm>
            <a:off x="249468" y="4697495"/>
            <a:ext cx="1598382" cy="747576"/>
          </a:xfrm>
          <a:prstGeom prst="rect">
            <a:avLst/>
          </a:prstGeom>
        </p:spPr>
      </p:pic>
      <p:pic>
        <p:nvPicPr>
          <p:cNvPr id="24" name="그림 23" descr="쏠단SOLDAN">
            <a:extLst>
              <a:ext uri="{FF2B5EF4-FFF2-40B4-BE49-F238E27FC236}">
                <a16:creationId xmlns:a16="http://schemas.microsoft.com/office/drawing/2014/main" id="{F9DBD302-26CB-DB06-D5A6-DC7738374A9E}"/>
              </a:ext>
            </a:extLst>
          </p:cNvPr>
          <p:cNvPicPr>
            <a:picLocks noChangeAspect="1"/>
          </p:cNvPicPr>
          <p:nvPr/>
        </p:nvPicPr>
        <p:blipFill>
          <a:blip r:embed="rId5"/>
          <a:srcRect/>
          <a:stretch>
            <a:fillRect/>
          </a:stretch>
        </p:blipFill>
        <p:spPr>
          <a:xfrm rot="808707">
            <a:off x="494207" y="3639655"/>
            <a:ext cx="1163996" cy="11639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측정 항목: 제한 단계별 지표</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6</a:t>
            </a:fld>
            <a:endParaRPr lang="ko-KR" altLang="en-US"/>
          </a:p>
        </p:txBody>
      </p:sp>
      <p:sp>
        <p:nvSpPr>
          <p:cNvPr id="27" name="Row bg"/>
          <p:cNvSpPr/>
          <p:nvPr/>
        </p:nvSpPr>
        <p:spPr>
          <a:xfrm>
            <a:off x="841248" y="1371600"/>
            <a:ext cx="10515600" cy="713232"/>
          </a:xfrm>
          <a:prstGeom prst="roundRect">
            <a:avLst>
              <a:gd name="adj" fmla="val 12000"/>
            </a:avLst>
          </a:prstGeom>
          <a:solidFill>
            <a:srgbClr val="F2F6F9"/>
          </a:solidFill>
          <a:ln>
            <a:noFill/>
          </a:ln>
        </p:spPr>
        <p:txBody>
          <a:bodyPr wrap="square" lIns="73152" tIns="36576" rIns="73152" bIns="36576" rtlCol="0" anchor="ctr">
            <a:noAutofit/>
          </a:bodyPr>
          <a:lstStyle/>
          <a:p>
            <a:endParaRPr lang="ko-KR"/>
          </a:p>
        </p:txBody>
      </p:sp>
      <p:sp>
        <p:nvSpPr>
          <p:cNvPr id="28" name="Row chip"/>
          <p:cNvSpPr/>
          <p:nvPr/>
        </p:nvSpPr>
        <p:spPr>
          <a:xfrm>
            <a:off x="841248" y="1371600"/>
            <a:ext cx="2148840" cy="713232"/>
          </a:xfrm>
          <a:prstGeom prst="roundRect">
            <a:avLst>
              <a:gd name="adj" fmla="val 12000"/>
            </a:avLst>
          </a:prstGeom>
          <a:solidFill>
            <a:srgbClr val="E8F1F8"/>
          </a:solid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000000"/>
                </a:solidFill>
              </a:rPr>
              <a:t>기공</a:t>
            </a:r>
          </a:p>
        </p:txBody>
      </p:sp>
      <p:sp>
        <p:nvSpPr>
          <p:cNvPr id="29" name="Row ind"/>
          <p:cNvSpPr txBox="1"/>
          <p:nvPr/>
        </p:nvSpPr>
        <p:spPr>
          <a:xfrm>
            <a:off x="3200400" y="1371600"/>
            <a:ext cx="356616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400" b="1" dirty="0">
                <a:solidFill>
                  <a:srgbClr val="000000"/>
                </a:solidFill>
              </a:rPr>
              <a:t>g</a:t>
            </a:r>
            <a:r>
              <a:rPr lang="ko-KR" altLang="en-US" sz="1400" b="1" baseline="-25000" dirty="0">
                <a:solidFill>
                  <a:srgbClr val="000000"/>
                </a:solidFill>
              </a:rPr>
              <a:t>sw</a:t>
            </a:r>
          </a:p>
        </p:txBody>
      </p:sp>
      <p:sp>
        <p:nvSpPr>
          <p:cNvPr id="30" name="Row method"/>
          <p:cNvSpPr txBox="1"/>
          <p:nvPr/>
        </p:nvSpPr>
        <p:spPr>
          <a:xfrm>
            <a:off x="6858000" y="1371600"/>
            <a:ext cx="443484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250" b="0" dirty="0">
                <a:solidFill>
                  <a:srgbClr val="595959"/>
                </a:solidFill>
              </a:rPr>
              <a:t>LI-600</a:t>
            </a:r>
            <a:r>
              <a:rPr lang="en-US" altLang="ko-KR" sz="1250" b="0" dirty="0">
                <a:solidFill>
                  <a:srgbClr val="595959"/>
                </a:solidFill>
              </a:rPr>
              <a:t>,</a:t>
            </a:r>
            <a:r>
              <a:rPr lang="ko-KR" altLang="en-US" sz="1250" b="0" dirty="0">
                <a:solidFill>
                  <a:srgbClr val="595959"/>
                </a:solidFill>
              </a:rPr>
              <a:t> 처리 개시 후 반복 측정 </a:t>
            </a:r>
            <a:br>
              <a:rPr lang="en-US" altLang="ko-KR" sz="1250" b="0" dirty="0">
                <a:solidFill>
                  <a:srgbClr val="595959"/>
                </a:solidFill>
              </a:rPr>
            </a:br>
            <a:r>
              <a:rPr lang="ko-KR" altLang="en-US" sz="1250" b="0" dirty="0">
                <a:solidFill>
                  <a:srgbClr val="595959"/>
                </a:solidFill>
              </a:rPr>
              <a:t>보정 gsw (Rizzo &amp; Bailey, 2026)</a:t>
            </a:r>
          </a:p>
        </p:txBody>
      </p:sp>
      <p:sp>
        <p:nvSpPr>
          <p:cNvPr id="31" name="Row bg"/>
          <p:cNvSpPr/>
          <p:nvPr/>
        </p:nvSpPr>
        <p:spPr>
          <a:xfrm>
            <a:off x="841248" y="2359152"/>
            <a:ext cx="10515600" cy="713232"/>
          </a:xfrm>
          <a:prstGeom prst="roundRect">
            <a:avLst>
              <a:gd name="adj" fmla="val 12000"/>
            </a:avLst>
          </a:prstGeom>
          <a:solidFill>
            <a:srgbClr val="F2F6F9"/>
          </a:solidFill>
          <a:ln>
            <a:noFill/>
          </a:ln>
        </p:spPr>
        <p:txBody>
          <a:bodyPr wrap="square" lIns="73152" tIns="36576" rIns="73152" bIns="36576" rtlCol="0" anchor="ctr">
            <a:noAutofit/>
          </a:bodyPr>
          <a:lstStyle/>
          <a:p>
            <a:endParaRPr lang="ko-KR"/>
          </a:p>
        </p:txBody>
      </p:sp>
      <p:sp>
        <p:nvSpPr>
          <p:cNvPr id="32" name="Row chip"/>
          <p:cNvSpPr/>
          <p:nvPr/>
        </p:nvSpPr>
        <p:spPr>
          <a:xfrm>
            <a:off x="841248" y="2359152"/>
            <a:ext cx="2148840" cy="713232"/>
          </a:xfrm>
          <a:prstGeom prst="roundRect">
            <a:avLst>
              <a:gd name="adj" fmla="val 12000"/>
            </a:avLst>
          </a:prstGeom>
          <a:solidFill>
            <a:srgbClr val="C9DFEE"/>
          </a:solid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000000"/>
                </a:solidFill>
              </a:rPr>
              <a:t>명반응</a:t>
            </a:r>
          </a:p>
        </p:txBody>
      </p:sp>
      <p:sp>
        <p:nvSpPr>
          <p:cNvPr id="33" name="Row ind"/>
          <p:cNvSpPr txBox="1"/>
          <p:nvPr/>
        </p:nvSpPr>
        <p:spPr>
          <a:xfrm>
            <a:off x="3200400" y="2359152"/>
            <a:ext cx="356616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400" b="1" dirty="0">
                <a:solidFill>
                  <a:srgbClr val="000000"/>
                </a:solidFill>
              </a:rPr>
              <a:t>Φ</a:t>
            </a:r>
            <a:r>
              <a:rPr lang="ko-KR" altLang="en-US" sz="1400" b="1" baseline="-25000" dirty="0">
                <a:solidFill>
                  <a:srgbClr val="000000"/>
                </a:solidFill>
              </a:rPr>
              <a:t>PSII</a:t>
            </a:r>
            <a:r>
              <a:rPr lang="ko-KR" altLang="en-US" sz="1400" b="1" dirty="0">
                <a:solidFill>
                  <a:srgbClr val="000000"/>
                </a:solidFill>
              </a:rPr>
              <a:t>, F</a:t>
            </a:r>
            <a:r>
              <a:rPr lang="ko-KR" altLang="en-US" sz="1400" b="1" baseline="-25000" dirty="0">
                <a:solidFill>
                  <a:srgbClr val="000000"/>
                </a:solidFill>
              </a:rPr>
              <a:t>s</a:t>
            </a:r>
            <a:r>
              <a:rPr lang="ko-KR" altLang="en-US" sz="1400" b="1" dirty="0">
                <a:solidFill>
                  <a:srgbClr val="000000"/>
                </a:solidFill>
              </a:rPr>
              <a:t>, ETR</a:t>
            </a:r>
          </a:p>
        </p:txBody>
      </p:sp>
      <p:sp>
        <p:nvSpPr>
          <p:cNvPr id="34" name="Row method"/>
          <p:cNvSpPr txBox="1"/>
          <p:nvPr/>
        </p:nvSpPr>
        <p:spPr>
          <a:xfrm>
            <a:off x="6858000" y="2359152"/>
            <a:ext cx="443484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250" b="0" dirty="0">
                <a:solidFill>
                  <a:srgbClr val="595959"/>
                </a:solidFill>
              </a:rPr>
              <a:t>LI-600</a:t>
            </a:r>
            <a:r>
              <a:rPr lang="en-US" altLang="ko-KR" sz="1250" b="0" dirty="0">
                <a:solidFill>
                  <a:srgbClr val="595959"/>
                </a:solidFill>
              </a:rPr>
              <a:t>,</a:t>
            </a:r>
            <a:r>
              <a:rPr lang="ko-KR" altLang="en-US" sz="1250" b="0" dirty="0">
                <a:solidFill>
                  <a:srgbClr val="595959"/>
                </a:solidFill>
              </a:rPr>
              <a:t> </a:t>
            </a:r>
            <a:r>
              <a:rPr lang="ko-KR" altLang="en-US" sz="1250" b="0" dirty="0" err="1">
                <a:solidFill>
                  <a:srgbClr val="595959"/>
                </a:solidFill>
              </a:rPr>
              <a:t>명적응</a:t>
            </a:r>
            <a:r>
              <a:rPr lang="ko-KR" altLang="en-US" sz="1250" b="0" dirty="0">
                <a:solidFill>
                  <a:srgbClr val="595959"/>
                </a:solidFill>
              </a:rPr>
              <a:t> 형광</a:t>
            </a:r>
            <a:br>
              <a:rPr lang="en-US" altLang="ko-KR" sz="1250" b="0" dirty="0">
                <a:solidFill>
                  <a:srgbClr val="595959"/>
                </a:solidFill>
              </a:rPr>
            </a:br>
            <a:r>
              <a:rPr lang="ko-KR" altLang="en-US" sz="1250" b="0" dirty="0" err="1">
                <a:solidFill>
                  <a:srgbClr val="595959"/>
                </a:solidFill>
              </a:rPr>
              <a:t>PAR·기온</a:t>
            </a:r>
            <a:r>
              <a:rPr lang="ko-KR" altLang="en-US" sz="1250" b="0" dirty="0">
                <a:solidFill>
                  <a:srgbClr val="595959"/>
                </a:solidFill>
              </a:rPr>
              <a:t> 보정 (Ali et al., 2025; Gao et al., 2024)</a:t>
            </a:r>
          </a:p>
        </p:txBody>
      </p:sp>
      <p:sp>
        <p:nvSpPr>
          <p:cNvPr id="39" name="Row bg"/>
          <p:cNvSpPr/>
          <p:nvPr/>
        </p:nvSpPr>
        <p:spPr>
          <a:xfrm>
            <a:off x="841248" y="3346704"/>
            <a:ext cx="10515600" cy="713232"/>
          </a:xfrm>
          <a:prstGeom prst="roundRect">
            <a:avLst>
              <a:gd name="adj" fmla="val 12000"/>
            </a:avLst>
          </a:prstGeom>
          <a:solidFill>
            <a:srgbClr val="F2F6F9"/>
          </a:solidFill>
          <a:ln>
            <a:noFill/>
          </a:ln>
        </p:spPr>
        <p:txBody>
          <a:bodyPr wrap="square" lIns="73152" tIns="36576" rIns="73152" bIns="36576" rtlCol="0" anchor="ctr">
            <a:noAutofit/>
          </a:bodyPr>
          <a:lstStyle/>
          <a:p>
            <a:endParaRPr lang="ko-KR"/>
          </a:p>
        </p:txBody>
      </p:sp>
      <p:sp>
        <p:nvSpPr>
          <p:cNvPr id="40" name="Row chip"/>
          <p:cNvSpPr/>
          <p:nvPr/>
        </p:nvSpPr>
        <p:spPr>
          <a:xfrm>
            <a:off x="841248" y="3346704"/>
            <a:ext cx="2148840" cy="713232"/>
          </a:xfrm>
          <a:prstGeom prst="roundRect">
            <a:avLst>
              <a:gd name="adj" fmla="val 12000"/>
            </a:avLst>
          </a:prstGeom>
          <a:solidFill>
            <a:srgbClr val="5E9CC6"/>
          </a:solid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FFFFFF"/>
                </a:solidFill>
              </a:rPr>
              <a:t>광합성 능력</a:t>
            </a:r>
          </a:p>
        </p:txBody>
      </p:sp>
      <p:sp>
        <p:nvSpPr>
          <p:cNvPr id="41" name="Row ind"/>
          <p:cNvSpPr txBox="1"/>
          <p:nvPr/>
        </p:nvSpPr>
        <p:spPr>
          <a:xfrm>
            <a:off x="3200400" y="3346704"/>
            <a:ext cx="356616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400" b="1" dirty="0">
                <a:solidFill>
                  <a:srgbClr val="000000"/>
                </a:solidFill>
              </a:rPr>
              <a:t>V</a:t>
            </a:r>
            <a:r>
              <a:rPr lang="ko-KR" altLang="en-US" sz="1400" b="1" baseline="-25000" dirty="0">
                <a:solidFill>
                  <a:srgbClr val="000000"/>
                </a:solidFill>
              </a:rPr>
              <a:t>cmax</a:t>
            </a:r>
            <a:r>
              <a:rPr lang="ko-KR" altLang="en-US" sz="1400" b="1" dirty="0">
                <a:solidFill>
                  <a:srgbClr val="000000"/>
                </a:solidFill>
              </a:rPr>
              <a:t>, J</a:t>
            </a:r>
            <a:r>
              <a:rPr lang="ko-KR" altLang="en-US" sz="1400" b="1" baseline="-25000" dirty="0">
                <a:solidFill>
                  <a:srgbClr val="000000"/>
                </a:solidFill>
              </a:rPr>
              <a:t>max</a:t>
            </a:r>
            <a:r>
              <a:rPr lang="ko-KR" altLang="en-US" sz="1400" b="1" dirty="0">
                <a:solidFill>
                  <a:srgbClr val="000000"/>
                </a:solidFill>
              </a:rPr>
              <a:t>, R</a:t>
            </a:r>
            <a:r>
              <a:rPr lang="ko-KR" altLang="en-US" sz="1400" b="1" baseline="-25000" dirty="0">
                <a:solidFill>
                  <a:srgbClr val="000000"/>
                </a:solidFill>
              </a:rPr>
              <a:t>d</a:t>
            </a:r>
            <a:r>
              <a:rPr lang="ko-KR" altLang="en-US" sz="1400" b="1" dirty="0">
                <a:solidFill>
                  <a:srgbClr val="000000"/>
                </a:solidFill>
              </a:rPr>
              <a:t>, A</a:t>
            </a:r>
            <a:r>
              <a:rPr lang="ko-KR" altLang="en-US" sz="1400" b="1" baseline="-25000" dirty="0">
                <a:solidFill>
                  <a:srgbClr val="000000"/>
                </a:solidFill>
              </a:rPr>
              <a:t>max</a:t>
            </a:r>
            <a:r>
              <a:rPr lang="ko-KR" altLang="en-US" sz="1400" b="1" dirty="0">
                <a:solidFill>
                  <a:srgbClr val="000000"/>
                </a:solidFill>
              </a:rPr>
              <a:t>, α</a:t>
            </a:r>
          </a:p>
        </p:txBody>
      </p:sp>
      <p:sp>
        <p:nvSpPr>
          <p:cNvPr id="42" name="Row method"/>
          <p:cNvSpPr txBox="1"/>
          <p:nvPr/>
        </p:nvSpPr>
        <p:spPr>
          <a:xfrm>
            <a:off x="6858000" y="3346704"/>
            <a:ext cx="443484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250" b="0" dirty="0">
                <a:solidFill>
                  <a:srgbClr val="595959"/>
                </a:solidFill>
              </a:rPr>
              <a:t>LI-6800</a:t>
            </a:r>
            <a:r>
              <a:rPr lang="en-US" altLang="ko-KR" sz="1250" b="0" dirty="0">
                <a:solidFill>
                  <a:srgbClr val="595959"/>
                </a:solidFill>
              </a:rPr>
              <a:t>,</a:t>
            </a:r>
            <a:r>
              <a:rPr lang="ko-KR" altLang="en-US" sz="1250" b="0" dirty="0">
                <a:solidFill>
                  <a:srgbClr val="595959"/>
                </a:solidFill>
              </a:rPr>
              <a:t> A-Ci (FvCB), </a:t>
            </a:r>
            <a:r>
              <a:rPr lang="en-US" altLang="ko-KR" sz="1250" b="0" dirty="0">
                <a:solidFill>
                  <a:srgbClr val="595959"/>
                </a:solidFill>
              </a:rPr>
              <a:t>A-PPFD </a:t>
            </a:r>
            <a:r>
              <a:rPr lang="ko-KR" altLang="en-US" sz="1250" b="0" dirty="0">
                <a:solidFill>
                  <a:srgbClr val="595959"/>
                </a:solidFill>
              </a:rPr>
              <a:t>(NRH </a:t>
            </a:r>
            <a:r>
              <a:rPr lang="en-US" altLang="ko-KR" sz="1250" b="0" dirty="0">
                <a:solidFill>
                  <a:srgbClr val="595959"/>
                </a:solidFill>
              </a:rPr>
              <a:t>model</a:t>
            </a:r>
            <a:r>
              <a:rPr lang="ko-KR" altLang="en-US" sz="1250" b="0" dirty="0">
                <a:solidFill>
                  <a:srgbClr val="595959"/>
                </a:solidFill>
              </a:rPr>
              <a:t>)</a:t>
            </a:r>
          </a:p>
        </p:txBody>
      </p:sp>
      <p:sp>
        <p:nvSpPr>
          <p:cNvPr id="43" name="Row bg"/>
          <p:cNvSpPr/>
          <p:nvPr/>
        </p:nvSpPr>
        <p:spPr>
          <a:xfrm>
            <a:off x="841248" y="4334256"/>
            <a:ext cx="10515600" cy="713232"/>
          </a:xfrm>
          <a:prstGeom prst="roundRect">
            <a:avLst>
              <a:gd name="adj" fmla="val 12000"/>
            </a:avLst>
          </a:prstGeom>
          <a:solidFill>
            <a:srgbClr val="F2F6F9"/>
          </a:solidFill>
          <a:ln>
            <a:noFill/>
          </a:ln>
        </p:spPr>
        <p:txBody>
          <a:bodyPr wrap="square" lIns="73152" tIns="36576" rIns="73152" bIns="36576" rtlCol="0" anchor="ctr">
            <a:noAutofit/>
          </a:bodyPr>
          <a:lstStyle/>
          <a:p>
            <a:endParaRPr lang="ko-KR"/>
          </a:p>
        </p:txBody>
      </p:sp>
      <p:sp>
        <p:nvSpPr>
          <p:cNvPr id="44" name="Row chip"/>
          <p:cNvSpPr/>
          <p:nvPr/>
        </p:nvSpPr>
        <p:spPr>
          <a:xfrm>
            <a:off x="841248" y="4334256"/>
            <a:ext cx="2148840" cy="713232"/>
          </a:xfrm>
          <a:prstGeom prst="roundRect">
            <a:avLst>
              <a:gd name="adj" fmla="val 12000"/>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500" b="1" dirty="0" err="1">
                <a:solidFill>
                  <a:srgbClr val="FFFFFF"/>
                </a:solidFill>
              </a:rPr>
              <a:t>생육·수량</a:t>
            </a:r>
            <a:endParaRPr lang="ko-KR" altLang="en-US" sz="1500" b="1" dirty="0">
              <a:solidFill>
                <a:srgbClr val="FFFFFF"/>
              </a:solidFill>
            </a:endParaRPr>
          </a:p>
        </p:txBody>
      </p:sp>
      <p:sp>
        <p:nvSpPr>
          <p:cNvPr id="45" name="Row ind"/>
          <p:cNvSpPr txBox="1"/>
          <p:nvPr/>
        </p:nvSpPr>
        <p:spPr>
          <a:xfrm>
            <a:off x="3200400" y="4334256"/>
            <a:ext cx="356616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400" b="1" dirty="0">
                <a:solidFill>
                  <a:srgbClr val="000000"/>
                </a:solidFill>
              </a:rPr>
              <a:t>종실 생체중·건조중, 지상부 건물중</a:t>
            </a:r>
          </a:p>
        </p:txBody>
      </p:sp>
      <p:sp>
        <p:nvSpPr>
          <p:cNvPr id="46" name="Row method"/>
          <p:cNvSpPr txBox="1"/>
          <p:nvPr/>
        </p:nvSpPr>
        <p:spPr>
          <a:xfrm>
            <a:off x="6858000" y="4334256"/>
            <a:ext cx="443484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250" dirty="0">
                <a:solidFill>
                  <a:srgbClr val="595959"/>
                </a:solidFill>
              </a:rPr>
              <a:t>생육</a:t>
            </a:r>
            <a:r>
              <a:rPr lang="ko-KR" altLang="en-US" sz="1250" b="0" dirty="0">
                <a:solidFill>
                  <a:srgbClr val="595959"/>
                </a:solidFill>
              </a:rPr>
              <a:t> 조사 (상추 DAT 16, 콩 DAT 55)</a:t>
            </a:r>
          </a:p>
        </p:txBody>
      </p:sp>
      <p:sp>
        <p:nvSpPr>
          <p:cNvPr id="78"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79"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450" b="1" u="sng">
                <a:solidFill>
                  <a:srgbClr val="1A1A1A"/>
                </a:solidFill>
              </a:rPr>
              <a:t>재료 및 방법</a:t>
            </a:r>
          </a:p>
        </p:txBody>
      </p:sp>
      <p:sp>
        <p:nvSpPr>
          <p:cNvPr id="80"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81"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82"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9" name="BottomBar">
            <a:extLst>
              <a:ext uri="{FF2B5EF4-FFF2-40B4-BE49-F238E27FC236}">
                <a16:creationId xmlns:a16="http://schemas.microsoft.com/office/drawing/2014/main" id="{E5B48800-A198-8988-D95E-ABDB07A775F9}"/>
              </a:ext>
            </a:extLst>
          </p:cNvPr>
          <p:cNvSpPr/>
          <p:nvPr/>
        </p:nvSpPr>
        <p:spPr>
          <a:xfrm>
            <a:off x="863600" y="5458503"/>
            <a:ext cx="10464800" cy="457200"/>
          </a:xfrm>
          <a:prstGeom prst="rect">
            <a:avLst/>
          </a:prstGeom>
          <a:solidFill>
            <a:srgbClr val="FAFAFA"/>
          </a:solidFill>
          <a:ln w="9525">
            <a:solidFill>
              <a:srgbClr val="D9D9D9"/>
            </a:solidFill>
          </a:ln>
        </p:spPr>
        <p:txBody>
          <a:bodyPr wrap="square" lIns="152400" tIns="101600" rIns="152400" bIns="101600" anchor="t"/>
          <a:lstStyle/>
          <a:p>
            <a:pPr>
              <a:buNone/>
            </a:pPr>
            <a:endParaRPr lang="en-US" sz="1050"/>
          </a:p>
        </p:txBody>
      </p:sp>
      <p:sp>
        <p:nvSpPr>
          <p:cNvPr id="11" name="ToolSection">
            <a:extLst>
              <a:ext uri="{FF2B5EF4-FFF2-40B4-BE49-F238E27FC236}">
                <a16:creationId xmlns:a16="http://schemas.microsoft.com/office/drawing/2014/main" id="{6F433551-D753-1F37-3E41-CDCEA8C49748}"/>
              </a:ext>
            </a:extLst>
          </p:cNvPr>
          <p:cNvSpPr/>
          <p:nvPr/>
        </p:nvSpPr>
        <p:spPr>
          <a:xfrm>
            <a:off x="863599" y="5458503"/>
            <a:ext cx="5356225" cy="457200"/>
          </a:xfrm>
          <a:prstGeom prst="rect">
            <a:avLst/>
          </a:prstGeom>
          <a:noFill/>
          <a:ln>
            <a:noFill/>
          </a:ln>
        </p:spPr>
        <p:txBody>
          <a:bodyPr wrap="square" lIns="152400" tIns="101600" rIns="152400" bIns="101600" anchor="ctr"/>
          <a:lstStyle/>
          <a:p>
            <a:pPr algn="l">
              <a:buNone/>
            </a:pPr>
            <a:r>
              <a:rPr lang="ko-KR" altLang="en-US" sz="1200" b="1" dirty="0"/>
              <a:t>매개변수 산출 ▸ </a:t>
            </a:r>
            <a:r>
              <a:rPr lang="en-US" sz="1600" b="1" dirty="0"/>
              <a:t>V</a:t>
            </a:r>
            <a:r>
              <a:rPr lang="en-US" sz="1600" b="1" baseline="-25000" dirty="0"/>
              <a:t>cmax</a:t>
            </a:r>
            <a:r>
              <a:rPr lang="en-US" sz="1600" dirty="0"/>
              <a:t>, </a:t>
            </a:r>
            <a:r>
              <a:rPr lang="en-US" sz="1600" b="1" dirty="0"/>
              <a:t>J</a:t>
            </a:r>
            <a:r>
              <a:rPr lang="en-US" sz="1600" b="1" baseline="-25000" dirty="0"/>
              <a:t>max</a:t>
            </a:r>
            <a:r>
              <a:rPr lang="en-US" sz="1600" dirty="0"/>
              <a:t>, </a:t>
            </a:r>
            <a:r>
              <a:rPr lang="en-US" sz="1600" b="1" dirty="0"/>
              <a:t>R</a:t>
            </a:r>
            <a:r>
              <a:rPr lang="en-US" sz="1600" b="1" baseline="-25000" dirty="0"/>
              <a:t>d</a:t>
            </a:r>
            <a:r>
              <a:rPr lang="en-US" sz="1600" dirty="0"/>
              <a:t>  </a:t>
            </a:r>
            <a:r>
              <a:rPr lang="en-US" sz="1600" dirty="0">
                <a:solidFill>
                  <a:srgbClr val="0E2841"/>
                </a:solidFill>
              </a:rPr>
              <a:t>→  R · </a:t>
            </a:r>
            <a:r>
              <a:rPr lang="en-US" sz="1600" i="1" dirty="0"/>
              <a:t>plantecophys</a:t>
            </a:r>
            <a:r>
              <a:rPr lang="ko-KR" altLang="en-US" sz="1200" dirty="0">
                <a:solidFill>
                  <a:srgbClr val="0E2841"/>
                </a:solidFill>
              </a:rPr>
              <a:t> 패키지</a:t>
            </a:r>
          </a:p>
        </p:txBody>
      </p:sp>
      <p:sp>
        <p:nvSpPr>
          <p:cNvPr id="13" name="StatSection">
            <a:extLst>
              <a:ext uri="{FF2B5EF4-FFF2-40B4-BE49-F238E27FC236}">
                <a16:creationId xmlns:a16="http://schemas.microsoft.com/office/drawing/2014/main" id="{54EF5C4E-5260-A4E3-BC89-D12EC97BC840}"/>
              </a:ext>
            </a:extLst>
          </p:cNvPr>
          <p:cNvSpPr/>
          <p:nvPr/>
        </p:nvSpPr>
        <p:spPr>
          <a:xfrm>
            <a:off x="6121400" y="5458503"/>
            <a:ext cx="5207000" cy="457200"/>
          </a:xfrm>
          <a:prstGeom prst="rect">
            <a:avLst/>
          </a:prstGeom>
          <a:noFill/>
          <a:ln>
            <a:noFill/>
          </a:ln>
        </p:spPr>
        <p:txBody>
          <a:bodyPr wrap="square" lIns="152400" tIns="101600" rIns="152400" bIns="101600" anchor="ctr"/>
          <a:lstStyle/>
          <a:p>
            <a:pPr algn="l">
              <a:buNone/>
            </a:pPr>
            <a:r>
              <a:rPr lang="ko-KR" altLang="en-US" sz="1200" b="1" dirty="0"/>
              <a:t>통계 분석 ▸ </a:t>
            </a:r>
            <a:r>
              <a:rPr lang="en-US" sz="1600" b="1" dirty="0"/>
              <a:t>ANOVA</a:t>
            </a:r>
            <a:r>
              <a:rPr lang="en-US" sz="1600" dirty="0"/>
              <a:t> + </a:t>
            </a:r>
            <a:r>
              <a:rPr lang="en-US" sz="1600" b="1" dirty="0"/>
              <a:t>Tukey</a:t>
            </a:r>
            <a:r>
              <a:rPr lang="ko-KR" altLang="en-US" sz="1200" dirty="0"/>
              <a:t> 사후검정  </a:t>
            </a:r>
            <a:r>
              <a:rPr lang="en-US" sz="1600" b="1" dirty="0"/>
              <a:t>(</a:t>
            </a:r>
            <a:r>
              <a:rPr lang="en-US" sz="1600" b="1" i="1" dirty="0"/>
              <a:t>α = 0.05</a:t>
            </a:r>
            <a:r>
              <a:rPr lang="en-US" sz="1600" b="1" dirty="0"/>
              <a:t>)</a:t>
            </a:r>
          </a:p>
        </p:txBody>
      </p:sp>
      <p:sp>
        <p:nvSpPr>
          <p:cNvPr id="15" name="Divider">
            <a:extLst>
              <a:ext uri="{FF2B5EF4-FFF2-40B4-BE49-F238E27FC236}">
                <a16:creationId xmlns:a16="http://schemas.microsoft.com/office/drawing/2014/main" id="{9689C6B9-354E-B674-591B-6C89F909D7DE}"/>
              </a:ext>
            </a:extLst>
          </p:cNvPr>
          <p:cNvSpPr/>
          <p:nvPr/>
        </p:nvSpPr>
        <p:spPr>
          <a:xfrm>
            <a:off x="6083300" y="5560103"/>
            <a:ext cx="12700" cy="254000"/>
          </a:xfrm>
          <a:prstGeom prst="rect">
            <a:avLst/>
          </a:prstGeom>
          <a:solidFill>
            <a:srgbClr val="D9D9D9"/>
          </a:solidFill>
          <a:ln>
            <a:noFill/>
          </a:ln>
        </p:spPr>
        <p:txBody>
          <a:bodyPr wrap="square" lIns="152400" tIns="101600" rIns="152400" bIns="101600" anchor="t"/>
          <a:lstStyle/>
          <a:p>
            <a:pPr>
              <a:buNone/>
            </a:pPr>
            <a:endParaRPr lang="en-US" sz="200"/>
          </a:p>
        </p:txBody>
      </p:sp>
      <p:sp>
        <p:nvSpPr>
          <p:cNvPr id="16" name="직사각형 15">
            <a:extLst>
              <a:ext uri="{FF2B5EF4-FFF2-40B4-BE49-F238E27FC236}">
                <a16:creationId xmlns:a16="http://schemas.microsoft.com/office/drawing/2014/main" id="{8047BECD-13AC-34B4-648E-3F786D1CA844}"/>
              </a:ext>
            </a:extLst>
          </p:cNvPr>
          <p:cNvSpPr/>
          <p:nvPr/>
        </p:nvSpPr>
        <p:spPr>
          <a:xfrm>
            <a:off x="12278407" y="2359152"/>
            <a:ext cx="2041273" cy="8821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1200" dirty="0"/>
              <a:t>보정 수식 추가</a:t>
            </a:r>
            <a:endParaRPr lang="en-US" altLang="ko-KR" sz="1200" dirty="0"/>
          </a:p>
          <a:p>
            <a:pPr algn="ctr"/>
            <a:r>
              <a:rPr lang="ko-KR" altLang="ko-KR" sz="1200" dirty="0" err="1"/>
              <a:t>y</a:t>
            </a:r>
            <a:r>
              <a:rPr lang="ko-KR" altLang="ko-KR" sz="1200" dirty="0"/>
              <a:t> = </a:t>
            </a:r>
            <a:r>
              <a:rPr lang="ko-KR" altLang="ko-KR" sz="1200" dirty="0" err="1"/>
              <a:t>μ</a:t>
            </a:r>
            <a:r>
              <a:rPr lang="ko-KR" altLang="ko-KR" sz="1200" dirty="0"/>
              <a:t> + 처리 + β1·PAR + β2·기온 + (측정일 임의효과)</a:t>
            </a:r>
            <a:endParaRPr lang="ko-KR" altLang="en-US" sz="1200" dirty="0"/>
          </a:p>
        </p:txBody>
      </p:sp>
      <p:sp>
        <p:nvSpPr>
          <p:cNvPr id="17" name="직사각형 16">
            <a:extLst>
              <a:ext uri="{FF2B5EF4-FFF2-40B4-BE49-F238E27FC236}">
                <a16:creationId xmlns:a16="http://schemas.microsoft.com/office/drawing/2014/main" id="{2CEDB320-84EB-5AE7-2DBA-8591CC594407}"/>
              </a:ext>
            </a:extLst>
          </p:cNvPr>
          <p:cNvSpPr/>
          <p:nvPr/>
        </p:nvSpPr>
        <p:spPr>
          <a:xfrm>
            <a:off x="12278407" y="1371600"/>
            <a:ext cx="2041273" cy="8821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dirty="0"/>
              <a:t>보정 방법</a:t>
            </a:r>
            <a:r>
              <a:rPr lang="en-US" altLang="ko-KR" dirty="0"/>
              <a:t>? </a:t>
            </a:r>
            <a:r>
              <a:rPr lang="ko-KR" altLang="en-US" dirty="0"/>
              <a:t>설명</a:t>
            </a:r>
            <a:r>
              <a:rPr lang="en-US" altLang="ko-KR" dirty="0"/>
              <a:t>?</a:t>
            </a:r>
          </a:p>
          <a:p>
            <a:pPr algn="ctr"/>
            <a:r>
              <a:rPr lang="ko-KR" altLang="en-US" dirty="0" err="1"/>
              <a:t>해야할까</a:t>
            </a:r>
            <a:r>
              <a:rPr lang="en-US" altLang="ko-KR" dirty="0"/>
              <a:t>?</a:t>
            </a:r>
            <a:endParaRPr lang="ko-KR" altLang="en-US" dirty="0"/>
          </a:p>
        </p:txBody>
      </p:sp>
      <p:sp>
        <p:nvSpPr>
          <p:cNvPr id="18" name="직사각형 17">
            <a:extLst>
              <a:ext uri="{FF2B5EF4-FFF2-40B4-BE49-F238E27FC236}">
                <a16:creationId xmlns:a16="http://schemas.microsoft.com/office/drawing/2014/main" id="{95189CE0-F7CA-C1ED-F747-0D0B0B86823B}"/>
              </a:ext>
            </a:extLst>
          </p:cNvPr>
          <p:cNvSpPr/>
          <p:nvPr/>
        </p:nvSpPr>
        <p:spPr>
          <a:xfrm>
            <a:off x="1278383" y="6125591"/>
            <a:ext cx="2672179" cy="5958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dirty="0"/>
              <a:t>Alpha, Amax</a:t>
            </a:r>
            <a:r>
              <a:rPr lang="ko-KR" altLang="en-US" dirty="0"/>
              <a:t>도 어떻게 산출했는지</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500"/>
                                        <p:tgtEl>
                                          <p:spTgt spid="2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500"/>
                                        <p:tgtEl>
                                          <p:spTgt spid="2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31"/>
                                        </p:tgtEl>
                                        <p:attrNameLst>
                                          <p:attrName>style.visibility</p:attrName>
                                        </p:attrNameLst>
                                      </p:cBhvr>
                                      <p:to>
                                        <p:strVal val="visible"/>
                                      </p:to>
                                    </p:set>
                                    <p:animEffect transition="in" filter="fade">
                                      <p:cBhvr>
                                        <p:cTn id="21" dur="500"/>
                                        <p:tgtEl>
                                          <p:spTgt spid="3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2"/>
                                        </p:tgtEl>
                                        <p:attrNameLst>
                                          <p:attrName>style.visibility</p:attrName>
                                        </p:attrNameLst>
                                      </p:cBhvr>
                                      <p:to>
                                        <p:strVal val="visible"/>
                                      </p:to>
                                    </p:set>
                                    <p:animEffect transition="in" filter="fade">
                                      <p:cBhvr>
                                        <p:cTn id="24" dur="500"/>
                                        <p:tgtEl>
                                          <p:spTgt spid="3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500"/>
                                        <p:tgtEl>
                                          <p:spTgt spid="3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4"/>
                                        </p:tgtEl>
                                        <p:attrNameLst>
                                          <p:attrName>style.visibility</p:attrName>
                                        </p:attrNameLst>
                                      </p:cBhvr>
                                      <p:to>
                                        <p:strVal val="visible"/>
                                      </p:to>
                                    </p:set>
                                    <p:animEffect transition="in" filter="fade">
                                      <p:cBhvr>
                                        <p:cTn id="30" dur="500"/>
                                        <p:tgtEl>
                                          <p:spTgt spid="34"/>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9"/>
                                        </p:tgtEl>
                                        <p:attrNameLst>
                                          <p:attrName>style.visibility</p:attrName>
                                        </p:attrNameLst>
                                      </p:cBhvr>
                                      <p:to>
                                        <p:strVal val="visible"/>
                                      </p:to>
                                    </p:set>
                                    <p:animEffect transition="in" filter="fade">
                                      <p:cBhvr>
                                        <p:cTn id="35" dur="500"/>
                                        <p:tgtEl>
                                          <p:spTgt spid="3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0"/>
                                        </p:tgtEl>
                                        <p:attrNameLst>
                                          <p:attrName>style.visibility</p:attrName>
                                        </p:attrNameLst>
                                      </p:cBhvr>
                                      <p:to>
                                        <p:strVal val="visible"/>
                                      </p:to>
                                    </p:set>
                                    <p:animEffect transition="in" filter="fade">
                                      <p:cBhvr>
                                        <p:cTn id="38" dur="500"/>
                                        <p:tgtEl>
                                          <p:spTgt spid="4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1"/>
                                        </p:tgtEl>
                                        <p:attrNameLst>
                                          <p:attrName>style.visibility</p:attrName>
                                        </p:attrNameLst>
                                      </p:cBhvr>
                                      <p:to>
                                        <p:strVal val="visible"/>
                                      </p:to>
                                    </p:set>
                                    <p:animEffect transition="in" filter="fade">
                                      <p:cBhvr>
                                        <p:cTn id="41" dur="500"/>
                                        <p:tgtEl>
                                          <p:spTgt spid="41"/>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500"/>
                                        <p:tgtEl>
                                          <p:spTgt spid="4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43"/>
                                        </p:tgtEl>
                                        <p:attrNameLst>
                                          <p:attrName>style.visibility</p:attrName>
                                        </p:attrNameLst>
                                      </p:cBhvr>
                                      <p:to>
                                        <p:strVal val="visible"/>
                                      </p:to>
                                    </p:set>
                                    <p:animEffect transition="in" filter="fade">
                                      <p:cBhvr>
                                        <p:cTn id="49" dur="500"/>
                                        <p:tgtEl>
                                          <p:spTgt spid="4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4"/>
                                        </p:tgtEl>
                                        <p:attrNameLst>
                                          <p:attrName>style.visibility</p:attrName>
                                        </p:attrNameLst>
                                      </p:cBhvr>
                                      <p:to>
                                        <p:strVal val="visible"/>
                                      </p:to>
                                    </p:set>
                                    <p:animEffect transition="in" filter="fade">
                                      <p:cBhvr>
                                        <p:cTn id="52" dur="500"/>
                                        <p:tgtEl>
                                          <p:spTgt spid="4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5"/>
                                        </p:tgtEl>
                                        <p:attrNameLst>
                                          <p:attrName>style.visibility</p:attrName>
                                        </p:attrNameLst>
                                      </p:cBhvr>
                                      <p:to>
                                        <p:strVal val="visible"/>
                                      </p:to>
                                    </p:set>
                                    <p:animEffect transition="in" filter="fade">
                                      <p:cBhvr>
                                        <p:cTn id="55" dur="500"/>
                                        <p:tgtEl>
                                          <p:spTgt spid="4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6"/>
                                        </p:tgtEl>
                                        <p:attrNameLst>
                                          <p:attrName>style.visibility</p:attrName>
                                        </p:attrNameLst>
                                      </p:cBhvr>
                                      <p:to>
                                        <p:strVal val="visible"/>
                                      </p:to>
                                    </p:set>
                                    <p:animEffect transition="in" filter="fade">
                                      <p:cBhvr>
                                        <p:cTn id="58"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9" grpId="0" animBg="1"/>
      <p:bldP spid="40" grpId="0" animBg="1"/>
      <p:bldP spid="41" grpId="0" animBg="1"/>
      <p:bldP spid="42" grpId="0" animBg="1"/>
      <p:bldP spid="43" grpId="0" animBg="1"/>
      <p:bldP spid="44" grpId="0" animBg="1"/>
      <p:bldP spid="45" grpId="0" animBg="1"/>
      <p:bldP spid="4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기상 센서 : 기온, 일적산광량 (DLI)</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7</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lang="ko-KR" altLang="en-US" sz="1600" dirty="0">
                <a:solidFill>
                  <a:srgbClr val="E97132"/>
                </a:solidFill>
              </a:rPr>
              <a:t>상추는</a:t>
            </a:r>
            <a:r>
              <a:rPr sz="1600" dirty="0">
                <a:solidFill>
                  <a:srgbClr val="E97132"/>
                </a:solidFill>
              </a:rPr>
              <a:t> </a:t>
            </a:r>
            <a:r>
              <a:rPr sz="1600" dirty="0" err="1">
                <a:solidFill>
                  <a:srgbClr val="E97132"/>
                </a:solidFill>
              </a:rPr>
              <a:t>저온·중간</a:t>
            </a:r>
            <a:r>
              <a:rPr sz="1600" dirty="0">
                <a:solidFill>
                  <a:srgbClr val="E97132"/>
                </a:solidFill>
              </a:rPr>
              <a:t> </a:t>
            </a:r>
            <a:r>
              <a:rPr sz="1600" dirty="0" err="1">
                <a:solidFill>
                  <a:srgbClr val="E97132"/>
                </a:solidFill>
              </a:rPr>
              <a:t>일사</a:t>
            </a:r>
            <a:r>
              <a:rPr sz="1600" dirty="0">
                <a:solidFill>
                  <a:srgbClr val="E97132"/>
                </a:solidFill>
              </a:rPr>
              <a:t> </a:t>
            </a:r>
            <a:r>
              <a:rPr sz="1600" dirty="0" err="1">
                <a:solidFill>
                  <a:srgbClr val="E97132"/>
                </a:solidFill>
              </a:rPr>
              <a:t>조건에서</a:t>
            </a:r>
            <a:r>
              <a:rPr sz="1600" dirty="0">
                <a:solidFill>
                  <a:srgbClr val="E97132"/>
                </a:solidFill>
              </a:rPr>
              <a:t> </a:t>
            </a:r>
            <a:r>
              <a:rPr sz="1600" dirty="0" err="1">
                <a:solidFill>
                  <a:srgbClr val="E97132"/>
                </a:solidFill>
              </a:rPr>
              <a:t>처리되어</a:t>
            </a:r>
            <a:r>
              <a:rPr sz="1600" dirty="0">
                <a:solidFill>
                  <a:srgbClr val="E97132"/>
                </a:solidFill>
              </a:rPr>
              <a:t> </a:t>
            </a:r>
            <a:r>
              <a:rPr sz="1600" dirty="0" err="1">
                <a:solidFill>
                  <a:srgbClr val="E97132"/>
                </a:solidFill>
              </a:rPr>
              <a:t>증발산</a:t>
            </a:r>
            <a:r>
              <a:rPr sz="1600" dirty="0">
                <a:solidFill>
                  <a:srgbClr val="E97132"/>
                </a:solidFill>
              </a:rPr>
              <a:t> </a:t>
            </a:r>
            <a:r>
              <a:rPr sz="1600" dirty="0" err="1">
                <a:solidFill>
                  <a:srgbClr val="E97132"/>
                </a:solidFill>
              </a:rPr>
              <a:t>부하와</a:t>
            </a:r>
            <a:r>
              <a:rPr sz="1600" dirty="0">
                <a:solidFill>
                  <a:srgbClr val="E97132"/>
                </a:solidFill>
              </a:rPr>
              <a:t> </a:t>
            </a:r>
            <a:r>
              <a:rPr sz="1600" dirty="0" err="1">
                <a:solidFill>
                  <a:srgbClr val="E97132"/>
                </a:solidFill>
              </a:rPr>
              <a:t>건조</a:t>
            </a:r>
            <a:r>
              <a:rPr sz="1600" dirty="0">
                <a:solidFill>
                  <a:srgbClr val="E97132"/>
                </a:solidFill>
              </a:rPr>
              <a:t> </a:t>
            </a:r>
            <a:r>
              <a:rPr sz="1600" dirty="0" err="1">
                <a:solidFill>
                  <a:srgbClr val="E97132"/>
                </a:solidFill>
              </a:rPr>
              <a:t>스트레스</a:t>
            </a:r>
            <a:r>
              <a:rPr sz="1600" dirty="0">
                <a:solidFill>
                  <a:srgbClr val="E97132"/>
                </a:solidFill>
              </a:rPr>
              <a:t> </a:t>
            </a:r>
            <a:r>
              <a:rPr sz="1600" dirty="0" err="1">
                <a:solidFill>
                  <a:srgbClr val="E97132"/>
                </a:solidFill>
              </a:rPr>
              <a:t>강도가</a:t>
            </a:r>
            <a:r>
              <a:rPr sz="1600" dirty="0">
                <a:solidFill>
                  <a:srgbClr val="E97132"/>
                </a:solidFill>
              </a:rPr>
              <a:t> </a:t>
            </a:r>
            <a:r>
              <a:rPr sz="1600" dirty="0" err="1">
                <a:solidFill>
                  <a:srgbClr val="E97132"/>
                </a:solidFill>
              </a:rPr>
              <a:t>다름</a:t>
            </a:r>
            <a:endParaRPr sz="1600" dirty="0">
              <a:solidFill>
                <a:srgbClr val="E97132"/>
              </a:solidFill>
            </a:endParaRP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dirty="0" err="1">
                <a:solidFill>
                  <a:srgbClr val="595959"/>
                </a:solidFill>
              </a:rPr>
              <a:t>밭콩</a:t>
            </a:r>
            <a:r>
              <a:rPr sz="1000" dirty="0">
                <a:solidFill>
                  <a:srgbClr val="595959"/>
                </a:solidFill>
              </a:rPr>
              <a:t>: CR1000X </a:t>
            </a:r>
            <a:r>
              <a:rPr sz="1000" dirty="0" err="1">
                <a:solidFill>
                  <a:srgbClr val="595959"/>
                </a:solidFill>
              </a:rPr>
              <a:t>기상</a:t>
            </a:r>
            <a:r>
              <a:rPr sz="1000" dirty="0">
                <a:solidFill>
                  <a:srgbClr val="595959"/>
                </a:solidFill>
              </a:rPr>
              <a:t> </a:t>
            </a:r>
            <a:r>
              <a:rPr sz="1000" dirty="0" err="1">
                <a:solidFill>
                  <a:srgbClr val="595959"/>
                </a:solidFill>
              </a:rPr>
              <a:t>센서</a:t>
            </a:r>
            <a:r>
              <a:rPr sz="1000" dirty="0">
                <a:solidFill>
                  <a:srgbClr val="595959"/>
                </a:solidFill>
              </a:rPr>
              <a:t>, </a:t>
            </a:r>
            <a:r>
              <a:rPr lang="ko-KR" altLang="en-US" sz="1000" dirty="0">
                <a:solidFill>
                  <a:srgbClr val="595959"/>
                </a:solidFill>
              </a:rPr>
              <a:t>상추</a:t>
            </a:r>
            <a:r>
              <a:rPr sz="1000" dirty="0">
                <a:solidFill>
                  <a:srgbClr val="595959"/>
                </a:solidFill>
              </a:rPr>
              <a:t>: 26번 </a:t>
            </a:r>
            <a:r>
              <a:rPr sz="1000" dirty="0" err="1">
                <a:solidFill>
                  <a:srgbClr val="595959"/>
                </a:solidFill>
              </a:rPr>
              <a:t>온실</a:t>
            </a:r>
            <a:r>
              <a:rPr sz="1000" dirty="0">
                <a:solidFill>
                  <a:srgbClr val="595959"/>
                </a:solidFill>
              </a:rPr>
              <a:t> </a:t>
            </a:r>
            <a:r>
              <a:rPr sz="1000" dirty="0" err="1">
                <a:solidFill>
                  <a:srgbClr val="595959"/>
                </a:solidFill>
              </a:rPr>
              <a:t>환경</a:t>
            </a:r>
            <a:r>
              <a:rPr sz="1000" dirty="0">
                <a:solidFill>
                  <a:srgbClr val="595959"/>
                </a:solidFill>
              </a:rPr>
              <a:t> </a:t>
            </a:r>
            <a:r>
              <a:rPr sz="1000" dirty="0" err="1">
                <a:solidFill>
                  <a:srgbClr val="595959"/>
                </a:solidFill>
              </a:rPr>
              <a:t>데이터</a:t>
            </a:r>
            <a:r>
              <a:rPr sz="1000" dirty="0">
                <a:solidFill>
                  <a:srgbClr val="595959"/>
                </a:solidFill>
              </a:rPr>
              <a:t>(CR300; 10/13·10/18 </a:t>
            </a:r>
            <a:r>
              <a:rPr sz="1000" dirty="0" err="1">
                <a:solidFill>
                  <a:srgbClr val="595959"/>
                </a:solidFill>
              </a:rPr>
              <a:t>결측일</a:t>
            </a:r>
            <a:r>
              <a:rPr sz="1000" dirty="0">
                <a:solidFill>
                  <a:srgbClr val="595959"/>
                </a:solidFill>
              </a:rPr>
              <a:t> </a:t>
            </a:r>
            <a:r>
              <a:rPr sz="1000" dirty="0" err="1">
                <a:solidFill>
                  <a:srgbClr val="595959"/>
                </a:solidFill>
              </a:rPr>
              <a:t>제외</a:t>
            </a:r>
            <a:r>
              <a:rPr sz="1000" dirty="0">
                <a:solidFill>
                  <a:srgbClr val="595959"/>
                </a:solidFill>
              </a:rPr>
              <a:t>). </a:t>
            </a:r>
            <a:r>
              <a:rPr lang="ko-KR" altLang="en-US" sz="1000" dirty="0">
                <a:solidFill>
                  <a:srgbClr val="595959"/>
                </a:solidFill>
              </a:rPr>
              <a:t>상추</a:t>
            </a:r>
            <a:r>
              <a:rPr sz="1000" dirty="0">
                <a:solidFill>
                  <a:srgbClr val="595959"/>
                </a:solidFill>
              </a:rPr>
              <a:t> DLI = </a:t>
            </a:r>
            <a:r>
              <a:rPr sz="1000" dirty="0" err="1">
                <a:solidFill>
                  <a:srgbClr val="595959"/>
                </a:solidFill>
              </a:rPr>
              <a:t>일사량</a:t>
            </a:r>
            <a:r>
              <a:rPr sz="1000" dirty="0">
                <a:solidFill>
                  <a:srgbClr val="595959"/>
                </a:solidFill>
              </a:rPr>
              <a:t>(MJ) × 2.02 mol/MJ </a:t>
            </a:r>
            <a:r>
              <a:rPr sz="1000" dirty="0" err="1">
                <a:solidFill>
                  <a:srgbClr val="595959"/>
                </a:solidFill>
              </a:rPr>
              <a:t>추정</a:t>
            </a:r>
            <a:r>
              <a:rPr sz="1000" dirty="0">
                <a:solidFill>
                  <a:srgbClr val="595959"/>
                </a:solidFill>
              </a:rPr>
              <a:t>. </a:t>
            </a:r>
            <a:r>
              <a:rPr sz="1000" dirty="0" err="1">
                <a:solidFill>
                  <a:srgbClr val="595959"/>
                </a:solidFill>
              </a:rPr>
              <a:t>점선</a:t>
            </a:r>
            <a:r>
              <a:rPr sz="1000" dirty="0">
                <a:solidFill>
                  <a:srgbClr val="595959"/>
                </a:solidFill>
              </a:rPr>
              <a:t> = </a:t>
            </a:r>
            <a:r>
              <a:rPr sz="1000" dirty="0" err="1">
                <a:solidFill>
                  <a:srgbClr val="595959"/>
                </a:solidFill>
              </a:rPr>
              <a:t>침수</a:t>
            </a:r>
            <a:r>
              <a:rPr sz="1000" dirty="0">
                <a:solidFill>
                  <a:srgbClr val="595959"/>
                </a:solidFill>
              </a:rPr>
              <a:t> </a:t>
            </a:r>
            <a:r>
              <a:rPr sz="1000" dirty="0" err="1">
                <a:solidFill>
                  <a:srgbClr val="595959"/>
                </a:solidFill>
              </a:rPr>
              <a:t>시작일</a:t>
            </a:r>
            <a:r>
              <a:rPr sz="1000" dirty="0">
                <a:solidFill>
                  <a:srgbClr val="595959"/>
                </a:solidFill>
              </a:rPr>
              <a:t>.</a:t>
            </a:r>
          </a:p>
        </p:txBody>
      </p:sp>
      <p:pic>
        <p:nvPicPr>
          <p:cNvPr id="27" name="Picture 26" descr="image.png"/>
          <p:cNvPicPr>
            <a:picLocks noChangeAspect="1"/>
          </p:cNvPicPr>
          <p:nvPr/>
        </p:nvPicPr>
        <p:blipFill>
          <a:blip r:embed="rId4"/>
          <a:stretch>
            <a:fillRect/>
          </a:stretch>
        </p:blipFill>
        <p:spPr>
          <a:xfrm>
            <a:off x="457200" y="1280160"/>
            <a:ext cx="7040880" cy="2743200"/>
          </a:xfrm>
          <a:prstGeom prst="rect">
            <a:avLst/>
          </a:prstGeom>
        </p:spPr>
      </p:pic>
      <p:sp>
        <p:nvSpPr>
          <p:cNvPr id="28" name="Stat box"/>
          <p:cNvSpPr/>
          <p:nvPr/>
        </p:nvSpPr>
        <p:spPr>
          <a:xfrm>
            <a:off x="841248" y="4224528"/>
            <a:ext cx="3154680" cy="1280160"/>
          </a:xfrm>
          <a:prstGeom prst="roundRect">
            <a:avLst>
              <a:gd name="adj" fmla="val 12000"/>
            </a:avLst>
          </a:prstGeom>
          <a:solidFill>
            <a:srgbClr val="FFFFFF"/>
          </a:solidFill>
          <a:ln w="19050">
            <a:solidFill>
              <a:srgbClr val="2E6B3F"/>
            </a:solidFill>
          </a:ln>
        </p:spPr>
        <p:txBody>
          <a:bodyPr wrap="square" lIns="73152" tIns="36576" rIns="73152" bIns="36576" rtlCol="0" anchor="ctr">
            <a:noAutofit/>
          </a:bodyPr>
          <a:lstStyle/>
          <a:p>
            <a:endParaRPr lang="ko-KR"/>
          </a:p>
        </p:txBody>
      </p:sp>
      <p:sp>
        <p:nvSpPr>
          <p:cNvPr id="29" name="Stat value"/>
          <p:cNvSpPr txBox="1"/>
          <p:nvPr/>
        </p:nvSpPr>
        <p:spPr>
          <a:xfrm>
            <a:off x="886968" y="4297680"/>
            <a:ext cx="3063240" cy="704088"/>
          </a:xfrm>
          <a:prstGeom prst="rect">
            <a:avLst/>
          </a:prstGeom>
          <a:noFill/>
          <a:ln>
            <a:noFill/>
          </a:ln>
        </p:spPr>
        <p:txBody>
          <a:bodyPr wrap="square" lIns="18288" tIns="18288" rIns="18288" bIns="18288" rtlCol="0" anchor="ctr">
            <a:noAutofit/>
          </a:bodyPr>
          <a:lstStyle/>
          <a:p>
            <a:pPr marL="0" indent="0" algn="ctr">
              <a:spcBef>
                <a:spcPts val="0"/>
              </a:spcBef>
              <a:buNone/>
            </a:pPr>
            <a:r>
              <a:rPr lang="ko-KR" altLang="en-US" sz="2800" dirty="0">
                <a:solidFill>
                  <a:srgbClr val="2E6B3F"/>
                </a:solidFill>
              </a:rPr>
              <a:t>18.2 vs 28.4 °C</a:t>
            </a:r>
          </a:p>
        </p:txBody>
      </p:sp>
      <p:sp>
        <p:nvSpPr>
          <p:cNvPr id="30" name="Stat label"/>
          <p:cNvSpPr txBox="1"/>
          <p:nvPr/>
        </p:nvSpPr>
        <p:spPr>
          <a:xfrm>
            <a:off x="914400" y="4992624"/>
            <a:ext cx="3008376" cy="486461"/>
          </a:xfrm>
          <a:prstGeom prst="rect">
            <a:avLst/>
          </a:prstGeom>
          <a:noFill/>
          <a:ln>
            <a:noFill/>
          </a:ln>
        </p:spPr>
        <p:txBody>
          <a:bodyPr wrap="square" lIns="18288" tIns="18288" rIns="18288" bIns="18288" rtlCol="0" anchor="t">
            <a:noAutofit/>
          </a:bodyPr>
          <a:lstStyle/>
          <a:p>
            <a:pPr marL="0" indent="0" algn="ctr">
              <a:spcBef>
                <a:spcPts val="0"/>
              </a:spcBef>
              <a:buNone/>
            </a:pPr>
            <a:r>
              <a:rPr lang="ko-KR" altLang="en-US" sz="1100" dirty="0">
                <a:solidFill>
                  <a:srgbClr val="595959"/>
                </a:solidFill>
              </a:rPr>
              <a:t>처리 기간 평균 기온 (상추 vs 콩 DAT 0~16)</a:t>
            </a:r>
          </a:p>
        </p:txBody>
      </p:sp>
      <p:sp>
        <p:nvSpPr>
          <p:cNvPr id="31" name="Stat box"/>
          <p:cNvSpPr/>
          <p:nvPr/>
        </p:nvSpPr>
        <p:spPr>
          <a:xfrm>
            <a:off x="4206240" y="4224528"/>
            <a:ext cx="3154680" cy="1280160"/>
          </a:xfrm>
          <a:prstGeom prst="roundRect">
            <a:avLst>
              <a:gd name="adj" fmla="val 12000"/>
            </a:avLst>
          </a:prstGeom>
          <a:solidFill>
            <a:srgbClr val="FFFFFF"/>
          </a:solidFill>
          <a:ln w="19050">
            <a:solidFill>
              <a:srgbClr val="156082"/>
            </a:solidFill>
          </a:ln>
        </p:spPr>
        <p:txBody>
          <a:bodyPr wrap="square" lIns="73152" tIns="36576" rIns="73152" bIns="36576" rtlCol="0" anchor="ctr">
            <a:noAutofit/>
          </a:bodyPr>
          <a:lstStyle/>
          <a:p>
            <a:endParaRPr lang="ko-KR"/>
          </a:p>
        </p:txBody>
      </p:sp>
      <p:sp>
        <p:nvSpPr>
          <p:cNvPr id="32" name="Stat value"/>
          <p:cNvSpPr txBox="1"/>
          <p:nvPr/>
        </p:nvSpPr>
        <p:spPr>
          <a:xfrm>
            <a:off x="4251960" y="4297680"/>
            <a:ext cx="3063240" cy="704088"/>
          </a:xfrm>
          <a:prstGeom prst="rect">
            <a:avLst/>
          </a:prstGeom>
          <a:noFill/>
          <a:ln>
            <a:noFill/>
          </a:ln>
        </p:spPr>
        <p:txBody>
          <a:bodyPr wrap="square" lIns="18288" tIns="18288" rIns="18288" bIns="18288" rtlCol="0" anchor="ctr">
            <a:noAutofit/>
          </a:bodyPr>
          <a:lstStyle/>
          <a:p>
            <a:pPr marL="0" indent="0" algn="ctr">
              <a:spcBef>
                <a:spcPts val="0"/>
              </a:spcBef>
              <a:buNone/>
            </a:pPr>
            <a:r>
              <a:rPr lang="ko-KR" altLang="en-US" sz="2400" b="1" dirty="0">
                <a:solidFill>
                  <a:srgbClr val="156082"/>
                </a:solidFill>
              </a:rPr>
              <a:t>17.5 vs 22.0</a:t>
            </a:r>
          </a:p>
        </p:txBody>
      </p:sp>
      <p:sp>
        <p:nvSpPr>
          <p:cNvPr id="33" name="Stat label"/>
          <p:cNvSpPr txBox="1"/>
          <p:nvPr/>
        </p:nvSpPr>
        <p:spPr>
          <a:xfrm>
            <a:off x="4279392" y="4992624"/>
            <a:ext cx="3008376" cy="486461"/>
          </a:xfrm>
          <a:prstGeom prst="rect">
            <a:avLst/>
          </a:prstGeom>
          <a:noFill/>
          <a:ln>
            <a:noFill/>
          </a:ln>
        </p:spPr>
        <p:txBody>
          <a:bodyPr wrap="square" lIns="18288" tIns="18288" rIns="18288" bIns="18288" rtlCol="0" anchor="t">
            <a:noAutofit/>
          </a:bodyPr>
          <a:lstStyle/>
          <a:p>
            <a:pPr marL="0" indent="0" algn="ctr">
              <a:spcBef>
                <a:spcPts val="0"/>
              </a:spcBef>
              <a:buNone/>
            </a:pPr>
            <a:r>
              <a:rPr lang="ko-KR" altLang="en-US" sz="1100" b="0" dirty="0">
                <a:solidFill>
                  <a:srgbClr val="595959"/>
                </a:solidFill>
              </a:rPr>
              <a:t>DLI (mol·m</a:t>
            </a:r>
            <a:r>
              <a:rPr lang="ko-KR" altLang="en-US" sz="1100" b="0" baseline="30000" dirty="0">
                <a:solidFill>
                  <a:srgbClr val="595959"/>
                </a:solidFill>
              </a:rPr>
              <a:t>−2</a:t>
            </a:r>
            <a:r>
              <a:rPr lang="ko-KR" altLang="en-US" sz="1100" b="0" dirty="0">
                <a:solidFill>
                  <a:srgbClr val="595959"/>
                </a:solidFill>
              </a:rPr>
              <a:t>·d</a:t>
            </a:r>
            <a:r>
              <a:rPr lang="ko-KR" altLang="en-US" sz="1100" b="0" baseline="30000" dirty="0">
                <a:solidFill>
                  <a:srgbClr val="595959"/>
                </a:solidFill>
              </a:rPr>
              <a:t>−1</a:t>
            </a:r>
            <a:r>
              <a:rPr lang="ko-KR" altLang="en-US" sz="1100" b="0" dirty="0">
                <a:solidFill>
                  <a:srgbClr val="595959"/>
                </a:solidFill>
              </a:rPr>
              <a:t>, 상추 vs 콩 DAT 0~16)</a:t>
            </a:r>
          </a:p>
        </p:txBody>
      </p:sp>
      <p:sp>
        <p:nvSpPr>
          <p:cNvPr id="34" name="Card 요점"/>
          <p:cNvSpPr/>
          <p:nvPr/>
        </p:nvSpPr>
        <p:spPr>
          <a:xfrm>
            <a:off x="7863840" y="1481328"/>
            <a:ext cx="3493008" cy="402336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35" name="Header 요점"/>
          <p:cNvSpPr/>
          <p:nvPr/>
        </p:nvSpPr>
        <p:spPr>
          <a:xfrm>
            <a:off x="8046720" y="1271016"/>
            <a:ext cx="3127248" cy="420624"/>
          </a:xfrm>
          <a:prstGeom prst="roundRect">
            <a:avLst>
              <a:gd name="adj" fmla="val 25000"/>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FFFFFF"/>
                </a:solidFill>
              </a:rPr>
              <a:t>요점</a:t>
            </a:r>
          </a:p>
        </p:txBody>
      </p:sp>
      <p:sp>
        <p:nvSpPr>
          <p:cNvPr id="36" name="Text 요점"/>
          <p:cNvSpPr txBox="1"/>
          <p:nvPr/>
        </p:nvSpPr>
        <p:spPr>
          <a:xfrm>
            <a:off x="8046720" y="1865376"/>
            <a:ext cx="3172968" cy="352044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400" b="1" dirty="0">
                <a:solidFill>
                  <a:srgbClr val="000000"/>
                </a:solidFill>
              </a:rPr>
              <a:t>상추:</a:t>
            </a:r>
            <a:r>
              <a:rPr lang="ko-KR" altLang="en-US" sz="1400" dirty="0">
                <a:solidFill>
                  <a:srgbClr val="000000"/>
                </a:solidFill>
              </a:rPr>
              <a:t> 처리 기간 동안 저온·중간 일사 조건</a:t>
            </a:r>
          </a:p>
          <a:p>
            <a:pPr marL="201168" indent="-201168" algn="l">
              <a:spcBef>
                <a:spcPts val="1000"/>
              </a:spcBef>
              <a:buFont typeface="Arial"/>
              <a:buChar char="•"/>
            </a:pPr>
            <a:r>
              <a:rPr lang="ko-KR" altLang="en-US" sz="1400" dirty="0">
                <a:solidFill>
                  <a:srgbClr val="000000"/>
                </a:solidFill>
              </a:rPr>
              <a:t>콩:  처리 초기에 상추보다 고온·고일사 조건</a:t>
            </a:r>
          </a:p>
        </p:txBody>
      </p:sp>
      <p:sp>
        <p:nvSpPr>
          <p:cNvPr id="44"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45"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450" b="1" u="sng">
                <a:solidFill>
                  <a:srgbClr val="1A1A1A"/>
                </a:solidFill>
              </a:rPr>
              <a:t>재료 및 방법</a:t>
            </a:r>
          </a:p>
        </p:txBody>
      </p:sp>
      <p:sp>
        <p:nvSpPr>
          <p:cNvPr id="46"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47"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48"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500"/>
                                        <p:tgtEl>
                                          <p:spTgt spid="3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5"/>
                                        </p:tgtEl>
                                        <p:attrNameLst>
                                          <p:attrName>style.visibility</p:attrName>
                                        </p:attrNameLst>
                                      </p:cBhvr>
                                      <p:to>
                                        <p:strVal val="visible"/>
                                      </p:to>
                                    </p:set>
                                    <p:animEffect transition="in" filter="fade">
                                      <p:cBhvr>
                                        <p:cTn id="15" dur="500"/>
                                        <p:tgtEl>
                                          <p:spTgt spid="3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6"/>
                                        </p:tgtEl>
                                        <p:attrNameLst>
                                          <p:attrName>style.visibility</p:attrName>
                                        </p:attrNameLst>
                                      </p:cBhvr>
                                      <p:to>
                                        <p:strVal val="visible"/>
                                      </p:to>
                                    </p:set>
                                    <p:animEffect transition="in" filter="fade">
                                      <p:cBhvr>
                                        <p:cTn id="18" dur="500"/>
                                        <p:tgtEl>
                                          <p:spTgt spid="3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500"/>
                                        <p:tgtEl>
                                          <p:spTgt spid="2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500"/>
                                        <p:tgtEl>
                                          <p:spTgt spid="2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500"/>
                                        <p:tgtEl>
                                          <p:spTgt spid="3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500"/>
                                        <p:tgtEl>
                                          <p:spTgt spid="3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500"/>
                                        <p:tgtEl>
                                          <p:spTgt spid="3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3"/>
                                        </p:tgtEl>
                                        <p:attrNameLst>
                                          <p:attrName>style.visibility</p:attrName>
                                        </p:attrNameLst>
                                      </p:cBhvr>
                                      <p:to>
                                        <p:strVal val="visible"/>
                                      </p:to>
                                    </p:set>
                                    <p:animEffect transition="in" filter="fade">
                                      <p:cBhvr>
                                        <p:cTn id="38" dur="500"/>
                                        <p:tgtEl>
                                          <p:spTgt spid="33"/>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로드셀·포트 무게 : 누적 관수량</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8</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dirty="0" err="1">
                <a:solidFill>
                  <a:srgbClr val="E97132"/>
                </a:solidFill>
              </a:rPr>
              <a:t>감수</a:t>
            </a:r>
            <a:r>
              <a:rPr sz="1600" dirty="0">
                <a:solidFill>
                  <a:srgbClr val="E97132"/>
                </a:solidFill>
              </a:rPr>
              <a:t> </a:t>
            </a:r>
            <a:r>
              <a:rPr sz="1600" dirty="0" err="1">
                <a:solidFill>
                  <a:srgbClr val="E97132"/>
                </a:solidFill>
              </a:rPr>
              <a:t>관수는</a:t>
            </a:r>
            <a:r>
              <a:rPr sz="1600" dirty="0">
                <a:solidFill>
                  <a:srgbClr val="E97132"/>
                </a:solidFill>
              </a:rPr>
              <a:t> </a:t>
            </a:r>
            <a:r>
              <a:rPr sz="1600" dirty="0" err="1">
                <a:solidFill>
                  <a:srgbClr val="E97132"/>
                </a:solidFill>
              </a:rPr>
              <a:t>실현됨</a:t>
            </a:r>
            <a:r>
              <a:rPr sz="1600" dirty="0">
                <a:solidFill>
                  <a:srgbClr val="E97132"/>
                </a:solidFill>
              </a:rPr>
              <a:t> — </a:t>
            </a:r>
            <a:r>
              <a:rPr lang="ko-KR" altLang="en-US" sz="1600" dirty="0">
                <a:solidFill>
                  <a:srgbClr val="E97132"/>
                </a:solidFill>
              </a:rPr>
              <a:t>상추</a:t>
            </a:r>
            <a:r>
              <a:rPr sz="1600" dirty="0">
                <a:solidFill>
                  <a:srgbClr val="E97132"/>
                </a:solidFill>
              </a:rPr>
              <a:t> </a:t>
            </a:r>
            <a:r>
              <a:rPr sz="1600" dirty="0" err="1">
                <a:solidFill>
                  <a:srgbClr val="E97132"/>
                </a:solidFill>
              </a:rPr>
              <a:t>침수구는</a:t>
            </a:r>
            <a:r>
              <a:rPr sz="1600" dirty="0">
                <a:solidFill>
                  <a:srgbClr val="E97132"/>
                </a:solidFill>
              </a:rPr>
              <a:t> </a:t>
            </a:r>
            <a:r>
              <a:rPr sz="1600" dirty="0" err="1">
                <a:solidFill>
                  <a:srgbClr val="E97132"/>
                </a:solidFill>
              </a:rPr>
              <a:t>과습으로</a:t>
            </a:r>
            <a:r>
              <a:rPr sz="1600" dirty="0">
                <a:solidFill>
                  <a:srgbClr val="E97132"/>
                </a:solidFill>
              </a:rPr>
              <a:t> </a:t>
            </a:r>
            <a:r>
              <a:rPr sz="1600" dirty="0" err="1">
                <a:solidFill>
                  <a:srgbClr val="E97132"/>
                </a:solidFill>
              </a:rPr>
              <a:t>관수가</a:t>
            </a:r>
            <a:r>
              <a:rPr sz="1600" dirty="0">
                <a:solidFill>
                  <a:srgbClr val="E97132"/>
                </a:solidFill>
              </a:rPr>
              <a:t> </a:t>
            </a:r>
            <a:r>
              <a:rPr sz="1600" dirty="0" err="1">
                <a:solidFill>
                  <a:srgbClr val="E97132"/>
                </a:solidFill>
              </a:rPr>
              <a:t>적었고</a:t>
            </a:r>
            <a:r>
              <a:rPr sz="1600" dirty="0">
                <a:solidFill>
                  <a:srgbClr val="E97132"/>
                </a:solidFill>
              </a:rPr>
              <a:t> </a:t>
            </a:r>
            <a:r>
              <a:rPr sz="1600" dirty="0" err="1">
                <a:solidFill>
                  <a:srgbClr val="E97132"/>
                </a:solidFill>
              </a:rPr>
              <a:t>콩은</a:t>
            </a:r>
            <a:r>
              <a:rPr sz="1600" dirty="0">
                <a:solidFill>
                  <a:srgbClr val="E97132"/>
                </a:solidFill>
              </a:rPr>
              <a:t> </a:t>
            </a:r>
            <a:r>
              <a:rPr sz="1600" dirty="0" err="1">
                <a:solidFill>
                  <a:srgbClr val="E97132"/>
                </a:solidFill>
              </a:rPr>
              <a:t>뿌리</a:t>
            </a:r>
            <a:r>
              <a:rPr sz="1600" dirty="0">
                <a:solidFill>
                  <a:srgbClr val="E97132"/>
                </a:solidFill>
              </a:rPr>
              <a:t> </a:t>
            </a:r>
            <a:r>
              <a:rPr sz="1600" dirty="0" err="1">
                <a:solidFill>
                  <a:srgbClr val="E97132"/>
                </a:solidFill>
              </a:rPr>
              <a:t>이탈</a:t>
            </a:r>
            <a:r>
              <a:rPr sz="1600" dirty="0">
                <a:solidFill>
                  <a:srgbClr val="E97132"/>
                </a:solidFill>
              </a:rPr>
              <a:t> </a:t>
            </a:r>
            <a:r>
              <a:rPr sz="1600" dirty="0" err="1">
                <a:solidFill>
                  <a:srgbClr val="E97132"/>
                </a:solidFill>
              </a:rPr>
              <a:t>가능성</a:t>
            </a:r>
            <a:endParaRPr sz="1600" dirty="0">
              <a:solidFill>
                <a:srgbClr val="E97132"/>
              </a:solidFill>
            </a:endParaRP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dirty="0" err="1">
                <a:solidFill>
                  <a:srgbClr val="595959"/>
                </a:solidFill>
              </a:rPr>
              <a:t>누적</a:t>
            </a:r>
            <a:r>
              <a:rPr sz="1000" dirty="0">
                <a:solidFill>
                  <a:srgbClr val="595959"/>
                </a:solidFill>
              </a:rPr>
              <a:t> </a:t>
            </a:r>
            <a:r>
              <a:rPr sz="1000" dirty="0" err="1">
                <a:solidFill>
                  <a:srgbClr val="595959"/>
                </a:solidFill>
              </a:rPr>
              <a:t>관수량</a:t>
            </a:r>
            <a:r>
              <a:rPr sz="1000" dirty="0">
                <a:solidFill>
                  <a:srgbClr val="595959"/>
                </a:solidFill>
              </a:rPr>
              <a:t> = </a:t>
            </a:r>
            <a:r>
              <a:rPr sz="1000" dirty="0" err="1">
                <a:solidFill>
                  <a:srgbClr val="595959"/>
                </a:solidFill>
              </a:rPr>
              <a:t>일별</a:t>
            </a:r>
            <a:r>
              <a:rPr sz="1000" dirty="0">
                <a:solidFill>
                  <a:srgbClr val="595959"/>
                </a:solidFill>
              </a:rPr>
              <a:t> </a:t>
            </a:r>
            <a:r>
              <a:rPr sz="1000" dirty="0" err="1">
                <a:solidFill>
                  <a:srgbClr val="595959"/>
                </a:solidFill>
              </a:rPr>
              <a:t>관수량의</a:t>
            </a:r>
            <a:r>
              <a:rPr sz="1000" dirty="0">
                <a:solidFill>
                  <a:srgbClr val="595959"/>
                </a:solidFill>
              </a:rPr>
              <a:t> 합. 콩: </a:t>
            </a:r>
            <a:r>
              <a:rPr sz="1000" dirty="0" err="1">
                <a:solidFill>
                  <a:srgbClr val="595959"/>
                </a:solidFill>
              </a:rPr>
              <a:t>로드셀</a:t>
            </a:r>
            <a:r>
              <a:rPr sz="1000" dirty="0">
                <a:solidFill>
                  <a:srgbClr val="595959"/>
                </a:solidFill>
              </a:rPr>
              <a:t> </a:t>
            </a:r>
            <a:r>
              <a:rPr sz="1000" dirty="0" err="1">
                <a:solidFill>
                  <a:srgbClr val="595959"/>
                </a:solidFill>
              </a:rPr>
              <a:t>관수량</a:t>
            </a:r>
            <a:r>
              <a:rPr sz="1000" dirty="0">
                <a:solidFill>
                  <a:srgbClr val="595959"/>
                </a:solidFill>
              </a:rPr>
              <a:t>(mm) × 38.01 g/mm, 8/16~10/6(DAT 4~55). </a:t>
            </a:r>
            <a:r>
              <a:rPr lang="ko-KR" altLang="en-US" sz="1000" dirty="0">
                <a:solidFill>
                  <a:srgbClr val="595959"/>
                </a:solidFill>
              </a:rPr>
              <a:t>상추</a:t>
            </a:r>
            <a:r>
              <a:rPr sz="1000" dirty="0">
                <a:solidFill>
                  <a:srgbClr val="595959"/>
                </a:solidFill>
              </a:rPr>
              <a:t>: </a:t>
            </a:r>
            <a:r>
              <a:rPr sz="1000" dirty="0" err="1">
                <a:solidFill>
                  <a:srgbClr val="595959"/>
                </a:solidFill>
              </a:rPr>
              <a:t>대조구는</a:t>
            </a:r>
            <a:r>
              <a:rPr sz="1000" dirty="0">
                <a:solidFill>
                  <a:srgbClr val="595959"/>
                </a:solidFill>
              </a:rPr>
              <a:t> </a:t>
            </a:r>
            <a:r>
              <a:rPr sz="1000" dirty="0" err="1">
                <a:solidFill>
                  <a:srgbClr val="595959"/>
                </a:solidFill>
              </a:rPr>
              <a:t>로드셀</a:t>
            </a:r>
            <a:r>
              <a:rPr sz="1000" dirty="0">
                <a:solidFill>
                  <a:srgbClr val="595959"/>
                </a:solidFill>
              </a:rPr>
              <a:t> </a:t>
            </a:r>
            <a:r>
              <a:rPr sz="1000" dirty="0" err="1">
                <a:solidFill>
                  <a:srgbClr val="595959"/>
                </a:solidFill>
              </a:rPr>
              <a:t>평균</a:t>
            </a:r>
            <a:r>
              <a:rPr sz="1000" dirty="0">
                <a:solidFill>
                  <a:srgbClr val="595959"/>
                </a:solidFill>
              </a:rPr>
              <a:t> </a:t>
            </a:r>
            <a:r>
              <a:rPr sz="1000" dirty="0" err="1">
                <a:solidFill>
                  <a:srgbClr val="595959"/>
                </a:solidFill>
              </a:rPr>
              <a:t>관수량</a:t>
            </a:r>
            <a:r>
              <a:rPr sz="1000" dirty="0">
                <a:solidFill>
                  <a:srgbClr val="595959"/>
                </a:solidFill>
              </a:rPr>
              <a:t>, 그 </a:t>
            </a:r>
            <a:r>
              <a:rPr sz="1000" dirty="0" err="1">
                <a:solidFill>
                  <a:srgbClr val="595959"/>
                </a:solidFill>
              </a:rPr>
              <a:t>외는</a:t>
            </a:r>
            <a:r>
              <a:rPr sz="1000" dirty="0">
                <a:solidFill>
                  <a:srgbClr val="595959"/>
                </a:solidFill>
              </a:rPr>
              <a:t> </a:t>
            </a:r>
            <a:r>
              <a:rPr sz="1000" dirty="0" err="1">
                <a:solidFill>
                  <a:srgbClr val="595959"/>
                </a:solidFill>
              </a:rPr>
              <a:t>관수량</a:t>
            </a:r>
            <a:r>
              <a:rPr sz="1000" dirty="0">
                <a:solidFill>
                  <a:srgbClr val="595959"/>
                </a:solidFill>
              </a:rPr>
              <a:t> </a:t>
            </a:r>
            <a:r>
              <a:rPr sz="1000" dirty="0" err="1">
                <a:solidFill>
                  <a:srgbClr val="595959"/>
                </a:solidFill>
              </a:rPr>
              <a:t>시트의</a:t>
            </a:r>
            <a:r>
              <a:rPr sz="1000" dirty="0">
                <a:solidFill>
                  <a:srgbClr val="595959"/>
                </a:solidFill>
              </a:rPr>
              <a:t> </a:t>
            </a:r>
            <a:r>
              <a:rPr sz="1000" dirty="0" err="1">
                <a:solidFill>
                  <a:srgbClr val="595959"/>
                </a:solidFill>
              </a:rPr>
              <a:t>포트</a:t>
            </a:r>
            <a:r>
              <a:rPr sz="1000" dirty="0">
                <a:solidFill>
                  <a:srgbClr val="595959"/>
                </a:solidFill>
              </a:rPr>
              <a:t> </a:t>
            </a:r>
            <a:r>
              <a:rPr sz="1000" dirty="0" err="1">
                <a:solidFill>
                  <a:srgbClr val="595959"/>
                </a:solidFill>
              </a:rPr>
              <a:t>평균</a:t>
            </a:r>
            <a:r>
              <a:rPr sz="1000" dirty="0">
                <a:solidFill>
                  <a:srgbClr val="595959"/>
                </a:solidFill>
              </a:rPr>
              <a:t>, 10/12~10/22(DAT 5~15).</a:t>
            </a:r>
          </a:p>
        </p:txBody>
      </p:sp>
      <p:pic>
        <p:nvPicPr>
          <p:cNvPr id="27" name="Picture 26" descr="image.png"/>
          <p:cNvPicPr>
            <a:picLocks noChangeAspect="1"/>
          </p:cNvPicPr>
          <p:nvPr/>
        </p:nvPicPr>
        <p:blipFill>
          <a:blip r:embed="rId4"/>
          <a:stretch>
            <a:fillRect/>
          </a:stretch>
        </p:blipFill>
        <p:spPr>
          <a:xfrm>
            <a:off x="457200" y="1280160"/>
            <a:ext cx="7040880" cy="2743200"/>
          </a:xfrm>
          <a:prstGeom prst="rect">
            <a:avLst/>
          </a:prstGeom>
        </p:spPr>
      </p:pic>
      <p:sp>
        <p:nvSpPr>
          <p:cNvPr id="28" name="Stat box"/>
          <p:cNvSpPr/>
          <p:nvPr/>
        </p:nvSpPr>
        <p:spPr>
          <a:xfrm>
            <a:off x="841248" y="4224528"/>
            <a:ext cx="3154680" cy="1280160"/>
          </a:xfrm>
          <a:prstGeom prst="roundRect">
            <a:avLst>
              <a:gd name="adj" fmla="val 12000"/>
            </a:avLst>
          </a:prstGeom>
          <a:solidFill>
            <a:srgbClr val="FFFFFF"/>
          </a:solidFill>
          <a:ln w="19050">
            <a:solidFill>
              <a:srgbClr val="2E6B3F"/>
            </a:solidFill>
          </a:ln>
        </p:spPr>
        <p:txBody>
          <a:bodyPr wrap="square" lIns="73152" tIns="36576" rIns="73152" bIns="36576" rtlCol="0" anchor="ctr">
            <a:noAutofit/>
          </a:bodyPr>
          <a:lstStyle/>
          <a:p>
            <a:endParaRPr lang="ko-KR"/>
          </a:p>
        </p:txBody>
      </p:sp>
      <p:sp>
        <p:nvSpPr>
          <p:cNvPr id="29" name="Stat value"/>
          <p:cNvSpPr txBox="1"/>
          <p:nvPr/>
        </p:nvSpPr>
        <p:spPr>
          <a:xfrm>
            <a:off x="886968" y="4297680"/>
            <a:ext cx="3063240" cy="704088"/>
          </a:xfrm>
          <a:prstGeom prst="rect">
            <a:avLst/>
          </a:prstGeom>
          <a:noFill/>
          <a:ln>
            <a:noFill/>
          </a:ln>
        </p:spPr>
        <p:txBody>
          <a:bodyPr wrap="square" lIns="18288" tIns="18288" rIns="18288" bIns="18288" rtlCol="0" anchor="ctr">
            <a:noAutofit/>
          </a:bodyPr>
          <a:lstStyle/>
          <a:p>
            <a:pPr marL="0" indent="0" algn="ctr">
              <a:spcBef>
                <a:spcPts val="0"/>
              </a:spcBef>
              <a:buNone/>
            </a:pPr>
            <a:r>
              <a:rPr lang="ko-KR" altLang="en-US" sz="2800" dirty="0">
                <a:solidFill>
                  <a:srgbClr val="2E6B3F"/>
                </a:solidFill>
              </a:rPr>
              <a:t>43% · 40%</a:t>
            </a:r>
          </a:p>
        </p:txBody>
      </p:sp>
      <p:sp>
        <p:nvSpPr>
          <p:cNvPr id="30" name="Stat label"/>
          <p:cNvSpPr txBox="1"/>
          <p:nvPr/>
        </p:nvSpPr>
        <p:spPr>
          <a:xfrm>
            <a:off x="914400" y="4992624"/>
            <a:ext cx="3008376" cy="486461"/>
          </a:xfrm>
          <a:prstGeom prst="rect">
            <a:avLst/>
          </a:prstGeom>
          <a:noFill/>
          <a:ln>
            <a:noFill/>
          </a:ln>
        </p:spPr>
        <p:txBody>
          <a:bodyPr wrap="square" lIns="18288" tIns="18288" rIns="18288" bIns="18288" rtlCol="0" anchor="t">
            <a:noAutofit/>
          </a:bodyPr>
          <a:lstStyle/>
          <a:p>
            <a:pPr marL="0" indent="0" algn="ctr">
              <a:spcBef>
                <a:spcPts val="0"/>
              </a:spcBef>
              <a:buNone/>
            </a:pPr>
            <a:r>
              <a:rPr lang="ko-KR" altLang="en-US" sz="1100" dirty="0">
                <a:solidFill>
                  <a:srgbClr val="595959"/>
                </a:solidFill>
              </a:rPr>
              <a:t>건조구 누적 관수량 (상추 · 콩, 대조구 대비)</a:t>
            </a:r>
          </a:p>
        </p:txBody>
      </p:sp>
      <p:sp>
        <p:nvSpPr>
          <p:cNvPr id="31" name="Stat box"/>
          <p:cNvSpPr/>
          <p:nvPr/>
        </p:nvSpPr>
        <p:spPr>
          <a:xfrm>
            <a:off x="4206240" y="4224528"/>
            <a:ext cx="3154680" cy="1280160"/>
          </a:xfrm>
          <a:prstGeom prst="roundRect">
            <a:avLst>
              <a:gd name="adj" fmla="val 12000"/>
            </a:avLst>
          </a:prstGeom>
          <a:solidFill>
            <a:srgbClr val="FFFFFF"/>
          </a:solidFill>
          <a:ln w="19050">
            <a:solidFill>
              <a:srgbClr val="156082"/>
            </a:solidFill>
          </a:ln>
        </p:spPr>
        <p:txBody>
          <a:bodyPr wrap="square" lIns="73152" tIns="36576" rIns="73152" bIns="36576" rtlCol="0" anchor="ctr">
            <a:noAutofit/>
          </a:bodyPr>
          <a:lstStyle/>
          <a:p>
            <a:endParaRPr lang="ko-KR"/>
          </a:p>
        </p:txBody>
      </p:sp>
      <p:sp>
        <p:nvSpPr>
          <p:cNvPr id="32" name="Stat value"/>
          <p:cNvSpPr txBox="1"/>
          <p:nvPr/>
        </p:nvSpPr>
        <p:spPr>
          <a:xfrm>
            <a:off x="4251960" y="4297680"/>
            <a:ext cx="3063240" cy="704088"/>
          </a:xfrm>
          <a:prstGeom prst="rect">
            <a:avLst/>
          </a:prstGeom>
          <a:noFill/>
          <a:ln>
            <a:noFill/>
          </a:ln>
        </p:spPr>
        <p:txBody>
          <a:bodyPr wrap="square" lIns="18288" tIns="18288" rIns="18288" bIns="18288" rtlCol="0" anchor="ctr">
            <a:noAutofit/>
          </a:bodyPr>
          <a:lstStyle/>
          <a:p>
            <a:pPr marL="0" indent="0" algn="ctr">
              <a:spcBef>
                <a:spcPts val="0"/>
              </a:spcBef>
              <a:buNone/>
            </a:pPr>
            <a:r>
              <a:rPr lang="ko-KR" altLang="en-US" sz="2400" b="1" dirty="0">
                <a:solidFill>
                  <a:srgbClr val="156082"/>
                </a:solidFill>
              </a:rPr>
              <a:t>56% · 87%</a:t>
            </a:r>
          </a:p>
        </p:txBody>
      </p:sp>
      <p:sp>
        <p:nvSpPr>
          <p:cNvPr id="33" name="Stat label"/>
          <p:cNvSpPr txBox="1"/>
          <p:nvPr/>
        </p:nvSpPr>
        <p:spPr>
          <a:xfrm>
            <a:off x="4279392" y="4992624"/>
            <a:ext cx="3008376" cy="486461"/>
          </a:xfrm>
          <a:prstGeom prst="rect">
            <a:avLst/>
          </a:prstGeom>
          <a:noFill/>
          <a:ln>
            <a:noFill/>
          </a:ln>
        </p:spPr>
        <p:txBody>
          <a:bodyPr wrap="square" lIns="18288" tIns="18288" rIns="18288" bIns="18288" rtlCol="0" anchor="t">
            <a:noAutofit/>
          </a:bodyPr>
          <a:lstStyle/>
          <a:p>
            <a:pPr marL="0" indent="0" algn="ctr">
              <a:spcBef>
                <a:spcPts val="0"/>
              </a:spcBef>
              <a:buNone/>
            </a:pPr>
            <a:r>
              <a:rPr lang="ko-KR" altLang="en-US" sz="1100" b="0" dirty="0">
                <a:solidFill>
                  <a:srgbClr val="595959"/>
                </a:solidFill>
              </a:rPr>
              <a:t>침수구 누적 관수량 (상추 · 콩, 대조구 대비)</a:t>
            </a:r>
          </a:p>
        </p:txBody>
      </p:sp>
      <p:sp>
        <p:nvSpPr>
          <p:cNvPr id="34" name="Card 요점"/>
          <p:cNvSpPr/>
          <p:nvPr/>
        </p:nvSpPr>
        <p:spPr>
          <a:xfrm>
            <a:off x="7863840" y="1481328"/>
            <a:ext cx="3493008" cy="402336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35" name="Header 요점"/>
          <p:cNvSpPr/>
          <p:nvPr/>
        </p:nvSpPr>
        <p:spPr>
          <a:xfrm>
            <a:off x="8046720" y="1271016"/>
            <a:ext cx="3127248" cy="420624"/>
          </a:xfrm>
          <a:prstGeom prst="roundRect">
            <a:avLst>
              <a:gd name="adj" fmla="val 25000"/>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FFFFFF"/>
                </a:solidFill>
              </a:rPr>
              <a:t>요점</a:t>
            </a:r>
          </a:p>
        </p:txBody>
      </p:sp>
      <p:sp>
        <p:nvSpPr>
          <p:cNvPr id="36" name="Text 요점"/>
          <p:cNvSpPr txBox="1"/>
          <p:nvPr/>
        </p:nvSpPr>
        <p:spPr>
          <a:xfrm>
            <a:off x="8046720" y="1865376"/>
            <a:ext cx="3172968" cy="352044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400" b="1" dirty="0">
                <a:solidFill>
                  <a:srgbClr val="000000"/>
                </a:solidFill>
              </a:rPr>
              <a:t>상추:</a:t>
            </a:r>
            <a:r>
              <a:rPr lang="ko-KR" altLang="en-US" sz="1400" dirty="0">
                <a:solidFill>
                  <a:srgbClr val="000000"/>
                </a:solidFill>
              </a:rPr>
              <a:t> 건조·복합구는 설계대로 관수가 줄었고, 침수구는 과습으로 대조구보다 관수가 적었음</a:t>
            </a:r>
          </a:p>
          <a:p>
            <a:pPr marL="201168" indent="-201168" algn="l">
              <a:spcBef>
                <a:spcPts val="1000"/>
              </a:spcBef>
              <a:buFont typeface="Arial"/>
              <a:buChar char="•"/>
            </a:pPr>
            <a:r>
              <a:rPr lang="ko-KR" altLang="en-US" sz="1400" dirty="0">
                <a:solidFill>
                  <a:srgbClr val="000000"/>
                </a:solidFill>
              </a:rPr>
              <a:t>콩:  건조·복합구는 설계대로 관수가 줄었고, 침수구는 대조구보다 약간 적었음</a:t>
            </a:r>
          </a:p>
        </p:txBody>
      </p:sp>
      <p:sp>
        <p:nvSpPr>
          <p:cNvPr id="44"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45"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450" b="1" u="sng">
                <a:solidFill>
                  <a:srgbClr val="1A1A1A"/>
                </a:solidFill>
              </a:rPr>
              <a:t>재료 및 방법</a:t>
            </a:r>
          </a:p>
        </p:txBody>
      </p:sp>
      <p:sp>
        <p:nvSpPr>
          <p:cNvPr id="46"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47"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48"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500"/>
                                        <p:tgtEl>
                                          <p:spTgt spid="3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5"/>
                                        </p:tgtEl>
                                        <p:attrNameLst>
                                          <p:attrName>style.visibility</p:attrName>
                                        </p:attrNameLst>
                                      </p:cBhvr>
                                      <p:to>
                                        <p:strVal val="visible"/>
                                      </p:to>
                                    </p:set>
                                    <p:animEffect transition="in" filter="fade">
                                      <p:cBhvr>
                                        <p:cTn id="15" dur="500"/>
                                        <p:tgtEl>
                                          <p:spTgt spid="3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6"/>
                                        </p:tgtEl>
                                        <p:attrNameLst>
                                          <p:attrName>style.visibility</p:attrName>
                                        </p:attrNameLst>
                                      </p:cBhvr>
                                      <p:to>
                                        <p:strVal val="visible"/>
                                      </p:to>
                                    </p:set>
                                    <p:animEffect transition="in" filter="fade">
                                      <p:cBhvr>
                                        <p:cTn id="18" dur="500"/>
                                        <p:tgtEl>
                                          <p:spTgt spid="3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500"/>
                                        <p:tgtEl>
                                          <p:spTgt spid="2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500"/>
                                        <p:tgtEl>
                                          <p:spTgt spid="2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500"/>
                                        <p:tgtEl>
                                          <p:spTgt spid="3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500"/>
                                        <p:tgtEl>
                                          <p:spTgt spid="3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500"/>
                                        <p:tgtEl>
                                          <p:spTgt spid="3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3"/>
                                        </p:tgtEl>
                                        <p:attrNameLst>
                                          <p:attrName>style.visibility</p:attrName>
                                        </p:attrNameLst>
                                      </p:cBhvr>
                                      <p:to>
                                        <p:strVal val="visible"/>
                                      </p:to>
                                    </p:set>
                                    <p:animEffect transition="in" filter="fade">
                                      <p:cBhvr>
                                        <p:cTn id="38" dur="500"/>
                                        <p:tgtEl>
                                          <p:spTgt spid="33"/>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LI-600 : 기공전도도 (g</a:t>
            </a:r>
            <a:r>
              <a:rPr lang="ko-KR" altLang="en-US" sz="2800" baseline="-25000" dirty="0"/>
              <a:t>sw</a:t>
            </a:r>
            <a:r>
              <a:rPr lang="ko-KR" altLang="en-US" sz="2800" dirty="0"/>
              <a:t>)</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9</a:t>
            </a:fld>
            <a:endParaRPr lang="ko-KR" altLang="en-US"/>
          </a:p>
        </p:txBody>
      </p:sp>
      <p:pic>
        <p:nvPicPr>
          <p:cNvPr id="14" name="Picture 13" descr="image.png"/>
          <p:cNvPicPr>
            <a:picLocks noChangeAspect="1"/>
          </p:cNvPicPr>
          <p:nvPr/>
        </p:nvPicPr>
        <p:blipFill>
          <a:blip r:embed="rId4"/>
          <a:stretch>
            <a:fillRect/>
          </a:stretch>
        </p:blipFill>
        <p:spPr>
          <a:xfrm>
            <a:off x="721559" y="1188720"/>
            <a:ext cx="6375000" cy="2550000"/>
          </a:xfrm>
          <a:prstGeom prst="rect">
            <a:avLst/>
          </a:prstGeom>
        </p:spPr>
      </p:pic>
      <p:graphicFrame>
        <p:nvGraphicFramePr>
          <p:cNvPr id="8" name="Table 7"/>
          <p:cNvGraphicFramePr>
            <a:graphicFrameLocks noGrp="1"/>
          </p:cNvGraphicFramePr>
          <p:nvPr>
            <p:extLst>
              <p:ext uri="{D42A27DB-BD31-4B8C-83A1-F6EECF244321}">
                <p14:modId xmlns:p14="http://schemas.microsoft.com/office/powerpoint/2010/main" val="3914231821"/>
              </p:ext>
            </p:extLst>
          </p:nvPr>
        </p:nvGraphicFramePr>
        <p:xfrm>
          <a:off x="457200" y="3790000"/>
          <a:ext cx="6858000" cy="950000"/>
        </p:xfrm>
        <a:graphic>
          <a:graphicData uri="http://schemas.openxmlformats.org/drawingml/2006/table">
            <a:tbl>
              <a:tblPr>
                <a:tableStyleId>{2D5ABB26-0587-4C30-8999-92F81FD0307C}</a:tableStyleId>
              </a:tblPr>
              <a:tblGrid>
                <a:gridCol w="17373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190000">
                <a:tc>
                  <a:txBody>
                    <a:bodyPr/>
                    <a:lstStyle/>
                    <a:p>
                      <a:pPr algn="l">
                        <a:lnSpc>
                          <a:spcPct val="100000"/>
                        </a:lnSpc>
                        <a:spcBef>
                          <a:spcPts val="0"/>
                        </a:spcBef>
                        <a:spcAft>
                          <a:spcPts val="0"/>
                        </a:spcAft>
                      </a:pPr>
                      <a:r>
                        <a:rPr sz="800" b="1" dirty="0">
                          <a:solidFill>
                            <a:srgbClr val="000000"/>
                          </a:solidFill>
                        </a:rPr>
                        <a:t>Treatment</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Soybean P1</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Soybean P2</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Romaine P1</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Romaine P2</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190000">
                <a:tc>
                  <a:txBody>
                    <a:bodyPr/>
                    <a:lstStyle/>
                    <a:p>
                      <a:pPr algn="l">
                        <a:lnSpc>
                          <a:spcPct val="100000"/>
                        </a:lnSpc>
                        <a:spcBef>
                          <a:spcPts val="0"/>
                        </a:spcBef>
                        <a:spcAft>
                          <a:spcPts val="0"/>
                        </a:spcAft>
                      </a:pPr>
                      <a:r>
                        <a:rPr sz="800" b="0">
                          <a:solidFill>
                            <a:srgbClr val="000000"/>
                          </a:solidFill>
                        </a:rPr>
                        <a:t>Control</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0.363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0.347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0.264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0.155 ab</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190000">
                <a:tc>
                  <a:txBody>
                    <a:bodyPr/>
                    <a:lstStyle/>
                    <a:p>
                      <a:pPr algn="l">
                        <a:lnSpc>
                          <a:spcPct val="100000"/>
                        </a:lnSpc>
                        <a:spcBef>
                          <a:spcPts val="0"/>
                        </a:spcBef>
                        <a:spcAft>
                          <a:spcPts val="0"/>
                        </a:spcAft>
                      </a:pPr>
                      <a:r>
                        <a:rPr sz="800" b="0">
                          <a:solidFill>
                            <a:srgbClr val="000000"/>
                          </a:solidFill>
                        </a:rPr>
                        <a:t>Drought</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0.224 b</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0.248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0.113 b</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190000">
                <a:tc>
                  <a:txBody>
                    <a:bodyPr/>
                    <a:lstStyle/>
                    <a:p>
                      <a:pPr algn="l">
                        <a:lnSpc>
                          <a:spcPct val="100000"/>
                        </a:lnSpc>
                        <a:spcBef>
                          <a:spcPts val="0"/>
                        </a:spcBef>
                        <a:spcAft>
                          <a:spcPts val="0"/>
                        </a:spcAft>
                      </a:pPr>
                      <a:r>
                        <a:rPr lang="en-US" sz="800" b="0" dirty="0">
                          <a:solidFill>
                            <a:srgbClr val="000000"/>
                          </a:solidFill>
                        </a:rPr>
                        <a:t>Waterlogging</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0.273 b</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0.353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0.254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0.162 a</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190000">
                <a:tc>
                  <a:txBody>
                    <a:bodyPr/>
                    <a:lstStyle/>
                    <a:p>
                      <a:pPr algn="l">
                        <a:lnSpc>
                          <a:spcPct val="100000"/>
                        </a:lnSpc>
                        <a:spcBef>
                          <a:spcPts val="0"/>
                        </a:spcBef>
                        <a:spcAft>
                          <a:spcPts val="0"/>
                        </a:spcAft>
                      </a:pPr>
                      <a:r>
                        <a:rPr lang="en-US" sz="800" b="0" dirty="0">
                          <a:solidFill>
                            <a:srgbClr val="000000"/>
                          </a:solidFill>
                        </a:rPr>
                        <a:t>Combined</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0.233 b</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0.237 a</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0.145 ab</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4"/>
                  </a:ext>
                </a:extLst>
              </a:tr>
            </a:tbl>
          </a:graphicData>
        </a:graphic>
      </p:graphicFrame>
      <p:sp>
        <p:nvSpPr>
          <p:cNvPr id="9" name="Card 요점"/>
          <p:cNvSpPr/>
          <p:nvPr/>
        </p:nvSpPr>
        <p:spPr>
          <a:xfrm>
            <a:off x="7498079" y="1399032"/>
            <a:ext cx="4206240" cy="4133087"/>
          </a:xfrm>
          <a:prstGeom prst="roundRect">
            <a:avLst>
              <a:gd name="adj" fmla="val 3400"/>
            </a:avLst>
          </a:prstGeom>
          <a:solidFill>
            <a:srgbClr val="FBFBFB"/>
          </a:solidFill>
          <a:ln w="12700">
            <a:solidFill>
              <a:srgbClr val="AFAF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Header 요점"/>
          <p:cNvSpPr/>
          <p:nvPr/>
        </p:nvSpPr>
        <p:spPr>
          <a:xfrm>
            <a:off x="7680959" y="1188720"/>
            <a:ext cx="3840479" cy="420624"/>
          </a:xfrm>
          <a:prstGeom prst="roundRect">
            <a:avLst>
              <a:gd name="adj" fmla="val 25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lIns="73152" tIns="27432" rIns="73152" bIns="27432" rtlCol="0" anchor="ctr"/>
          <a:lstStyle/>
          <a:p>
            <a:pPr algn="ctr"/>
            <a:r>
              <a:rPr sz="1600" b="1">
                <a:solidFill>
                  <a:srgbClr val="FFFFFF"/>
                </a:solidFill>
              </a:rPr>
              <a:t>요점</a:t>
            </a:r>
          </a:p>
        </p:txBody>
      </p:sp>
      <p:sp>
        <p:nvSpPr>
          <p:cNvPr id="11" name="TextBox 10"/>
          <p:cNvSpPr txBox="1"/>
          <p:nvPr/>
        </p:nvSpPr>
        <p:spPr>
          <a:xfrm>
            <a:off x="7680959" y="1783080"/>
            <a:ext cx="3886200" cy="1384995"/>
          </a:xfrm>
          <a:prstGeom prst="rect">
            <a:avLst/>
          </a:prstGeom>
          <a:noFill/>
        </p:spPr>
        <p:txBody>
          <a:bodyPr wrap="square">
            <a:spAutoFit/>
          </a:bodyPr>
          <a:lstStyle/>
          <a:p>
            <a:pPr marL="201168" indent="-201168">
              <a:spcBef>
                <a:spcPts val="0"/>
              </a:spcBef>
              <a:buFont typeface="Arial"/>
              <a:buChar char="•"/>
            </a:pPr>
            <a:r>
              <a:rPr sz="1400" b="1" dirty="0">
                <a:solidFill>
                  <a:srgbClr val="000000"/>
                </a:solidFill>
              </a:rPr>
              <a:t>콩 P1:</a:t>
            </a:r>
            <a:r>
              <a:rPr sz="1400" dirty="0">
                <a:solidFill>
                  <a:srgbClr val="000000"/>
                </a:solidFill>
              </a:rPr>
              <a:t> </a:t>
            </a:r>
            <a:r>
              <a:rPr sz="1400" dirty="0" err="1">
                <a:solidFill>
                  <a:srgbClr val="000000"/>
                </a:solidFill>
              </a:rPr>
              <a:t>침수구가</a:t>
            </a:r>
            <a:r>
              <a:rPr sz="1400" dirty="0">
                <a:solidFill>
                  <a:srgbClr val="000000"/>
                </a:solidFill>
              </a:rPr>
              <a:t> </a:t>
            </a:r>
            <a:r>
              <a:rPr sz="1400" dirty="0" err="1">
                <a:solidFill>
                  <a:srgbClr val="000000"/>
                </a:solidFill>
              </a:rPr>
              <a:t>대조구보다</a:t>
            </a:r>
            <a:r>
              <a:rPr sz="1400" dirty="0">
                <a:solidFill>
                  <a:srgbClr val="000000"/>
                </a:solidFill>
              </a:rPr>
              <a:t> </a:t>
            </a:r>
            <a:r>
              <a:rPr sz="1400" dirty="0" err="1">
                <a:solidFill>
                  <a:srgbClr val="000000"/>
                </a:solidFill>
              </a:rPr>
              <a:t>낮았음</a:t>
            </a:r>
            <a:endParaRPr sz="1400" dirty="0">
              <a:solidFill>
                <a:srgbClr val="000000"/>
              </a:solidFill>
            </a:endParaRPr>
          </a:p>
          <a:p>
            <a:pPr marL="201168" indent="-201168">
              <a:spcBef>
                <a:spcPts val="0"/>
              </a:spcBef>
              <a:buFont typeface="Arial"/>
              <a:buChar char="•"/>
            </a:pPr>
            <a:r>
              <a:rPr sz="1400" b="1" dirty="0">
                <a:solidFill>
                  <a:srgbClr val="000000"/>
                </a:solidFill>
              </a:rPr>
              <a:t>콩 P2:</a:t>
            </a:r>
            <a:r>
              <a:rPr sz="1400" dirty="0">
                <a:solidFill>
                  <a:srgbClr val="000000"/>
                </a:solidFill>
              </a:rPr>
              <a:t> </a:t>
            </a:r>
            <a:r>
              <a:rPr sz="1400" dirty="0" err="1">
                <a:solidFill>
                  <a:srgbClr val="000000"/>
                </a:solidFill>
              </a:rPr>
              <a:t>건조·복합구가</a:t>
            </a:r>
            <a:r>
              <a:rPr sz="1400" dirty="0">
                <a:solidFill>
                  <a:srgbClr val="000000"/>
                </a:solidFill>
              </a:rPr>
              <a:t> </a:t>
            </a:r>
            <a:r>
              <a:rPr sz="1400" dirty="0" err="1">
                <a:solidFill>
                  <a:srgbClr val="000000"/>
                </a:solidFill>
              </a:rPr>
              <a:t>대조구·침수구보다</a:t>
            </a:r>
            <a:r>
              <a:rPr sz="1400" dirty="0">
                <a:solidFill>
                  <a:srgbClr val="000000"/>
                </a:solidFill>
              </a:rPr>
              <a:t> </a:t>
            </a:r>
            <a:r>
              <a:rPr sz="1400" dirty="0" err="1">
                <a:solidFill>
                  <a:srgbClr val="000000"/>
                </a:solidFill>
              </a:rPr>
              <a:t>낮았음</a:t>
            </a:r>
            <a:endParaRPr sz="1400" dirty="0">
              <a:solidFill>
                <a:srgbClr val="000000"/>
              </a:solidFill>
            </a:endParaRPr>
          </a:p>
          <a:p>
            <a:pPr marL="201168" indent="-201168">
              <a:spcBef>
                <a:spcPts val="0"/>
              </a:spcBef>
              <a:buFont typeface="Arial"/>
              <a:buChar char="•"/>
            </a:pPr>
            <a:r>
              <a:rPr lang="ko-KR" altLang="en-US" sz="1400" b="1" dirty="0">
                <a:solidFill>
                  <a:srgbClr val="000000"/>
                </a:solidFill>
              </a:rPr>
              <a:t>상추</a:t>
            </a:r>
            <a:r>
              <a:rPr sz="1400" b="1" dirty="0">
                <a:solidFill>
                  <a:srgbClr val="000000"/>
                </a:solidFill>
              </a:rPr>
              <a:t> P1:</a:t>
            </a:r>
            <a:r>
              <a:rPr sz="1400" dirty="0">
                <a:solidFill>
                  <a:srgbClr val="000000"/>
                </a:solidFill>
              </a:rPr>
              <a:t> </a:t>
            </a:r>
            <a:r>
              <a:rPr sz="1400" dirty="0" err="1">
                <a:solidFill>
                  <a:srgbClr val="000000"/>
                </a:solidFill>
              </a:rPr>
              <a:t>침수</a:t>
            </a:r>
            <a:r>
              <a:rPr sz="1400" dirty="0">
                <a:solidFill>
                  <a:srgbClr val="000000"/>
                </a:solidFill>
              </a:rPr>
              <a:t> 중 </a:t>
            </a:r>
            <a:r>
              <a:rPr sz="1400" dirty="0" err="1">
                <a:solidFill>
                  <a:srgbClr val="000000"/>
                </a:solidFill>
              </a:rPr>
              <a:t>크게</a:t>
            </a:r>
            <a:r>
              <a:rPr sz="1400" dirty="0">
                <a:solidFill>
                  <a:srgbClr val="000000"/>
                </a:solidFill>
              </a:rPr>
              <a:t> </a:t>
            </a:r>
            <a:r>
              <a:rPr sz="1400" dirty="0" err="1">
                <a:solidFill>
                  <a:srgbClr val="000000"/>
                </a:solidFill>
              </a:rPr>
              <a:t>감소했다가</a:t>
            </a:r>
            <a:r>
              <a:rPr sz="1400" dirty="0">
                <a:solidFill>
                  <a:srgbClr val="000000"/>
                </a:solidFill>
              </a:rPr>
              <a:t> </a:t>
            </a:r>
            <a:r>
              <a:rPr sz="1400" dirty="0" err="1">
                <a:solidFill>
                  <a:srgbClr val="000000"/>
                </a:solidFill>
              </a:rPr>
              <a:t>배수</a:t>
            </a:r>
            <a:r>
              <a:rPr sz="1400" dirty="0">
                <a:solidFill>
                  <a:srgbClr val="000000"/>
                </a:solidFill>
              </a:rPr>
              <a:t> 후 </a:t>
            </a:r>
            <a:r>
              <a:rPr sz="1400" dirty="0" err="1">
                <a:solidFill>
                  <a:srgbClr val="000000"/>
                </a:solidFill>
              </a:rPr>
              <a:t>대조구</a:t>
            </a:r>
            <a:r>
              <a:rPr sz="1400" dirty="0">
                <a:solidFill>
                  <a:srgbClr val="000000"/>
                </a:solidFill>
              </a:rPr>
              <a:t> </a:t>
            </a:r>
            <a:r>
              <a:rPr sz="1400" dirty="0" err="1">
                <a:solidFill>
                  <a:srgbClr val="000000"/>
                </a:solidFill>
              </a:rPr>
              <a:t>수준으로</a:t>
            </a:r>
            <a:r>
              <a:rPr sz="1400" dirty="0">
                <a:solidFill>
                  <a:srgbClr val="000000"/>
                </a:solidFill>
              </a:rPr>
              <a:t> </a:t>
            </a:r>
            <a:r>
              <a:rPr sz="1400" dirty="0" err="1">
                <a:solidFill>
                  <a:srgbClr val="000000"/>
                </a:solidFill>
              </a:rPr>
              <a:t>회복</a:t>
            </a:r>
            <a:endParaRPr sz="1400" dirty="0">
              <a:solidFill>
                <a:srgbClr val="000000"/>
              </a:solidFill>
            </a:endParaRPr>
          </a:p>
          <a:p>
            <a:pPr marL="201168" indent="-201168">
              <a:spcBef>
                <a:spcPts val="0"/>
              </a:spcBef>
              <a:buFont typeface="Arial"/>
              <a:buChar char="•"/>
            </a:pPr>
            <a:r>
              <a:rPr lang="ko-KR" altLang="en-US" sz="1400" dirty="0">
                <a:solidFill>
                  <a:srgbClr val="000000"/>
                </a:solidFill>
              </a:rPr>
              <a:t>상추</a:t>
            </a:r>
            <a:r>
              <a:rPr sz="1400" dirty="0">
                <a:solidFill>
                  <a:srgbClr val="000000"/>
                </a:solidFill>
              </a:rPr>
              <a:t> P2:  </a:t>
            </a:r>
            <a:r>
              <a:rPr sz="1400" dirty="0" err="1">
                <a:solidFill>
                  <a:srgbClr val="000000"/>
                </a:solidFill>
              </a:rPr>
              <a:t>건조구가</a:t>
            </a:r>
            <a:r>
              <a:rPr sz="1400" dirty="0">
                <a:solidFill>
                  <a:srgbClr val="000000"/>
                </a:solidFill>
              </a:rPr>
              <a:t> </a:t>
            </a:r>
            <a:r>
              <a:rPr sz="1400" dirty="0" err="1">
                <a:solidFill>
                  <a:srgbClr val="000000"/>
                </a:solidFill>
              </a:rPr>
              <a:t>침수구보다</a:t>
            </a:r>
            <a:r>
              <a:rPr sz="1400" dirty="0">
                <a:solidFill>
                  <a:srgbClr val="000000"/>
                </a:solidFill>
              </a:rPr>
              <a:t> </a:t>
            </a:r>
            <a:r>
              <a:rPr sz="1400" dirty="0" err="1">
                <a:solidFill>
                  <a:srgbClr val="000000"/>
                </a:solidFill>
              </a:rPr>
              <a:t>낮았음</a:t>
            </a:r>
            <a:endParaRPr sz="1400" dirty="0">
              <a:solidFill>
                <a:srgbClr val="000000"/>
              </a:solidFill>
            </a:endParaRPr>
          </a:p>
        </p:txBody>
      </p:sp>
      <p:sp>
        <p:nvSpPr>
          <p:cNvPr id="12"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b="0">
                <a:solidFill>
                  <a:srgbClr val="E97132"/>
                </a:solidFill>
              </a:rPr>
              <a:t>기공은 두 작물 모두 침수에 즉시 반응 — </a:t>
            </a:r>
            <a:r>
              <a:rPr sz="1600" b="1">
                <a:solidFill>
                  <a:srgbClr val="E97132"/>
                </a:solidFill>
              </a:rPr>
              <a:t>차이는 회복 속도에서 나타남</a:t>
            </a:r>
          </a:p>
        </p:txBody>
      </p:sp>
      <p:sp>
        <p:nvSpPr>
          <p:cNvPr id="13"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표·그림: PAR·기온 보정 이전 원자료(온도 보정 gsw, Rizzo &amp; Bailey 2026) 평균, Tukey 문자(처리 + 측정일 모형). 그림: 음영 ± SE, 회색 띠 흐린 날, 빗금 침수 기간, * 당일 P&lt;0.05(Holm).</a:t>
            </a:r>
          </a:p>
        </p:txBody>
      </p:sp>
      <p:sp>
        <p:nvSpPr>
          <p:cNvPr id="15"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7" name="Nav 결과"/>
          <p:cNvSpPr txBox="1"/>
          <p:nvPr/>
        </p:nvSpPr>
        <p:spPr>
          <a:xfrm>
            <a:off x="3584448" y="100584"/>
            <a:ext cx="1371600" cy="329184"/>
          </a:xfrm>
          <a:prstGeom prst="rect">
            <a:avLst/>
          </a:prstGeom>
          <a:noFill/>
        </p:spPr>
        <p:txBody>
          <a:bodyPr wrap="none" lIns="0" tIns="0" rIns="0" bIns="0" anchor="ctr">
            <a:spAutoFit/>
          </a:bodyPr>
          <a:lstStyle/>
          <a:p>
            <a:pPr algn="ctr"/>
            <a:r>
              <a:rPr sz="1450" b="1" u="sng">
                <a:solidFill>
                  <a:srgbClr val="1A1A1A"/>
                </a:solidFill>
              </a:rPr>
              <a:t>결과</a:t>
            </a:r>
          </a:p>
        </p:txBody>
      </p:sp>
      <p:sp>
        <p:nvSpPr>
          <p:cNvPr id="18"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9"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LI-600 : 기공전도도 회복 (g</a:t>
            </a:r>
            <a:r>
              <a:rPr lang="ko-KR" altLang="en-US" sz="2800" baseline="-25000" dirty="0"/>
              <a:t>sw</a:t>
            </a:r>
            <a:r>
              <a:rPr lang="ko-KR" altLang="en-US" sz="2800" dirty="0"/>
              <a:t>, % of control)</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10</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dirty="0" err="1">
                <a:solidFill>
                  <a:srgbClr val="E97132"/>
                </a:solidFill>
              </a:rPr>
              <a:t>같은</a:t>
            </a:r>
            <a:r>
              <a:rPr sz="1600" dirty="0">
                <a:solidFill>
                  <a:srgbClr val="E97132"/>
                </a:solidFill>
              </a:rPr>
              <a:t> 3일 </a:t>
            </a:r>
            <a:r>
              <a:rPr sz="1600" dirty="0" err="1">
                <a:solidFill>
                  <a:srgbClr val="E97132"/>
                </a:solidFill>
              </a:rPr>
              <a:t>침수에도</a:t>
            </a:r>
            <a:r>
              <a:rPr sz="1600" dirty="0">
                <a:solidFill>
                  <a:srgbClr val="E97132"/>
                </a:solidFill>
              </a:rPr>
              <a:t> </a:t>
            </a:r>
            <a:r>
              <a:rPr lang="ko-KR" altLang="en-US" sz="1600" dirty="0">
                <a:solidFill>
                  <a:srgbClr val="E97132"/>
                </a:solidFill>
              </a:rPr>
              <a:t>상추는</a:t>
            </a:r>
            <a:r>
              <a:rPr sz="1600" dirty="0">
                <a:solidFill>
                  <a:srgbClr val="E97132"/>
                </a:solidFill>
              </a:rPr>
              <a:t> </a:t>
            </a:r>
            <a:r>
              <a:rPr sz="1600" dirty="0" err="1">
                <a:solidFill>
                  <a:srgbClr val="E97132"/>
                </a:solidFill>
              </a:rPr>
              <a:t>배수</a:t>
            </a:r>
            <a:r>
              <a:rPr sz="1600" dirty="0">
                <a:solidFill>
                  <a:srgbClr val="E97132"/>
                </a:solidFill>
              </a:rPr>
              <a:t> 2~3일 </a:t>
            </a:r>
            <a:r>
              <a:rPr sz="1600" dirty="0" err="1">
                <a:solidFill>
                  <a:srgbClr val="E97132"/>
                </a:solidFill>
              </a:rPr>
              <a:t>만에</a:t>
            </a:r>
            <a:r>
              <a:rPr sz="1600" dirty="0">
                <a:solidFill>
                  <a:srgbClr val="E97132"/>
                </a:solidFill>
              </a:rPr>
              <a:t> </a:t>
            </a:r>
            <a:r>
              <a:rPr sz="1600" dirty="0" err="1">
                <a:solidFill>
                  <a:srgbClr val="E97132"/>
                </a:solidFill>
              </a:rPr>
              <a:t>회복</a:t>
            </a:r>
            <a:r>
              <a:rPr sz="1600" dirty="0">
                <a:solidFill>
                  <a:srgbClr val="E97132"/>
                </a:solidFill>
              </a:rPr>
              <a:t>, </a:t>
            </a:r>
            <a:r>
              <a:rPr sz="1600" dirty="0" err="1">
                <a:solidFill>
                  <a:srgbClr val="E97132"/>
                </a:solidFill>
              </a:rPr>
              <a:t>콩은</a:t>
            </a:r>
            <a:r>
              <a:rPr sz="1600" dirty="0">
                <a:solidFill>
                  <a:srgbClr val="E97132"/>
                </a:solidFill>
              </a:rPr>
              <a:t> DAT 9까지 </a:t>
            </a:r>
            <a:r>
              <a:rPr sz="1600" dirty="0" err="1">
                <a:solidFill>
                  <a:srgbClr val="E97132"/>
                </a:solidFill>
              </a:rPr>
              <a:t>회복되지</a:t>
            </a:r>
            <a:r>
              <a:rPr sz="1600" dirty="0">
                <a:solidFill>
                  <a:srgbClr val="E97132"/>
                </a:solidFill>
              </a:rPr>
              <a:t> </a:t>
            </a:r>
            <a:r>
              <a:rPr sz="1600" dirty="0" err="1">
                <a:solidFill>
                  <a:srgbClr val="E97132"/>
                </a:solidFill>
              </a:rPr>
              <a:t>않음</a:t>
            </a:r>
            <a:endParaRPr sz="1600" dirty="0">
              <a:solidFill>
                <a:srgbClr val="E97132"/>
              </a:solidFill>
            </a:endParaRP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각 처리 g</a:t>
            </a:r>
            <a:r>
              <a:rPr sz="1000" baseline="-25000">
                <a:solidFill>
                  <a:srgbClr val="595959"/>
                </a:solidFill>
              </a:rPr>
              <a:t>sw</a:t>
            </a:r>
            <a:r>
              <a:rPr sz="1000">
                <a:solidFill>
                  <a:srgbClr val="595959"/>
                </a:solidFill>
              </a:rPr>
              <a:t> ÷ 같은 날 대조구 g</a:t>
            </a:r>
            <a:r>
              <a:rPr sz="1000" baseline="-25000">
                <a:solidFill>
                  <a:srgbClr val="595959"/>
                </a:solidFill>
              </a:rPr>
              <a:t>sw</a:t>
            </a:r>
            <a:r>
              <a:rPr sz="1000">
                <a:solidFill>
                  <a:srgbClr val="595959"/>
                </a:solidFill>
              </a:rPr>
              <a:t> × 100 (PAR·기온 보정 이전 일평균). * 대조 vs 처리 P&lt;0.05(Welch t, Holm 보정). 건조·복합은 회색. 콩 DAT 10~16은 측정 없음, 콩 건조·복합은 DAT 17부터 측정.</a:t>
            </a:r>
          </a:p>
        </p:txBody>
      </p:sp>
      <p:pic>
        <p:nvPicPr>
          <p:cNvPr id="27" name="Picture 26" descr="image.png"/>
          <p:cNvPicPr>
            <a:picLocks noChangeAspect="1"/>
          </p:cNvPicPr>
          <p:nvPr/>
        </p:nvPicPr>
        <p:blipFill>
          <a:blip r:embed="rId4"/>
          <a:stretch>
            <a:fillRect/>
          </a:stretch>
        </p:blipFill>
        <p:spPr>
          <a:xfrm>
            <a:off x="457200" y="1261872"/>
            <a:ext cx="7040880" cy="3200399"/>
          </a:xfrm>
          <a:prstGeom prst="rect">
            <a:avLst/>
          </a:prstGeom>
        </p:spPr>
      </p:pic>
      <p:sp>
        <p:nvSpPr>
          <p:cNvPr id="28" name="Recovery text"/>
          <p:cNvSpPr txBox="1"/>
          <p:nvPr/>
        </p:nvSpPr>
        <p:spPr>
          <a:xfrm>
            <a:off x="841248" y="4553712"/>
            <a:ext cx="6492240" cy="109728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250" b="1" dirty="0">
                <a:solidFill>
                  <a:srgbClr val="000000"/>
                </a:solidFill>
              </a:rPr>
              <a:t>상추:</a:t>
            </a:r>
            <a:r>
              <a:rPr lang="ko-KR" altLang="en-US" sz="1250" dirty="0">
                <a:solidFill>
                  <a:srgbClr val="000000"/>
                </a:solidFill>
              </a:rPr>
              <a:t> 침수 중 급감했으나 배수 직후 빠르게 대조구 수준으로 회복</a:t>
            </a:r>
          </a:p>
          <a:p>
            <a:pPr marL="201168" indent="-201168" algn="l">
              <a:spcBef>
                <a:spcPts val="600"/>
              </a:spcBef>
              <a:buFont typeface="Arial"/>
              <a:buChar char="•"/>
            </a:pPr>
            <a:r>
              <a:rPr lang="ko-KR" altLang="en-US" sz="1250" b="1" dirty="0">
                <a:solidFill>
                  <a:srgbClr val="000000"/>
                </a:solidFill>
              </a:rPr>
              <a:t>콩:</a:t>
            </a:r>
            <a:r>
              <a:rPr lang="ko-KR" altLang="en-US" sz="1250" dirty="0">
                <a:solidFill>
                  <a:srgbClr val="000000"/>
                </a:solidFill>
              </a:rPr>
              <a:t> 침수 종료 후에도 한동안 낮았고 이후 서서히 회복</a:t>
            </a:r>
          </a:p>
        </p:txBody>
      </p:sp>
      <p:sp>
        <p:nvSpPr>
          <p:cNvPr id="29" name="Stat box"/>
          <p:cNvSpPr/>
          <p:nvPr/>
        </p:nvSpPr>
        <p:spPr>
          <a:xfrm>
            <a:off x="7863840" y="1417320"/>
            <a:ext cx="3493008" cy="1874520"/>
          </a:xfrm>
          <a:prstGeom prst="roundRect">
            <a:avLst>
              <a:gd name="adj" fmla="val 12000"/>
            </a:avLst>
          </a:prstGeom>
          <a:solidFill>
            <a:srgbClr val="FFFFFF"/>
          </a:solidFill>
          <a:ln w="19050">
            <a:solidFill>
              <a:srgbClr val="2E6B3F"/>
            </a:solidFill>
          </a:ln>
        </p:spPr>
        <p:txBody>
          <a:bodyPr wrap="square" lIns="73152" tIns="36576" rIns="73152" bIns="36576" rtlCol="0" anchor="ctr">
            <a:noAutofit/>
          </a:bodyPr>
          <a:lstStyle/>
          <a:p>
            <a:endParaRPr lang="ko-KR"/>
          </a:p>
        </p:txBody>
      </p:sp>
      <p:sp>
        <p:nvSpPr>
          <p:cNvPr id="30" name="Stat value"/>
          <p:cNvSpPr txBox="1"/>
          <p:nvPr/>
        </p:nvSpPr>
        <p:spPr>
          <a:xfrm>
            <a:off x="7909560" y="1490472"/>
            <a:ext cx="3401568" cy="1030986"/>
          </a:xfrm>
          <a:prstGeom prst="rect">
            <a:avLst/>
          </a:prstGeom>
          <a:noFill/>
          <a:ln>
            <a:noFill/>
          </a:ln>
        </p:spPr>
        <p:txBody>
          <a:bodyPr wrap="square" lIns="18288" tIns="18288" rIns="18288" bIns="18288" rtlCol="0" anchor="ctr">
            <a:noAutofit/>
          </a:bodyPr>
          <a:lstStyle/>
          <a:p>
            <a:pPr marL="0" indent="0" algn="ctr">
              <a:spcBef>
                <a:spcPts val="0"/>
              </a:spcBef>
              <a:buNone/>
            </a:pPr>
            <a:r>
              <a:rPr lang="ko-KR" altLang="en-US" sz="3400" dirty="0">
                <a:solidFill>
                  <a:srgbClr val="2E6B3F"/>
                </a:solidFill>
              </a:rPr>
              <a:t>2~3일</a:t>
            </a:r>
          </a:p>
        </p:txBody>
      </p:sp>
      <p:sp>
        <p:nvSpPr>
          <p:cNvPr id="31" name="Stat label"/>
          <p:cNvSpPr txBox="1"/>
          <p:nvPr/>
        </p:nvSpPr>
        <p:spPr>
          <a:xfrm>
            <a:off x="7936992" y="2542032"/>
            <a:ext cx="3346704" cy="712318"/>
          </a:xfrm>
          <a:prstGeom prst="rect">
            <a:avLst/>
          </a:prstGeom>
          <a:noFill/>
          <a:ln>
            <a:noFill/>
          </a:ln>
        </p:spPr>
        <p:txBody>
          <a:bodyPr wrap="square" lIns="18288" tIns="18288" rIns="18288" bIns="18288" rtlCol="0" anchor="t">
            <a:noAutofit/>
          </a:bodyPr>
          <a:lstStyle/>
          <a:p>
            <a:pPr marL="0" indent="0" algn="ctr">
              <a:spcBef>
                <a:spcPts val="0"/>
              </a:spcBef>
              <a:buNone/>
            </a:pPr>
            <a:r>
              <a:rPr lang="ko-KR" altLang="en-US" sz="1100" b="0" dirty="0">
                <a:solidFill>
                  <a:srgbClr val="595959"/>
                </a:solidFill>
              </a:rPr>
              <a:t>상추: 배수 후 대조구 수준까지 회복</a:t>
            </a:r>
          </a:p>
        </p:txBody>
      </p:sp>
      <p:sp>
        <p:nvSpPr>
          <p:cNvPr id="32" name="Stat box"/>
          <p:cNvSpPr/>
          <p:nvPr/>
        </p:nvSpPr>
        <p:spPr>
          <a:xfrm>
            <a:off x="7863840" y="3611880"/>
            <a:ext cx="3493008" cy="1874520"/>
          </a:xfrm>
          <a:prstGeom prst="roundRect">
            <a:avLst>
              <a:gd name="adj" fmla="val 12000"/>
            </a:avLst>
          </a:prstGeom>
          <a:solidFill>
            <a:srgbClr val="FFFFFF"/>
          </a:solidFill>
          <a:ln w="19050">
            <a:solidFill>
              <a:srgbClr val="6B4226"/>
            </a:solidFill>
          </a:ln>
        </p:spPr>
        <p:txBody>
          <a:bodyPr wrap="square" lIns="73152" tIns="36576" rIns="73152" bIns="36576" rtlCol="0" anchor="ctr">
            <a:noAutofit/>
          </a:bodyPr>
          <a:lstStyle/>
          <a:p>
            <a:endParaRPr lang="ko-KR"/>
          </a:p>
        </p:txBody>
      </p:sp>
      <p:sp>
        <p:nvSpPr>
          <p:cNvPr id="33" name="Stat value"/>
          <p:cNvSpPr txBox="1"/>
          <p:nvPr/>
        </p:nvSpPr>
        <p:spPr>
          <a:xfrm>
            <a:off x="7909560" y="3685032"/>
            <a:ext cx="3401568" cy="1030986"/>
          </a:xfrm>
          <a:prstGeom prst="rect">
            <a:avLst/>
          </a:prstGeom>
          <a:noFill/>
          <a:ln>
            <a:noFill/>
          </a:ln>
        </p:spPr>
        <p:txBody>
          <a:bodyPr wrap="square" lIns="18288" tIns="18288" rIns="18288" bIns="18288" rtlCol="0" anchor="ctr">
            <a:noAutofit/>
          </a:bodyPr>
          <a:lstStyle/>
          <a:p>
            <a:pPr marL="0" indent="0" algn="ctr">
              <a:spcBef>
                <a:spcPts val="0"/>
              </a:spcBef>
              <a:buNone/>
            </a:pPr>
            <a:r>
              <a:rPr lang="ko-KR" altLang="en-US" sz="3000" dirty="0">
                <a:solidFill>
                  <a:srgbClr val="6B4226"/>
                </a:solidFill>
              </a:rPr>
              <a:t>DAT 9: 48%</a:t>
            </a:r>
          </a:p>
        </p:txBody>
      </p:sp>
      <p:sp>
        <p:nvSpPr>
          <p:cNvPr id="34" name="Stat label"/>
          <p:cNvSpPr txBox="1"/>
          <p:nvPr/>
        </p:nvSpPr>
        <p:spPr>
          <a:xfrm>
            <a:off x="7936992" y="4736592"/>
            <a:ext cx="3346704" cy="712318"/>
          </a:xfrm>
          <a:prstGeom prst="rect">
            <a:avLst/>
          </a:prstGeom>
          <a:noFill/>
          <a:ln>
            <a:noFill/>
          </a:ln>
        </p:spPr>
        <p:txBody>
          <a:bodyPr wrap="square" lIns="18288" tIns="18288" rIns="18288" bIns="18288" rtlCol="0" anchor="t">
            <a:noAutofit/>
          </a:bodyPr>
          <a:lstStyle/>
          <a:p>
            <a:pPr marL="0" indent="0" algn="ctr">
              <a:spcBef>
                <a:spcPts val="0"/>
              </a:spcBef>
              <a:buNone/>
            </a:pPr>
            <a:r>
              <a:rPr lang="ko-KR" altLang="en-US" sz="1100" dirty="0">
                <a:solidFill>
                  <a:srgbClr val="595959"/>
                </a:solidFill>
              </a:rPr>
              <a:t>콩: 침수 종료 6일 후에도 미회복</a:t>
            </a:r>
          </a:p>
        </p:txBody>
      </p:sp>
      <p:sp>
        <p:nvSpPr>
          <p:cNvPr id="40"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41"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42" name="Nav 결과"/>
          <p:cNvSpPr txBox="1"/>
          <p:nvPr/>
        </p:nvSpPr>
        <p:spPr>
          <a:xfrm>
            <a:off x="3584448" y="100584"/>
            <a:ext cx="1371600" cy="329184"/>
          </a:xfrm>
          <a:prstGeom prst="rect">
            <a:avLst/>
          </a:prstGeom>
          <a:noFill/>
        </p:spPr>
        <p:txBody>
          <a:bodyPr wrap="none" lIns="0" tIns="0" rIns="0" bIns="0" anchor="ctr">
            <a:spAutoFit/>
          </a:bodyPr>
          <a:lstStyle/>
          <a:p>
            <a:pPr algn="ctr"/>
            <a:r>
              <a:rPr sz="1450" b="1" u="sng">
                <a:solidFill>
                  <a:srgbClr val="1A1A1A"/>
                </a:solidFill>
              </a:rPr>
              <a:t>결과</a:t>
            </a:r>
          </a:p>
        </p:txBody>
      </p:sp>
      <p:sp>
        <p:nvSpPr>
          <p:cNvPr id="43"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44"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500"/>
                                        <p:tgtEl>
                                          <p:spTgt spid="2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500"/>
                                        <p:tgtEl>
                                          <p:spTgt spid="3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5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5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5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500"/>
                                        <p:tgtEl>
                                          <p:spTgt spid="3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5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8" grpId="0" animBg="1"/>
      <p:bldP spid="29" grpId="0" animBg="1"/>
      <p:bldP spid="30" grpId="0" animBg="1"/>
      <p:bldP spid="31" grpId="0" animBg="1"/>
      <p:bldP spid="32" grpId="0" animBg="1"/>
      <p:bldP spid="33" grpId="0" animBg="1"/>
      <p:bldP spid="3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9243278" cy="566928"/>
          </a:xfrm>
        </p:spPr>
        <p:txBody>
          <a:bodyPr anchor="b">
            <a:normAutofit/>
          </a:bodyPr>
          <a:lstStyle/>
          <a:p>
            <a:r>
              <a:rPr lang="ko-KR" altLang="en-US" sz="2800" dirty="0"/>
              <a:t>LI-600 : 광계 II 양자수율 (Φ</a:t>
            </a:r>
            <a:r>
              <a:rPr lang="ko-KR" altLang="en-US" sz="2800" baseline="-25000" dirty="0"/>
              <a:t>PSII</a:t>
            </a:r>
            <a:r>
              <a:rPr lang="ko-KR" altLang="en-US" sz="2800" dirty="0"/>
              <a:t>)</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11</a:t>
            </a:fld>
            <a:endParaRPr lang="ko-KR" altLang="en-US"/>
          </a:p>
        </p:txBody>
      </p:sp>
      <p:pic>
        <p:nvPicPr>
          <p:cNvPr id="14" name="Picture 13" descr="image.png"/>
          <p:cNvPicPr>
            <a:picLocks noChangeAspect="1"/>
          </p:cNvPicPr>
          <p:nvPr/>
        </p:nvPicPr>
        <p:blipFill>
          <a:blip r:embed="rId4"/>
          <a:stretch>
            <a:fillRect/>
          </a:stretch>
        </p:blipFill>
        <p:spPr>
          <a:xfrm>
            <a:off x="771006" y="1188720"/>
            <a:ext cx="6276107" cy="2510443"/>
          </a:xfrm>
          <a:prstGeom prst="rect">
            <a:avLst/>
          </a:prstGeom>
        </p:spPr>
      </p:pic>
      <p:graphicFrame>
        <p:nvGraphicFramePr>
          <p:cNvPr id="8" name="Table 7"/>
          <p:cNvGraphicFramePr>
            <a:graphicFrameLocks noGrp="1"/>
          </p:cNvGraphicFramePr>
          <p:nvPr/>
        </p:nvGraphicFramePr>
        <p:xfrm>
          <a:off x="457200" y="3790000"/>
          <a:ext cx="6858000" cy="950000"/>
        </p:xfrm>
        <a:graphic>
          <a:graphicData uri="http://schemas.openxmlformats.org/drawingml/2006/table">
            <a:tbl>
              <a:tblPr>
                <a:tableStyleId>{2D5ABB26-0587-4C30-8999-92F81FD0307C}</a:tableStyleId>
              </a:tblPr>
              <a:tblGrid>
                <a:gridCol w="17373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4"/>
                    </a:ext>
                  </a:extLst>
                </a:gridCol>
                <a:gridCol w="1280160">
                  <a:extLst>
                    <a:ext uri="{9D8B030D-6E8A-4147-A177-3AD203B41FA5}">
                      <a16:colId xmlns:a16="http://schemas.microsoft.com/office/drawing/2014/main" val="20005"/>
                    </a:ext>
                  </a:extLst>
                </a:gridCol>
              </a:tblGrid>
              <a:tr h="190000">
                <a:tc>
                  <a:txBody>
                    <a:bodyPr/>
                    <a:lstStyle/>
                    <a:p>
                      <a:pPr algn="l">
                        <a:lnSpc>
                          <a:spcPct val="100000"/>
                        </a:lnSpc>
                        <a:spcBef>
                          <a:spcPts val="0"/>
                        </a:spcBef>
                        <a:spcAft>
                          <a:spcPts val="0"/>
                        </a:spcAft>
                      </a:pPr>
                      <a:r>
                        <a:rPr sz="800" b="1" dirty="0">
                          <a:solidFill>
                            <a:srgbClr val="000000"/>
                          </a:solidFill>
                        </a:rPr>
                        <a:t>Treatment</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Soybean P1</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Soybean P2</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Romaine P1</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Romaine P2</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190000">
                <a:tc>
                  <a:txBody>
                    <a:bodyPr/>
                    <a:lstStyle/>
                    <a:p>
                      <a:pPr algn="l">
                        <a:lnSpc>
                          <a:spcPct val="100000"/>
                        </a:lnSpc>
                        <a:spcBef>
                          <a:spcPts val="0"/>
                        </a:spcBef>
                        <a:spcAft>
                          <a:spcPts val="0"/>
                        </a:spcAft>
                      </a:pPr>
                      <a:r>
                        <a:rPr sz="800" b="0">
                          <a:solidFill>
                            <a:srgbClr val="000000"/>
                          </a:solidFill>
                        </a:rPr>
                        <a:t>Control</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0.704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0.696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0.611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0.645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190000">
                <a:tc>
                  <a:txBody>
                    <a:bodyPr/>
                    <a:lstStyle/>
                    <a:p>
                      <a:pPr algn="l">
                        <a:lnSpc>
                          <a:spcPct val="100000"/>
                        </a:lnSpc>
                        <a:spcBef>
                          <a:spcPts val="0"/>
                        </a:spcBef>
                        <a:spcAft>
                          <a:spcPts val="0"/>
                        </a:spcAft>
                      </a:pPr>
                      <a:r>
                        <a:rPr sz="800" b="0">
                          <a:solidFill>
                            <a:srgbClr val="000000"/>
                          </a:solidFill>
                        </a:rPr>
                        <a:t>Drought</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0.609 c</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0.595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0.649 a</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190000">
                <a:tc>
                  <a:txBody>
                    <a:bodyPr/>
                    <a:lstStyle/>
                    <a:p>
                      <a:pPr algn="l">
                        <a:lnSpc>
                          <a:spcPct val="100000"/>
                        </a:lnSpc>
                        <a:spcBef>
                          <a:spcPts val="0"/>
                        </a:spcBef>
                        <a:spcAft>
                          <a:spcPts val="0"/>
                        </a:spcAft>
                      </a:pPr>
                      <a:r>
                        <a:rPr lang="en-US" sz="800" b="0" dirty="0">
                          <a:solidFill>
                            <a:srgbClr val="000000"/>
                          </a:solidFill>
                        </a:rPr>
                        <a:t>Waterlogging</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0.679 b</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0.660 ab</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0.591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0.642 a</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190000">
                <a:tc>
                  <a:txBody>
                    <a:bodyPr/>
                    <a:lstStyle/>
                    <a:p>
                      <a:pPr algn="l">
                        <a:lnSpc>
                          <a:spcPct val="100000"/>
                        </a:lnSpc>
                        <a:spcBef>
                          <a:spcPts val="0"/>
                        </a:spcBef>
                        <a:spcAft>
                          <a:spcPts val="0"/>
                        </a:spcAft>
                      </a:pPr>
                      <a:r>
                        <a:rPr lang="en-US" sz="800" b="0" dirty="0">
                          <a:solidFill>
                            <a:srgbClr val="000000"/>
                          </a:solidFill>
                        </a:rPr>
                        <a:t>Combined</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0.631 bc</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0.585 a</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0.655 a</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4"/>
                  </a:ext>
                </a:extLst>
              </a:tr>
            </a:tbl>
          </a:graphicData>
        </a:graphic>
      </p:graphicFrame>
      <p:sp>
        <p:nvSpPr>
          <p:cNvPr id="9" name="Card 요점"/>
          <p:cNvSpPr/>
          <p:nvPr/>
        </p:nvSpPr>
        <p:spPr>
          <a:xfrm>
            <a:off x="7498079" y="1399032"/>
            <a:ext cx="4206240" cy="4133087"/>
          </a:xfrm>
          <a:prstGeom prst="roundRect">
            <a:avLst>
              <a:gd name="adj" fmla="val 3400"/>
            </a:avLst>
          </a:prstGeom>
          <a:solidFill>
            <a:srgbClr val="FBFBFB"/>
          </a:solidFill>
          <a:ln w="12700">
            <a:solidFill>
              <a:srgbClr val="AFAF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Header 요점"/>
          <p:cNvSpPr/>
          <p:nvPr/>
        </p:nvSpPr>
        <p:spPr>
          <a:xfrm>
            <a:off x="7680959" y="1188720"/>
            <a:ext cx="3840479" cy="420624"/>
          </a:xfrm>
          <a:prstGeom prst="roundRect">
            <a:avLst>
              <a:gd name="adj" fmla="val 25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lIns="73152" tIns="27432" rIns="73152" bIns="27432" rtlCol="0" anchor="ctr"/>
          <a:lstStyle/>
          <a:p>
            <a:pPr algn="ctr"/>
            <a:r>
              <a:rPr sz="1600" b="1">
                <a:solidFill>
                  <a:srgbClr val="FFFFFF"/>
                </a:solidFill>
              </a:rPr>
              <a:t>요점</a:t>
            </a:r>
          </a:p>
        </p:txBody>
      </p:sp>
      <p:sp>
        <p:nvSpPr>
          <p:cNvPr id="11" name="TextBox 10"/>
          <p:cNvSpPr txBox="1"/>
          <p:nvPr/>
        </p:nvSpPr>
        <p:spPr>
          <a:xfrm>
            <a:off x="7680959" y="1783080"/>
            <a:ext cx="3886200" cy="738664"/>
          </a:xfrm>
          <a:prstGeom prst="rect">
            <a:avLst/>
          </a:prstGeom>
          <a:noFill/>
        </p:spPr>
        <p:txBody>
          <a:bodyPr wrap="square">
            <a:spAutoFit/>
          </a:bodyPr>
          <a:lstStyle/>
          <a:p>
            <a:pPr marL="201168" indent="-201168">
              <a:spcBef>
                <a:spcPts val="0"/>
              </a:spcBef>
              <a:buFont typeface="Arial"/>
              <a:buChar char="•"/>
            </a:pPr>
            <a:r>
              <a:rPr sz="1400" dirty="0">
                <a:solidFill>
                  <a:srgbClr val="000000"/>
                </a:solidFill>
              </a:rPr>
              <a:t>콩 P1:  </a:t>
            </a:r>
            <a:r>
              <a:rPr sz="1400" dirty="0" err="1">
                <a:solidFill>
                  <a:srgbClr val="000000"/>
                </a:solidFill>
              </a:rPr>
              <a:t>침수구가</a:t>
            </a:r>
            <a:r>
              <a:rPr sz="1400" dirty="0">
                <a:solidFill>
                  <a:srgbClr val="000000"/>
                </a:solidFill>
              </a:rPr>
              <a:t> </a:t>
            </a:r>
            <a:r>
              <a:rPr sz="1400" dirty="0" err="1">
                <a:solidFill>
                  <a:srgbClr val="000000"/>
                </a:solidFill>
              </a:rPr>
              <a:t>대조구보다</a:t>
            </a:r>
            <a:r>
              <a:rPr sz="1400" dirty="0">
                <a:solidFill>
                  <a:srgbClr val="000000"/>
                </a:solidFill>
              </a:rPr>
              <a:t> </a:t>
            </a:r>
            <a:r>
              <a:rPr sz="1400" dirty="0" err="1">
                <a:solidFill>
                  <a:srgbClr val="000000"/>
                </a:solidFill>
              </a:rPr>
              <a:t>약간</a:t>
            </a:r>
            <a:r>
              <a:rPr sz="1400" dirty="0">
                <a:solidFill>
                  <a:srgbClr val="000000"/>
                </a:solidFill>
              </a:rPr>
              <a:t> </a:t>
            </a:r>
            <a:r>
              <a:rPr sz="1400" dirty="0" err="1">
                <a:solidFill>
                  <a:srgbClr val="000000"/>
                </a:solidFill>
              </a:rPr>
              <a:t>낮았음</a:t>
            </a:r>
            <a:endParaRPr sz="1400" dirty="0">
              <a:solidFill>
                <a:srgbClr val="000000"/>
              </a:solidFill>
            </a:endParaRPr>
          </a:p>
          <a:p>
            <a:pPr marL="201168" indent="-201168">
              <a:spcBef>
                <a:spcPts val="0"/>
              </a:spcBef>
              <a:buFont typeface="Arial"/>
              <a:buChar char="•"/>
            </a:pPr>
            <a:r>
              <a:rPr sz="1400" b="1" dirty="0">
                <a:solidFill>
                  <a:srgbClr val="000000"/>
                </a:solidFill>
              </a:rPr>
              <a:t>콩 P2:</a:t>
            </a:r>
            <a:r>
              <a:rPr sz="1400" dirty="0">
                <a:solidFill>
                  <a:srgbClr val="000000"/>
                </a:solidFill>
              </a:rPr>
              <a:t> </a:t>
            </a:r>
            <a:r>
              <a:rPr sz="1400" dirty="0" err="1">
                <a:solidFill>
                  <a:srgbClr val="000000"/>
                </a:solidFill>
              </a:rPr>
              <a:t>건조구가</a:t>
            </a:r>
            <a:r>
              <a:rPr sz="1400" dirty="0">
                <a:solidFill>
                  <a:srgbClr val="000000"/>
                </a:solidFill>
              </a:rPr>
              <a:t> </a:t>
            </a:r>
            <a:r>
              <a:rPr sz="1400" dirty="0" err="1">
                <a:solidFill>
                  <a:srgbClr val="000000"/>
                </a:solidFill>
              </a:rPr>
              <a:t>가장</a:t>
            </a:r>
            <a:r>
              <a:rPr sz="1400" dirty="0">
                <a:solidFill>
                  <a:srgbClr val="000000"/>
                </a:solidFill>
              </a:rPr>
              <a:t> </a:t>
            </a:r>
            <a:r>
              <a:rPr sz="1400" dirty="0" err="1">
                <a:solidFill>
                  <a:srgbClr val="000000"/>
                </a:solidFill>
              </a:rPr>
              <a:t>낮았음</a:t>
            </a:r>
            <a:endParaRPr sz="1400" dirty="0">
              <a:solidFill>
                <a:srgbClr val="000000"/>
              </a:solidFill>
            </a:endParaRPr>
          </a:p>
          <a:p>
            <a:pPr marL="201168" indent="-201168">
              <a:spcBef>
                <a:spcPts val="0"/>
              </a:spcBef>
              <a:buFont typeface="Arial"/>
              <a:buChar char="•"/>
            </a:pPr>
            <a:r>
              <a:rPr lang="ko-KR" altLang="en-US" sz="1400" dirty="0">
                <a:solidFill>
                  <a:srgbClr val="000000"/>
                </a:solidFill>
              </a:rPr>
              <a:t>상추</a:t>
            </a:r>
            <a:r>
              <a:rPr sz="1400" dirty="0">
                <a:solidFill>
                  <a:srgbClr val="000000"/>
                </a:solidFill>
              </a:rPr>
              <a:t>:  P1·P2 </a:t>
            </a:r>
            <a:r>
              <a:rPr sz="1400" dirty="0" err="1">
                <a:solidFill>
                  <a:srgbClr val="000000"/>
                </a:solidFill>
              </a:rPr>
              <a:t>모두</a:t>
            </a:r>
            <a:r>
              <a:rPr sz="1400" dirty="0">
                <a:solidFill>
                  <a:srgbClr val="000000"/>
                </a:solidFill>
              </a:rPr>
              <a:t> </a:t>
            </a:r>
            <a:r>
              <a:rPr sz="1400" dirty="0" err="1">
                <a:solidFill>
                  <a:srgbClr val="000000"/>
                </a:solidFill>
              </a:rPr>
              <a:t>처리</a:t>
            </a:r>
            <a:r>
              <a:rPr sz="1400" dirty="0">
                <a:solidFill>
                  <a:srgbClr val="000000"/>
                </a:solidFill>
              </a:rPr>
              <a:t> 간 </a:t>
            </a:r>
            <a:r>
              <a:rPr sz="1400" dirty="0" err="1">
                <a:solidFill>
                  <a:srgbClr val="000000"/>
                </a:solidFill>
              </a:rPr>
              <a:t>차이</a:t>
            </a:r>
            <a:r>
              <a:rPr sz="1400" dirty="0">
                <a:solidFill>
                  <a:srgbClr val="000000"/>
                </a:solidFill>
              </a:rPr>
              <a:t> </a:t>
            </a:r>
            <a:r>
              <a:rPr sz="1400" dirty="0" err="1">
                <a:solidFill>
                  <a:srgbClr val="000000"/>
                </a:solidFill>
              </a:rPr>
              <a:t>없음</a:t>
            </a:r>
            <a:endParaRPr sz="1400" dirty="0">
              <a:solidFill>
                <a:srgbClr val="000000"/>
              </a:solidFill>
            </a:endParaRPr>
          </a:p>
        </p:txBody>
      </p:sp>
      <p:sp>
        <p:nvSpPr>
          <p:cNvPr id="12"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dirty="0" err="1">
                <a:solidFill>
                  <a:srgbClr val="E97132"/>
                </a:solidFill>
              </a:rPr>
              <a:t>콩은</a:t>
            </a:r>
            <a:r>
              <a:rPr sz="1600" dirty="0">
                <a:solidFill>
                  <a:srgbClr val="E97132"/>
                </a:solidFill>
              </a:rPr>
              <a:t> </a:t>
            </a:r>
            <a:r>
              <a:rPr sz="1600" dirty="0" err="1">
                <a:solidFill>
                  <a:srgbClr val="E97132"/>
                </a:solidFill>
              </a:rPr>
              <a:t>건조구에서</a:t>
            </a:r>
            <a:r>
              <a:rPr sz="1600" dirty="0">
                <a:solidFill>
                  <a:srgbClr val="E97132"/>
                </a:solidFill>
              </a:rPr>
              <a:t> </a:t>
            </a:r>
            <a:r>
              <a:rPr sz="1600" dirty="0" err="1">
                <a:solidFill>
                  <a:srgbClr val="E97132"/>
                </a:solidFill>
              </a:rPr>
              <a:t>Φ</a:t>
            </a:r>
            <a:r>
              <a:rPr sz="1600" baseline="-25000" dirty="0" err="1">
                <a:solidFill>
                  <a:srgbClr val="E97132"/>
                </a:solidFill>
              </a:rPr>
              <a:t>PSII</a:t>
            </a:r>
            <a:r>
              <a:rPr sz="1600" dirty="0" err="1">
                <a:solidFill>
                  <a:srgbClr val="E97132"/>
                </a:solidFill>
              </a:rPr>
              <a:t>가</a:t>
            </a:r>
            <a:r>
              <a:rPr sz="1600" dirty="0">
                <a:solidFill>
                  <a:srgbClr val="E97132"/>
                </a:solidFill>
              </a:rPr>
              <a:t> </a:t>
            </a:r>
            <a:r>
              <a:rPr sz="1600" dirty="0" err="1">
                <a:solidFill>
                  <a:srgbClr val="E97132"/>
                </a:solidFill>
              </a:rPr>
              <a:t>낮았고</a:t>
            </a:r>
            <a:r>
              <a:rPr sz="1600" dirty="0">
                <a:solidFill>
                  <a:srgbClr val="E97132"/>
                </a:solidFill>
              </a:rPr>
              <a:t>, </a:t>
            </a:r>
            <a:r>
              <a:rPr lang="ko-KR" altLang="en-US" sz="1600" dirty="0">
                <a:solidFill>
                  <a:srgbClr val="E97132"/>
                </a:solidFill>
              </a:rPr>
              <a:t>상추는</a:t>
            </a:r>
            <a:r>
              <a:rPr sz="1600" dirty="0">
                <a:solidFill>
                  <a:srgbClr val="E97132"/>
                </a:solidFill>
              </a:rPr>
              <a:t> </a:t>
            </a:r>
            <a:r>
              <a:rPr sz="1600" dirty="0" err="1">
                <a:solidFill>
                  <a:srgbClr val="E97132"/>
                </a:solidFill>
              </a:rPr>
              <a:t>처리</a:t>
            </a:r>
            <a:r>
              <a:rPr sz="1600" dirty="0">
                <a:solidFill>
                  <a:srgbClr val="E97132"/>
                </a:solidFill>
              </a:rPr>
              <a:t> 간 </a:t>
            </a:r>
            <a:r>
              <a:rPr sz="1600" dirty="0" err="1">
                <a:solidFill>
                  <a:srgbClr val="E97132"/>
                </a:solidFill>
              </a:rPr>
              <a:t>차이</a:t>
            </a:r>
            <a:r>
              <a:rPr sz="1600" dirty="0">
                <a:solidFill>
                  <a:srgbClr val="E97132"/>
                </a:solidFill>
              </a:rPr>
              <a:t> </a:t>
            </a:r>
            <a:r>
              <a:rPr sz="1600" dirty="0" err="1">
                <a:solidFill>
                  <a:srgbClr val="E97132"/>
                </a:solidFill>
              </a:rPr>
              <a:t>없음</a:t>
            </a:r>
            <a:endParaRPr sz="1600" dirty="0">
              <a:solidFill>
                <a:srgbClr val="E97132"/>
              </a:solidFill>
            </a:endParaRPr>
          </a:p>
        </p:txBody>
      </p:sp>
      <p:sp>
        <p:nvSpPr>
          <p:cNvPr id="13"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표·그림: 측정일·PAR·기온 보정 평균, Tukey 문자. P2는 PPFD 수준을 나누지 않고 통합하여 분석. 그림: 음영 ± SE, 점선 P1/P2 경계, 회색 띠 흐린 날, * 당일 P&lt;0.05(Holm), X 처리 전.</a:t>
            </a:r>
          </a:p>
        </p:txBody>
      </p:sp>
      <p:sp>
        <p:nvSpPr>
          <p:cNvPr id="15"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7" name="Nav 결과"/>
          <p:cNvSpPr txBox="1"/>
          <p:nvPr/>
        </p:nvSpPr>
        <p:spPr>
          <a:xfrm>
            <a:off x="3584448" y="100584"/>
            <a:ext cx="1371600" cy="329184"/>
          </a:xfrm>
          <a:prstGeom prst="rect">
            <a:avLst/>
          </a:prstGeom>
          <a:noFill/>
        </p:spPr>
        <p:txBody>
          <a:bodyPr wrap="none" lIns="0" tIns="0" rIns="0" bIns="0" anchor="ctr">
            <a:spAutoFit/>
          </a:bodyPr>
          <a:lstStyle/>
          <a:p>
            <a:pPr algn="ctr"/>
            <a:r>
              <a:rPr sz="1450" b="1" u="sng">
                <a:solidFill>
                  <a:srgbClr val="1A1A1A"/>
                </a:solidFill>
              </a:rPr>
              <a:t>결과</a:t>
            </a:r>
          </a:p>
        </p:txBody>
      </p:sp>
      <p:sp>
        <p:nvSpPr>
          <p:cNvPr id="18"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9"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LI-6800 : 광합성 능력 (V</a:t>
            </a:r>
            <a:r>
              <a:rPr lang="ko-KR" altLang="en-US" sz="2800" baseline="-25000" dirty="0"/>
              <a:t>cmax</a:t>
            </a:r>
            <a:r>
              <a:rPr lang="ko-KR" altLang="en-US" sz="2800" dirty="0"/>
              <a:t>, J</a:t>
            </a:r>
            <a:r>
              <a:rPr lang="ko-KR" altLang="en-US" sz="2800" baseline="-25000" dirty="0"/>
              <a:t>max</a:t>
            </a:r>
            <a:r>
              <a:rPr lang="ko-KR" altLang="en-US" sz="2800" dirty="0"/>
              <a:t>, R</a:t>
            </a:r>
            <a:r>
              <a:rPr lang="ko-KR" altLang="en-US" sz="2800" baseline="-25000" dirty="0"/>
              <a:t>d</a:t>
            </a:r>
            <a:r>
              <a:rPr lang="ko-KR" altLang="en-US" sz="2800" dirty="0"/>
              <a:t>, A</a:t>
            </a:r>
            <a:r>
              <a:rPr lang="ko-KR" altLang="en-US" sz="2800" baseline="-25000" dirty="0"/>
              <a:t>max</a:t>
            </a:r>
            <a:r>
              <a:rPr lang="ko-KR" altLang="en-US" sz="2800" dirty="0"/>
              <a:t>, α)</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12</a:t>
            </a:fld>
            <a:endParaRPr lang="ko-KR" altLang="en-US"/>
          </a:p>
        </p:txBody>
      </p:sp>
      <p:pic>
        <p:nvPicPr>
          <p:cNvPr id="14" name="Picture 13" descr="image.png"/>
          <p:cNvPicPr>
            <a:picLocks noChangeAspect="1"/>
          </p:cNvPicPr>
          <p:nvPr/>
        </p:nvPicPr>
        <p:blipFill>
          <a:blip r:embed="rId4"/>
          <a:stretch>
            <a:fillRect/>
          </a:stretch>
        </p:blipFill>
        <p:spPr>
          <a:xfrm>
            <a:off x="792032" y="1199097"/>
            <a:ext cx="6188336" cy="2697480"/>
          </a:xfrm>
          <a:prstGeom prst="rect">
            <a:avLst/>
          </a:prstGeom>
        </p:spPr>
      </p:pic>
      <p:graphicFrame>
        <p:nvGraphicFramePr>
          <p:cNvPr id="8" name="Table 7"/>
          <p:cNvGraphicFramePr>
            <a:graphicFrameLocks noGrp="1"/>
          </p:cNvGraphicFramePr>
          <p:nvPr/>
        </p:nvGraphicFramePr>
        <p:xfrm>
          <a:off x="365760" y="3931920"/>
          <a:ext cx="3438144" cy="1399032"/>
        </p:xfrm>
        <a:graphic>
          <a:graphicData uri="http://schemas.openxmlformats.org/drawingml/2006/table">
            <a:tbl>
              <a:tblPr>
                <a:tableStyleId>{2D5ABB26-0587-4C30-8999-92F81FD0307C}</a:tableStyleId>
              </a:tblPr>
              <a:tblGrid>
                <a:gridCol w="822960">
                  <a:extLst>
                    <a:ext uri="{9D8B030D-6E8A-4147-A177-3AD203B41FA5}">
                      <a16:colId xmlns:a16="http://schemas.microsoft.com/office/drawing/2014/main" val="20000"/>
                    </a:ext>
                  </a:extLst>
                </a:gridCol>
                <a:gridCol w="50292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603504">
                  <a:extLst>
                    <a:ext uri="{9D8B030D-6E8A-4147-A177-3AD203B41FA5}">
                      <a16:colId xmlns:a16="http://schemas.microsoft.com/office/drawing/2014/main" val="20003"/>
                    </a:ext>
                  </a:extLst>
                </a:gridCol>
                <a:gridCol w="502920">
                  <a:extLst>
                    <a:ext uri="{9D8B030D-6E8A-4147-A177-3AD203B41FA5}">
                      <a16:colId xmlns:a16="http://schemas.microsoft.com/office/drawing/2014/main" val="20004"/>
                    </a:ext>
                  </a:extLst>
                </a:gridCol>
                <a:gridCol w="502920">
                  <a:extLst>
                    <a:ext uri="{9D8B030D-6E8A-4147-A177-3AD203B41FA5}">
                      <a16:colId xmlns:a16="http://schemas.microsoft.com/office/drawing/2014/main" val="3510531167"/>
                    </a:ext>
                  </a:extLst>
                </a:gridCol>
              </a:tblGrid>
              <a:tr h="233172">
                <a:tc>
                  <a:txBody>
                    <a:bodyPr/>
                    <a:lstStyle/>
                    <a:p>
                      <a:pPr algn="l">
                        <a:lnSpc>
                          <a:spcPct val="100000"/>
                        </a:lnSpc>
                        <a:spcBef>
                          <a:spcPts val="0"/>
                        </a:spcBef>
                        <a:spcAft>
                          <a:spcPts val="0"/>
                        </a:spcAft>
                      </a:pPr>
                      <a:r>
                        <a:rPr sz="1000" b="1">
                          <a:solidFill>
                            <a:srgbClr val="000000"/>
                          </a:solidFill>
                        </a:rPr>
                        <a:t>Soybean</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00" b="1">
                          <a:solidFill>
                            <a:srgbClr val="000000"/>
                          </a:solidFill>
                        </a:rPr>
                        <a:t>V</a:t>
                      </a:r>
                      <a:r>
                        <a:rPr sz="1000" b="1" baseline="-25000">
                          <a:solidFill>
                            <a:srgbClr val="000000"/>
                          </a:solidFill>
                        </a:rPr>
                        <a:t>cmax</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00" b="1">
                          <a:solidFill>
                            <a:srgbClr val="000000"/>
                          </a:solidFill>
                        </a:rPr>
                        <a:t>J</a:t>
                      </a:r>
                      <a:r>
                        <a:rPr sz="1000" b="1" baseline="-25000">
                          <a:solidFill>
                            <a:srgbClr val="000000"/>
                          </a:solidFill>
                        </a:rPr>
                        <a:t>max</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00" b="1">
                          <a:solidFill>
                            <a:srgbClr val="000000"/>
                          </a:solidFill>
                        </a:rPr>
                        <a:t>R</a:t>
                      </a:r>
                      <a:r>
                        <a:rPr sz="1000" b="1" baseline="-25000">
                          <a:solidFill>
                            <a:srgbClr val="000000"/>
                          </a:solidFill>
                        </a:rPr>
                        <a:t>d</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00" b="1">
                          <a:solidFill>
                            <a:srgbClr val="000000"/>
                          </a:solidFill>
                        </a:rPr>
                        <a:t>A</a:t>
                      </a:r>
                      <a:r>
                        <a:rPr sz="1000" b="1" baseline="-25000">
                          <a:solidFill>
                            <a:srgbClr val="000000"/>
                          </a:solidFill>
                        </a:rPr>
                        <a:t>max</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00" b="1">
                          <a:solidFill>
                            <a:srgbClr val="000000"/>
                          </a:solidFill>
                        </a:rPr>
                        <a:t>α</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233172">
                <a:tc>
                  <a:txBody>
                    <a:bodyPr/>
                    <a:lstStyle/>
                    <a:p>
                      <a:pPr algn="l">
                        <a:lnSpc>
                          <a:spcPct val="100000"/>
                        </a:lnSpc>
                        <a:spcBef>
                          <a:spcPts val="0"/>
                        </a:spcBef>
                        <a:spcAft>
                          <a:spcPts val="0"/>
                        </a:spcAft>
                      </a:pPr>
                      <a:r>
                        <a:rPr sz="1000" b="0">
                          <a:solidFill>
                            <a:srgbClr val="000000"/>
                          </a:solidFill>
                        </a:rPr>
                        <a:t>Pre-treat.</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00" b="0">
                          <a:solidFill>
                            <a:srgbClr val="000000"/>
                          </a:solidFill>
                        </a:rPr>
                        <a:t>60</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00" b="0">
                          <a:solidFill>
                            <a:srgbClr val="000000"/>
                          </a:solidFill>
                        </a:rPr>
                        <a:t>83</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00" b="0">
                          <a:solidFill>
                            <a:srgbClr val="000000"/>
                          </a:solidFill>
                        </a:rPr>
                        <a:t>1.44</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00" b="0">
                          <a:solidFill>
                            <a:srgbClr val="000000"/>
                          </a:solidFill>
                        </a:rPr>
                        <a:t>15.4</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00" b="0">
                          <a:solidFill>
                            <a:srgbClr val="000000"/>
                          </a:solidFill>
                        </a:rPr>
                        <a:t>0.047</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233172">
                <a:tc>
                  <a:txBody>
                    <a:bodyPr/>
                    <a:lstStyle/>
                    <a:p>
                      <a:pPr algn="l">
                        <a:lnSpc>
                          <a:spcPct val="100000"/>
                        </a:lnSpc>
                        <a:spcBef>
                          <a:spcPts val="0"/>
                        </a:spcBef>
                        <a:spcAft>
                          <a:spcPts val="0"/>
                        </a:spcAft>
                      </a:pPr>
                      <a:r>
                        <a:rPr sz="1000" b="0">
                          <a:solidFill>
                            <a:srgbClr val="000000"/>
                          </a:solidFill>
                        </a:rPr>
                        <a:t>Control</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90 a</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150 a</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1.44 a</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18.5</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0.049</a:t>
                      </a:r>
                      <a:endParaRPr sz="10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233172">
                <a:tc>
                  <a:txBody>
                    <a:bodyPr/>
                    <a:lstStyle/>
                    <a:p>
                      <a:pPr algn="l">
                        <a:lnSpc>
                          <a:spcPct val="100000"/>
                        </a:lnSpc>
                        <a:spcBef>
                          <a:spcPts val="0"/>
                        </a:spcBef>
                        <a:spcAft>
                          <a:spcPts val="0"/>
                        </a:spcAft>
                      </a:pPr>
                      <a:r>
                        <a:rPr sz="1000" b="0">
                          <a:solidFill>
                            <a:srgbClr val="000000"/>
                          </a:solidFill>
                        </a:rPr>
                        <a:t>Drought</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68 b</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104 b</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1.04 ab</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19.4</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0.043</a:t>
                      </a:r>
                      <a:endParaRPr sz="10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233172">
                <a:tc>
                  <a:txBody>
                    <a:bodyPr/>
                    <a:lstStyle/>
                    <a:p>
                      <a:pPr algn="l">
                        <a:lnSpc>
                          <a:spcPct val="100000"/>
                        </a:lnSpc>
                        <a:spcBef>
                          <a:spcPts val="0"/>
                        </a:spcBef>
                        <a:spcAft>
                          <a:spcPts val="0"/>
                        </a:spcAft>
                      </a:pPr>
                      <a:r>
                        <a:rPr sz="1000" b="0">
                          <a:solidFill>
                            <a:srgbClr val="000000"/>
                          </a:solidFill>
                        </a:rPr>
                        <a:t>Waterlog.</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85 ab</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144 a</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1.16 ab</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17.2</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0.046</a:t>
                      </a:r>
                      <a:endParaRPr sz="10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4"/>
                  </a:ext>
                </a:extLst>
              </a:tr>
              <a:tr h="233172">
                <a:tc>
                  <a:txBody>
                    <a:bodyPr/>
                    <a:lstStyle/>
                    <a:p>
                      <a:pPr algn="l">
                        <a:lnSpc>
                          <a:spcPct val="100000"/>
                        </a:lnSpc>
                        <a:spcBef>
                          <a:spcPts val="0"/>
                        </a:spcBef>
                        <a:spcAft>
                          <a:spcPts val="0"/>
                        </a:spcAft>
                      </a:pPr>
                      <a:r>
                        <a:rPr sz="1000" b="0">
                          <a:solidFill>
                            <a:srgbClr val="000000"/>
                          </a:solidFill>
                        </a:rPr>
                        <a:t>Combined</a:t>
                      </a:r>
                      <a:endParaRPr sz="10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00" b="0">
                          <a:solidFill>
                            <a:srgbClr val="000000"/>
                          </a:solidFill>
                        </a:rPr>
                        <a:t>75 ab</a:t>
                      </a:r>
                      <a:endParaRPr sz="10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00" b="0">
                          <a:solidFill>
                            <a:srgbClr val="000000"/>
                          </a:solidFill>
                        </a:rPr>
                        <a:t>120 b</a:t>
                      </a:r>
                      <a:endParaRPr sz="10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00" b="0">
                          <a:solidFill>
                            <a:srgbClr val="000000"/>
                          </a:solidFill>
                        </a:rPr>
                        <a:t>0.86 b</a:t>
                      </a:r>
                      <a:endParaRPr sz="10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00" b="0">
                          <a:solidFill>
                            <a:srgbClr val="000000"/>
                          </a:solidFill>
                        </a:rPr>
                        <a:t>18.6</a:t>
                      </a:r>
                      <a:endParaRPr sz="10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00" b="0">
                          <a:solidFill>
                            <a:srgbClr val="000000"/>
                          </a:solidFill>
                        </a:rPr>
                        <a:t>0.048</a:t>
                      </a:r>
                      <a:endParaRPr sz="1000"/>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5"/>
                  </a:ext>
                </a:extLst>
              </a:tr>
            </a:tbl>
          </a:graphicData>
        </a:graphic>
      </p:graphicFrame>
      <p:sp>
        <p:nvSpPr>
          <p:cNvPr id="9" name="Card 요점"/>
          <p:cNvSpPr/>
          <p:nvPr/>
        </p:nvSpPr>
        <p:spPr>
          <a:xfrm>
            <a:off x="7498079" y="1399032"/>
            <a:ext cx="4206240" cy="4133087"/>
          </a:xfrm>
          <a:prstGeom prst="roundRect">
            <a:avLst>
              <a:gd name="adj" fmla="val 3400"/>
            </a:avLst>
          </a:prstGeom>
          <a:solidFill>
            <a:srgbClr val="FBFBFB"/>
          </a:solidFill>
          <a:ln w="12700">
            <a:solidFill>
              <a:srgbClr val="AFAF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Header 요점"/>
          <p:cNvSpPr/>
          <p:nvPr/>
        </p:nvSpPr>
        <p:spPr>
          <a:xfrm>
            <a:off x="7680959" y="1188720"/>
            <a:ext cx="3840479" cy="420624"/>
          </a:xfrm>
          <a:prstGeom prst="roundRect">
            <a:avLst>
              <a:gd name="adj" fmla="val 25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lIns="73152" tIns="27432" rIns="73152" bIns="27432" rtlCol="0" anchor="ctr"/>
          <a:lstStyle/>
          <a:p>
            <a:pPr algn="ctr"/>
            <a:r>
              <a:rPr sz="1600" b="1">
                <a:solidFill>
                  <a:srgbClr val="FFFFFF"/>
                </a:solidFill>
              </a:rPr>
              <a:t>요점</a:t>
            </a:r>
          </a:p>
        </p:txBody>
      </p:sp>
      <p:sp>
        <p:nvSpPr>
          <p:cNvPr id="11" name="TextBox 10"/>
          <p:cNvSpPr txBox="1"/>
          <p:nvPr/>
        </p:nvSpPr>
        <p:spPr>
          <a:xfrm>
            <a:off x="7680959" y="1783080"/>
            <a:ext cx="3886200" cy="954107"/>
          </a:xfrm>
          <a:prstGeom prst="rect">
            <a:avLst/>
          </a:prstGeom>
          <a:noFill/>
        </p:spPr>
        <p:txBody>
          <a:bodyPr wrap="square">
            <a:spAutoFit/>
          </a:bodyPr>
          <a:lstStyle/>
          <a:p>
            <a:pPr marL="201168" indent="-201168">
              <a:spcBef>
                <a:spcPts val="0"/>
              </a:spcBef>
              <a:buFont typeface="Arial"/>
              <a:buChar char="•"/>
            </a:pPr>
            <a:r>
              <a:rPr sz="1400" b="1" dirty="0">
                <a:solidFill>
                  <a:srgbClr val="000000"/>
                </a:solidFill>
              </a:rPr>
              <a:t>콩:</a:t>
            </a:r>
            <a:r>
              <a:rPr sz="1400" dirty="0">
                <a:solidFill>
                  <a:srgbClr val="000000"/>
                </a:solidFill>
              </a:rPr>
              <a:t> </a:t>
            </a:r>
            <a:r>
              <a:rPr sz="1400" dirty="0" err="1">
                <a:solidFill>
                  <a:srgbClr val="000000"/>
                </a:solidFill>
              </a:rPr>
              <a:t>건조구에서</a:t>
            </a:r>
            <a:r>
              <a:rPr sz="1400" dirty="0">
                <a:solidFill>
                  <a:srgbClr val="000000"/>
                </a:solidFill>
              </a:rPr>
              <a:t> </a:t>
            </a:r>
            <a:r>
              <a:rPr sz="1400" dirty="0" err="1">
                <a:solidFill>
                  <a:srgbClr val="000000"/>
                </a:solidFill>
              </a:rPr>
              <a:t>V</a:t>
            </a:r>
            <a:r>
              <a:rPr sz="1400" baseline="-25000" dirty="0" err="1">
                <a:solidFill>
                  <a:srgbClr val="000000"/>
                </a:solidFill>
              </a:rPr>
              <a:t>cmax</a:t>
            </a:r>
            <a:r>
              <a:rPr sz="1400" dirty="0" err="1">
                <a:solidFill>
                  <a:srgbClr val="000000"/>
                </a:solidFill>
              </a:rPr>
              <a:t>·J</a:t>
            </a:r>
            <a:r>
              <a:rPr sz="1400" baseline="-25000" dirty="0" err="1">
                <a:solidFill>
                  <a:srgbClr val="000000"/>
                </a:solidFill>
              </a:rPr>
              <a:t>max</a:t>
            </a:r>
            <a:r>
              <a:rPr sz="1400" dirty="0" err="1">
                <a:solidFill>
                  <a:srgbClr val="000000"/>
                </a:solidFill>
              </a:rPr>
              <a:t>가</a:t>
            </a:r>
            <a:r>
              <a:rPr sz="1400" dirty="0">
                <a:solidFill>
                  <a:srgbClr val="000000"/>
                </a:solidFill>
              </a:rPr>
              <a:t> </a:t>
            </a:r>
            <a:r>
              <a:rPr sz="1400" dirty="0" err="1">
                <a:solidFill>
                  <a:srgbClr val="000000"/>
                </a:solidFill>
              </a:rPr>
              <a:t>낮았고</a:t>
            </a:r>
            <a:r>
              <a:rPr sz="1400" dirty="0">
                <a:solidFill>
                  <a:srgbClr val="000000"/>
                </a:solidFill>
              </a:rPr>
              <a:t> A</a:t>
            </a:r>
            <a:r>
              <a:rPr sz="1400" baseline="-25000" dirty="0">
                <a:solidFill>
                  <a:srgbClr val="000000"/>
                </a:solidFill>
              </a:rPr>
              <a:t>max</a:t>
            </a:r>
            <a:r>
              <a:rPr sz="1400" dirty="0">
                <a:solidFill>
                  <a:srgbClr val="000000"/>
                </a:solidFill>
              </a:rPr>
              <a:t>·α는 </a:t>
            </a:r>
            <a:r>
              <a:rPr sz="1400" dirty="0" err="1">
                <a:solidFill>
                  <a:srgbClr val="000000"/>
                </a:solidFill>
              </a:rPr>
              <a:t>처리</a:t>
            </a:r>
            <a:r>
              <a:rPr sz="1400" dirty="0">
                <a:solidFill>
                  <a:srgbClr val="000000"/>
                </a:solidFill>
              </a:rPr>
              <a:t> 간 </a:t>
            </a:r>
            <a:r>
              <a:rPr sz="1400" dirty="0" err="1">
                <a:solidFill>
                  <a:srgbClr val="000000"/>
                </a:solidFill>
              </a:rPr>
              <a:t>차이</a:t>
            </a:r>
            <a:r>
              <a:rPr sz="1400" dirty="0">
                <a:solidFill>
                  <a:srgbClr val="000000"/>
                </a:solidFill>
              </a:rPr>
              <a:t> </a:t>
            </a:r>
            <a:r>
              <a:rPr sz="1400" dirty="0" err="1">
                <a:solidFill>
                  <a:srgbClr val="000000"/>
                </a:solidFill>
              </a:rPr>
              <a:t>없음</a:t>
            </a:r>
            <a:endParaRPr sz="1400" dirty="0">
              <a:solidFill>
                <a:srgbClr val="000000"/>
              </a:solidFill>
            </a:endParaRPr>
          </a:p>
          <a:p>
            <a:pPr marL="201168" indent="-201168">
              <a:spcBef>
                <a:spcPts val="0"/>
              </a:spcBef>
              <a:buFont typeface="Arial"/>
              <a:buChar char="•"/>
            </a:pPr>
            <a:r>
              <a:rPr lang="ko-KR" altLang="en-US" sz="1400" dirty="0">
                <a:solidFill>
                  <a:srgbClr val="000000"/>
                </a:solidFill>
              </a:rPr>
              <a:t>상추</a:t>
            </a:r>
            <a:r>
              <a:rPr sz="1400" dirty="0">
                <a:solidFill>
                  <a:srgbClr val="000000"/>
                </a:solidFill>
              </a:rPr>
              <a:t>: </a:t>
            </a:r>
            <a:r>
              <a:rPr sz="1400" dirty="0" err="1">
                <a:solidFill>
                  <a:srgbClr val="000000"/>
                </a:solidFill>
              </a:rPr>
              <a:t>복합구에서</a:t>
            </a:r>
            <a:r>
              <a:rPr sz="1400" dirty="0">
                <a:solidFill>
                  <a:srgbClr val="000000"/>
                </a:solidFill>
              </a:rPr>
              <a:t> </a:t>
            </a:r>
            <a:r>
              <a:rPr sz="1400" dirty="0" err="1">
                <a:solidFill>
                  <a:srgbClr val="000000"/>
                </a:solidFill>
              </a:rPr>
              <a:t>V</a:t>
            </a:r>
            <a:r>
              <a:rPr sz="1400" baseline="-25000" dirty="0" err="1">
                <a:solidFill>
                  <a:srgbClr val="000000"/>
                </a:solidFill>
              </a:rPr>
              <a:t>cmax</a:t>
            </a:r>
            <a:r>
              <a:rPr sz="1400" dirty="0" err="1">
                <a:solidFill>
                  <a:srgbClr val="000000"/>
                </a:solidFill>
              </a:rPr>
              <a:t>·J</a:t>
            </a:r>
            <a:r>
              <a:rPr sz="1400" baseline="-25000" dirty="0" err="1">
                <a:solidFill>
                  <a:srgbClr val="000000"/>
                </a:solidFill>
              </a:rPr>
              <a:t>max</a:t>
            </a:r>
            <a:r>
              <a:rPr sz="1400" dirty="0" err="1">
                <a:solidFill>
                  <a:srgbClr val="000000"/>
                </a:solidFill>
              </a:rPr>
              <a:t>가</a:t>
            </a:r>
            <a:r>
              <a:rPr sz="1400" dirty="0">
                <a:solidFill>
                  <a:srgbClr val="000000"/>
                </a:solidFill>
              </a:rPr>
              <a:t> </a:t>
            </a:r>
            <a:r>
              <a:rPr sz="1400" dirty="0" err="1">
                <a:solidFill>
                  <a:srgbClr val="000000"/>
                </a:solidFill>
              </a:rPr>
              <a:t>낮은</a:t>
            </a:r>
            <a:r>
              <a:rPr sz="1400" dirty="0">
                <a:solidFill>
                  <a:srgbClr val="000000"/>
                </a:solidFill>
              </a:rPr>
              <a:t> </a:t>
            </a:r>
            <a:r>
              <a:rPr sz="1400" dirty="0" err="1">
                <a:solidFill>
                  <a:srgbClr val="000000"/>
                </a:solidFill>
              </a:rPr>
              <a:t>경향이고</a:t>
            </a:r>
            <a:r>
              <a:rPr sz="1400" dirty="0">
                <a:solidFill>
                  <a:srgbClr val="000000"/>
                </a:solidFill>
              </a:rPr>
              <a:t> A</a:t>
            </a:r>
            <a:r>
              <a:rPr sz="1400" baseline="-25000" dirty="0">
                <a:solidFill>
                  <a:srgbClr val="000000"/>
                </a:solidFill>
              </a:rPr>
              <a:t>max</a:t>
            </a:r>
            <a:r>
              <a:rPr sz="1400" dirty="0">
                <a:solidFill>
                  <a:srgbClr val="000000"/>
                </a:solidFill>
              </a:rPr>
              <a:t>·α는 </a:t>
            </a:r>
            <a:r>
              <a:rPr sz="1400" dirty="0" err="1">
                <a:solidFill>
                  <a:srgbClr val="000000"/>
                </a:solidFill>
              </a:rPr>
              <a:t>처리</a:t>
            </a:r>
            <a:r>
              <a:rPr sz="1400" dirty="0">
                <a:solidFill>
                  <a:srgbClr val="000000"/>
                </a:solidFill>
              </a:rPr>
              <a:t> 간 </a:t>
            </a:r>
            <a:r>
              <a:rPr sz="1400" dirty="0" err="1">
                <a:solidFill>
                  <a:srgbClr val="000000"/>
                </a:solidFill>
              </a:rPr>
              <a:t>차이</a:t>
            </a:r>
            <a:r>
              <a:rPr sz="1400" dirty="0">
                <a:solidFill>
                  <a:srgbClr val="000000"/>
                </a:solidFill>
              </a:rPr>
              <a:t> </a:t>
            </a:r>
            <a:r>
              <a:rPr sz="1400" dirty="0" err="1">
                <a:solidFill>
                  <a:srgbClr val="000000"/>
                </a:solidFill>
              </a:rPr>
              <a:t>없음</a:t>
            </a:r>
            <a:endParaRPr sz="1400" dirty="0">
              <a:solidFill>
                <a:srgbClr val="000000"/>
              </a:solidFill>
            </a:endParaRPr>
          </a:p>
        </p:txBody>
      </p:sp>
      <p:sp>
        <p:nvSpPr>
          <p:cNvPr id="12"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dirty="0">
                <a:solidFill>
                  <a:srgbClr val="E97132"/>
                </a:solidFill>
              </a:rPr>
              <a:t>콩 </a:t>
            </a:r>
            <a:r>
              <a:rPr sz="1600" dirty="0" err="1">
                <a:solidFill>
                  <a:srgbClr val="E97132"/>
                </a:solidFill>
              </a:rPr>
              <a:t>건조·복합구</a:t>
            </a:r>
            <a:r>
              <a:rPr sz="1600" dirty="0">
                <a:solidFill>
                  <a:srgbClr val="E97132"/>
                </a:solidFill>
              </a:rPr>
              <a:t>(9월)와 </a:t>
            </a:r>
            <a:r>
              <a:rPr lang="ko-KR" altLang="en-US" sz="1600" dirty="0">
                <a:solidFill>
                  <a:srgbClr val="E97132"/>
                </a:solidFill>
              </a:rPr>
              <a:t>상추</a:t>
            </a:r>
            <a:r>
              <a:rPr sz="1600" dirty="0">
                <a:solidFill>
                  <a:srgbClr val="E97132"/>
                </a:solidFill>
              </a:rPr>
              <a:t> </a:t>
            </a:r>
            <a:r>
              <a:rPr sz="1600" dirty="0" err="1">
                <a:solidFill>
                  <a:srgbClr val="E97132"/>
                </a:solidFill>
              </a:rPr>
              <a:t>복합구</a:t>
            </a:r>
            <a:r>
              <a:rPr sz="1600" dirty="0">
                <a:solidFill>
                  <a:srgbClr val="E97132"/>
                </a:solidFill>
              </a:rPr>
              <a:t>(10월)</a:t>
            </a:r>
            <a:r>
              <a:rPr sz="1600" dirty="0" err="1">
                <a:solidFill>
                  <a:srgbClr val="E97132"/>
                </a:solidFill>
              </a:rPr>
              <a:t>에서</a:t>
            </a:r>
            <a:r>
              <a:rPr sz="1600" dirty="0">
                <a:solidFill>
                  <a:srgbClr val="E97132"/>
                </a:solidFill>
              </a:rPr>
              <a:t> </a:t>
            </a:r>
            <a:r>
              <a:rPr sz="1600" dirty="0" err="1">
                <a:solidFill>
                  <a:srgbClr val="E97132"/>
                </a:solidFill>
              </a:rPr>
              <a:t>V</a:t>
            </a:r>
            <a:r>
              <a:rPr sz="1600" baseline="-25000" dirty="0" err="1">
                <a:solidFill>
                  <a:srgbClr val="E97132"/>
                </a:solidFill>
              </a:rPr>
              <a:t>cmax</a:t>
            </a:r>
            <a:r>
              <a:rPr sz="1600" dirty="0" err="1">
                <a:solidFill>
                  <a:srgbClr val="E97132"/>
                </a:solidFill>
              </a:rPr>
              <a:t>·J</a:t>
            </a:r>
            <a:r>
              <a:rPr sz="1600" baseline="-25000" dirty="0" err="1">
                <a:solidFill>
                  <a:srgbClr val="E97132"/>
                </a:solidFill>
              </a:rPr>
              <a:t>max</a:t>
            </a:r>
            <a:r>
              <a:rPr sz="1600" dirty="0" err="1">
                <a:solidFill>
                  <a:srgbClr val="E97132"/>
                </a:solidFill>
              </a:rPr>
              <a:t>가</a:t>
            </a:r>
            <a:r>
              <a:rPr sz="1600" dirty="0">
                <a:solidFill>
                  <a:srgbClr val="E97132"/>
                </a:solidFill>
              </a:rPr>
              <a:t> </a:t>
            </a:r>
            <a:r>
              <a:rPr sz="1600" dirty="0" err="1">
                <a:solidFill>
                  <a:srgbClr val="E97132"/>
                </a:solidFill>
              </a:rPr>
              <a:t>낮은</a:t>
            </a:r>
            <a:r>
              <a:rPr sz="1600" dirty="0">
                <a:solidFill>
                  <a:srgbClr val="E97132"/>
                </a:solidFill>
              </a:rPr>
              <a:t> </a:t>
            </a:r>
            <a:r>
              <a:rPr sz="1600" dirty="0" err="1">
                <a:solidFill>
                  <a:srgbClr val="E97132"/>
                </a:solidFill>
              </a:rPr>
              <a:t>경향</a:t>
            </a:r>
            <a:r>
              <a:rPr sz="1600" dirty="0">
                <a:solidFill>
                  <a:srgbClr val="E97132"/>
                </a:solidFill>
              </a:rPr>
              <a:t> — </a:t>
            </a:r>
            <a:r>
              <a:rPr sz="1600" dirty="0" err="1">
                <a:solidFill>
                  <a:srgbClr val="E97132"/>
                </a:solidFill>
              </a:rPr>
              <a:t>측정일</a:t>
            </a:r>
            <a:r>
              <a:rPr sz="1600" dirty="0">
                <a:solidFill>
                  <a:srgbClr val="E97132"/>
                </a:solidFill>
              </a:rPr>
              <a:t> </a:t>
            </a:r>
            <a:r>
              <a:rPr sz="1600" dirty="0" err="1">
                <a:solidFill>
                  <a:srgbClr val="E97132"/>
                </a:solidFill>
              </a:rPr>
              <a:t>교락으로</a:t>
            </a:r>
            <a:r>
              <a:rPr sz="1600" dirty="0">
                <a:solidFill>
                  <a:srgbClr val="E97132"/>
                </a:solidFill>
              </a:rPr>
              <a:t> </a:t>
            </a:r>
            <a:r>
              <a:rPr sz="1600" dirty="0" err="1">
                <a:solidFill>
                  <a:srgbClr val="E97132"/>
                </a:solidFill>
              </a:rPr>
              <a:t>확정은</a:t>
            </a:r>
            <a:r>
              <a:rPr sz="1600" dirty="0">
                <a:solidFill>
                  <a:srgbClr val="E97132"/>
                </a:solidFill>
              </a:rPr>
              <a:t> </a:t>
            </a:r>
            <a:r>
              <a:rPr sz="1600" dirty="0" err="1">
                <a:solidFill>
                  <a:srgbClr val="E97132"/>
                </a:solidFill>
              </a:rPr>
              <a:t>어려움</a:t>
            </a:r>
            <a:endParaRPr sz="1600" dirty="0">
              <a:solidFill>
                <a:srgbClr val="E97132"/>
              </a:solidFill>
            </a:endParaRPr>
          </a:p>
        </p:txBody>
      </p:sp>
      <p:sp>
        <p:nvSpPr>
          <p:cNvPr id="13" name="Footnote"/>
          <p:cNvSpPr txBox="1"/>
          <p:nvPr/>
        </p:nvSpPr>
        <p:spPr>
          <a:xfrm>
            <a:off x="457200" y="6473952"/>
            <a:ext cx="8138160" cy="310896"/>
          </a:xfrm>
          <a:prstGeom prst="rect">
            <a:avLst/>
          </a:prstGeom>
          <a:noFill/>
        </p:spPr>
        <p:txBody>
          <a:bodyPr wrap="square" lIns="45720" tIns="0" rIns="45720" bIns="0" anchor="t">
            <a:spAutoFit/>
          </a:bodyPr>
          <a:lstStyle/>
          <a:p>
            <a:r>
              <a:rPr sz="1000" dirty="0" err="1">
                <a:solidFill>
                  <a:srgbClr val="595959"/>
                </a:solidFill>
              </a:rPr>
              <a:t>상자</a:t>
            </a:r>
            <a:r>
              <a:rPr sz="1000" dirty="0">
                <a:solidFill>
                  <a:srgbClr val="595959"/>
                </a:solidFill>
              </a:rPr>
              <a:t>: </a:t>
            </a:r>
            <a:r>
              <a:rPr sz="1000" dirty="0" err="1">
                <a:solidFill>
                  <a:srgbClr val="595959"/>
                </a:solidFill>
              </a:rPr>
              <a:t>사분위</a:t>
            </a:r>
            <a:r>
              <a:rPr sz="1000" dirty="0">
                <a:solidFill>
                  <a:srgbClr val="595959"/>
                </a:solidFill>
              </a:rPr>
              <a:t>(n≥4), </a:t>
            </a:r>
            <a:r>
              <a:rPr sz="1000" dirty="0" err="1">
                <a:solidFill>
                  <a:srgbClr val="595959"/>
                </a:solidFill>
              </a:rPr>
              <a:t>가로선</a:t>
            </a:r>
            <a:r>
              <a:rPr sz="1000" dirty="0">
                <a:solidFill>
                  <a:srgbClr val="595959"/>
                </a:solidFill>
              </a:rPr>
              <a:t>: </a:t>
            </a:r>
            <a:r>
              <a:rPr sz="1000" dirty="0" err="1">
                <a:solidFill>
                  <a:srgbClr val="595959"/>
                </a:solidFill>
              </a:rPr>
              <a:t>평균</a:t>
            </a:r>
            <a:r>
              <a:rPr sz="1000" dirty="0">
                <a:solidFill>
                  <a:srgbClr val="595959"/>
                </a:solidFill>
              </a:rPr>
              <a:t> ± SE(n&lt;4), 점: </a:t>
            </a:r>
            <a:r>
              <a:rPr sz="1000" dirty="0" err="1">
                <a:solidFill>
                  <a:srgbClr val="595959"/>
                </a:solidFill>
              </a:rPr>
              <a:t>개별</a:t>
            </a:r>
            <a:r>
              <a:rPr sz="1000" dirty="0">
                <a:solidFill>
                  <a:srgbClr val="595959"/>
                </a:solidFill>
              </a:rPr>
              <a:t> </a:t>
            </a:r>
            <a:r>
              <a:rPr sz="1000" dirty="0" err="1">
                <a:solidFill>
                  <a:srgbClr val="595959"/>
                </a:solidFill>
              </a:rPr>
              <a:t>곡선</a:t>
            </a:r>
            <a:r>
              <a:rPr sz="1000" dirty="0">
                <a:solidFill>
                  <a:srgbClr val="595959"/>
                </a:solidFill>
              </a:rPr>
              <a:t>, </a:t>
            </a:r>
            <a:r>
              <a:rPr sz="1000" dirty="0" err="1">
                <a:solidFill>
                  <a:srgbClr val="595959"/>
                </a:solidFill>
              </a:rPr>
              <a:t>문자</a:t>
            </a:r>
            <a:r>
              <a:rPr sz="1000" dirty="0">
                <a:solidFill>
                  <a:srgbClr val="595959"/>
                </a:solidFill>
              </a:rPr>
              <a:t>: Tukey(ANOVA P&lt;0.05일 </a:t>
            </a:r>
            <a:r>
              <a:rPr sz="1000" dirty="0" err="1">
                <a:solidFill>
                  <a:srgbClr val="595959"/>
                </a:solidFill>
              </a:rPr>
              <a:t>때만</a:t>
            </a:r>
            <a:r>
              <a:rPr sz="1000" dirty="0">
                <a:solidFill>
                  <a:srgbClr val="595959"/>
                </a:solidFill>
              </a:rPr>
              <a:t>), x: </a:t>
            </a:r>
            <a:r>
              <a:rPr sz="1000" dirty="0" err="1">
                <a:solidFill>
                  <a:srgbClr val="595959"/>
                </a:solidFill>
              </a:rPr>
              <a:t>처리</a:t>
            </a:r>
            <a:r>
              <a:rPr sz="1000" dirty="0">
                <a:solidFill>
                  <a:srgbClr val="595959"/>
                </a:solidFill>
              </a:rPr>
              <a:t> 전. 콩 9/2~9/17, </a:t>
            </a:r>
            <a:r>
              <a:rPr lang="ko-KR" altLang="en-US" sz="1000" dirty="0">
                <a:solidFill>
                  <a:srgbClr val="595959"/>
                </a:solidFill>
              </a:rPr>
              <a:t>상추</a:t>
            </a:r>
            <a:r>
              <a:rPr sz="1000" dirty="0">
                <a:solidFill>
                  <a:srgbClr val="595959"/>
                </a:solidFill>
              </a:rPr>
              <a:t> 10/16~19 </a:t>
            </a:r>
            <a:r>
              <a:rPr sz="1000" dirty="0" err="1">
                <a:solidFill>
                  <a:srgbClr val="595959"/>
                </a:solidFill>
              </a:rPr>
              <a:t>측정으로</a:t>
            </a:r>
            <a:r>
              <a:rPr sz="1000" dirty="0">
                <a:solidFill>
                  <a:srgbClr val="595959"/>
                </a:solidFill>
              </a:rPr>
              <a:t> </a:t>
            </a:r>
            <a:r>
              <a:rPr sz="1000" dirty="0" err="1">
                <a:solidFill>
                  <a:srgbClr val="595959"/>
                </a:solidFill>
              </a:rPr>
              <a:t>처리와</a:t>
            </a:r>
            <a:r>
              <a:rPr sz="1000" dirty="0">
                <a:solidFill>
                  <a:srgbClr val="595959"/>
                </a:solidFill>
              </a:rPr>
              <a:t> </a:t>
            </a:r>
            <a:r>
              <a:rPr sz="1000" dirty="0" err="1">
                <a:solidFill>
                  <a:srgbClr val="595959"/>
                </a:solidFill>
              </a:rPr>
              <a:t>측정일이</a:t>
            </a:r>
            <a:r>
              <a:rPr sz="1000" dirty="0">
                <a:solidFill>
                  <a:srgbClr val="595959"/>
                </a:solidFill>
              </a:rPr>
              <a:t> </a:t>
            </a:r>
            <a:r>
              <a:rPr sz="1000" dirty="0" err="1">
                <a:solidFill>
                  <a:srgbClr val="595959"/>
                </a:solidFill>
              </a:rPr>
              <a:t>교락됨</a:t>
            </a:r>
            <a:r>
              <a:rPr sz="1000" dirty="0">
                <a:solidFill>
                  <a:srgbClr val="595959"/>
                </a:solidFill>
              </a:rPr>
              <a:t>.</a:t>
            </a:r>
          </a:p>
        </p:txBody>
      </p:sp>
      <p:sp>
        <p:nvSpPr>
          <p:cNvPr id="15"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7" name="Nav 결과"/>
          <p:cNvSpPr txBox="1"/>
          <p:nvPr/>
        </p:nvSpPr>
        <p:spPr>
          <a:xfrm>
            <a:off x="3584448" y="100584"/>
            <a:ext cx="1371600" cy="329184"/>
          </a:xfrm>
          <a:prstGeom prst="rect">
            <a:avLst/>
          </a:prstGeom>
          <a:noFill/>
        </p:spPr>
        <p:txBody>
          <a:bodyPr wrap="none" lIns="0" tIns="0" rIns="0" bIns="0" anchor="ctr">
            <a:spAutoFit/>
          </a:bodyPr>
          <a:lstStyle/>
          <a:p>
            <a:pPr algn="ctr"/>
            <a:r>
              <a:rPr sz="1450" b="1" u="sng">
                <a:solidFill>
                  <a:srgbClr val="1A1A1A"/>
                </a:solidFill>
              </a:rPr>
              <a:t>결과</a:t>
            </a:r>
          </a:p>
        </p:txBody>
      </p:sp>
      <p:sp>
        <p:nvSpPr>
          <p:cNvPr id="18"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9"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graphicFrame>
        <p:nvGraphicFramePr>
          <p:cNvPr id="20" name="Table P2"/>
          <p:cNvGraphicFramePr>
            <a:graphicFrameLocks noGrp="1"/>
          </p:cNvGraphicFramePr>
          <p:nvPr>
            <p:extLst>
              <p:ext uri="{D42A27DB-BD31-4B8C-83A1-F6EECF244321}">
                <p14:modId xmlns:p14="http://schemas.microsoft.com/office/powerpoint/2010/main" val="3364335730"/>
              </p:ext>
            </p:extLst>
          </p:nvPr>
        </p:nvGraphicFramePr>
        <p:xfrm>
          <a:off x="3875315" y="3931920"/>
          <a:ext cx="3520440" cy="1399032"/>
        </p:xfrm>
        <a:graphic>
          <a:graphicData uri="http://schemas.openxmlformats.org/drawingml/2006/table">
            <a:tbl>
              <a:tblPr>
                <a:tableStyleId>{2D5ABB26-0587-4C30-8999-92F81FD0307C}</a:tableStyleId>
              </a:tblPr>
              <a:tblGrid>
                <a:gridCol w="842659">
                  <a:extLst>
                    <a:ext uri="{9D8B030D-6E8A-4147-A177-3AD203B41FA5}">
                      <a16:colId xmlns:a16="http://schemas.microsoft.com/office/drawing/2014/main" val="20000"/>
                    </a:ext>
                  </a:extLst>
                </a:gridCol>
                <a:gridCol w="514958">
                  <a:extLst>
                    <a:ext uri="{9D8B030D-6E8A-4147-A177-3AD203B41FA5}">
                      <a16:colId xmlns:a16="http://schemas.microsoft.com/office/drawing/2014/main" val="20001"/>
                    </a:ext>
                  </a:extLst>
                </a:gridCol>
                <a:gridCol w="514958">
                  <a:extLst>
                    <a:ext uri="{9D8B030D-6E8A-4147-A177-3AD203B41FA5}">
                      <a16:colId xmlns:a16="http://schemas.microsoft.com/office/drawing/2014/main" val="20002"/>
                    </a:ext>
                  </a:extLst>
                </a:gridCol>
                <a:gridCol w="617949">
                  <a:extLst>
                    <a:ext uri="{9D8B030D-6E8A-4147-A177-3AD203B41FA5}">
                      <a16:colId xmlns:a16="http://schemas.microsoft.com/office/drawing/2014/main" val="20003"/>
                    </a:ext>
                  </a:extLst>
                </a:gridCol>
                <a:gridCol w="514958">
                  <a:extLst>
                    <a:ext uri="{9D8B030D-6E8A-4147-A177-3AD203B41FA5}">
                      <a16:colId xmlns:a16="http://schemas.microsoft.com/office/drawing/2014/main" val="20004"/>
                    </a:ext>
                  </a:extLst>
                </a:gridCol>
                <a:gridCol w="514958">
                  <a:extLst>
                    <a:ext uri="{9D8B030D-6E8A-4147-A177-3AD203B41FA5}">
                      <a16:colId xmlns:a16="http://schemas.microsoft.com/office/drawing/2014/main" val="3850450545"/>
                    </a:ext>
                  </a:extLst>
                </a:gridCol>
              </a:tblGrid>
              <a:tr h="233172">
                <a:tc>
                  <a:txBody>
                    <a:bodyPr/>
                    <a:lstStyle/>
                    <a:p>
                      <a:pPr algn="l">
                        <a:lnSpc>
                          <a:spcPct val="100000"/>
                        </a:lnSpc>
                        <a:spcBef>
                          <a:spcPts val="0"/>
                        </a:spcBef>
                        <a:spcAft>
                          <a:spcPts val="0"/>
                        </a:spcAft>
                      </a:pPr>
                      <a:r>
                        <a:rPr sz="1000" b="1">
                          <a:solidFill>
                            <a:srgbClr val="000000"/>
                          </a:solidFill>
                        </a:rPr>
                        <a:t>Romaine</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00" b="1">
                          <a:solidFill>
                            <a:srgbClr val="000000"/>
                          </a:solidFill>
                        </a:rPr>
                        <a:t>V</a:t>
                      </a:r>
                      <a:r>
                        <a:rPr sz="1000" b="1" baseline="-25000">
                          <a:solidFill>
                            <a:srgbClr val="000000"/>
                          </a:solidFill>
                        </a:rPr>
                        <a:t>cmax</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00" b="1">
                          <a:solidFill>
                            <a:srgbClr val="000000"/>
                          </a:solidFill>
                        </a:rPr>
                        <a:t>J</a:t>
                      </a:r>
                      <a:r>
                        <a:rPr sz="1000" b="1" baseline="-25000">
                          <a:solidFill>
                            <a:srgbClr val="000000"/>
                          </a:solidFill>
                        </a:rPr>
                        <a:t>max</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00" b="1">
                          <a:solidFill>
                            <a:srgbClr val="000000"/>
                          </a:solidFill>
                        </a:rPr>
                        <a:t>R</a:t>
                      </a:r>
                      <a:r>
                        <a:rPr sz="1000" b="1" baseline="-25000">
                          <a:solidFill>
                            <a:srgbClr val="000000"/>
                          </a:solidFill>
                        </a:rPr>
                        <a:t>d</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00" b="1">
                          <a:solidFill>
                            <a:srgbClr val="000000"/>
                          </a:solidFill>
                        </a:rPr>
                        <a:t>A</a:t>
                      </a:r>
                      <a:r>
                        <a:rPr sz="1000" b="1" baseline="-25000">
                          <a:solidFill>
                            <a:srgbClr val="000000"/>
                          </a:solidFill>
                        </a:rPr>
                        <a:t>max</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00" b="1">
                          <a:solidFill>
                            <a:srgbClr val="000000"/>
                          </a:solidFill>
                        </a:rPr>
                        <a:t>α</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233172">
                <a:tc>
                  <a:txBody>
                    <a:bodyPr/>
                    <a:lstStyle/>
                    <a:p>
                      <a:pPr algn="l">
                        <a:lnSpc>
                          <a:spcPct val="100000"/>
                        </a:lnSpc>
                        <a:spcBef>
                          <a:spcPts val="0"/>
                        </a:spcBef>
                        <a:spcAft>
                          <a:spcPts val="0"/>
                        </a:spcAft>
                      </a:pPr>
                      <a:r>
                        <a:rPr sz="1000" b="0">
                          <a:solidFill>
                            <a:srgbClr val="000000"/>
                          </a:solidFill>
                        </a:rPr>
                        <a:t>Pre-treat.</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00" b="0">
                          <a:solidFill>
                            <a:srgbClr val="000000"/>
                          </a:solidFill>
                        </a:rPr>
                        <a:t>98</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00" b="0">
                          <a:solidFill>
                            <a:srgbClr val="000000"/>
                          </a:solidFill>
                        </a:rPr>
                        <a:t>173</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00" b="0">
                          <a:solidFill>
                            <a:srgbClr val="000000"/>
                          </a:solidFill>
                        </a:rPr>
                        <a:t>1.70</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00" b="0">
                          <a:solidFill>
                            <a:srgbClr val="000000"/>
                          </a:solidFill>
                        </a:rPr>
                        <a:t>26.4</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00" b="0">
                          <a:solidFill>
                            <a:srgbClr val="000000"/>
                          </a:solidFill>
                        </a:rPr>
                        <a:t>0.063</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233172">
                <a:tc>
                  <a:txBody>
                    <a:bodyPr/>
                    <a:lstStyle/>
                    <a:p>
                      <a:pPr algn="l">
                        <a:lnSpc>
                          <a:spcPct val="100000"/>
                        </a:lnSpc>
                        <a:spcBef>
                          <a:spcPts val="0"/>
                        </a:spcBef>
                        <a:spcAft>
                          <a:spcPts val="0"/>
                        </a:spcAft>
                      </a:pPr>
                      <a:r>
                        <a:rPr sz="1000" b="0">
                          <a:solidFill>
                            <a:srgbClr val="000000"/>
                          </a:solidFill>
                        </a:rPr>
                        <a:t>Control</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104 a</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200 a</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1.94</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26.1</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0.065</a:t>
                      </a:r>
                      <a:endParaRPr sz="10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233172">
                <a:tc>
                  <a:txBody>
                    <a:bodyPr/>
                    <a:lstStyle/>
                    <a:p>
                      <a:pPr algn="l">
                        <a:lnSpc>
                          <a:spcPct val="100000"/>
                        </a:lnSpc>
                        <a:spcBef>
                          <a:spcPts val="0"/>
                        </a:spcBef>
                        <a:spcAft>
                          <a:spcPts val="0"/>
                        </a:spcAft>
                      </a:pPr>
                      <a:r>
                        <a:rPr sz="1000" b="0">
                          <a:solidFill>
                            <a:srgbClr val="000000"/>
                          </a:solidFill>
                        </a:rPr>
                        <a:t>Drought</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94 ab</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175 ab</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2.06</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25.0</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0.067</a:t>
                      </a:r>
                      <a:endParaRPr sz="10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233172">
                <a:tc>
                  <a:txBody>
                    <a:bodyPr/>
                    <a:lstStyle/>
                    <a:p>
                      <a:pPr algn="l">
                        <a:lnSpc>
                          <a:spcPct val="100000"/>
                        </a:lnSpc>
                        <a:spcBef>
                          <a:spcPts val="0"/>
                        </a:spcBef>
                        <a:spcAft>
                          <a:spcPts val="0"/>
                        </a:spcAft>
                      </a:pPr>
                      <a:r>
                        <a:rPr sz="1000" b="0">
                          <a:solidFill>
                            <a:srgbClr val="000000"/>
                          </a:solidFill>
                        </a:rPr>
                        <a:t>Waterlog.</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88 ab</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168 ab</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1.91</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28.9</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0.059</a:t>
                      </a:r>
                      <a:endParaRPr sz="10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4"/>
                  </a:ext>
                </a:extLst>
              </a:tr>
              <a:tr h="233172">
                <a:tc>
                  <a:txBody>
                    <a:bodyPr/>
                    <a:lstStyle/>
                    <a:p>
                      <a:pPr algn="l">
                        <a:lnSpc>
                          <a:spcPct val="100000"/>
                        </a:lnSpc>
                        <a:spcBef>
                          <a:spcPts val="0"/>
                        </a:spcBef>
                        <a:spcAft>
                          <a:spcPts val="0"/>
                        </a:spcAft>
                      </a:pPr>
                      <a:r>
                        <a:rPr sz="1000" b="0">
                          <a:solidFill>
                            <a:srgbClr val="000000"/>
                          </a:solidFill>
                        </a:rPr>
                        <a:t>Combined</a:t>
                      </a:r>
                      <a:endParaRPr sz="10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00" b="0">
                          <a:solidFill>
                            <a:srgbClr val="000000"/>
                          </a:solidFill>
                        </a:rPr>
                        <a:t>73 b</a:t>
                      </a:r>
                      <a:endParaRPr sz="10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00" b="0">
                          <a:solidFill>
                            <a:srgbClr val="000000"/>
                          </a:solidFill>
                        </a:rPr>
                        <a:t>142 b</a:t>
                      </a:r>
                      <a:endParaRPr sz="10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00" b="0">
                          <a:solidFill>
                            <a:srgbClr val="000000"/>
                          </a:solidFill>
                        </a:rPr>
                        <a:t>1.76</a:t>
                      </a:r>
                      <a:endParaRPr sz="10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00" b="0">
                          <a:solidFill>
                            <a:srgbClr val="000000"/>
                          </a:solidFill>
                        </a:rPr>
                        <a:t>21.6</a:t>
                      </a:r>
                      <a:endParaRPr sz="10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00" b="0" dirty="0">
                          <a:solidFill>
                            <a:srgbClr val="000000"/>
                          </a:solidFill>
                        </a:rPr>
                        <a:t>0.063</a:t>
                      </a:r>
                      <a:endParaRPr sz="1000" dirty="0"/>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9069106" cy="566928"/>
          </a:xfrm>
        </p:spPr>
        <p:txBody>
          <a:bodyPr anchor="b">
            <a:normAutofit/>
          </a:bodyPr>
          <a:lstStyle/>
          <a:p>
            <a:r>
              <a:rPr lang="ko-KR" altLang="en-US" sz="2800" dirty="0"/>
              <a:t>생육 조사 : 수량 및 지상부 생육</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13</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lang="ko-KR" altLang="en-US" sz="1600" dirty="0">
                <a:solidFill>
                  <a:srgbClr val="E97132"/>
                </a:solidFill>
              </a:rPr>
              <a:t>상추는</a:t>
            </a:r>
            <a:r>
              <a:rPr sz="1600" dirty="0">
                <a:solidFill>
                  <a:srgbClr val="E97132"/>
                </a:solidFill>
              </a:rPr>
              <a:t> </a:t>
            </a:r>
            <a:r>
              <a:rPr sz="1600" dirty="0" err="1">
                <a:solidFill>
                  <a:srgbClr val="E97132"/>
                </a:solidFill>
              </a:rPr>
              <a:t>건물중</a:t>
            </a:r>
            <a:r>
              <a:rPr sz="1600" dirty="0">
                <a:solidFill>
                  <a:srgbClr val="E97132"/>
                </a:solidFill>
              </a:rPr>
              <a:t> −16~43% </a:t>
            </a:r>
            <a:r>
              <a:rPr sz="1600" dirty="0" err="1">
                <a:solidFill>
                  <a:srgbClr val="E97132"/>
                </a:solidFill>
              </a:rPr>
              <a:t>감소</a:t>
            </a:r>
            <a:r>
              <a:rPr sz="1600" dirty="0">
                <a:solidFill>
                  <a:srgbClr val="E97132"/>
                </a:solidFill>
              </a:rPr>
              <a:t>, </a:t>
            </a:r>
            <a:r>
              <a:rPr sz="1600" dirty="0" err="1">
                <a:solidFill>
                  <a:srgbClr val="E97132"/>
                </a:solidFill>
              </a:rPr>
              <a:t>콩은</a:t>
            </a:r>
            <a:r>
              <a:rPr sz="1600" dirty="0">
                <a:solidFill>
                  <a:srgbClr val="E97132"/>
                </a:solidFill>
              </a:rPr>
              <a:t> </a:t>
            </a:r>
            <a:r>
              <a:rPr sz="1600" dirty="0" err="1">
                <a:solidFill>
                  <a:srgbClr val="E97132"/>
                </a:solidFill>
              </a:rPr>
              <a:t>수량</a:t>
            </a:r>
            <a:r>
              <a:rPr sz="1600" dirty="0">
                <a:solidFill>
                  <a:srgbClr val="E97132"/>
                </a:solidFill>
              </a:rPr>
              <a:t> </a:t>
            </a:r>
            <a:r>
              <a:rPr sz="1600" dirty="0" err="1">
                <a:solidFill>
                  <a:srgbClr val="E97132"/>
                </a:solidFill>
              </a:rPr>
              <a:t>감소</a:t>
            </a:r>
            <a:r>
              <a:rPr sz="1600" dirty="0">
                <a:solidFill>
                  <a:srgbClr val="E97132"/>
                </a:solidFill>
              </a:rPr>
              <a:t> </a:t>
            </a:r>
            <a:r>
              <a:rPr sz="1600" dirty="0" err="1">
                <a:solidFill>
                  <a:srgbClr val="E97132"/>
                </a:solidFill>
              </a:rPr>
              <a:t>경향이나</a:t>
            </a:r>
            <a:r>
              <a:rPr sz="1600" dirty="0">
                <a:solidFill>
                  <a:srgbClr val="E97132"/>
                </a:solidFill>
              </a:rPr>
              <a:t> </a:t>
            </a:r>
            <a:r>
              <a:rPr sz="1600" dirty="0" err="1">
                <a:solidFill>
                  <a:srgbClr val="E97132"/>
                </a:solidFill>
              </a:rPr>
              <a:t>유의차</a:t>
            </a:r>
            <a:r>
              <a:rPr sz="1600" dirty="0">
                <a:solidFill>
                  <a:srgbClr val="E97132"/>
                </a:solidFill>
              </a:rPr>
              <a:t> </a:t>
            </a:r>
            <a:r>
              <a:rPr sz="1600" dirty="0" err="1">
                <a:solidFill>
                  <a:srgbClr val="E97132"/>
                </a:solidFill>
              </a:rPr>
              <a:t>없음</a:t>
            </a:r>
            <a:endParaRPr sz="1600" dirty="0">
              <a:solidFill>
                <a:srgbClr val="E97132"/>
              </a:solidFill>
            </a:endParaRP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dirty="0">
                <a:solidFill>
                  <a:srgbClr val="595959"/>
                </a:solidFill>
              </a:rPr>
              <a:t>표: </a:t>
            </a:r>
            <a:r>
              <a:rPr sz="1000" dirty="0" err="1">
                <a:solidFill>
                  <a:srgbClr val="595959"/>
                </a:solidFill>
              </a:rPr>
              <a:t>평균</a:t>
            </a:r>
            <a:r>
              <a:rPr sz="1000" dirty="0">
                <a:solidFill>
                  <a:srgbClr val="595959"/>
                </a:solidFill>
              </a:rPr>
              <a:t> (</a:t>
            </a:r>
            <a:r>
              <a:rPr sz="1000" dirty="0" err="1">
                <a:solidFill>
                  <a:srgbClr val="595959"/>
                </a:solidFill>
              </a:rPr>
              <a:t>대조구</a:t>
            </a:r>
            <a:r>
              <a:rPr sz="1000" dirty="0">
                <a:solidFill>
                  <a:srgbClr val="595959"/>
                </a:solidFill>
              </a:rPr>
              <a:t> </a:t>
            </a:r>
            <a:r>
              <a:rPr sz="1000" dirty="0" err="1">
                <a:solidFill>
                  <a:srgbClr val="595959"/>
                </a:solidFill>
              </a:rPr>
              <a:t>대비</a:t>
            </a:r>
            <a:r>
              <a:rPr sz="1000" dirty="0">
                <a:solidFill>
                  <a:srgbClr val="595959"/>
                </a:solidFill>
              </a:rPr>
              <a:t> %), </a:t>
            </a:r>
            <a:r>
              <a:rPr sz="1000" dirty="0" err="1">
                <a:solidFill>
                  <a:srgbClr val="595959"/>
                </a:solidFill>
              </a:rPr>
              <a:t>건조·침수·복합</a:t>
            </a:r>
            <a:r>
              <a:rPr sz="1000" dirty="0">
                <a:solidFill>
                  <a:srgbClr val="595959"/>
                </a:solidFill>
              </a:rPr>
              <a:t> 순. </a:t>
            </a:r>
            <a:r>
              <a:rPr lang="ko-KR" altLang="en-US" sz="1000" dirty="0">
                <a:solidFill>
                  <a:srgbClr val="595959"/>
                </a:solidFill>
              </a:rPr>
              <a:t>상추</a:t>
            </a:r>
            <a:r>
              <a:rPr sz="1000" dirty="0">
                <a:solidFill>
                  <a:srgbClr val="595959"/>
                </a:solidFill>
              </a:rPr>
              <a:t> 10/23(DAT 16) </a:t>
            </a:r>
            <a:r>
              <a:rPr sz="1000" dirty="0" err="1">
                <a:solidFill>
                  <a:srgbClr val="595959"/>
                </a:solidFill>
              </a:rPr>
              <a:t>처리당</a:t>
            </a:r>
            <a:r>
              <a:rPr sz="1000" dirty="0">
                <a:solidFill>
                  <a:srgbClr val="595959"/>
                </a:solidFill>
              </a:rPr>
              <a:t> 8~9주, 콩 10/6(DAT 55, R6~R7) </a:t>
            </a:r>
            <a:r>
              <a:rPr sz="1000" dirty="0" err="1">
                <a:solidFill>
                  <a:srgbClr val="595959"/>
                </a:solidFill>
              </a:rPr>
              <a:t>파괴조사</a:t>
            </a:r>
            <a:r>
              <a:rPr sz="1000" dirty="0">
                <a:solidFill>
                  <a:srgbClr val="595959"/>
                </a:solidFill>
              </a:rPr>
              <a:t> n=6~9. </a:t>
            </a:r>
            <a:r>
              <a:rPr sz="1000" dirty="0" err="1">
                <a:solidFill>
                  <a:srgbClr val="595959"/>
                </a:solidFill>
              </a:rPr>
              <a:t>그림</a:t>
            </a:r>
            <a:r>
              <a:rPr sz="1000" dirty="0">
                <a:solidFill>
                  <a:srgbClr val="595959"/>
                </a:solidFill>
              </a:rPr>
              <a:t>: </a:t>
            </a:r>
            <a:r>
              <a:rPr sz="1000" dirty="0" err="1">
                <a:solidFill>
                  <a:srgbClr val="595959"/>
                </a:solidFill>
              </a:rPr>
              <a:t>평균</a:t>
            </a:r>
            <a:r>
              <a:rPr sz="1000" dirty="0">
                <a:solidFill>
                  <a:srgbClr val="595959"/>
                </a:solidFill>
              </a:rPr>
              <a:t> ± SE, </a:t>
            </a:r>
            <a:r>
              <a:rPr sz="1000" dirty="0" err="1">
                <a:solidFill>
                  <a:srgbClr val="595959"/>
                </a:solidFill>
              </a:rPr>
              <a:t>문자</a:t>
            </a:r>
            <a:r>
              <a:rPr sz="1000" dirty="0">
                <a:solidFill>
                  <a:srgbClr val="595959"/>
                </a:solidFill>
              </a:rPr>
              <a:t> Tukey(ANOVA P&lt;0.05일 </a:t>
            </a:r>
            <a:r>
              <a:rPr sz="1000" dirty="0" err="1">
                <a:solidFill>
                  <a:srgbClr val="595959"/>
                </a:solidFill>
              </a:rPr>
              <a:t>때만</a:t>
            </a:r>
            <a:r>
              <a:rPr sz="1000" dirty="0">
                <a:solidFill>
                  <a:srgbClr val="595959"/>
                </a:solidFill>
              </a:rPr>
              <a:t>). </a:t>
            </a:r>
            <a:r>
              <a:rPr sz="1000" dirty="0" err="1">
                <a:solidFill>
                  <a:srgbClr val="595959"/>
                </a:solidFill>
              </a:rPr>
              <a:t>종실</a:t>
            </a:r>
            <a:r>
              <a:rPr sz="1000" dirty="0">
                <a:solidFill>
                  <a:srgbClr val="595959"/>
                </a:solidFill>
              </a:rPr>
              <a:t> </a:t>
            </a:r>
            <a:r>
              <a:rPr sz="1000" dirty="0" err="1">
                <a:solidFill>
                  <a:srgbClr val="595959"/>
                </a:solidFill>
              </a:rPr>
              <a:t>생체중</a:t>
            </a:r>
            <a:r>
              <a:rPr sz="1000" dirty="0">
                <a:solidFill>
                  <a:srgbClr val="595959"/>
                </a:solidFill>
              </a:rPr>
              <a:t> = </a:t>
            </a:r>
            <a:r>
              <a:rPr sz="1000" dirty="0" err="1">
                <a:solidFill>
                  <a:srgbClr val="595959"/>
                </a:solidFill>
              </a:rPr>
              <a:t>개체당</a:t>
            </a:r>
            <a:r>
              <a:rPr sz="1000" dirty="0">
                <a:solidFill>
                  <a:srgbClr val="595959"/>
                </a:solidFill>
              </a:rPr>
              <a:t> </a:t>
            </a:r>
            <a:r>
              <a:rPr sz="1000" dirty="0" err="1">
                <a:solidFill>
                  <a:srgbClr val="595959"/>
                </a:solidFill>
              </a:rPr>
              <a:t>종실</a:t>
            </a:r>
            <a:r>
              <a:rPr sz="1000" dirty="0">
                <a:solidFill>
                  <a:srgbClr val="595959"/>
                </a:solidFill>
              </a:rPr>
              <a:t> </a:t>
            </a:r>
            <a:r>
              <a:rPr sz="1000" dirty="0" err="1">
                <a:solidFill>
                  <a:srgbClr val="595959"/>
                </a:solidFill>
              </a:rPr>
              <a:t>전체</a:t>
            </a:r>
            <a:r>
              <a:rPr sz="1000" dirty="0">
                <a:solidFill>
                  <a:srgbClr val="595959"/>
                </a:solidFill>
              </a:rPr>
              <a:t> </a:t>
            </a:r>
            <a:r>
              <a:rPr sz="1000" dirty="0" err="1">
                <a:solidFill>
                  <a:srgbClr val="595959"/>
                </a:solidFill>
              </a:rPr>
              <a:t>생체중</a:t>
            </a:r>
            <a:r>
              <a:rPr sz="1000" dirty="0">
                <a:solidFill>
                  <a:srgbClr val="595959"/>
                </a:solidFill>
              </a:rPr>
              <a:t>, </a:t>
            </a:r>
            <a:r>
              <a:rPr sz="1000" dirty="0" err="1">
                <a:solidFill>
                  <a:srgbClr val="595959"/>
                </a:solidFill>
              </a:rPr>
              <a:t>처리</a:t>
            </a:r>
            <a:r>
              <a:rPr sz="1000" dirty="0">
                <a:solidFill>
                  <a:srgbClr val="595959"/>
                </a:solidFill>
              </a:rPr>
              <a:t> 간 </a:t>
            </a:r>
            <a:r>
              <a:rPr sz="1000" dirty="0" err="1">
                <a:solidFill>
                  <a:srgbClr val="595959"/>
                </a:solidFill>
              </a:rPr>
              <a:t>유의차</a:t>
            </a:r>
            <a:r>
              <a:rPr sz="1000" dirty="0">
                <a:solidFill>
                  <a:srgbClr val="595959"/>
                </a:solidFill>
              </a:rPr>
              <a:t> </a:t>
            </a:r>
            <a:r>
              <a:rPr sz="1000" dirty="0" err="1">
                <a:solidFill>
                  <a:srgbClr val="595959"/>
                </a:solidFill>
              </a:rPr>
              <a:t>없음</a:t>
            </a:r>
            <a:r>
              <a:rPr sz="1000" dirty="0">
                <a:solidFill>
                  <a:srgbClr val="595959"/>
                </a:solidFill>
              </a:rPr>
              <a:t>.</a:t>
            </a:r>
          </a:p>
        </p:txBody>
      </p:sp>
      <p:pic>
        <p:nvPicPr>
          <p:cNvPr id="27" name="Picture 26" descr="image.png"/>
          <p:cNvPicPr>
            <a:picLocks noChangeAspect="1"/>
          </p:cNvPicPr>
          <p:nvPr/>
        </p:nvPicPr>
        <p:blipFill>
          <a:blip r:embed="rId4"/>
          <a:stretch>
            <a:fillRect/>
          </a:stretch>
        </p:blipFill>
        <p:spPr>
          <a:xfrm>
            <a:off x="658368" y="1143000"/>
            <a:ext cx="6638544" cy="1982941"/>
          </a:xfrm>
          <a:prstGeom prst="rect">
            <a:avLst/>
          </a:prstGeom>
        </p:spPr>
      </p:pic>
      <p:sp>
        <p:nvSpPr>
          <p:cNvPr id="34" name="Card 요점"/>
          <p:cNvSpPr/>
          <p:nvPr/>
        </p:nvSpPr>
        <p:spPr>
          <a:xfrm>
            <a:off x="7863840" y="1481328"/>
            <a:ext cx="3493008" cy="402336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35" name="Header 요점"/>
          <p:cNvSpPr/>
          <p:nvPr/>
        </p:nvSpPr>
        <p:spPr>
          <a:xfrm>
            <a:off x="8046720" y="1271016"/>
            <a:ext cx="3127248" cy="420624"/>
          </a:xfrm>
          <a:prstGeom prst="roundRect">
            <a:avLst>
              <a:gd name="adj" fmla="val 25000"/>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FFFFFF"/>
                </a:solidFill>
              </a:rPr>
              <a:t>요점</a:t>
            </a:r>
          </a:p>
        </p:txBody>
      </p:sp>
      <p:sp>
        <p:nvSpPr>
          <p:cNvPr id="36" name="Text 요점"/>
          <p:cNvSpPr txBox="1"/>
          <p:nvPr/>
        </p:nvSpPr>
        <p:spPr>
          <a:xfrm>
            <a:off x="8046720" y="1865376"/>
            <a:ext cx="3172968" cy="352044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400" b="1" dirty="0">
                <a:solidFill>
                  <a:srgbClr val="000000"/>
                </a:solidFill>
              </a:rPr>
              <a:t>상추:</a:t>
            </a:r>
            <a:r>
              <a:rPr lang="ko-KR" altLang="en-US" sz="1400" dirty="0">
                <a:solidFill>
                  <a:srgbClr val="000000"/>
                </a:solidFill>
              </a:rPr>
              <a:t> 지상부 건물중이 모든 처리에서 감소했고 복합구에서 가장 크게 감소</a:t>
            </a:r>
          </a:p>
          <a:p>
            <a:pPr marL="201168" indent="-201168" algn="l">
              <a:spcBef>
                <a:spcPts val="1000"/>
              </a:spcBef>
              <a:buFont typeface="Arial"/>
              <a:buChar char="•"/>
            </a:pPr>
            <a:r>
              <a:rPr lang="ko-KR" altLang="en-US" sz="1400" dirty="0">
                <a:solidFill>
                  <a:srgbClr val="000000"/>
                </a:solidFill>
              </a:rPr>
              <a:t>콩:  종실 생체중·건조중이 감소하는 경향이나 처리 간 유의한 차이는 없음</a:t>
            </a:r>
          </a:p>
        </p:txBody>
      </p:sp>
      <p:sp>
        <p:nvSpPr>
          <p:cNvPr id="46"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47"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48" name="Nav 결과"/>
          <p:cNvSpPr txBox="1"/>
          <p:nvPr/>
        </p:nvSpPr>
        <p:spPr>
          <a:xfrm>
            <a:off x="3584448" y="100584"/>
            <a:ext cx="1371600" cy="329184"/>
          </a:xfrm>
          <a:prstGeom prst="rect">
            <a:avLst/>
          </a:prstGeom>
          <a:noFill/>
        </p:spPr>
        <p:txBody>
          <a:bodyPr wrap="none" lIns="0" tIns="0" rIns="0" bIns="0" anchor="ctr">
            <a:spAutoFit/>
          </a:bodyPr>
          <a:lstStyle/>
          <a:p>
            <a:pPr algn="ctr"/>
            <a:r>
              <a:rPr sz="1450" b="1" u="sng">
                <a:solidFill>
                  <a:srgbClr val="1A1A1A"/>
                </a:solidFill>
              </a:rPr>
              <a:t>결과</a:t>
            </a:r>
          </a:p>
        </p:txBody>
      </p:sp>
      <p:sp>
        <p:nvSpPr>
          <p:cNvPr id="49"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50"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graphicFrame>
        <p:nvGraphicFramePr>
          <p:cNvPr id="8" name="Table 7"/>
          <p:cNvGraphicFramePr>
            <a:graphicFrameLocks noGrp="1"/>
          </p:cNvGraphicFramePr>
          <p:nvPr/>
        </p:nvGraphicFramePr>
        <p:xfrm>
          <a:off x="457200" y="3401568"/>
          <a:ext cx="7040880" cy="2098548"/>
        </p:xfrm>
        <a:graphic>
          <a:graphicData uri="http://schemas.openxmlformats.org/drawingml/2006/table">
            <a:tbl>
              <a:tblPr>
                <a:tableStyleId>{2D5ABB26-0587-4C30-8999-92F81FD0307C}</a:tableStyleId>
              </a:tblPr>
              <a:tblGrid>
                <a:gridCol w="173736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4"/>
                    </a:ext>
                  </a:extLst>
                </a:gridCol>
                <a:gridCol w="1325880">
                  <a:extLst>
                    <a:ext uri="{9D8B030D-6E8A-4147-A177-3AD203B41FA5}">
                      <a16:colId xmlns:a16="http://schemas.microsoft.com/office/drawing/2014/main" val="20005"/>
                    </a:ext>
                  </a:extLst>
                </a:gridCol>
              </a:tblGrid>
              <a:tr h="233172">
                <a:tc>
                  <a:txBody>
                    <a:bodyPr/>
                    <a:lstStyle/>
                    <a:p>
                      <a:pPr algn="l">
                        <a:lnSpc>
                          <a:spcPct val="100000"/>
                        </a:lnSpc>
                        <a:spcBef>
                          <a:spcPts val="0"/>
                        </a:spcBef>
                        <a:spcAft>
                          <a:spcPts val="0"/>
                        </a:spcAft>
                      </a:pPr>
                      <a:r>
                        <a:rPr sz="800" b="1" dirty="0">
                          <a:solidFill>
                            <a:srgbClr val="000000"/>
                          </a:solidFill>
                        </a:rPr>
                        <a:t>Crop · variable</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Control</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Drought</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Waterlog.</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Combined</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233172">
                <a:tc>
                  <a:txBody>
                    <a:bodyPr/>
                    <a:lstStyle/>
                    <a:p>
                      <a:pPr algn="l">
                        <a:lnSpc>
                          <a:spcPct val="100000"/>
                        </a:lnSpc>
                        <a:spcBef>
                          <a:spcPts val="0"/>
                        </a:spcBef>
                        <a:spcAft>
                          <a:spcPts val="0"/>
                        </a:spcAft>
                      </a:pPr>
                      <a:r>
                        <a:rPr sz="800" b="0">
                          <a:solidFill>
                            <a:srgbClr val="000000"/>
                          </a:solidFill>
                        </a:rPr>
                        <a:t>Romaine DAT 16</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 </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 </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 </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 </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233172">
                <a:tc>
                  <a:txBody>
                    <a:bodyPr/>
                    <a:lstStyle/>
                    <a:p>
                      <a:pPr algn="l">
                        <a:lnSpc>
                          <a:spcPct val="100000"/>
                        </a:lnSpc>
                        <a:spcBef>
                          <a:spcPts val="0"/>
                        </a:spcBef>
                        <a:spcAft>
                          <a:spcPts val="0"/>
                        </a:spcAft>
                      </a:pPr>
                      <a:r>
                        <a:rPr sz="800" b="0">
                          <a:solidFill>
                            <a:srgbClr val="000000"/>
                          </a:solidFill>
                        </a:rPr>
                        <a:t>Shoot FW (g)</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90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63 b (−29%)</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66 b (−26%)</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55 b (−38%)</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233172">
                <a:tc>
                  <a:txBody>
                    <a:bodyPr/>
                    <a:lstStyle/>
                    <a:p>
                      <a:pPr algn="l">
                        <a:lnSpc>
                          <a:spcPct val="100000"/>
                        </a:lnSpc>
                        <a:spcBef>
                          <a:spcPts val="0"/>
                        </a:spcBef>
                        <a:spcAft>
                          <a:spcPts val="0"/>
                        </a:spcAft>
                      </a:pPr>
                      <a:r>
                        <a:rPr lang="en-US" sz="800" b="0" dirty="0">
                          <a:solidFill>
                            <a:srgbClr val="000000"/>
                          </a:solidFill>
                        </a:rPr>
                        <a:t>Shoot DW (g)</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6.5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5.4 ab (−16%)</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4.3 bc (−34%)</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3.7 c (−43%)</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233172">
                <a:tc>
                  <a:txBody>
                    <a:bodyPr/>
                    <a:lstStyle/>
                    <a:p>
                      <a:pPr algn="l">
                        <a:lnSpc>
                          <a:spcPct val="100000"/>
                        </a:lnSpc>
                        <a:spcBef>
                          <a:spcPts val="0"/>
                        </a:spcBef>
                        <a:spcAft>
                          <a:spcPts val="0"/>
                        </a:spcAft>
                      </a:pPr>
                      <a:r>
                        <a:rPr lang="en-US" sz="800" b="0" dirty="0">
                          <a:solidFill>
                            <a:srgbClr val="000000"/>
                          </a:solidFill>
                        </a:rPr>
                        <a:t>Soybean DAT 55</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 </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 </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 </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 </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4"/>
                  </a:ext>
                </a:extLst>
              </a:tr>
              <a:tr h="233172">
                <a:tc>
                  <a:txBody>
                    <a:bodyPr/>
                    <a:lstStyle/>
                    <a:p>
                      <a:pPr algn="l">
                        <a:lnSpc>
                          <a:spcPct val="100000"/>
                        </a:lnSpc>
                        <a:spcBef>
                          <a:spcPts val="0"/>
                        </a:spcBef>
                        <a:spcAft>
                          <a:spcPts val="0"/>
                        </a:spcAft>
                      </a:pPr>
                      <a:r>
                        <a:rPr lang="en-US" sz="800" b="0" dirty="0">
                          <a:solidFill>
                            <a:srgbClr val="000000"/>
                          </a:solidFill>
                        </a:rPr>
                        <a:t>Seed FW (g)</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186</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176 (−5%)</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177 (−5%)</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161 (−14%)</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2995192877"/>
                  </a:ext>
                </a:extLst>
              </a:tr>
              <a:tr h="233172">
                <a:tc>
                  <a:txBody>
                    <a:bodyPr/>
                    <a:lstStyle/>
                    <a:p>
                      <a:pPr algn="l">
                        <a:lnSpc>
                          <a:spcPct val="100000"/>
                        </a:lnSpc>
                        <a:spcBef>
                          <a:spcPts val="0"/>
                        </a:spcBef>
                        <a:spcAft>
                          <a:spcPts val="0"/>
                        </a:spcAft>
                      </a:pPr>
                      <a:r>
                        <a:rPr lang="en-US" sz="800" b="0" dirty="0">
                          <a:solidFill>
                            <a:srgbClr val="000000"/>
                          </a:solidFill>
                        </a:rPr>
                        <a:t>Seed DW (g)</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69</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66 (−4%)</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63 (−9%)</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57 (−18%)</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3906187141"/>
                  </a:ext>
                </a:extLst>
              </a:tr>
              <a:tr h="233172">
                <a:tc>
                  <a:txBody>
                    <a:bodyPr/>
                    <a:lstStyle/>
                    <a:p>
                      <a:pPr algn="l">
                        <a:lnSpc>
                          <a:spcPct val="100000"/>
                        </a:lnSpc>
                        <a:spcBef>
                          <a:spcPts val="0"/>
                        </a:spcBef>
                        <a:spcAft>
                          <a:spcPts val="0"/>
                        </a:spcAft>
                      </a:pPr>
                      <a:r>
                        <a:rPr lang="en-US" sz="800" b="0" dirty="0">
                          <a:solidFill>
                            <a:srgbClr val="000000"/>
                          </a:solidFill>
                        </a:rPr>
                        <a:t>Seed no.</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354</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334 (−6%)</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326 (−8%)</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300 (−15%)</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333812275"/>
                  </a:ext>
                </a:extLst>
              </a:tr>
              <a:tr h="233172">
                <a:tc>
                  <a:txBody>
                    <a:bodyPr/>
                    <a:lstStyle/>
                    <a:p>
                      <a:pPr algn="l">
                        <a:lnSpc>
                          <a:spcPct val="100000"/>
                        </a:lnSpc>
                        <a:spcBef>
                          <a:spcPts val="0"/>
                        </a:spcBef>
                        <a:spcAft>
                          <a:spcPts val="0"/>
                        </a:spcAft>
                      </a:pPr>
                      <a:r>
                        <a:rPr lang="en-US" sz="800" b="0" dirty="0">
                          <a:solidFill>
                            <a:srgbClr val="000000"/>
                          </a:solidFill>
                        </a:rPr>
                        <a:t>Pod no.</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170</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162 (−5%)</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163 (−4%)</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144 (−15%)</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398122305"/>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500"/>
                                        <p:tgtEl>
                                          <p:spTgt spid="3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5"/>
                                        </p:tgtEl>
                                        <p:attrNameLst>
                                          <p:attrName>style.visibility</p:attrName>
                                        </p:attrNameLst>
                                      </p:cBhvr>
                                      <p:to>
                                        <p:strVal val="visible"/>
                                      </p:to>
                                    </p:set>
                                    <p:animEffect transition="in" filter="fade">
                                      <p:cBhvr>
                                        <p:cTn id="15" dur="500"/>
                                        <p:tgtEl>
                                          <p:spTgt spid="3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6"/>
                                        </p:tgtEl>
                                        <p:attrNameLst>
                                          <p:attrName>style.visibility</p:attrName>
                                        </p:attrNameLst>
                                      </p:cBhvr>
                                      <p:to>
                                        <p:strVal val="visible"/>
                                      </p:to>
                                    </p:set>
                                    <p:animEffect transition="in" filter="fade">
                                      <p:cBhvr>
                                        <p:cTn id="18" dur="500"/>
                                        <p:tgtEl>
                                          <p:spTgt spid="3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34" grpId="0" animBg="1"/>
      <p:bldP spid="35" grpId="0" animBg="1"/>
      <p:bldP spid="3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종합 : 지표별 반응 (대조구 대비)</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14</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lang="ko-KR" altLang="en-US" sz="1600" dirty="0">
                <a:solidFill>
                  <a:srgbClr val="E97132"/>
                </a:solidFill>
              </a:rPr>
              <a:t>상추는</a:t>
            </a:r>
            <a:r>
              <a:rPr sz="1600" dirty="0">
                <a:solidFill>
                  <a:srgbClr val="E97132"/>
                </a:solidFill>
              </a:rPr>
              <a:t> </a:t>
            </a:r>
            <a:r>
              <a:rPr sz="1600" dirty="0" err="1">
                <a:solidFill>
                  <a:srgbClr val="E97132"/>
                </a:solidFill>
              </a:rPr>
              <a:t>건물중</a:t>
            </a:r>
            <a:r>
              <a:rPr sz="1600" dirty="0">
                <a:solidFill>
                  <a:srgbClr val="E97132"/>
                </a:solidFill>
              </a:rPr>
              <a:t> −16~43% </a:t>
            </a:r>
            <a:r>
              <a:rPr sz="1600" dirty="0" err="1">
                <a:solidFill>
                  <a:srgbClr val="E97132"/>
                </a:solidFill>
              </a:rPr>
              <a:t>감소</a:t>
            </a:r>
            <a:r>
              <a:rPr sz="1600" dirty="0">
                <a:solidFill>
                  <a:srgbClr val="E97132"/>
                </a:solidFill>
              </a:rPr>
              <a:t>, </a:t>
            </a:r>
            <a:r>
              <a:rPr sz="1600" dirty="0" err="1">
                <a:solidFill>
                  <a:srgbClr val="E97132"/>
                </a:solidFill>
              </a:rPr>
              <a:t>콩은</a:t>
            </a:r>
            <a:r>
              <a:rPr sz="1600" dirty="0">
                <a:solidFill>
                  <a:srgbClr val="E97132"/>
                </a:solidFill>
              </a:rPr>
              <a:t> </a:t>
            </a:r>
            <a:r>
              <a:rPr sz="1600" dirty="0" err="1">
                <a:solidFill>
                  <a:srgbClr val="E97132"/>
                </a:solidFill>
              </a:rPr>
              <a:t>종실</a:t>
            </a:r>
            <a:r>
              <a:rPr sz="1600" dirty="0">
                <a:solidFill>
                  <a:srgbClr val="E97132"/>
                </a:solidFill>
              </a:rPr>
              <a:t> </a:t>
            </a:r>
            <a:r>
              <a:rPr sz="1600" dirty="0" err="1">
                <a:solidFill>
                  <a:srgbClr val="E97132"/>
                </a:solidFill>
              </a:rPr>
              <a:t>생체중</a:t>
            </a:r>
            <a:r>
              <a:rPr sz="1600" dirty="0">
                <a:solidFill>
                  <a:srgbClr val="E97132"/>
                </a:solidFill>
              </a:rPr>
              <a:t> −5~14% </a:t>
            </a:r>
            <a:r>
              <a:rPr sz="1600" dirty="0" err="1">
                <a:solidFill>
                  <a:srgbClr val="E97132"/>
                </a:solidFill>
              </a:rPr>
              <a:t>감소</a:t>
            </a:r>
            <a:r>
              <a:rPr sz="1600" dirty="0">
                <a:solidFill>
                  <a:srgbClr val="E97132"/>
                </a:solidFill>
              </a:rPr>
              <a:t> </a:t>
            </a:r>
            <a:r>
              <a:rPr sz="1600" dirty="0" err="1">
                <a:solidFill>
                  <a:srgbClr val="E97132"/>
                </a:solidFill>
              </a:rPr>
              <a:t>경향</a:t>
            </a:r>
            <a:endParaRPr sz="1600" dirty="0">
              <a:solidFill>
                <a:srgbClr val="E97132"/>
              </a:solidFill>
            </a:endParaRP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dirty="0">
                <a:solidFill>
                  <a:srgbClr val="595959"/>
                </a:solidFill>
              </a:rPr>
              <a:t>↓↓ 큰 </a:t>
            </a:r>
            <a:r>
              <a:rPr sz="1000" dirty="0" err="1">
                <a:solidFill>
                  <a:srgbClr val="595959"/>
                </a:solidFill>
              </a:rPr>
              <a:t>감소</a:t>
            </a:r>
            <a:r>
              <a:rPr sz="1000" dirty="0">
                <a:solidFill>
                  <a:srgbClr val="595959"/>
                </a:solidFill>
              </a:rPr>
              <a:t> · ↓ </a:t>
            </a:r>
            <a:r>
              <a:rPr sz="1000" dirty="0" err="1">
                <a:solidFill>
                  <a:srgbClr val="595959"/>
                </a:solidFill>
              </a:rPr>
              <a:t>감소</a:t>
            </a:r>
            <a:r>
              <a:rPr sz="1000" dirty="0">
                <a:solidFill>
                  <a:srgbClr val="595959"/>
                </a:solidFill>
              </a:rPr>
              <a:t> · – </a:t>
            </a:r>
            <a:r>
              <a:rPr sz="1000" dirty="0" err="1">
                <a:solidFill>
                  <a:srgbClr val="595959"/>
                </a:solidFill>
              </a:rPr>
              <a:t>차이</a:t>
            </a:r>
            <a:r>
              <a:rPr sz="1000" dirty="0">
                <a:solidFill>
                  <a:srgbClr val="595959"/>
                </a:solidFill>
              </a:rPr>
              <a:t> </a:t>
            </a:r>
            <a:r>
              <a:rPr sz="1000" dirty="0" err="1">
                <a:solidFill>
                  <a:srgbClr val="595959"/>
                </a:solidFill>
              </a:rPr>
              <a:t>없음</a:t>
            </a:r>
            <a:r>
              <a:rPr sz="1000" dirty="0">
                <a:solidFill>
                  <a:srgbClr val="595959"/>
                </a:solidFill>
              </a:rPr>
              <a:t>. ④ </a:t>
            </a:r>
            <a:r>
              <a:rPr sz="1000" dirty="0" err="1">
                <a:solidFill>
                  <a:srgbClr val="595959"/>
                </a:solidFill>
              </a:rPr>
              <a:t>대조구</a:t>
            </a:r>
            <a:r>
              <a:rPr sz="1000" dirty="0">
                <a:solidFill>
                  <a:srgbClr val="595959"/>
                </a:solidFill>
              </a:rPr>
              <a:t> </a:t>
            </a:r>
            <a:r>
              <a:rPr sz="1000" dirty="0" err="1">
                <a:solidFill>
                  <a:srgbClr val="595959"/>
                </a:solidFill>
              </a:rPr>
              <a:t>대비</a:t>
            </a:r>
            <a:r>
              <a:rPr sz="1000" dirty="0">
                <a:solidFill>
                  <a:srgbClr val="595959"/>
                </a:solidFill>
              </a:rPr>
              <a:t> %: </a:t>
            </a:r>
            <a:r>
              <a:rPr lang="ko-KR" altLang="en-US" sz="1000" dirty="0">
                <a:solidFill>
                  <a:srgbClr val="595959"/>
                </a:solidFill>
              </a:rPr>
              <a:t>상추</a:t>
            </a:r>
            <a:r>
              <a:rPr sz="1000" dirty="0">
                <a:solidFill>
                  <a:srgbClr val="595959"/>
                </a:solidFill>
              </a:rPr>
              <a:t> </a:t>
            </a:r>
            <a:r>
              <a:rPr sz="1000" dirty="0" err="1">
                <a:solidFill>
                  <a:srgbClr val="595959"/>
                </a:solidFill>
              </a:rPr>
              <a:t>지상부</a:t>
            </a:r>
            <a:r>
              <a:rPr sz="1000" dirty="0">
                <a:solidFill>
                  <a:srgbClr val="595959"/>
                </a:solidFill>
              </a:rPr>
              <a:t> </a:t>
            </a:r>
            <a:r>
              <a:rPr sz="1000" dirty="0" err="1">
                <a:solidFill>
                  <a:srgbClr val="595959"/>
                </a:solidFill>
              </a:rPr>
              <a:t>건물중</a:t>
            </a:r>
            <a:r>
              <a:rPr sz="1000" dirty="0">
                <a:solidFill>
                  <a:srgbClr val="595959"/>
                </a:solidFill>
              </a:rPr>
              <a:t>(DAT 16), 콩 </a:t>
            </a:r>
            <a:r>
              <a:rPr sz="1000" dirty="0" err="1">
                <a:solidFill>
                  <a:srgbClr val="595959"/>
                </a:solidFill>
              </a:rPr>
              <a:t>생육</a:t>
            </a:r>
            <a:r>
              <a:rPr sz="1000" dirty="0">
                <a:solidFill>
                  <a:srgbClr val="595959"/>
                </a:solidFill>
              </a:rPr>
              <a:t> = </a:t>
            </a:r>
            <a:r>
              <a:rPr sz="1000" dirty="0" err="1">
                <a:solidFill>
                  <a:srgbClr val="595959"/>
                </a:solidFill>
              </a:rPr>
              <a:t>지상부</a:t>
            </a:r>
            <a:r>
              <a:rPr sz="1000" dirty="0">
                <a:solidFill>
                  <a:srgbClr val="595959"/>
                </a:solidFill>
              </a:rPr>
              <a:t> </a:t>
            </a:r>
            <a:r>
              <a:rPr sz="1000" dirty="0" err="1">
                <a:solidFill>
                  <a:srgbClr val="595959"/>
                </a:solidFill>
              </a:rPr>
              <a:t>생체중</a:t>
            </a:r>
            <a:r>
              <a:rPr sz="1000" dirty="0">
                <a:solidFill>
                  <a:srgbClr val="595959"/>
                </a:solidFill>
              </a:rPr>
              <a:t>(</a:t>
            </a:r>
            <a:r>
              <a:rPr sz="1000" dirty="0" err="1">
                <a:solidFill>
                  <a:srgbClr val="595959"/>
                </a:solidFill>
              </a:rPr>
              <a:t>잎+줄기</a:t>
            </a:r>
            <a:r>
              <a:rPr sz="1000" dirty="0">
                <a:solidFill>
                  <a:srgbClr val="595959"/>
                </a:solidFill>
              </a:rPr>
              <a:t>), </a:t>
            </a:r>
            <a:r>
              <a:rPr sz="1000" dirty="0" err="1">
                <a:solidFill>
                  <a:srgbClr val="595959"/>
                </a:solidFill>
              </a:rPr>
              <a:t>수량</a:t>
            </a:r>
            <a:r>
              <a:rPr sz="1000" dirty="0">
                <a:solidFill>
                  <a:srgbClr val="595959"/>
                </a:solidFill>
              </a:rPr>
              <a:t> = </a:t>
            </a:r>
            <a:r>
              <a:rPr sz="1000" dirty="0" err="1">
                <a:solidFill>
                  <a:srgbClr val="595959"/>
                </a:solidFill>
              </a:rPr>
              <a:t>종실</a:t>
            </a:r>
            <a:r>
              <a:rPr sz="1000" dirty="0">
                <a:solidFill>
                  <a:srgbClr val="595959"/>
                </a:solidFill>
              </a:rPr>
              <a:t> </a:t>
            </a:r>
            <a:r>
              <a:rPr sz="1000" dirty="0" err="1">
                <a:solidFill>
                  <a:srgbClr val="595959"/>
                </a:solidFill>
              </a:rPr>
              <a:t>생체중</a:t>
            </a:r>
            <a:r>
              <a:rPr sz="1000" dirty="0">
                <a:solidFill>
                  <a:srgbClr val="595959"/>
                </a:solidFill>
              </a:rPr>
              <a:t>(DAT 55). </a:t>
            </a:r>
            <a:r>
              <a:rPr sz="1000" dirty="0" err="1">
                <a:solidFill>
                  <a:srgbClr val="595959"/>
                </a:solidFill>
              </a:rPr>
              <a:t>광합성</a:t>
            </a:r>
            <a:r>
              <a:rPr sz="1000" dirty="0">
                <a:solidFill>
                  <a:srgbClr val="595959"/>
                </a:solidFill>
              </a:rPr>
              <a:t> </a:t>
            </a:r>
            <a:r>
              <a:rPr sz="1000" dirty="0" err="1">
                <a:solidFill>
                  <a:srgbClr val="595959"/>
                </a:solidFill>
              </a:rPr>
              <a:t>능력은</a:t>
            </a:r>
            <a:r>
              <a:rPr sz="1000" dirty="0">
                <a:solidFill>
                  <a:srgbClr val="595959"/>
                </a:solidFill>
              </a:rPr>
              <a:t> 콩 9월·</a:t>
            </a:r>
            <a:r>
              <a:rPr lang="ko-KR" altLang="en-US" sz="1000" dirty="0">
                <a:solidFill>
                  <a:srgbClr val="595959"/>
                </a:solidFill>
              </a:rPr>
              <a:t>상추</a:t>
            </a:r>
            <a:r>
              <a:rPr sz="1000" dirty="0">
                <a:solidFill>
                  <a:srgbClr val="595959"/>
                </a:solidFill>
              </a:rPr>
              <a:t> 10월 </a:t>
            </a:r>
            <a:r>
              <a:rPr sz="1000" dirty="0" err="1">
                <a:solidFill>
                  <a:srgbClr val="595959"/>
                </a:solidFill>
              </a:rPr>
              <a:t>측정</a:t>
            </a:r>
            <a:r>
              <a:rPr sz="1000" dirty="0">
                <a:solidFill>
                  <a:srgbClr val="595959"/>
                </a:solidFill>
              </a:rPr>
              <a:t>(</a:t>
            </a:r>
            <a:r>
              <a:rPr sz="1000" dirty="0" err="1">
                <a:solidFill>
                  <a:srgbClr val="595959"/>
                </a:solidFill>
              </a:rPr>
              <a:t>측정일</a:t>
            </a:r>
            <a:r>
              <a:rPr sz="1000" dirty="0">
                <a:solidFill>
                  <a:srgbClr val="595959"/>
                </a:solidFill>
              </a:rPr>
              <a:t> </a:t>
            </a:r>
            <a:r>
              <a:rPr sz="1000" dirty="0" err="1">
                <a:solidFill>
                  <a:srgbClr val="595959"/>
                </a:solidFill>
              </a:rPr>
              <a:t>교락</a:t>
            </a:r>
            <a:r>
              <a:rPr sz="1000" dirty="0">
                <a:solidFill>
                  <a:srgbClr val="595959"/>
                </a:solidFill>
              </a:rPr>
              <a:t>).</a:t>
            </a:r>
          </a:p>
        </p:txBody>
      </p:sp>
      <p:sp>
        <p:nvSpPr>
          <p:cNvPr id="27" name="Col head"/>
          <p:cNvSpPr/>
          <p:nvPr/>
        </p:nvSpPr>
        <p:spPr>
          <a:xfrm>
            <a:off x="2468880" y="1261872"/>
            <a:ext cx="2103120" cy="658368"/>
          </a:xfrm>
          <a:prstGeom prst="roundRect">
            <a:avLst>
              <a:gd name="adj" fmla="val 12000"/>
            </a:avLst>
          </a:prstGeom>
          <a:solidFill>
            <a:srgbClr val="E8F1F8"/>
          </a:solidFill>
          <a:ln>
            <a:noFill/>
          </a:ln>
        </p:spPr>
        <p:txBody>
          <a:bodyPr wrap="square" lIns="73152" tIns="36576" rIns="73152" bIns="36576" rtlCol="0" anchor="ctr">
            <a:noAutofit/>
          </a:bodyPr>
          <a:lstStyle/>
          <a:p>
            <a:pPr marL="0" indent="0" algn="ctr">
              <a:spcBef>
                <a:spcPts val="0"/>
              </a:spcBef>
              <a:buNone/>
            </a:pPr>
            <a:r>
              <a:rPr lang="ko-KR" altLang="en-US" sz="1250" b="1" dirty="0">
                <a:solidFill>
                  <a:srgbClr val="000000"/>
                </a:solidFill>
              </a:rPr>
              <a:t>① 기공</a:t>
            </a:r>
          </a:p>
          <a:p>
            <a:pPr marL="0" indent="0" algn="ctr">
              <a:spcBef>
                <a:spcPts val="0"/>
              </a:spcBef>
              <a:buNone/>
            </a:pPr>
            <a:r>
              <a:rPr lang="ko-KR" altLang="en-US" sz="1050" b="0" dirty="0">
                <a:solidFill>
                  <a:srgbClr val="000000"/>
                </a:solidFill>
              </a:rPr>
              <a:t>g</a:t>
            </a:r>
            <a:r>
              <a:rPr lang="ko-KR" altLang="en-US" sz="1050" b="0" baseline="-25000" dirty="0">
                <a:solidFill>
                  <a:srgbClr val="000000"/>
                </a:solidFill>
              </a:rPr>
              <a:t>sw</a:t>
            </a:r>
          </a:p>
        </p:txBody>
      </p:sp>
      <p:sp>
        <p:nvSpPr>
          <p:cNvPr id="28" name="Col head"/>
          <p:cNvSpPr/>
          <p:nvPr/>
        </p:nvSpPr>
        <p:spPr>
          <a:xfrm>
            <a:off x="4663440" y="1261872"/>
            <a:ext cx="2103120" cy="658368"/>
          </a:xfrm>
          <a:prstGeom prst="roundRect">
            <a:avLst>
              <a:gd name="adj" fmla="val 12000"/>
            </a:avLst>
          </a:prstGeom>
          <a:solidFill>
            <a:srgbClr val="C9DFEE"/>
          </a:solidFill>
          <a:ln>
            <a:noFill/>
          </a:ln>
        </p:spPr>
        <p:txBody>
          <a:bodyPr wrap="square" lIns="73152" tIns="36576" rIns="73152" bIns="36576" rtlCol="0" anchor="ctr">
            <a:noAutofit/>
          </a:bodyPr>
          <a:lstStyle/>
          <a:p>
            <a:pPr marL="0" indent="0" algn="ctr">
              <a:spcBef>
                <a:spcPts val="0"/>
              </a:spcBef>
              <a:buNone/>
            </a:pPr>
            <a:r>
              <a:rPr lang="ko-KR" altLang="en-US" sz="1250" b="1" dirty="0">
                <a:solidFill>
                  <a:srgbClr val="000000"/>
                </a:solidFill>
              </a:rPr>
              <a:t>② 명반응</a:t>
            </a:r>
          </a:p>
          <a:p>
            <a:pPr marL="0" indent="0" algn="ctr">
              <a:spcBef>
                <a:spcPts val="0"/>
              </a:spcBef>
              <a:buNone/>
            </a:pPr>
            <a:r>
              <a:rPr lang="ko-KR" altLang="en-US" sz="1050" b="0" dirty="0">
                <a:solidFill>
                  <a:srgbClr val="000000"/>
                </a:solidFill>
              </a:rPr>
              <a:t>Φ</a:t>
            </a:r>
            <a:r>
              <a:rPr lang="ko-KR" altLang="en-US" sz="1050" b="0" baseline="-25000" dirty="0">
                <a:solidFill>
                  <a:srgbClr val="000000"/>
                </a:solidFill>
              </a:rPr>
              <a:t>PSII</a:t>
            </a:r>
          </a:p>
        </p:txBody>
      </p:sp>
      <p:sp>
        <p:nvSpPr>
          <p:cNvPr id="31" name="Col head"/>
          <p:cNvSpPr/>
          <p:nvPr/>
        </p:nvSpPr>
        <p:spPr>
          <a:xfrm>
            <a:off x="6858000" y="1261872"/>
            <a:ext cx="2103120" cy="658368"/>
          </a:xfrm>
          <a:prstGeom prst="roundRect">
            <a:avLst>
              <a:gd name="adj" fmla="val 12000"/>
            </a:avLst>
          </a:prstGeom>
          <a:solidFill>
            <a:srgbClr val="5E9CC6"/>
          </a:solidFill>
          <a:ln>
            <a:noFill/>
          </a:ln>
        </p:spPr>
        <p:txBody>
          <a:bodyPr wrap="square" lIns="73152" tIns="36576" rIns="73152" bIns="36576" rtlCol="0" anchor="ctr">
            <a:noAutofit/>
          </a:bodyPr>
          <a:lstStyle/>
          <a:p>
            <a:pPr marL="0" indent="0" algn="ctr">
              <a:spcBef>
                <a:spcPts val="0"/>
              </a:spcBef>
              <a:buNone/>
            </a:pPr>
            <a:r>
              <a:rPr lang="ko-KR" altLang="en-US" sz="1250" b="1" dirty="0">
                <a:solidFill>
                  <a:srgbClr val="FFFFFF"/>
                </a:solidFill>
              </a:rPr>
              <a:t>③ 광합성</a:t>
            </a:r>
          </a:p>
          <a:p>
            <a:pPr marL="0" indent="0" algn="ctr">
              <a:spcBef>
                <a:spcPts val="0"/>
              </a:spcBef>
              <a:buNone/>
            </a:pPr>
            <a:r>
              <a:rPr lang="ko-KR" altLang="en-US" sz="1050" b="0" dirty="0">
                <a:solidFill>
                  <a:srgbClr val="FFFFFF"/>
                </a:solidFill>
              </a:rPr>
              <a:t>V</a:t>
            </a:r>
            <a:r>
              <a:rPr lang="ko-KR" altLang="en-US" sz="1050" b="0" baseline="-25000" dirty="0">
                <a:solidFill>
                  <a:srgbClr val="FFFFFF"/>
                </a:solidFill>
              </a:rPr>
              <a:t>cmax</a:t>
            </a:r>
            <a:r>
              <a:rPr lang="ko-KR" altLang="en-US" sz="1050" b="0" dirty="0">
                <a:solidFill>
                  <a:srgbClr val="FFFFFF"/>
                </a:solidFill>
              </a:rPr>
              <a:t> · J</a:t>
            </a:r>
            <a:r>
              <a:rPr lang="ko-KR" altLang="en-US" sz="1050" b="0" baseline="-25000" dirty="0">
                <a:solidFill>
                  <a:srgbClr val="FFFFFF"/>
                </a:solidFill>
              </a:rPr>
              <a:t>max</a:t>
            </a:r>
          </a:p>
        </p:txBody>
      </p:sp>
      <p:sp>
        <p:nvSpPr>
          <p:cNvPr id="32" name="Col head"/>
          <p:cNvSpPr/>
          <p:nvPr/>
        </p:nvSpPr>
        <p:spPr>
          <a:xfrm>
            <a:off x="9052560" y="1261872"/>
            <a:ext cx="2103120" cy="658368"/>
          </a:xfrm>
          <a:prstGeom prst="roundRect">
            <a:avLst>
              <a:gd name="adj" fmla="val 12000"/>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250" b="1" dirty="0">
                <a:solidFill>
                  <a:srgbClr val="FFFFFF"/>
                </a:solidFill>
              </a:rPr>
              <a:t>④ 생육·수량</a:t>
            </a:r>
          </a:p>
          <a:p>
            <a:pPr marL="0" indent="0" algn="ctr">
              <a:spcBef>
                <a:spcPts val="0"/>
              </a:spcBef>
              <a:buNone/>
            </a:pPr>
            <a:r>
              <a:rPr lang="ko-KR" altLang="en-US" sz="1050" b="0" dirty="0">
                <a:solidFill>
                  <a:srgbClr val="FFFFFF"/>
                </a:solidFill>
              </a:rPr>
              <a:t>대조구 대비 %</a:t>
            </a:r>
          </a:p>
        </p:txBody>
      </p:sp>
      <p:sp>
        <p:nvSpPr>
          <p:cNvPr id="33" name="Row label"/>
          <p:cNvSpPr/>
          <p:nvPr/>
        </p:nvSpPr>
        <p:spPr>
          <a:xfrm>
            <a:off x="841248" y="1993392"/>
            <a:ext cx="1545336" cy="548640"/>
          </a:xfrm>
          <a:prstGeom prst="roundRect">
            <a:avLst>
              <a:gd name="adj" fmla="val 14000"/>
            </a:avLst>
          </a:prstGeom>
          <a:solidFill>
            <a:srgbClr val="FFFFFF"/>
          </a:solidFill>
          <a:ln w="15875">
            <a:solidFill>
              <a:srgbClr val="2E6B3F"/>
            </a:solidFill>
          </a:ln>
        </p:spPr>
        <p:txBody>
          <a:bodyPr wrap="square" lIns="73152" tIns="36576" rIns="73152" bIns="36576" rtlCol="0" anchor="ctr">
            <a:noAutofit/>
          </a:bodyPr>
          <a:lstStyle/>
          <a:p>
            <a:pPr marL="0" indent="0" algn="ctr">
              <a:spcBef>
                <a:spcPts val="0"/>
              </a:spcBef>
              <a:buNone/>
            </a:pPr>
            <a:r>
              <a:rPr lang="ko-KR" altLang="en-US" sz="1300" b="1" dirty="0">
                <a:solidFill>
                  <a:srgbClr val="2E6B3F"/>
                </a:solidFill>
              </a:rPr>
              <a:t>상추 </a:t>
            </a:r>
            <a:r>
              <a:rPr lang="ko-KR" altLang="en-US" sz="1300" b="1" dirty="0">
                <a:solidFill>
                  <a:srgbClr val="000000"/>
                </a:solidFill>
              </a:rPr>
              <a:t>건조</a:t>
            </a:r>
          </a:p>
        </p:txBody>
      </p:sp>
      <p:sp>
        <p:nvSpPr>
          <p:cNvPr id="34" name="Cell"/>
          <p:cNvSpPr/>
          <p:nvPr/>
        </p:nvSpPr>
        <p:spPr>
          <a:xfrm>
            <a:off x="2468880" y="1993392"/>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 후반</a:t>
            </a:r>
          </a:p>
          <a:p>
            <a:pPr marL="0" indent="0" algn="ctr">
              <a:spcBef>
                <a:spcPts val="0"/>
              </a:spcBef>
              <a:buNone/>
            </a:pPr>
            <a:r>
              <a:rPr lang="ko-KR" altLang="en-US" sz="1200" dirty="0">
                <a:solidFill>
                  <a:srgbClr val="7F7F7F"/>
                </a:solidFill>
              </a:rPr>
              <a:t>(DAT 16 33%)</a:t>
            </a:r>
          </a:p>
        </p:txBody>
      </p:sp>
      <p:sp>
        <p:nvSpPr>
          <p:cNvPr id="35" name="Cell"/>
          <p:cNvSpPr/>
          <p:nvPr/>
        </p:nvSpPr>
        <p:spPr>
          <a:xfrm>
            <a:off x="4663440" y="1993392"/>
            <a:ext cx="2103120" cy="548640"/>
          </a:xfrm>
          <a:prstGeom prst="roundRect">
            <a:avLst>
              <a:gd name="adj" fmla="val 10000"/>
            </a:avLst>
          </a:prstGeom>
          <a:solidFill>
            <a:srgbClr val="EFEFEF"/>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a:t>
            </a:r>
          </a:p>
        </p:txBody>
      </p:sp>
      <p:sp>
        <p:nvSpPr>
          <p:cNvPr id="38" name="Cell"/>
          <p:cNvSpPr/>
          <p:nvPr/>
        </p:nvSpPr>
        <p:spPr>
          <a:xfrm>
            <a:off x="6858000" y="1993392"/>
            <a:ext cx="2103120" cy="548640"/>
          </a:xfrm>
          <a:prstGeom prst="roundRect">
            <a:avLst>
              <a:gd name="adj" fmla="val 10000"/>
            </a:avLst>
          </a:prstGeom>
          <a:solidFill>
            <a:srgbClr val="EFEFEF"/>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a:t>
            </a:r>
          </a:p>
        </p:txBody>
      </p:sp>
      <p:sp>
        <p:nvSpPr>
          <p:cNvPr id="39" name="Cell"/>
          <p:cNvSpPr/>
          <p:nvPr/>
        </p:nvSpPr>
        <p:spPr>
          <a:xfrm>
            <a:off x="9052560" y="1993392"/>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건물중 −16%</a:t>
            </a:r>
          </a:p>
        </p:txBody>
      </p:sp>
      <p:sp>
        <p:nvSpPr>
          <p:cNvPr id="40" name="Row label"/>
          <p:cNvSpPr/>
          <p:nvPr/>
        </p:nvSpPr>
        <p:spPr>
          <a:xfrm>
            <a:off x="841248" y="2578608"/>
            <a:ext cx="1545336" cy="548640"/>
          </a:xfrm>
          <a:prstGeom prst="roundRect">
            <a:avLst>
              <a:gd name="adj" fmla="val 14000"/>
            </a:avLst>
          </a:prstGeom>
          <a:solidFill>
            <a:srgbClr val="FFFFFF"/>
          </a:solidFill>
          <a:ln w="15875">
            <a:solidFill>
              <a:srgbClr val="2E6B3F"/>
            </a:solidFill>
          </a:ln>
        </p:spPr>
        <p:txBody>
          <a:bodyPr wrap="square" lIns="73152" tIns="36576" rIns="73152" bIns="36576" rtlCol="0" anchor="ctr">
            <a:noAutofit/>
          </a:bodyPr>
          <a:lstStyle/>
          <a:p>
            <a:pPr marL="0" indent="0" algn="ctr">
              <a:spcBef>
                <a:spcPts val="0"/>
              </a:spcBef>
              <a:buNone/>
            </a:pPr>
            <a:r>
              <a:rPr lang="ko-KR" altLang="en-US" sz="1300" b="1" dirty="0">
                <a:solidFill>
                  <a:srgbClr val="2E6B3F"/>
                </a:solidFill>
              </a:rPr>
              <a:t>상추 </a:t>
            </a:r>
            <a:r>
              <a:rPr lang="ko-KR" altLang="en-US" sz="1300" b="1" dirty="0">
                <a:solidFill>
                  <a:srgbClr val="000000"/>
                </a:solidFill>
              </a:rPr>
              <a:t>침수</a:t>
            </a:r>
          </a:p>
        </p:txBody>
      </p:sp>
      <p:sp>
        <p:nvSpPr>
          <p:cNvPr id="41" name="Cell"/>
          <p:cNvSpPr/>
          <p:nvPr/>
        </p:nvSpPr>
        <p:spPr>
          <a:xfrm>
            <a:off x="2468880" y="2578608"/>
            <a:ext cx="2103120" cy="548640"/>
          </a:xfrm>
          <a:prstGeom prst="roundRect">
            <a:avLst>
              <a:gd name="adj" fmla="val 10000"/>
            </a:avLst>
          </a:prstGeom>
          <a:solidFill>
            <a:srgbClr val="D9EAD3"/>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 → 회복</a:t>
            </a:r>
          </a:p>
          <a:p>
            <a:pPr marL="0" indent="0" algn="ctr">
              <a:spcBef>
                <a:spcPts val="0"/>
              </a:spcBef>
              <a:buNone/>
            </a:pPr>
            <a:r>
              <a:rPr lang="ko-KR" altLang="en-US" sz="950" dirty="0">
                <a:solidFill>
                  <a:srgbClr val="000000"/>
                </a:solidFill>
              </a:rPr>
              <a:t>DAT 5~6</a:t>
            </a:r>
          </a:p>
        </p:txBody>
      </p:sp>
      <p:sp>
        <p:nvSpPr>
          <p:cNvPr id="42" name="Cell"/>
          <p:cNvSpPr/>
          <p:nvPr/>
        </p:nvSpPr>
        <p:spPr>
          <a:xfrm>
            <a:off x="4663440" y="2578608"/>
            <a:ext cx="2103120" cy="548640"/>
          </a:xfrm>
          <a:prstGeom prst="roundRect">
            <a:avLst>
              <a:gd name="adj" fmla="val 10000"/>
            </a:avLst>
          </a:prstGeom>
          <a:solidFill>
            <a:srgbClr val="EFEFEF"/>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a:t>
            </a:r>
          </a:p>
        </p:txBody>
      </p:sp>
      <p:sp>
        <p:nvSpPr>
          <p:cNvPr id="45" name="Cell"/>
          <p:cNvSpPr/>
          <p:nvPr/>
        </p:nvSpPr>
        <p:spPr>
          <a:xfrm>
            <a:off x="6858000" y="2578608"/>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 경향</a:t>
            </a:r>
          </a:p>
          <a:p>
            <a:pPr marL="0" indent="0" algn="ctr">
              <a:spcBef>
                <a:spcPts val="0"/>
              </a:spcBef>
              <a:buNone/>
            </a:pPr>
            <a:r>
              <a:rPr lang="ko-KR" altLang="en-US" sz="1200" dirty="0">
                <a:solidFill>
                  <a:srgbClr val="7F7F7F"/>
                </a:solidFill>
              </a:rPr>
              <a:t>(측정일 교락)</a:t>
            </a:r>
          </a:p>
        </p:txBody>
      </p:sp>
      <p:sp>
        <p:nvSpPr>
          <p:cNvPr id="46" name="Cell"/>
          <p:cNvSpPr/>
          <p:nvPr/>
        </p:nvSpPr>
        <p:spPr>
          <a:xfrm>
            <a:off x="9052560" y="2578608"/>
            <a:ext cx="2103120" cy="548640"/>
          </a:xfrm>
          <a:prstGeom prst="roundRect">
            <a:avLst>
              <a:gd name="adj" fmla="val 10000"/>
            </a:avLst>
          </a:prstGeom>
          <a:solidFill>
            <a:srgbClr val="E97132"/>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FFFFFF"/>
                </a:solidFill>
              </a:rPr>
              <a:t>건물중 −34%</a:t>
            </a:r>
          </a:p>
        </p:txBody>
      </p:sp>
      <p:sp>
        <p:nvSpPr>
          <p:cNvPr id="47" name="Row label"/>
          <p:cNvSpPr/>
          <p:nvPr/>
        </p:nvSpPr>
        <p:spPr>
          <a:xfrm>
            <a:off x="841248" y="3163824"/>
            <a:ext cx="1545336" cy="548640"/>
          </a:xfrm>
          <a:prstGeom prst="roundRect">
            <a:avLst>
              <a:gd name="adj" fmla="val 14000"/>
            </a:avLst>
          </a:prstGeom>
          <a:solidFill>
            <a:srgbClr val="FFFFFF"/>
          </a:solidFill>
          <a:ln w="15875">
            <a:solidFill>
              <a:srgbClr val="2E6B3F"/>
            </a:solidFill>
          </a:ln>
        </p:spPr>
        <p:txBody>
          <a:bodyPr wrap="square" lIns="73152" tIns="36576" rIns="73152" bIns="36576" rtlCol="0" anchor="ctr">
            <a:noAutofit/>
          </a:bodyPr>
          <a:lstStyle/>
          <a:p>
            <a:pPr marL="0" indent="0" algn="ctr">
              <a:spcBef>
                <a:spcPts val="0"/>
              </a:spcBef>
              <a:buNone/>
            </a:pPr>
            <a:r>
              <a:rPr lang="ko-KR" altLang="en-US" sz="1300" b="1" dirty="0">
                <a:solidFill>
                  <a:srgbClr val="2E6B3F"/>
                </a:solidFill>
              </a:rPr>
              <a:t>상추 </a:t>
            </a:r>
            <a:r>
              <a:rPr lang="ko-KR" altLang="en-US" sz="1300" b="1" dirty="0">
                <a:solidFill>
                  <a:srgbClr val="000000"/>
                </a:solidFill>
              </a:rPr>
              <a:t>복합</a:t>
            </a:r>
          </a:p>
        </p:txBody>
      </p:sp>
      <p:sp>
        <p:nvSpPr>
          <p:cNvPr id="48" name="Cell"/>
          <p:cNvSpPr/>
          <p:nvPr/>
        </p:nvSpPr>
        <p:spPr>
          <a:xfrm>
            <a:off x="2468880" y="3163824"/>
            <a:ext cx="2103120" cy="548640"/>
          </a:xfrm>
          <a:prstGeom prst="roundRect">
            <a:avLst>
              <a:gd name="adj" fmla="val 10000"/>
            </a:avLst>
          </a:prstGeom>
          <a:solidFill>
            <a:srgbClr val="D9EAD3"/>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 → 회복</a:t>
            </a:r>
          </a:p>
          <a:p>
            <a:pPr marL="0" indent="0" algn="ctr">
              <a:spcBef>
                <a:spcPts val="0"/>
              </a:spcBef>
              <a:buNone/>
            </a:pPr>
            <a:r>
              <a:rPr lang="ko-KR" altLang="en-US" sz="1200" dirty="0">
                <a:solidFill>
                  <a:srgbClr val="000000"/>
                </a:solidFill>
              </a:rPr>
              <a:t>DAT 6</a:t>
            </a:r>
          </a:p>
        </p:txBody>
      </p:sp>
      <p:sp>
        <p:nvSpPr>
          <p:cNvPr id="49" name="Cell"/>
          <p:cNvSpPr/>
          <p:nvPr/>
        </p:nvSpPr>
        <p:spPr>
          <a:xfrm>
            <a:off x="4663440" y="3163824"/>
            <a:ext cx="2103120" cy="548640"/>
          </a:xfrm>
          <a:prstGeom prst="roundRect">
            <a:avLst>
              <a:gd name="adj" fmla="val 10000"/>
            </a:avLst>
          </a:prstGeom>
          <a:solidFill>
            <a:srgbClr val="EFEFEF"/>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a:t>
            </a:r>
          </a:p>
        </p:txBody>
      </p:sp>
      <p:sp>
        <p:nvSpPr>
          <p:cNvPr id="52" name="Cell"/>
          <p:cNvSpPr/>
          <p:nvPr/>
        </p:nvSpPr>
        <p:spPr>
          <a:xfrm>
            <a:off x="6858000" y="3163824"/>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 경향</a:t>
            </a:r>
          </a:p>
          <a:p>
            <a:pPr marL="0" indent="0" algn="ctr">
              <a:spcBef>
                <a:spcPts val="0"/>
              </a:spcBef>
              <a:buNone/>
            </a:pPr>
            <a:r>
              <a:rPr lang="ko-KR" altLang="en-US" sz="1200" dirty="0">
                <a:solidFill>
                  <a:srgbClr val="7F7F7F"/>
                </a:solidFill>
              </a:rPr>
              <a:t>(V</a:t>
            </a:r>
            <a:r>
              <a:rPr lang="ko-KR" altLang="en-US" sz="1200" baseline="-25000" dirty="0">
                <a:solidFill>
                  <a:srgbClr val="7F7F7F"/>
                </a:solidFill>
              </a:rPr>
              <a:t>cmax</a:t>
            </a:r>
            <a:r>
              <a:rPr lang="ko-KR" altLang="en-US" sz="1200" dirty="0">
                <a:solidFill>
                  <a:srgbClr val="7F7F7F"/>
                </a:solidFill>
              </a:rPr>
              <a:t> 73)</a:t>
            </a:r>
          </a:p>
        </p:txBody>
      </p:sp>
      <p:sp>
        <p:nvSpPr>
          <p:cNvPr id="53" name="Cell"/>
          <p:cNvSpPr/>
          <p:nvPr/>
        </p:nvSpPr>
        <p:spPr>
          <a:xfrm>
            <a:off x="9052560" y="3163824"/>
            <a:ext cx="2103120" cy="548640"/>
          </a:xfrm>
          <a:prstGeom prst="roundRect">
            <a:avLst>
              <a:gd name="adj" fmla="val 10000"/>
            </a:avLst>
          </a:prstGeom>
          <a:solidFill>
            <a:srgbClr val="E97132"/>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FFFFFF"/>
                </a:solidFill>
              </a:rPr>
              <a:t>건물중 −43%</a:t>
            </a:r>
          </a:p>
        </p:txBody>
      </p:sp>
      <p:sp>
        <p:nvSpPr>
          <p:cNvPr id="54" name="Row label"/>
          <p:cNvSpPr/>
          <p:nvPr/>
        </p:nvSpPr>
        <p:spPr>
          <a:xfrm>
            <a:off x="841248" y="3858768"/>
            <a:ext cx="1545336" cy="548640"/>
          </a:xfrm>
          <a:prstGeom prst="roundRect">
            <a:avLst>
              <a:gd name="adj" fmla="val 14000"/>
            </a:avLst>
          </a:prstGeom>
          <a:solidFill>
            <a:srgbClr val="FFFFFF"/>
          </a:solidFill>
          <a:ln w="15875">
            <a:solidFill>
              <a:srgbClr val="6B4226"/>
            </a:solidFill>
          </a:ln>
        </p:spPr>
        <p:txBody>
          <a:bodyPr wrap="square" lIns="73152" tIns="36576" rIns="73152" bIns="36576" rtlCol="0" anchor="ctr">
            <a:noAutofit/>
          </a:bodyPr>
          <a:lstStyle/>
          <a:p>
            <a:pPr marL="0" indent="0" algn="ctr">
              <a:spcBef>
                <a:spcPts val="0"/>
              </a:spcBef>
              <a:buNone/>
            </a:pPr>
            <a:r>
              <a:rPr lang="ko-KR" altLang="en-US" sz="1300" b="1" dirty="0">
                <a:solidFill>
                  <a:srgbClr val="6B4226"/>
                </a:solidFill>
              </a:rPr>
              <a:t>콩 </a:t>
            </a:r>
            <a:r>
              <a:rPr lang="ko-KR" altLang="en-US" sz="1300" b="1" dirty="0">
                <a:solidFill>
                  <a:srgbClr val="000000"/>
                </a:solidFill>
              </a:rPr>
              <a:t>건조</a:t>
            </a:r>
          </a:p>
        </p:txBody>
      </p:sp>
      <p:sp>
        <p:nvSpPr>
          <p:cNvPr id="55" name="Cell"/>
          <p:cNvSpPr/>
          <p:nvPr/>
        </p:nvSpPr>
        <p:spPr>
          <a:xfrm>
            <a:off x="2468880" y="3858768"/>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 지속</a:t>
            </a:r>
          </a:p>
        </p:txBody>
      </p:sp>
      <p:sp>
        <p:nvSpPr>
          <p:cNvPr id="56" name="Cell"/>
          <p:cNvSpPr/>
          <p:nvPr/>
        </p:nvSpPr>
        <p:spPr>
          <a:xfrm>
            <a:off x="4663440" y="3858768"/>
            <a:ext cx="2103120" cy="548640"/>
          </a:xfrm>
          <a:prstGeom prst="roundRect">
            <a:avLst>
              <a:gd name="adj" fmla="val 10000"/>
            </a:avLst>
          </a:prstGeom>
          <a:solidFill>
            <a:srgbClr val="E97132"/>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FFFFFF"/>
                </a:solidFill>
              </a:rPr>
              <a:t>↓↓ (P2)</a:t>
            </a:r>
          </a:p>
        </p:txBody>
      </p:sp>
      <p:sp>
        <p:nvSpPr>
          <p:cNvPr id="59" name="Cell"/>
          <p:cNvSpPr/>
          <p:nvPr/>
        </p:nvSpPr>
        <p:spPr>
          <a:xfrm>
            <a:off x="6858000" y="3858768"/>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 V</a:t>
            </a:r>
            <a:r>
              <a:rPr lang="ko-KR" altLang="en-US" sz="1200" baseline="-25000" dirty="0">
                <a:solidFill>
                  <a:srgbClr val="000000"/>
                </a:solidFill>
              </a:rPr>
              <a:t>cmax</a:t>
            </a:r>
            <a:r>
              <a:rPr lang="ko-KR" altLang="en-US" sz="1200" dirty="0">
                <a:solidFill>
                  <a:srgbClr val="000000"/>
                </a:solidFill>
              </a:rPr>
              <a:t>·J</a:t>
            </a:r>
            <a:r>
              <a:rPr lang="ko-KR" altLang="en-US" sz="1200" baseline="-25000" dirty="0">
                <a:solidFill>
                  <a:srgbClr val="000000"/>
                </a:solidFill>
              </a:rPr>
              <a:t>max</a:t>
            </a:r>
          </a:p>
          <a:p>
            <a:pPr marL="0" indent="0" algn="ctr">
              <a:spcBef>
                <a:spcPts val="0"/>
              </a:spcBef>
              <a:buNone/>
            </a:pPr>
            <a:r>
              <a:rPr lang="ko-KR" altLang="en-US" sz="1200" dirty="0">
                <a:solidFill>
                  <a:srgbClr val="000000"/>
                </a:solidFill>
              </a:rPr>
              <a:t>(9월)</a:t>
            </a:r>
          </a:p>
        </p:txBody>
      </p:sp>
      <p:sp>
        <p:nvSpPr>
          <p:cNvPr id="60" name="Cell"/>
          <p:cNvSpPr/>
          <p:nvPr/>
        </p:nvSpPr>
        <p:spPr>
          <a:xfrm>
            <a:off x="9052560" y="3858768"/>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생육 −35%</a:t>
            </a:r>
          </a:p>
          <a:p>
            <a:pPr marL="0" indent="0" algn="ctr">
              <a:spcBef>
                <a:spcPts val="0"/>
              </a:spcBef>
              <a:buNone/>
            </a:pPr>
            <a:r>
              <a:rPr lang="ko-KR" altLang="en-US" sz="1200" dirty="0">
                <a:solidFill>
                  <a:srgbClr val="7F7F7F"/>
                </a:solidFill>
              </a:rPr>
              <a:t>수량 −5%</a:t>
            </a:r>
          </a:p>
        </p:txBody>
      </p:sp>
      <p:sp>
        <p:nvSpPr>
          <p:cNvPr id="61" name="Row label"/>
          <p:cNvSpPr/>
          <p:nvPr/>
        </p:nvSpPr>
        <p:spPr>
          <a:xfrm>
            <a:off x="841248" y="4443984"/>
            <a:ext cx="1545336" cy="548640"/>
          </a:xfrm>
          <a:prstGeom prst="roundRect">
            <a:avLst>
              <a:gd name="adj" fmla="val 14000"/>
            </a:avLst>
          </a:prstGeom>
          <a:solidFill>
            <a:srgbClr val="FFFFFF"/>
          </a:solidFill>
          <a:ln w="15875">
            <a:solidFill>
              <a:srgbClr val="6B4226"/>
            </a:solidFill>
          </a:ln>
        </p:spPr>
        <p:txBody>
          <a:bodyPr wrap="square" lIns="73152" tIns="36576" rIns="73152" bIns="36576" rtlCol="0" anchor="ctr">
            <a:noAutofit/>
          </a:bodyPr>
          <a:lstStyle/>
          <a:p>
            <a:pPr marL="0" indent="0" algn="ctr">
              <a:spcBef>
                <a:spcPts val="0"/>
              </a:spcBef>
              <a:buNone/>
            </a:pPr>
            <a:r>
              <a:rPr lang="ko-KR" altLang="en-US" sz="1300" b="1" dirty="0">
                <a:solidFill>
                  <a:srgbClr val="6B4226"/>
                </a:solidFill>
              </a:rPr>
              <a:t>콩 </a:t>
            </a:r>
            <a:r>
              <a:rPr lang="ko-KR" altLang="en-US" sz="1300" b="1" dirty="0">
                <a:solidFill>
                  <a:srgbClr val="000000"/>
                </a:solidFill>
              </a:rPr>
              <a:t>침수</a:t>
            </a:r>
          </a:p>
        </p:txBody>
      </p:sp>
      <p:sp>
        <p:nvSpPr>
          <p:cNvPr id="62" name="Cell"/>
          <p:cNvSpPr/>
          <p:nvPr/>
        </p:nvSpPr>
        <p:spPr>
          <a:xfrm>
            <a:off x="2468880" y="4443984"/>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 DAT 9까지</a:t>
            </a:r>
          </a:p>
          <a:p>
            <a:pPr marL="0" indent="0" algn="ctr">
              <a:spcBef>
                <a:spcPts val="0"/>
              </a:spcBef>
              <a:buNone/>
            </a:pPr>
            <a:r>
              <a:rPr lang="ko-KR" altLang="en-US" sz="950" dirty="0">
                <a:solidFill>
                  <a:srgbClr val="000000"/>
                </a:solidFill>
              </a:rPr>
              <a:t>미회복</a:t>
            </a:r>
          </a:p>
        </p:txBody>
      </p:sp>
      <p:sp>
        <p:nvSpPr>
          <p:cNvPr id="63" name="Cell"/>
          <p:cNvSpPr/>
          <p:nvPr/>
        </p:nvSpPr>
        <p:spPr>
          <a:xfrm>
            <a:off x="4663440" y="4443984"/>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 (P1)</a:t>
            </a:r>
          </a:p>
        </p:txBody>
      </p:sp>
      <p:sp>
        <p:nvSpPr>
          <p:cNvPr id="66" name="Cell"/>
          <p:cNvSpPr/>
          <p:nvPr/>
        </p:nvSpPr>
        <p:spPr>
          <a:xfrm>
            <a:off x="6858000" y="4443984"/>
            <a:ext cx="2103120" cy="548640"/>
          </a:xfrm>
          <a:prstGeom prst="roundRect">
            <a:avLst>
              <a:gd name="adj" fmla="val 10000"/>
            </a:avLst>
          </a:prstGeom>
          <a:solidFill>
            <a:srgbClr val="EFEFEF"/>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a:t>
            </a:r>
          </a:p>
        </p:txBody>
      </p:sp>
      <p:sp>
        <p:nvSpPr>
          <p:cNvPr id="67" name="Cell"/>
          <p:cNvSpPr/>
          <p:nvPr/>
        </p:nvSpPr>
        <p:spPr>
          <a:xfrm>
            <a:off x="9052560" y="4443984"/>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생육 −28%</a:t>
            </a:r>
          </a:p>
          <a:p>
            <a:pPr marL="0" indent="0" algn="ctr">
              <a:spcBef>
                <a:spcPts val="0"/>
              </a:spcBef>
              <a:buNone/>
            </a:pPr>
            <a:r>
              <a:rPr lang="ko-KR" altLang="en-US" sz="950" dirty="0">
                <a:solidFill>
                  <a:srgbClr val="7F7F7F"/>
                </a:solidFill>
              </a:rPr>
              <a:t>수량 −5%</a:t>
            </a:r>
          </a:p>
        </p:txBody>
      </p:sp>
      <p:sp>
        <p:nvSpPr>
          <p:cNvPr id="68" name="Row label"/>
          <p:cNvSpPr/>
          <p:nvPr/>
        </p:nvSpPr>
        <p:spPr>
          <a:xfrm>
            <a:off x="841248" y="5029200"/>
            <a:ext cx="1545336" cy="548640"/>
          </a:xfrm>
          <a:prstGeom prst="roundRect">
            <a:avLst>
              <a:gd name="adj" fmla="val 14000"/>
            </a:avLst>
          </a:prstGeom>
          <a:solidFill>
            <a:srgbClr val="FFFFFF"/>
          </a:solidFill>
          <a:ln w="15875">
            <a:solidFill>
              <a:srgbClr val="6B4226"/>
            </a:solidFill>
          </a:ln>
        </p:spPr>
        <p:txBody>
          <a:bodyPr wrap="square" lIns="73152" tIns="36576" rIns="73152" bIns="36576" rtlCol="0" anchor="ctr">
            <a:noAutofit/>
          </a:bodyPr>
          <a:lstStyle/>
          <a:p>
            <a:pPr marL="0" indent="0" algn="ctr">
              <a:spcBef>
                <a:spcPts val="0"/>
              </a:spcBef>
              <a:buNone/>
            </a:pPr>
            <a:r>
              <a:rPr lang="ko-KR" altLang="en-US" sz="1300" b="1" dirty="0">
                <a:solidFill>
                  <a:srgbClr val="6B4226"/>
                </a:solidFill>
              </a:rPr>
              <a:t>콩 </a:t>
            </a:r>
            <a:r>
              <a:rPr lang="ko-KR" altLang="en-US" sz="1300" b="1" dirty="0">
                <a:solidFill>
                  <a:srgbClr val="000000"/>
                </a:solidFill>
              </a:rPr>
              <a:t>복합</a:t>
            </a:r>
          </a:p>
        </p:txBody>
      </p:sp>
      <p:sp>
        <p:nvSpPr>
          <p:cNvPr id="69" name="Cell"/>
          <p:cNvSpPr/>
          <p:nvPr/>
        </p:nvSpPr>
        <p:spPr>
          <a:xfrm>
            <a:off x="2468880" y="5029200"/>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 지속</a:t>
            </a:r>
          </a:p>
        </p:txBody>
      </p:sp>
      <p:sp>
        <p:nvSpPr>
          <p:cNvPr id="70" name="Cell"/>
          <p:cNvSpPr/>
          <p:nvPr/>
        </p:nvSpPr>
        <p:spPr>
          <a:xfrm>
            <a:off x="4663440" y="5029200"/>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 (P2)</a:t>
            </a:r>
          </a:p>
        </p:txBody>
      </p:sp>
      <p:sp>
        <p:nvSpPr>
          <p:cNvPr id="73" name="Cell"/>
          <p:cNvSpPr/>
          <p:nvPr/>
        </p:nvSpPr>
        <p:spPr>
          <a:xfrm>
            <a:off x="6858000" y="5029200"/>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 J</a:t>
            </a:r>
            <a:r>
              <a:rPr lang="ko-KR" altLang="en-US" sz="1200" baseline="-25000" dirty="0">
                <a:solidFill>
                  <a:srgbClr val="000000"/>
                </a:solidFill>
              </a:rPr>
              <a:t>max</a:t>
            </a:r>
          </a:p>
          <a:p>
            <a:pPr marL="0" indent="0" algn="ctr">
              <a:spcBef>
                <a:spcPts val="0"/>
              </a:spcBef>
              <a:buNone/>
            </a:pPr>
            <a:r>
              <a:rPr lang="ko-KR" altLang="en-US" sz="1200" dirty="0">
                <a:solidFill>
                  <a:srgbClr val="000000"/>
                </a:solidFill>
              </a:rPr>
              <a:t>(9월)</a:t>
            </a:r>
          </a:p>
        </p:txBody>
      </p:sp>
      <p:sp>
        <p:nvSpPr>
          <p:cNvPr id="74" name="Cell"/>
          <p:cNvSpPr/>
          <p:nvPr/>
        </p:nvSpPr>
        <p:spPr>
          <a:xfrm>
            <a:off x="9052560" y="5029200"/>
            <a:ext cx="2103120" cy="548640"/>
          </a:xfrm>
          <a:prstGeom prst="roundRect">
            <a:avLst>
              <a:gd name="adj" fmla="val 10000"/>
            </a:avLst>
          </a:prstGeom>
          <a:solidFill>
            <a:srgbClr val="EFEFEF"/>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생육 −19%</a:t>
            </a:r>
          </a:p>
          <a:p>
            <a:pPr marL="0" indent="0" algn="ctr">
              <a:spcBef>
                <a:spcPts val="0"/>
              </a:spcBef>
              <a:buNone/>
            </a:pPr>
            <a:r>
              <a:rPr lang="ko-KR" altLang="en-US" sz="950" dirty="0">
                <a:solidFill>
                  <a:srgbClr val="7F7F7F"/>
                </a:solidFill>
              </a:rPr>
              <a:t>수량 −14%</a:t>
            </a:r>
          </a:p>
        </p:txBody>
      </p:sp>
      <p:sp>
        <p:nvSpPr>
          <p:cNvPr id="164"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5"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66" name="Nav 결과"/>
          <p:cNvSpPr txBox="1"/>
          <p:nvPr/>
        </p:nvSpPr>
        <p:spPr>
          <a:xfrm>
            <a:off x="3584448" y="100584"/>
            <a:ext cx="1371600" cy="329184"/>
          </a:xfrm>
          <a:prstGeom prst="rect">
            <a:avLst/>
          </a:prstGeom>
          <a:noFill/>
        </p:spPr>
        <p:txBody>
          <a:bodyPr wrap="none" lIns="0" tIns="0" rIns="0" bIns="0" anchor="ctr">
            <a:spAutoFit/>
          </a:bodyPr>
          <a:lstStyle/>
          <a:p>
            <a:pPr algn="ctr"/>
            <a:r>
              <a:rPr sz="1450" b="1" u="sng">
                <a:solidFill>
                  <a:srgbClr val="1A1A1A"/>
                </a:solidFill>
              </a:rPr>
              <a:t>결과</a:t>
            </a:r>
          </a:p>
        </p:txBody>
      </p:sp>
      <p:sp>
        <p:nvSpPr>
          <p:cNvPr id="167"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68"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500"/>
                                        <p:tgtEl>
                                          <p:spTgt spid="3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
                                        </p:tgtEl>
                                        <p:attrNameLst>
                                          <p:attrName>style.visibility</p:attrName>
                                        </p:attrNameLst>
                                      </p:cBhvr>
                                      <p:to>
                                        <p:strVal val="visible"/>
                                      </p:to>
                                    </p:set>
                                    <p:animEffect transition="in" filter="fade">
                                      <p:cBhvr>
                                        <p:cTn id="10" dur="500"/>
                                        <p:tgtEl>
                                          <p:spTgt spid="4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7"/>
                                        </p:tgtEl>
                                        <p:attrNameLst>
                                          <p:attrName>style.visibility</p:attrName>
                                        </p:attrNameLst>
                                      </p:cBhvr>
                                      <p:to>
                                        <p:strVal val="visible"/>
                                      </p:to>
                                    </p:set>
                                    <p:animEffect transition="in" filter="fade">
                                      <p:cBhvr>
                                        <p:cTn id="13" dur="500"/>
                                        <p:tgtEl>
                                          <p:spTgt spid="4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8"/>
                                        </p:tgtEl>
                                        <p:attrNameLst>
                                          <p:attrName>style.visibility</p:attrName>
                                        </p:attrNameLst>
                                      </p:cBhvr>
                                      <p:to>
                                        <p:strVal val="visible"/>
                                      </p:to>
                                    </p:set>
                                    <p:animEffect transition="in" filter="fade">
                                      <p:cBhvr>
                                        <p:cTn id="22" dur="500"/>
                                        <p:tgtEl>
                                          <p:spTgt spid="6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00"/>
                                        <p:tgtEl>
                                          <p:spTgt spid="2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4"/>
                                        </p:tgtEl>
                                        <p:attrNameLst>
                                          <p:attrName>style.visibility</p:attrName>
                                        </p:attrNameLst>
                                      </p:cBhvr>
                                      <p:to>
                                        <p:strVal val="visible"/>
                                      </p:to>
                                    </p:set>
                                    <p:animEffect transition="in" filter="fade">
                                      <p:cBhvr>
                                        <p:cTn id="28" dur="500"/>
                                        <p:tgtEl>
                                          <p:spTgt spid="3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1"/>
                                        </p:tgtEl>
                                        <p:attrNameLst>
                                          <p:attrName>style.visibility</p:attrName>
                                        </p:attrNameLst>
                                      </p:cBhvr>
                                      <p:to>
                                        <p:strVal val="visible"/>
                                      </p:to>
                                    </p:set>
                                    <p:animEffect transition="in" filter="fade">
                                      <p:cBhvr>
                                        <p:cTn id="31" dur="500"/>
                                        <p:tgtEl>
                                          <p:spTgt spid="4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8"/>
                                        </p:tgtEl>
                                        <p:attrNameLst>
                                          <p:attrName>style.visibility</p:attrName>
                                        </p:attrNameLst>
                                      </p:cBhvr>
                                      <p:to>
                                        <p:strVal val="visible"/>
                                      </p:to>
                                    </p:set>
                                    <p:animEffect transition="in" filter="fade">
                                      <p:cBhvr>
                                        <p:cTn id="34" dur="500"/>
                                        <p:tgtEl>
                                          <p:spTgt spid="4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55"/>
                                        </p:tgtEl>
                                        <p:attrNameLst>
                                          <p:attrName>style.visibility</p:attrName>
                                        </p:attrNameLst>
                                      </p:cBhvr>
                                      <p:to>
                                        <p:strVal val="visible"/>
                                      </p:to>
                                    </p:set>
                                    <p:animEffect transition="in" filter="fade">
                                      <p:cBhvr>
                                        <p:cTn id="37" dur="500"/>
                                        <p:tgtEl>
                                          <p:spTgt spid="5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62"/>
                                        </p:tgtEl>
                                        <p:attrNameLst>
                                          <p:attrName>style.visibility</p:attrName>
                                        </p:attrNameLst>
                                      </p:cBhvr>
                                      <p:to>
                                        <p:strVal val="visible"/>
                                      </p:to>
                                    </p:set>
                                    <p:animEffect transition="in" filter="fade">
                                      <p:cBhvr>
                                        <p:cTn id="40" dur="500"/>
                                        <p:tgtEl>
                                          <p:spTgt spid="6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9"/>
                                        </p:tgtEl>
                                        <p:attrNameLst>
                                          <p:attrName>style.visibility</p:attrName>
                                        </p:attrNameLst>
                                      </p:cBhvr>
                                      <p:to>
                                        <p:strVal val="visible"/>
                                      </p:to>
                                    </p:set>
                                    <p:animEffect transition="in" filter="fade">
                                      <p:cBhvr>
                                        <p:cTn id="43" dur="500"/>
                                        <p:tgtEl>
                                          <p:spTgt spid="69"/>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28"/>
                                        </p:tgtEl>
                                        <p:attrNameLst>
                                          <p:attrName>style.visibility</p:attrName>
                                        </p:attrNameLst>
                                      </p:cBhvr>
                                      <p:to>
                                        <p:strVal val="visible"/>
                                      </p:to>
                                    </p:set>
                                    <p:animEffect transition="in" filter="fade">
                                      <p:cBhvr>
                                        <p:cTn id="48" dur="500"/>
                                        <p:tgtEl>
                                          <p:spTgt spid="2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5"/>
                                        </p:tgtEl>
                                        <p:attrNameLst>
                                          <p:attrName>style.visibility</p:attrName>
                                        </p:attrNameLst>
                                      </p:cBhvr>
                                      <p:to>
                                        <p:strVal val="visible"/>
                                      </p:to>
                                    </p:set>
                                    <p:animEffect transition="in" filter="fade">
                                      <p:cBhvr>
                                        <p:cTn id="51" dur="500"/>
                                        <p:tgtEl>
                                          <p:spTgt spid="35"/>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2"/>
                                        </p:tgtEl>
                                        <p:attrNameLst>
                                          <p:attrName>style.visibility</p:attrName>
                                        </p:attrNameLst>
                                      </p:cBhvr>
                                      <p:to>
                                        <p:strVal val="visible"/>
                                      </p:to>
                                    </p:set>
                                    <p:animEffect transition="in" filter="fade">
                                      <p:cBhvr>
                                        <p:cTn id="54" dur="500"/>
                                        <p:tgtEl>
                                          <p:spTgt spid="42"/>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animEffect transition="in" filter="fade">
                                      <p:cBhvr>
                                        <p:cTn id="57" dur="500"/>
                                        <p:tgtEl>
                                          <p:spTgt spid="4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56"/>
                                        </p:tgtEl>
                                        <p:attrNameLst>
                                          <p:attrName>style.visibility</p:attrName>
                                        </p:attrNameLst>
                                      </p:cBhvr>
                                      <p:to>
                                        <p:strVal val="visible"/>
                                      </p:to>
                                    </p:set>
                                    <p:animEffect transition="in" filter="fade">
                                      <p:cBhvr>
                                        <p:cTn id="60" dur="500"/>
                                        <p:tgtEl>
                                          <p:spTgt spid="56"/>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63"/>
                                        </p:tgtEl>
                                        <p:attrNameLst>
                                          <p:attrName>style.visibility</p:attrName>
                                        </p:attrNameLst>
                                      </p:cBhvr>
                                      <p:to>
                                        <p:strVal val="visible"/>
                                      </p:to>
                                    </p:set>
                                    <p:animEffect transition="in" filter="fade">
                                      <p:cBhvr>
                                        <p:cTn id="63" dur="500"/>
                                        <p:tgtEl>
                                          <p:spTgt spid="63"/>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70"/>
                                        </p:tgtEl>
                                        <p:attrNameLst>
                                          <p:attrName>style.visibility</p:attrName>
                                        </p:attrNameLst>
                                      </p:cBhvr>
                                      <p:to>
                                        <p:strVal val="visible"/>
                                      </p:to>
                                    </p:set>
                                    <p:animEffect transition="in" filter="fade">
                                      <p:cBhvr>
                                        <p:cTn id="66" dur="500"/>
                                        <p:tgtEl>
                                          <p:spTgt spid="70"/>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8"/>
                                        </p:tgtEl>
                                        <p:attrNameLst>
                                          <p:attrName>style.visibility</p:attrName>
                                        </p:attrNameLst>
                                      </p:cBhvr>
                                      <p:to>
                                        <p:strVal val="visible"/>
                                      </p:to>
                                    </p:set>
                                    <p:animEffect transition="in" filter="fade">
                                      <p:cBhvr>
                                        <p:cTn id="74" dur="500"/>
                                        <p:tgtEl>
                                          <p:spTgt spid="38"/>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5"/>
                                        </p:tgtEl>
                                        <p:attrNameLst>
                                          <p:attrName>style.visibility</p:attrName>
                                        </p:attrNameLst>
                                      </p:cBhvr>
                                      <p:to>
                                        <p:strVal val="visible"/>
                                      </p:to>
                                    </p:set>
                                    <p:animEffect transition="in" filter="fade">
                                      <p:cBhvr>
                                        <p:cTn id="77" dur="500"/>
                                        <p:tgtEl>
                                          <p:spTgt spid="4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52"/>
                                        </p:tgtEl>
                                        <p:attrNameLst>
                                          <p:attrName>style.visibility</p:attrName>
                                        </p:attrNameLst>
                                      </p:cBhvr>
                                      <p:to>
                                        <p:strVal val="visible"/>
                                      </p:to>
                                    </p:set>
                                    <p:animEffect transition="in" filter="fade">
                                      <p:cBhvr>
                                        <p:cTn id="80" dur="500"/>
                                        <p:tgtEl>
                                          <p:spTgt spid="52"/>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9"/>
                                        </p:tgtEl>
                                        <p:attrNameLst>
                                          <p:attrName>style.visibility</p:attrName>
                                        </p:attrNameLst>
                                      </p:cBhvr>
                                      <p:to>
                                        <p:strVal val="visible"/>
                                      </p:to>
                                    </p:set>
                                    <p:animEffect transition="in" filter="fade">
                                      <p:cBhvr>
                                        <p:cTn id="83" dur="500"/>
                                        <p:tgtEl>
                                          <p:spTgt spid="59"/>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6"/>
                                        </p:tgtEl>
                                        <p:attrNameLst>
                                          <p:attrName>style.visibility</p:attrName>
                                        </p:attrNameLst>
                                      </p:cBhvr>
                                      <p:to>
                                        <p:strVal val="visible"/>
                                      </p:to>
                                    </p:set>
                                    <p:animEffect transition="in" filter="fade">
                                      <p:cBhvr>
                                        <p:cTn id="86" dur="500"/>
                                        <p:tgtEl>
                                          <p:spTgt spid="66"/>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73"/>
                                        </p:tgtEl>
                                        <p:attrNameLst>
                                          <p:attrName>style.visibility</p:attrName>
                                        </p:attrNameLst>
                                      </p:cBhvr>
                                      <p:to>
                                        <p:strVal val="visible"/>
                                      </p:to>
                                    </p:set>
                                    <p:animEffect transition="in" filter="fade">
                                      <p:cBhvr>
                                        <p:cTn id="89" dur="500"/>
                                        <p:tgtEl>
                                          <p:spTgt spid="7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500"/>
                                        <p:tgtEl>
                                          <p:spTgt spid="32"/>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9"/>
                                        </p:tgtEl>
                                        <p:attrNameLst>
                                          <p:attrName>style.visibility</p:attrName>
                                        </p:attrNameLst>
                                      </p:cBhvr>
                                      <p:to>
                                        <p:strVal val="visible"/>
                                      </p:to>
                                    </p:set>
                                    <p:animEffect transition="in" filter="fade">
                                      <p:cBhvr>
                                        <p:cTn id="97" dur="500"/>
                                        <p:tgtEl>
                                          <p:spTgt spid="39"/>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6"/>
                                        </p:tgtEl>
                                        <p:attrNameLst>
                                          <p:attrName>style.visibility</p:attrName>
                                        </p:attrNameLst>
                                      </p:cBhvr>
                                      <p:to>
                                        <p:strVal val="visible"/>
                                      </p:to>
                                    </p:set>
                                    <p:animEffect transition="in" filter="fade">
                                      <p:cBhvr>
                                        <p:cTn id="100" dur="500"/>
                                        <p:tgtEl>
                                          <p:spTgt spid="46"/>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53"/>
                                        </p:tgtEl>
                                        <p:attrNameLst>
                                          <p:attrName>style.visibility</p:attrName>
                                        </p:attrNameLst>
                                      </p:cBhvr>
                                      <p:to>
                                        <p:strVal val="visible"/>
                                      </p:to>
                                    </p:set>
                                    <p:animEffect transition="in" filter="fade">
                                      <p:cBhvr>
                                        <p:cTn id="103" dur="500"/>
                                        <p:tgtEl>
                                          <p:spTgt spid="53"/>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0"/>
                                        </p:tgtEl>
                                        <p:attrNameLst>
                                          <p:attrName>style.visibility</p:attrName>
                                        </p:attrNameLst>
                                      </p:cBhvr>
                                      <p:to>
                                        <p:strVal val="visible"/>
                                      </p:to>
                                    </p:set>
                                    <p:animEffect transition="in" filter="fade">
                                      <p:cBhvr>
                                        <p:cTn id="106" dur="500"/>
                                        <p:tgtEl>
                                          <p:spTgt spid="60"/>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7"/>
                                        </p:tgtEl>
                                        <p:attrNameLst>
                                          <p:attrName>style.visibility</p:attrName>
                                        </p:attrNameLst>
                                      </p:cBhvr>
                                      <p:to>
                                        <p:strVal val="visible"/>
                                      </p:to>
                                    </p:set>
                                    <p:animEffect transition="in" filter="fade">
                                      <p:cBhvr>
                                        <p:cTn id="109" dur="500"/>
                                        <p:tgtEl>
                                          <p:spTgt spid="67"/>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74"/>
                                        </p:tgtEl>
                                        <p:attrNameLst>
                                          <p:attrName>style.visibility</p:attrName>
                                        </p:attrNameLst>
                                      </p:cBhvr>
                                      <p:to>
                                        <p:strVal val="visible"/>
                                      </p:to>
                                    </p:set>
                                    <p:animEffect transition="in" filter="fade">
                                      <p:cBhvr>
                                        <p:cTn id="112" dur="500"/>
                                        <p:tgtEl>
                                          <p:spTgt spid="74"/>
                                        </p:tgtEl>
                                      </p:cBhvr>
                                    </p:animEffect>
                                  </p:childTnLst>
                                </p:cTn>
                              </p:par>
                            </p:childTnLst>
                          </p:cTn>
                        </p:par>
                      </p:childTnLst>
                    </p:cTn>
                  </p:par>
                  <p:par>
                    <p:cTn id="113" fill="hold">
                      <p:stCondLst>
                        <p:cond delay="indefinite"/>
                      </p:stCondLst>
                      <p:childTnLst>
                        <p:par>
                          <p:cTn id="114" fill="hold">
                            <p:stCondLst>
                              <p:cond delay="0"/>
                            </p:stCondLst>
                            <p:childTnLst>
                              <p:par>
                                <p:cTn id="115" presetID="10" presetClass="entr" presetSubtype="0" fill="hold" grpId="0" nodeType="clickEffect">
                                  <p:stCondLst>
                                    <p:cond delay="0"/>
                                  </p:stCondLst>
                                  <p:childTnLst>
                                    <p:set>
                                      <p:cBhvr>
                                        <p:cTn id="116" dur="1" fill="hold">
                                          <p:stCondLst>
                                            <p:cond delay="0"/>
                                          </p:stCondLst>
                                        </p:cTn>
                                        <p:tgtEl>
                                          <p:spTgt spid="25"/>
                                        </p:tgtEl>
                                        <p:attrNameLst>
                                          <p:attrName>style.visibility</p:attrName>
                                        </p:attrNameLst>
                                      </p:cBhvr>
                                      <p:to>
                                        <p:strVal val="visible"/>
                                      </p:to>
                                    </p:set>
                                    <p:animEffect transition="in" filter="fade">
                                      <p:cBhvr>
                                        <p:cTn id="11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7" grpId="0" animBg="1"/>
      <p:bldP spid="28" grpId="0" animBg="1"/>
      <p:bldP spid="31" grpId="0" animBg="1"/>
      <p:bldP spid="32" grpId="0" animBg="1"/>
      <p:bldP spid="33" grpId="0" animBg="1"/>
      <p:bldP spid="34" grpId="0" animBg="1"/>
      <p:bldP spid="35" grpId="0" animBg="1"/>
      <p:bldP spid="38" grpId="0" animBg="1"/>
      <p:bldP spid="39" grpId="0" animBg="1"/>
      <p:bldP spid="40" grpId="0" animBg="1"/>
      <p:bldP spid="41" grpId="0" animBg="1"/>
      <p:bldP spid="42" grpId="0" animBg="1"/>
      <p:bldP spid="45" grpId="0" animBg="1"/>
      <p:bldP spid="46" grpId="0" animBg="1"/>
      <p:bldP spid="47" grpId="0" animBg="1"/>
      <p:bldP spid="48" grpId="0" animBg="1"/>
      <p:bldP spid="49" grpId="0" animBg="1"/>
      <p:bldP spid="52" grpId="0" animBg="1"/>
      <p:bldP spid="53" grpId="0" animBg="1"/>
      <p:bldP spid="54" grpId="0" animBg="1"/>
      <p:bldP spid="55" grpId="0" animBg="1"/>
      <p:bldP spid="56" grpId="0" animBg="1"/>
      <p:bldP spid="59" grpId="0" animBg="1"/>
      <p:bldP spid="60" grpId="0" animBg="1"/>
      <p:bldP spid="61" grpId="0" animBg="1"/>
      <p:bldP spid="62" grpId="0" animBg="1"/>
      <p:bldP spid="63" grpId="0" animBg="1"/>
      <p:bldP spid="66" grpId="0" animBg="1"/>
      <p:bldP spid="67" grpId="0" animBg="1"/>
      <p:bldP spid="68" grpId="0" animBg="1"/>
      <p:bldP spid="69" grpId="0" animBg="1"/>
      <p:bldP spid="70" grpId="0" animBg="1"/>
      <p:bldP spid="73" grpId="0" animBg="1"/>
      <p:bldP spid="7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콩 (기공 → 명반응 → 광합성 능력 → 수량)</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15</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콩은 생리 지표에서 차이가 있었고, 수량에는 감소하는 경향이 보였지만 큰 차이가 없었다</a:t>
            </a: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기공·수량 그래프의 건조·복합은 회색. Tan et al. 2018 J Plant Physiol; Haverroth et al. 2024 Plant Physiol; Buckley 2019 New Phytol; Yeung et al. 2018 PNAS; Sasidharan et al. 2018 Plant Physiol (참고문헌: 보충 자료 A6)</a:t>
            </a:r>
          </a:p>
        </p:txBody>
      </p:sp>
      <p:sp>
        <p:nvSpPr>
          <p:cNvPr id="52"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53"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54"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55" name="Nav 고찰"/>
          <p:cNvSpPr txBox="1"/>
          <p:nvPr/>
        </p:nvSpPr>
        <p:spPr>
          <a:xfrm>
            <a:off x="4956048" y="100584"/>
            <a:ext cx="1371600" cy="329184"/>
          </a:xfrm>
          <a:prstGeom prst="rect">
            <a:avLst/>
          </a:prstGeom>
          <a:noFill/>
        </p:spPr>
        <p:txBody>
          <a:bodyPr wrap="none" lIns="0" tIns="0" rIns="0" bIns="0" anchor="ctr">
            <a:spAutoFit/>
          </a:bodyPr>
          <a:lstStyle/>
          <a:p>
            <a:pPr algn="ctr"/>
            <a:r>
              <a:rPr sz="1450" b="1" u="sng">
                <a:solidFill>
                  <a:srgbClr val="1A1A1A"/>
                </a:solidFill>
              </a:rPr>
              <a:t>고찰</a:t>
            </a:r>
          </a:p>
        </p:txBody>
      </p:sp>
      <p:sp>
        <p:nvSpPr>
          <p:cNvPr id="56"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pic>
        <p:nvPicPr>
          <p:cNvPr id="57" name="Picture 56" descr="recap_bean.png"/>
          <p:cNvPicPr>
            <a:picLocks noChangeAspect="1"/>
          </p:cNvPicPr>
          <p:nvPr/>
        </p:nvPicPr>
        <p:blipFill>
          <a:blip r:embed="rId4"/>
          <a:stretch>
            <a:fillRect/>
          </a:stretch>
        </p:blipFill>
        <p:spPr>
          <a:xfrm>
            <a:off x="502920" y="1874519"/>
            <a:ext cx="11155680" cy="3291840"/>
          </a:xfrm>
          <a:prstGeom prst="rect">
            <a:avLst/>
          </a:prstGeom>
        </p:spPr>
      </p:pic>
      <p:sp>
        <p:nvSpPr>
          <p:cNvPr id="58" name="Rounded Rectangle 57"/>
          <p:cNvSpPr/>
          <p:nvPr/>
        </p:nvSpPr>
        <p:spPr>
          <a:xfrm>
            <a:off x="939600" y="1234440"/>
            <a:ext cx="2468880" cy="566928"/>
          </a:xfrm>
          <a:prstGeom prst="roundRect">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300" b="1">
                <a:solidFill>
                  <a:srgbClr val="FFFFFF"/>
                </a:solidFill>
              </a:rPr>
              <a:t>① 기공</a:t>
            </a:r>
          </a:p>
          <a:p>
            <a:pPr algn="ctr"/>
            <a:r>
              <a:rPr sz="1050">
                <a:solidFill>
                  <a:srgbClr val="FFFFFF"/>
                </a:solidFill>
              </a:rPr>
              <a:t>gsw 회복</a:t>
            </a:r>
          </a:p>
        </p:txBody>
      </p:sp>
      <p:sp>
        <p:nvSpPr>
          <p:cNvPr id="59" name="Right Arrow 58"/>
          <p:cNvSpPr/>
          <p:nvPr/>
        </p:nvSpPr>
        <p:spPr>
          <a:xfrm>
            <a:off x="3472488" y="1389888"/>
            <a:ext cx="457200" cy="256032"/>
          </a:xfrm>
          <a:prstGeom prst="rightArrow">
            <a:avLst/>
          </a:prstGeom>
          <a:solidFill>
            <a:srgbClr val="9AA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ounded Rectangle 59"/>
          <p:cNvSpPr/>
          <p:nvPr/>
        </p:nvSpPr>
        <p:spPr>
          <a:xfrm>
            <a:off x="3730752" y="1234440"/>
            <a:ext cx="2468880" cy="566928"/>
          </a:xfrm>
          <a:prstGeom prst="roundRect">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300" b="1">
                <a:solidFill>
                  <a:srgbClr val="FFFFFF"/>
                </a:solidFill>
              </a:rPr>
              <a:t>② 명반응</a:t>
            </a:r>
          </a:p>
          <a:p>
            <a:pPr algn="ctr"/>
            <a:r>
              <a:rPr sz="1050">
                <a:solidFill>
                  <a:srgbClr val="FFFFFF"/>
                </a:solidFill>
              </a:rPr>
              <a:t>ΦPSII</a:t>
            </a:r>
          </a:p>
        </p:txBody>
      </p:sp>
      <p:sp>
        <p:nvSpPr>
          <p:cNvPr id="61" name="Right Arrow 60"/>
          <p:cNvSpPr/>
          <p:nvPr/>
        </p:nvSpPr>
        <p:spPr>
          <a:xfrm>
            <a:off x="6263640" y="1389888"/>
            <a:ext cx="457200" cy="256032"/>
          </a:xfrm>
          <a:prstGeom prst="rightArrow">
            <a:avLst/>
          </a:prstGeom>
          <a:solidFill>
            <a:srgbClr val="9AA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ounded Rectangle 61"/>
          <p:cNvSpPr/>
          <p:nvPr/>
        </p:nvSpPr>
        <p:spPr>
          <a:xfrm>
            <a:off x="6520787" y="1234440"/>
            <a:ext cx="2468880" cy="566928"/>
          </a:xfrm>
          <a:prstGeom prst="roundRect">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300" b="1">
                <a:solidFill>
                  <a:srgbClr val="FFFFFF"/>
                </a:solidFill>
              </a:rPr>
              <a:t>③ 광합성 능력</a:t>
            </a:r>
          </a:p>
          <a:p>
            <a:pPr algn="ctr"/>
            <a:r>
              <a:rPr sz="1050">
                <a:solidFill>
                  <a:srgbClr val="FFFFFF"/>
                </a:solidFill>
              </a:rPr>
              <a:t>Vcmax · Jmax</a:t>
            </a:r>
          </a:p>
        </p:txBody>
      </p:sp>
      <p:sp>
        <p:nvSpPr>
          <p:cNvPr id="63" name="Right Arrow 62"/>
          <p:cNvSpPr/>
          <p:nvPr/>
        </p:nvSpPr>
        <p:spPr>
          <a:xfrm>
            <a:off x="9053675" y="1389888"/>
            <a:ext cx="457200" cy="256032"/>
          </a:xfrm>
          <a:prstGeom prst="rightArrow">
            <a:avLst/>
          </a:prstGeom>
          <a:solidFill>
            <a:srgbClr val="9AA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ounded Rectangle 63"/>
          <p:cNvSpPr/>
          <p:nvPr/>
        </p:nvSpPr>
        <p:spPr>
          <a:xfrm>
            <a:off x="9310823" y="1234440"/>
            <a:ext cx="2468880" cy="566928"/>
          </a:xfrm>
          <a:prstGeom prst="roundRect">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300" b="1">
                <a:solidFill>
                  <a:srgbClr val="FFFFFF"/>
                </a:solidFill>
              </a:rPr>
              <a:t>④ 수량</a:t>
            </a:r>
          </a:p>
          <a:p>
            <a:pPr algn="ctr"/>
            <a:r>
              <a:rPr sz="1050">
                <a:solidFill>
                  <a:srgbClr val="FFFFFF"/>
                </a:solidFill>
              </a:rPr>
              <a:t>종실 생체중</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7" y="420624"/>
            <a:ext cx="9966089" cy="566928"/>
          </a:xfrm>
        </p:spPr>
        <p:txBody>
          <a:bodyPr anchor="b">
            <a:normAutofit/>
          </a:bodyPr>
          <a:lstStyle/>
          <a:p>
            <a:r>
              <a:rPr lang="ko-KR" altLang="en-US" sz="2800" dirty="0"/>
              <a:t>상추 (기공 → 명반응 → 광합성 능력 → 건물중)</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16</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lang="ko-KR" altLang="en-US" sz="1600" dirty="0">
                <a:solidFill>
                  <a:srgbClr val="E97132"/>
                </a:solidFill>
              </a:rPr>
              <a:t>상추</a:t>
            </a:r>
            <a:r>
              <a:rPr sz="1600" dirty="0">
                <a:solidFill>
                  <a:srgbClr val="E97132"/>
                </a:solidFill>
              </a:rPr>
              <a:t> </a:t>
            </a:r>
            <a:r>
              <a:rPr sz="1600" dirty="0" err="1">
                <a:solidFill>
                  <a:srgbClr val="E97132"/>
                </a:solidFill>
              </a:rPr>
              <a:t>상추는</a:t>
            </a:r>
            <a:r>
              <a:rPr sz="1600" dirty="0">
                <a:solidFill>
                  <a:srgbClr val="E97132"/>
                </a:solidFill>
              </a:rPr>
              <a:t> </a:t>
            </a:r>
            <a:r>
              <a:rPr sz="1600" dirty="0" err="1">
                <a:solidFill>
                  <a:srgbClr val="E97132"/>
                </a:solidFill>
              </a:rPr>
              <a:t>회복이</a:t>
            </a:r>
            <a:r>
              <a:rPr sz="1600" dirty="0">
                <a:solidFill>
                  <a:srgbClr val="E97132"/>
                </a:solidFill>
              </a:rPr>
              <a:t> </a:t>
            </a:r>
            <a:r>
              <a:rPr sz="1600" dirty="0" err="1">
                <a:solidFill>
                  <a:srgbClr val="E97132"/>
                </a:solidFill>
              </a:rPr>
              <a:t>빨랐지만</a:t>
            </a:r>
            <a:r>
              <a:rPr sz="1600" dirty="0">
                <a:solidFill>
                  <a:srgbClr val="E97132"/>
                </a:solidFill>
              </a:rPr>
              <a:t> </a:t>
            </a:r>
            <a:r>
              <a:rPr sz="1600" dirty="0" err="1">
                <a:solidFill>
                  <a:srgbClr val="E97132"/>
                </a:solidFill>
              </a:rPr>
              <a:t>침수</a:t>
            </a:r>
            <a:r>
              <a:rPr sz="1600" dirty="0">
                <a:solidFill>
                  <a:srgbClr val="E97132"/>
                </a:solidFill>
              </a:rPr>
              <a:t> </a:t>
            </a:r>
            <a:r>
              <a:rPr sz="1600" dirty="0" err="1">
                <a:solidFill>
                  <a:srgbClr val="E97132"/>
                </a:solidFill>
              </a:rPr>
              <a:t>기간</a:t>
            </a:r>
            <a:r>
              <a:rPr sz="1600" dirty="0">
                <a:solidFill>
                  <a:srgbClr val="E97132"/>
                </a:solidFill>
              </a:rPr>
              <a:t> </a:t>
            </a:r>
            <a:r>
              <a:rPr sz="1600" dirty="0" err="1">
                <a:solidFill>
                  <a:srgbClr val="E97132"/>
                </a:solidFill>
              </a:rPr>
              <a:t>동안의</a:t>
            </a:r>
            <a:r>
              <a:rPr sz="1600" dirty="0">
                <a:solidFill>
                  <a:srgbClr val="E97132"/>
                </a:solidFill>
              </a:rPr>
              <a:t> </a:t>
            </a:r>
            <a:r>
              <a:rPr sz="1600" dirty="0" err="1">
                <a:solidFill>
                  <a:srgbClr val="E97132"/>
                </a:solidFill>
              </a:rPr>
              <a:t>손실이</a:t>
            </a:r>
            <a:r>
              <a:rPr sz="1600" dirty="0">
                <a:solidFill>
                  <a:srgbClr val="E97132"/>
                </a:solidFill>
              </a:rPr>
              <a:t> </a:t>
            </a:r>
            <a:r>
              <a:rPr sz="1600" dirty="0" err="1">
                <a:solidFill>
                  <a:srgbClr val="E97132"/>
                </a:solidFill>
              </a:rPr>
              <a:t>유지됨</a:t>
            </a:r>
            <a:endParaRPr sz="1600" dirty="0">
              <a:solidFill>
                <a:srgbClr val="E97132"/>
              </a:solidFill>
            </a:endParaRP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기공·수량 그래프의 건조·복합은 회색. Körner 2015 Curr Opin Plant Biol 25:107; Tardieu et al. 2018 Annu Rev Plant Biol; Haverroth et al. 2024 Plant Physiol (참고문헌: 보충 자료 A6)</a:t>
            </a:r>
          </a:p>
        </p:txBody>
      </p:sp>
      <p:sp>
        <p:nvSpPr>
          <p:cNvPr id="52"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53"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54"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55" name="Nav 고찰"/>
          <p:cNvSpPr txBox="1"/>
          <p:nvPr/>
        </p:nvSpPr>
        <p:spPr>
          <a:xfrm>
            <a:off x="4956048" y="100584"/>
            <a:ext cx="1371600" cy="329184"/>
          </a:xfrm>
          <a:prstGeom prst="rect">
            <a:avLst/>
          </a:prstGeom>
          <a:noFill/>
        </p:spPr>
        <p:txBody>
          <a:bodyPr wrap="none" lIns="0" tIns="0" rIns="0" bIns="0" anchor="ctr">
            <a:spAutoFit/>
          </a:bodyPr>
          <a:lstStyle/>
          <a:p>
            <a:pPr algn="ctr"/>
            <a:r>
              <a:rPr sz="1450" b="1" u="sng">
                <a:solidFill>
                  <a:srgbClr val="1A1A1A"/>
                </a:solidFill>
              </a:rPr>
              <a:t>고찰</a:t>
            </a:r>
          </a:p>
        </p:txBody>
      </p:sp>
      <p:sp>
        <p:nvSpPr>
          <p:cNvPr id="56"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pic>
        <p:nvPicPr>
          <p:cNvPr id="57" name="Picture 56" descr="recap_lettuce.png"/>
          <p:cNvPicPr>
            <a:picLocks noChangeAspect="1"/>
          </p:cNvPicPr>
          <p:nvPr/>
        </p:nvPicPr>
        <p:blipFill>
          <a:blip r:embed="rId4"/>
          <a:stretch>
            <a:fillRect/>
          </a:stretch>
        </p:blipFill>
        <p:spPr>
          <a:xfrm>
            <a:off x="502920" y="1874519"/>
            <a:ext cx="11155680" cy="3291840"/>
          </a:xfrm>
          <a:prstGeom prst="rect">
            <a:avLst/>
          </a:prstGeom>
        </p:spPr>
      </p:pic>
      <p:sp>
        <p:nvSpPr>
          <p:cNvPr id="58" name="Rounded Rectangle 57"/>
          <p:cNvSpPr/>
          <p:nvPr/>
        </p:nvSpPr>
        <p:spPr>
          <a:xfrm>
            <a:off x="939600" y="1234440"/>
            <a:ext cx="2468880" cy="566928"/>
          </a:xfrm>
          <a:prstGeom prst="roundRect">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300" b="1">
                <a:solidFill>
                  <a:srgbClr val="FFFFFF"/>
                </a:solidFill>
              </a:rPr>
              <a:t>① 기공</a:t>
            </a:r>
          </a:p>
          <a:p>
            <a:pPr algn="ctr"/>
            <a:r>
              <a:rPr sz="1050">
                <a:solidFill>
                  <a:srgbClr val="FFFFFF"/>
                </a:solidFill>
              </a:rPr>
              <a:t>gsw 회복</a:t>
            </a:r>
          </a:p>
        </p:txBody>
      </p:sp>
      <p:sp>
        <p:nvSpPr>
          <p:cNvPr id="59" name="Right Arrow 58"/>
          <p:cNvSpPr/>
          <p:nvPr/>
        </p:nvSpPr>
        <p:spPr>
          <a:xfrm>
            <a:off x="3472488" y="1389888"/>
            <a:ext cx="457200" cy="256032"/>
          </a:xfrm>
          <a:prstGeom prst="rightArrow">
            <a:avLst/>
          </a:prstGeom>
          <a:solidFill>
            <a:srgbClr val="9AA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ounded Rectangle 59"/>
          <p:cNvSpPr/>
          <p:nvPr/>
        </p:nvSpPr>
        <p:spPr>
          <a:xfrm>
            <a:off x="3730752" y="1234440"/>
            <a:ext cx="2468880" cy="566928"/>
          </a:xfrm>
          <a:prstGeom prst="roundRect">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300" b="1">
                <a:solidFill>
                  <a:srgbClr val="FFFFFF"/>
                </a:solidFill>
              </a:rPr>
              <a:t>② 명반응</a:t>
            </a:r>
          </a:p>
          <a:p>
            <a:pPr algn="ctr"/>
            <a:r>
              <a:rPr sz="1050">
                <a:solidFill>
                  <a:srgbClr val="FFFFFF"/>
                </a:solidFill>
              </a:rPr>
              <a:t>ΦPSII</a:t>
            </a:r>
          </a:p>
        </p:txBody>
      </p:sp>
      <p:sp>
        <p:nvSpPr>
          <p:cNvPr id="61" name="Right Arrow 60"/>
          <p:cNvSpPr/>
          <p:nvPr/>
        </p:nvSpPr>
        <p:spPr>
          <a:xfrm>
            <a:off x="6263640" y="1389888"/>
            <a:ext cx="457200" cy="256032"/>
          </a:xfrm>
          <a:prstGeom prst="rightArrow">
            <a:avLst/>
          </a:prstGeom>
          <a:solidFill>
            <a:srgbClr val="9AA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ounded Rectangle 61"/>
          <p:cNvSpPr/>
          <p:nvPr/>
        </p:nvSpPr>
        <p:spPr>
          <a:xfrm>
            <a:off x="6520787" y="1234440"/>
            <a:ext cx="2468880" cy="566928"/>
          </a:xfrm>
          <a:prstGeom prst="roundRect">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300" b="1">
                <a:solidFill>
                  <a:srgbClr val="FFFFFF"/>
                </a:solidFill>
              </a:rPr>
              <a:t>③ 광합성 능력</a:t>
            </a:r>
          </a:p>
          <a:p>
            <a:pPr algn="ctr"/>
            <a:r>
              <a:rPr sz="1050">
                <a:solidFill>
                  <a:srgbClr val="FFFFFF"/>
                </a:solidFill>
              </a:rPr>
              <a:t>Vcmax · Jmax</a:t>
            </a:r>
          </a:p>
        </p:txBody>
      </p:sp>
      <p:sp>
        <p:nvSpPr>
          <p:cNvPr id="63" name="Right Arrow 62"/>
          <p:cNvSpPr/>
          <p:nvPr/>
        </p:nvSpPr>
        <p:spPr>
          <a:xfrm>
            <a:off x="9053675" y="1389888"/>
            <a:ext cx="457200" cy="256032"/>
          </a:xfrm>
          <a:prstGeom prst="rightArrow">
            <a:avLst/>
          </a:prstGeom>
          <a:solidFill>
            <a:srgbClr val="9AA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ounded Rectangle 63"/>
          <p:cNvSpPr/>
          <p:nvPr/>
        </p:nvSpPr>
        <p:spPr>
          <a:xfrm>
            <a:off x="9310823" y="1234440"/>
            <a:ext cx="2468880" cy="566928"/>
          </a:xfrm>
          <a:prstGeom prst="roundRect">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300" b="1">
                <a:solidFill>
                  <a:srgbClr val="FFFFFF"/>
                </a:solidFill>
              </a:rPr>
              <a:t>④ 생육</a:t>
            </a:r>
          </a:p>
          <a:p>
            <a:pPr algn="ctr"/>
            <a:r>
              <a:rPr sz="1050">
                <a:solidFill>
                  <a:srgbClr val="FFFFFF"/>
                </a:solidFill>
              </a:rPr>
              <a:t>지상부 건물중</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결론</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17</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lang="ko-KR" altLang="en-US" sz="1600" dirty="0">
                <a:solidFill>
                  <a:srgbClr val="E97132"/>
                </a:solidFill>
              </a:rPr>
              <a:t>상추는</a:t>
            </a:r>
            <a:r>
              <a:rPr sz="1600" dirty="0">
                <a:solidFill>
                  <a:srgbClr val="E97132"/>
                </a:solidFill>
              </a:rPr>
              <a:t> </a:t>
            </a:r>
            <a:r>
              <a:rPr sz="1600" dirty="0" err="1">
                <a:solidFill>
                  <a:srgbClr val="E97132"/>
                </a:solidFill>
              </a:rPr>
              <a:t>회복이</a:t>
            </a:r>
            <a:r>
              <a:rPr sz="1600" dirty="0">
                <a:solidFill>
                  <a:srgbClr val="E97132"/>
                </a:solidFill>
              </a:rPr>
              <a:t> </a:t>
            </a:r>
            <a:r>
              <a:rPr sz="1600" dirty="0" err="1">
                <a:solidFill>
                  <a:srgbClr val="E97132"/>
                </a:solidFill>
              </a:rPr>
              <a:t>빠르나</a:t>
            </a:r>
            <a:r>
              <a:rPr sz="1600" dirty="0">
                <a:solidFill>
                  <a:srgbClr val="E97132"/>
                </a:solidFill>
              </a:rPr>
              <a:t> </a:t>
            </a:r>
            <a:r>
              <a:rPr sz="1600" dirty="0" err="1">
                <a:solidFill>
                  <a:srgbClr val="E97132"/>
                </a:solidFill>
              </a:rPr>
              <a:t>생육</a:t>
            </a:r>
            <a:r>
              <a:rPr sz="1600" dirty="0">
                <a:solidFill>
                  <a:srgbClr val="E97132"/>
                </a:solidFill>
              </a:rPr>
              <a:t> </a:t>
            </a:r>
            <a:r>
              <a:rPr sz="1600" dirty="0" err="1">
                <a:solidFill>
                  <a:srgbClr val="E97132"/>
                </a:solidFill>
              </a:rPr>
              <a:t>감소</a:t>
            </a:r>
            <a:r>
              <a:rPr sz="1600" dirty="0">
                <a:solidFill>
                  <a:srgbClr val="E97132"/>
                </a:solidFill>
              </a:rPr>
              <a:t>, </a:t>
            </a:r>
            <a:r>
              <a:rPr sz="1600" dirty="0" err="1">
                <a:solidFill>
                  <a:srgbClr val="E97132"/>
                </a:solidFill>
              </a:rPr>
              <a:t>콩은</a:t>
            </a:r>
            <a:r>
              <a:rPr sz="1600" dirty="0">
                <a:solidFill>
                  <a:srgbClr val="E97132"/>
                </a:solidFill>
              </a:rPr>
              <a:t> </a:t>
            </a:r>
            <a:r>
              <a:rPr sz="1600" dirty="0" err="1">
                <a:solidFill>
                  <a:srgbClr val="E97132"/>
                </a:solidFill>
              </a:rPr>
              <a:t>회복이</a:t>
            </a:r>
            <a:r>
              <a:rPr sz="1600" dirty="0">
                <a:solidFill>
                  <a:srgbClr val="E97132"/>
                </a:solidFill>
              </a:rPr>
              <a:t> </a:t>
            </a:r>
            <a:r>
              <a:rPr sz="1600" dirty="0" err="1">
                <a:solidFill>
                  <a:srgbClr val="E97132"/>
                </a:solidFill>
              </a:rPr>
              <a:t>느리나</a:t>
            </a:r>
            <a:r>
              <a:rPr sz="1600" dirty="0">
                <a:solidFill>
                  <a:srgbClr val="E97132"/>
                </a:solidFill>
              </a:rPr>
              <a:t> </a:t>
            </a:r>
            <a:r>
              <a:rPr sz="1600" dirty="0" err="1">
                <a:solidFill>
                  <a:srgbClr val="E97132"/>
                </a:solidFill>
              </a:rPr>
              <a:t>수량</a:t>
            </a:r>
            <a:r>
              <a:rPr sz="1600" dirty="0">
                <a:solidFill>
                  <a:srgbClr val="E97132"/>
                </a:solidFill>
              </a:rPr>
              <a:t> </a:t>
            </a:r>
            <a:r>
              <a:rPr sz="1600" dirty="0" err="1">
                <a:solidFill>
                  <a:srgbClr val="E97132"/>
                </a:solidFill>
              </a:rPr>
              <a:t>차이</a:t>
            </a:r>
            <a:r>
              <a:rPr sz="1600" dirty="0">
                <a:solidFill>
                  <a:srgbClr val="E97132"/>
                </a:solidFill>
              </a:rPr>
              <a:t> </a:t>
            </a:r>
            <a:r>
              <a:rPr sz="1600" dirty="0" err="1">
                <a:solidFill>
                  <a:srgbClr val="E97132"/>
                </a:solidFill>
              </a:rPr>
              <a:t>작음</a:t>
            </a:r>
            <a:r>
              <a:rPr sz="1600" dirty="0">
                <a:solidFill>
                  <a:srgbClr val="E97132"/>
                </a:solidFill>
              </a:rPr>
              <a:t> — </a:t>
            </a:r>
            <a:r>
              <a:rPr sz="1600" dirty="0" err="1">
                <a:solidFill>
                  <a:srgbClr val="E97132"/>
                </a:solidFill>
              </a:rPr>
              <a:t>반응은</a:t>
            </a:r>
            <a:r>
              <a:rPr sz="1600" dirty="0">
                <a:solidFill>
                  <a:srgbClr val="E97132"/>
                </a:solidFill>
              </a:rPr>
              <a:t> </a:t>
            </a:r>
            <a:r>
              <a:rPr sz="1600" dirty="0" err="1">
                <a:solidFill>
                  <a:srgbClr val="E97132"/>
                </a:solidFill>
              </a:rPr>
              <a:t>작물마다</a:t>
            </a:r>
            <a:r>
              <a:rPr sz="1600" dirty="0">
                <a:solidFill>
                  <a:srgbClr val="E97132"/>
                </a:solidFill>
              </a:rPr>
              <a:t> </a:t>
            </a:r>
            <a:r>
              <a:rPr sz="1600" dirty="0" err="1">
                <a:solidFill>
                  <a:srgbClr val="E97132"/>
                </a:solidFill>
              </a:rPr>
              <a:t>다름</a:t>
            </a:r>
            <a:endParaRPr sz="1600" dirty="0">
              <a:solidFill>
                <a:srgbClr val="E97132"/>
              </a:solidFill>
            </a:endParaRP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b="0">
                <a:solidFill>
                  <a:srgbClr val="595959"/>
                </a:solidFill>
              </a:rPr>
              <a:t>본 성과는 농촌진흥청 공동연구사업(과제번호: RS-2026-25507435)의 지원에 의해 이루어진 것임.</a:t>
            </a:r>
          </a:p>
        </p:txBody>
      </p:sp>
      <p:sp>
        <p:nvSpPr>
          <p:cNvPr id="27" name="Num"/>
          <p:cNvSpPr/>
          <p:nvPr/>
        </p:nvSpPr>
        <p:spPr>
          <a:xfrm>
            <a:off x="841248" y="1481328"/>
            <a:ext cx="566928" cy="566928"/>
          </a:xfrm>
          <a:prstGeom prst="ellipse">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800" b="1" dirty="0">
                <a:solidFill>
                  <a:srgbClr val="FFFFFF"/>
                </a:solidFill>
              </a:rPr>
              <a:t>1</a:t>
            </a:r>
          </a:p>
        </p:txBody>
      </p:sp>
      <p:sp>
        <p:nvSpPr>
          <p:cNvPr id="28" name="Concl"/>
          <p:cNvSpPr txBox="1"/>
          <p:nvPr/>
        </p:nvSpPr>
        <p:spPr>
          <a:xfrm>
            <a:off x="1600200" y="1371600"/>
            <a:ext cx="9875520" cy="1234440"/>
          </a:xfrm>
          <a:prstGeom prst="rect">
            <a:avLst/>
          </a:prstGeom>
          <a:noFill/>
          <a:ln>
            <a:noFill/>
          </a:ln>
        </p:spPr>
        <p:txBody>
          <a:bodyPr wrap="square" lIns="18288" tIns="18288" rIns="18288" bIns="18288" rtlCol="0" anchor="t">
            <a:noAutofit/>
          </a:bodyPr>
          <a:lstStyle/>
          <a:p>
            <a:pPr marL="0" indent="0" algn="l">
              <a:spcBef>
                <a:spcPts val="0"/>
              </a:spcBef>
              <a:buNone/>
            </a:pPr>
            <a:r>
              <a:rPr lang="ko-KR" altLang="en-US" sz="1500" b="1" dirty="0">
                <a:solidFill>
                  <a:srgbClr val="156082"/>
                </a:solidFill>
              </a:rPr>
              <a:t>기공 회복 속도</a:t>
            </a:r>
          </a:p>
          <a:p>
            <a:pPr marL="0" indent="0" algn="l">
              <a:spcBef>
                <a:spcPts val="300"/>
              </a:spcBef>
              <a:buNone/>
            </a:pPr>
            <a:r>
              <a:rPr lang="ko-KR" altLang="en-US" sz="1300" dirty="0">
                <a:solidFill>
                  <a:srgbClr val="000000"/>
                </a:solidFill>
              </a:rPr>
              <a:t>침수는 두 작물 모두에서 기공전도도를 먼저 낮췄다. 상추는 배수 2~3일 후(DAT 5~6) 대조구 수준으로 회복했고, 콩은 배수 6일 후(DAT 9)에도 대조구의 48%였으며 DAT 23에 회복이 확인되었다.</a:t>
            </a:r>
          </a:p>
        </p:txBody>
      </p:sp>
      <p:sp>
        <p:nvSpPr>
          <p:cNvPr id="29" name="Num"/>
          <p:cNvSpPr/>
          <p:nvPr/>
        </p:nvSpPr>
        <p:spPr>
          <a:xfrm>
            <a:off x="841248" y="2852928"/>
            <a:ext cx="566928" cy="566928"/>
          </a:xfrm>
          <a:prstGeom prst="ellipse">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800" b="1" dirty="0">
                <a:solidFill>
                  <a:srgbClr val="FFFFFF"/>
                </a:solidFill>
              </a:rPr>
              <a:t>2</a:t>
            </a:r>
          </a:p>
        </p:txBody>
      </p:sp>
      <p:sp>
        <p:nvSpPr>
          <p:cNvPr id="30" name="Concl"/>
          <p:cNvSpPr txBox="1"/>
          <p:nvPr/>
        </p:nvSpPr>
        <p:spPr>
          <a:xfrm>
            <a:off x="1600200" y="2743200"/>
            <a:ext cx="9875520" cy="1234440"/>
          </a:xfrm>
          <a:prstGeom prst="rect">
            <a:avLst/>
          </a:prstGeom>
          <a:noFill/>
          <a:ln>
            <a:noFill/>
          </a:ln>
        </p:spPr>
        <p:txBody>
          <a:bodyPr wrap="square" lIns="18288" tIns="18288" rIns="18288" bIns="18288" rtlCol="0" anchor="t">
            <a:noAutofit/>
          </a:bodyPr>
          <a:lstStyle/>
          <a:p>
            <a:pPr marL="0" indent="0" algn="l">
              <a:spcBef>
                <a:spcPts val="0"/>
              </a:spcBef>
              <a:buNone/>
            </a:pPr>
            <a:r>
              <a:rPr lang="ko-KR" altLang="en-US" sz="1500" b="1" dirty="0">
                <a:solidFill>
                  <a:srgbClr val="156082"/>
                </a:solidFill>
              </a:rPr>
              <a:t>명반응과 광합성 능력</a:t>
            </a:r>
          </a:p>
          <a:p>
            <a:pPr marL="0" indent="0" algn="l">
              <a:spcBef>
                <a:spcPts val="300"/>
              </a:spcBef>
              <a:buNone/>
            </a:pPr>
            <a:r>
              <a:rPr lang="ko-KR" altLang="en-US" sz="1300" dirty="0">
                <a:solidFill>
                  <a:srgbClr val="000000"/>
                </a:solidFill>
              </a:rPr>
              <a:t>상추는 Φ</a:t>
            </a:r>
            <a:r>
              <a:rPr lang="ko-KR" altLang="en-US" sz="1300" baseline="-25000" dirty="0">
                <a:solidFill>
                  <a:srgbClr val="000000"/>
                </a:solidFill>
              </a:rPr>
              <a:t>PSII</a:t>
            </a:r>
            <a:r>
              <a:rPr lang="ko-KR" altLang="en-US" sz="1300" dirty="0">
                <a:solidFill>
                  <a:srgbClr val="000000"/>
                </a:solidFill>
              </a:rPr>
              <a:t>에 처리 차이가 없었고 V</a:t>
            </a:r>
            <a:r>
              <a:rPr lang="ko-KR" altLang="en-US" sz="1300" baseline="-25000" dirty="0">
                <a:solidFill>
                  <a:srgbClr val="000000"/>
                </a:solidFill>
              </a:rPr>
              <a:t>cmax</a:t>
            </a:r>
            <a:r>
              <a:rPr lang="ko-KR" altLang="en-US" sz="1300" dirty="0">
                <a:solidFill>
                  <a:srgbClr val="000000"/>
                </a:solidFill>
              </a:rPr>
              <a:t>·J</a:t>
            </a:r>
            <a:r>
              <a:rPr lang="ko-KR" altLang="en-US" sz="1300" baseline="-25000" dirty="0">
                <a:solidFill>
                  <a:srgbClr val="000000"/>
                </a:solidFill>
              </a:rPr>
              <a:t>max</a:t>
            </a:r>
            <a:r>
              <a:rPr lang="ko-KR" altLang="en-US" sz="1300" dirty="0">
                <a:solidFill>
                  <a:srgbClr val="000000"/>
                </a:solidFill>
              </a:rPr>
              <a:t>는 복합구에서 낮은 경향(측정일 교락)이었다. 콩은 건조구에서 Φ</a:t>
            </a:r>
            <a:r>
              <a:rPr lang="ko-KR" altLang="en-US" sz="1300" baseline="-25000" dirty="0">
                <a:solidFill>
                  <a:srgbClr val="000000"/>
                </a:solidFill>
              </a:rPr>
              <a:t>PSII</a:t>
            </a:r>
            <a:r>
              <a:rPr lang="ko-KR" altLang="en-US" sz="1300" dirty="0">
                <a:solidFill>
                  <a:srgbClr val="000000"/>
                </a:solidFill>
              </a:rPr>
              <a:t>(P2)와 V</a:t>
            </a:r>
            <a:r>
              <a:rPr lang="ko-KR" altLang="en-US" sz="1300" baseline="-25000" dirty="0">
                <a:solidFill>
                  <a:srgbClr val="000000"/>
                </a:solidFill>
              </a:rPr>
              <a:t>cmax</a:t>
            </a:r>
            <a:r>
              <a:rPr lang="ko-KR" altLang="en-US" sz="1300" dirty="0">
                <a:solidFill>
                  <a:srgbClr val="000000"/>
                </a:solidFill>
              </a:rPr>
              <a:t>·J</a:t>
            </a:r>
            <a:r>
              <a:rPr lang="ko-KR" altLang="en-US" sz="1300" baseline="-25000" dirty="0">
                <a:solidFill>
                  <a:srgbClr val="000000"/>
                </a:solidFill>
              </a:rPr>
              <a:t>max</a:t>
            </a:r>
            <a:r>
              <a:rPr lang="ko-KR" altLang="en-US" sz="1300" dirty="0">
                <a:solidFill>
                  <a:srgbClr val="000000"/>
                </a:solidFill>
              </a:rPr>
              <a:t>가 낮았다.</a:t>
            </a:r>
          </a:p>
        </p:txBody>
      </p:sp>
      <p:sp>
        <p:nvSpPr>
          <p:cNvPr id="31" name="Num"/>
          <p:cNvSpPr/>
          <p:nvPr/>
        </p:nvSpPr>
        <p:spPr>
          <a:xfrm>
            <a:off x="841248" y="4224528"/>
            <a:ext cx="566928" cy="566928"/>
          </a:xfrm>
          <a:prstGeom prst="ellipse">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800" b="1" dirty="0">
                <a:solidFill>
                  <a:srgbClr val="FFFFFF"/>
                </a:solidFill>
              </a:rPr>
              <a:t>3</a:t>
            </a:r>
          </a:p>
        </p:txBody>
      </p:sp>
      <p:sp>
        <p:nvSpPr>
          <p:cNvPr id="32" name="Concl"/>
          <p:cNvSpPr txBox="1"/>
          <p:nvPr/>
        </p:nvSpPr>
        <p:spPr>
          <a:xfrm>
            <a:off x="1600200" y="4114800"/>
            <a:ext cx="9875520" cy="1234440"/>
          </a:xfrm>
          <a:prstGeom prst="rect">
            <a:avLst/>
          </a:prstGeom>
          <a:noFill/>
          <a:ln>
            <a:noFill/>
          </a:ln>
        </p:spPr>
        <p:txBody>
          <a:bodyPr wrap="square" lIns="18288" tIns="18288" rIns="18288" bIns="18288" rtlCol="0" anchor="t">
            <a:noAutofit/>
          </a:bodyPr>
          <a:lstStyle/>
          <a:p>
            <a:pPr marL="0" indent="0" algn="l">
              <a:spcBef>
                <a:spcPts val="0"/>
              </a:spcBef>
              <a:buNone/>
            </a:pPr>
            <a:r>
              <a:rPr lang="ko-KR" altLang="en-US" sz="1500" b="1" dirty="0">
                <a:solidFill>
                  <a:srgbClr val="156082"/>
                </a:solidFill>
              </a:rPr>
              <a:t>생육·수량</a:t>
            </a:r>
          </a:p>
          <a:p>
            <a:pPr marL="0" indent="0" algn="l">
              <a:spcBef>
                <a:spcPts val="300"/>
              </a:spcBef>
              <a:buNone/>
            </a:pPr>
            <a:r>
              <a:rPr lang="ko-KR" altLang="en-US" sz="1300" dirty="0">
                <a:solidFill>
                  <a:srgbClr val="000000"/>
                </a:solidFill>
              </a:rPr>
              <a:t>상추는 기공이 회복되었는데도 침수 기간의 손실이 유지되어 지상부 건물중이 감소했다(건조 −16%, 침수 −34%, 복합 −43%). 콩은 종실 생체중이 5~14% 감소하는 경향이었으나 처리 간 유의한 차이는 없었다.</a:t>
            </a:r>
          </a:p>
        </p:txBody>
      </p:sp>
      <p:sp>
        <p:nvSpPr>
          <p:cNvPr id="61"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62"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63"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64"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65" name="Nav 결론"/>
          <p:cNvSpPr txBox="1"/>
          <p:nvPr/>
        </p:nvSpPr>
        <p:spPr>
          <a:xfrm>
            <a:off x="6327648" y="100584"/>
            <a:ext cx="1371600" cy="329184"/>
          </a:xfrm>
          <a:prstGeom prst="rect">
            <a:avLst/>
          </a:prstGeom>
          <a:noFill/>
        </p:spPr>
        <p:txBody>
          <a:bodyPr wrap="none" lIns="0" tIns="0" rIns="0" bIns="0" anchor="ctr">
            <a:spAutoFit/>
          </a:bodyPr>
          <a:lstStyle/>
          <a:p>
            <a:pPr algn="ctr"/>
            <a:r>
              <a:rPr sz="1450" b="1" u="sng">
                <a:solidFill>
                  <a:srgbClr val="1A1A1A"/>
                </a:solidFill>
              </a:rPr>
              <a:t>결론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500"/>
                                        <p:tgtEl>
                                          <p:spTgt spid="2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fade">
                                      <p:cBhvr>
                                        <p:cTn id="15" dur="500"/>
                                        <p:tgtEl>
                                          <p:spTgt spid="2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500"/>
                                        <p:tgtEl>
                                          <p:spTgt spid="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5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500"/>
                                        <p:tgtEl>
                                          <p:spTgt spid="3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7" grpId="0" animBg="1"/>
      <p:bldP spid="28" grpId="0" animBg="1"/>
      <p:bldP spid="29" grpId="0" animBg="1"/>
      <p:bldP spid="30" grpId="0" animBg="1"/>
      <p:bldP spid="31" grpId="0" animBg="1"/>
      <p:bldP spid="3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양쪽 모서리가 둥근 사각형 1">
            <a:extLst>
              <a:ext uri="{FF2B5EF4-FFF2-40B4-BE49-F238E27FC236}">
                <a16:creationId xmlns:a16="http://schemas.microsoft.com/office/drawing/2014/main" id="{61F6D138-DFFC-10C1-053C-3D2B417CC93E}"/>
              </a:ext>
            </a:extLst>
          </p:cNvPr>
          <p:cNvSpPr/>
          <p:nvPr/>
        </p:nvSpPr>
        <p:spPr>
          <a:xfrm>
            <a:off x="0" y="3429000"/>
            <a:ext cx="12192000" cy="3429000"/>
          </a:xfrm>
          <a:prstGeom prst="round2SameRect">
            <a:avLst/>
          </a:prstGeom>
          <a:solidFill>
            <a:srgbClr val="04458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sz="1200"/>
          </a:p>
        </p:txBody>
      </p:sp>
      <p:sp>
        <p:nvSpPr>
          <p:cNvPr id="28" name="TextBox 27">
            <a:extLst>
              <a:ext uri="{FF2B5EF4-FFF2-40B4-BE49-F238E27FC236}">
                <a16:creationId xmlns:a16="http://schemas.microsoft.com/office/drawing/2014/main" id="{C11A0B38-A3E4-9B0E-0886-5E9788B47173}"/>
              </a:ext>
            </a:extLst>
          </p:cNvPr>
          <p:cNvSpPr txBox="1"/>
          <p:nvPr/>
        </p:nvSpPr>
        <p:spPr>
          <a:xfrm>
            <a:off x="3766530" y="2681512"/>
            <a:ext cx="4658940" cy="769441"/>
          </a:xfrm>
          <a:prstGeom prst="rect">
            <a:avLst/>
          </a:prstGeom>
          <a:noFill/>
        </p:spPr>
        <p:txBody>
          <a:bodyPr wrap="square" rtlCol="0">
            <a:spAutoFit/>
          </a:bodyPr>
          <a:lstStyle/>
          <a:p>
            <a:pPr algn="ctr"/>
            <a:r>
              <a:rPr kumimoji="1" lang="ko-KR" altLang="en-US" sz="4400" b="1" spc="-200" dirty="0">
                <a:solidFill>
                  <a:srgbClr val="04458A"/>
                </a:solidFill>
                <a:latin typeface="Malgun Gothic" panose="020B0503020000020004" pitchFamily="34" charset="-127"/>
                <a:ea typeface="Malgun Gothic" panose="020B0503020000020004" pitchFamily="34" charset="-127"/>
              </a:rPr>
              <a:t>감사합니다</a:t>
            </a:r>
            <a:endParaRPr kumimoji="1" lang="en-US" altLang="ko-Kore-KR" sz="4400" b="1" spc="-200" dirty="0">
              <a:solidFill>
                <a:srgbClr val="04458A"/>
              </a:solidFill>
              <a:latin typeface="Malgun Gothic" panose="020B0503020000020004" pitchFamily="34" charset="-127"/>
              <a:ea typeface="Malgun Gothic" panose="020B0503020000020004" pitchFamily="34" charset="-127"/>
            </a:endParaRPr>
          </a:p>
        </p:txBody>
      </p:sp>
      <p:sp>
        <p:nvSpPr>
          <p:cNvPr id="31" name="TextBox 30">
            <a:extLst>
              <a:ext uri="{FF2B5EF4-FFF2-40B4-BE49-F238E27FC236}">
                <a16:creationId xmlns:a16="http://schemas.microsoft.com/office/drawing/2014/main" id="{ABD9CEE3-88A3-FC3B-9B6B-4B8B7C7214DE}"/>
              </a:ext>
            </a:extLst>
          </p:cNvPr>
          <p:cNvSpPr txBox="1"/>
          <p:nvPr/>
        </p:nvSpPr>
        <p:spPr>
          <a:xfrm>
            <a:off x="3026229" y="3520615"/>
            <a:ext cx="6139542" cy="1048492"/>
          </a:xfrm>
          <a:prstGeom prst="rect">
            <a:avLst/>
          </a:prstGeom>
          <a:noFill/>
        </p:spPr>
        <p:txBody>
          <a:bodyPr wrap="square" rtlCol="0">
            <a:spAutoFit/>
          </a:bodyPr>
          <a:lstStyle/>
          <a:p>
            <a:pPr algn="ctr">
              <a:lnSpc>
                <a:spcPct val="150000"/>
              </a:lnSpc>
            </a:pPr>
            <a:endParaRPr kumimoji="1" lang="en-US" altLang="ko-KR" sz="2400" b="1" spc="-100" dirty="0">
              <a:solidFill>
                <a:schemeClr val="bg1"/>
              </a:solidFill>
              <a:latin typeface="Malgun Gothic" panose="020B0503020000020004" pitchFamily="34" charset="-127"/>
              <a:ea typeface="Malgun Gothic" panose="020B0503020000020004" pitchFamily="34" charset="-127"/>
            </a:endParaRPr>
          </a:p>
          <a:p>
            <a:pPr algn="ctr">
              <a:lnSpc>
                <a:spcPct val="150000"/>
              </a:lnSpc>
            </a:pPr>
            <a:r>
              <a:rPr kumimoji="1" lang="ko-KR" altLang="en-US" sz="2000" b="1" spc="-100" dirty="0">
                <a:solidFill>
                  <a:schemeClr val="bg1"/>
                </a:solidFill>
                <a:latin typeface="Malgun Gothic" panose="020B0503020000020004" pitchFamily="34" charset="-127"/>
                <a:ea typeface="Malgun Gothic" panose="020B0503020000020004" pitchFamily="34" charset="-127"/>
              </a:rPr>
              <a:t>석사과정 윤정민</a:t>
            </a:r>
            <a:endParaRPr kumimoji="1" lang="en-US" altLang="ko-Kore-KR" sz="2000" b="1" spc="-100" dirty="0">
              <a:solidFill>
                <a:schemeClr val="bg1"/>
              </a:solidFill>
              <a:latin typeface="Malgun Gothic" panose="020B0503020000020004" pitchFamily="34" charset="-127"/>
              <a:ea typeface="Malgun Gothic" panose="020B0503020000020004" pitchFamily="34"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보충 자료</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19</a:t>
            </a:fld>
            <a:endParaRPr lang="ko-KR" altLang="en-US"/>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b="0">
                <a:solidFill>
                  <a:srgbClr val="595959"/>
                </a:solidFill>
              </a:rPr>
              <a:t>질의응답용 보충 자료.</a:t>
            </a:r>
          </a:p>
        </p:txBody>
      </p:sp>
      <p:sp>
        <p:nvSpPr>
          <p:cNvPr id="27" name="Appendix list"/>
          <p:cNvSpPr txBox="1"/>
          <p:nvPr/>
        </p:nvSpPr>
        <p:spPr>
          <a:xfrm>
            <a:off x="1280160" y="1463040"/>
            <a:ext cx="9601200" cy="4114800"/>
          </a:xfrm>
          <a:prstGeom prst="rect">
            <a:avLst/>
          </a:prstGeom>
          <a:noFill/>
          <a:ln>
            <a:noFill/>
          </a:ln>
        </p:spPr>
        <p:txBody>
          <a:bodyPr wrap="square" lIns="18288" tIns="18288" rIns="18288" bIns="18288" rtlCol="0" anchor="t">
            <a:noAutofit/>
          </a:bodyPr>
          <a:lstStyle/>
          <a:p>
            <a:pPr marL="0" indent="0" algn="l">
              <a:spcBef>
                <a:spcPts val="0"/>
              </a:spcBef>
              <a:buNone/>
            </a:pPr>
            <a:r>
              <a:rPr lang="ko-KR" altLang="en-US" sz="1600" dirty="0">
                <a:solidFill>
                  <a:srgbClr val="000000"/>
                </a:solidFill>
              </a:rPr>
              <a:t>A1. LI-600 보정: 선형 PAR + 기온</a:t>
            </a:r>
          </a:p>
          <a:p>
            <a:pPr marL="0" indent="0" algn="l">
              <a:spcBef>
                <a:spcPts val="800"/>
              </a:spcBef>
              <a:buNone/>
            </a:pPr>
            <a:r>
              <a:rPr lang="ko-KR" altLang="en-US" sz="1600" dirty="0">
                <a:solidFill>
                  <a:srgbClr val="000000"/>
                </a:solidFill>
              </a:rPr>
              <a:t>A2. LI-6800 광-광합성 곡선 (A-Q)</a:t>
            </a:r>
          </a:p>
          <a:p>
            <a:pPr marL="0" indent="0" algn="l">
              <a:spcBef>
                <a:spcPts val="800"/>
              </a:spcBef>
              <a:buNone/>
            </a:pPr>
            <a:r>
              <a:rPr lang="ko-KR" altLang="en-US" sz="1600" dirty="0">
                <a:solidFill>
                  <a:srgbClr val="000000"/>
                </a:solidFill>
              </a:rPr>
              <a:t>A3. 정상 상태 형광 (F</a:t>
            </a:r>
            <a:r>
              <a:rPr lang="ko-KR" altLang="en-US" sz="1600" baseline="-25000" dirty="0">
                <a:solidFill>
                  <a:srgbClr val="000000"/>
                </a:solidFill>
              </a:rPr>
              <a:t>s</a:t>
            </a:r>
            <a:r>
              <a:rPr lang="ko-KR" altLang="en-US" sz="1600" dirty="0">
                <a:solidFill>
                  <a:srgbClr val="000000"/>
                </a:solidFill>
              </a:rPr>
              <a:t>)</a:t>
            </a:r>
          </a:p>
          <a:p>
            <a:pPr marL="0" indent="0" algn="l">
              <a:spcBef>
                <a:spcPts val="800"/>
              </a:spcBef>
              <a:buNone/>
            </a:pPr>
            <a:r>
              <a:rPr lang="ko-KR" altLang="en-US" sz="1600" dirty="0">
                <a:solidFill>
                  <a:srgbClr val="000000"/>
                </a:solidFill>
              </a:rPr>
              <a:t>A4. 전자전달속도 (ETR)</a:t>
            </a:r>
          </a:p>
          <a:p>
            <a:pPr marL="0" indent="0" algn="l">
              <a:spcBef>
                <a:spcPts val="800"/>
              </a:spcBef>
              <a:buNone/>
            </a:pPr>
            <a:r>
              <a:rPr lang="ko-KR" altLang="en-US" sz="1600" dirty="0">
                <a:solidFill>
                  <a:srgbClr val="000000"/>
                </a:solidFill>
              </a:rPr>
              <a:t>A5. 측정 당시 일사 조건: 흐린 날 표시</a:t>
            </a:r>
          </a:p>
          <a:p>
            <a:pPr marL="0" indent="0" algn="l">
              <a:spcBef>
                <a:spcPts val="800"/>
              </a:spcBef>
              <a:buNone/>
            </a:pPr>
            <a:r>
              <a:rPr lang="ko-KR" altLang="en-US" sz="1600" dirty="0">
                <a:solidFill>
                  <a:srgbClr val="000000"/>
                </a:solidFill>
              </a:rPr>
              <a:t>A6. 참고문헌</a:t>
            </a:r>
          </a:p>
        </p:txBody>
      </p:sp>
      <p:sp>
        <p:nvSpPr>
          <p:cNvPr id="28"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29"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30"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31"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32"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33" name="Nav 부록"/>
          <p:cNvSpPr txBox="1"/>
          <p:nvPr/>
        </p:nvSpPr>
        <p:spPr>
          <a:xfrm>
            <a:off x="7699248" y="100584"/>
            <a:ext cx="1371600" cy="329184"/>
          </a:xfrm>
          <a:prstGeom prst="rect">
            <a:avLst/>
          </a:prstGeom>
          <a:noFill/>
        </p:spPr>
        <p:txBody>
          <a:bodyPr wrap="none" lIns="0" tIns="0" rIns="0" bIns="0" anchor="ctr">
            <a:spAutoFit/>
          </a:bodyPr>
          <a:lstStyle/>
          <a:p>
            <a:pPr algn="ctr"/>
            <a:r>
              <a:rPr sz="1450" b="1" u="sng">
                <a:solidFill>
                  <a:srgbClr val="1A1A1A"/>
                </a:solidFill>
              </a:rPr>
              <a:t>부록</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LI-600 : PAR·기온 보정</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20</a:t>
            </a:fld>
            <a:endParaRPr lang="ko-KR" altLang="en-US"/>
          </a:p>
        </p:txBody>
      </p:sp>
      <p:pic>
        <p:nvPicPr>
          <p:cNvPr id="14" name="Picture 13" descr="s7.png"/>
          <p:cNvPicPr>
            <a:picLocks noChangeAspect="1"/>
          </p:cNvPicPr>
          <p:nvPr/>
        </p:nvPicPr>
        <p:blipFill>
          <a:blip r:embed="rId4"/>
          <a:stretch>
            <a:fillRect/>
          </a:stretch>
        </p:blipFill>
        <p:spPr>
          <a:xfrm>
            <a:off x="457200" y="1188720"/>
            <a:ext cx="6903720" cy="2083018"/>
          </a:xfrm>
          <a:prstGeom prst="rect">
            <a:avLst/>
          </a:prstGeom>
        </p:spPr>
      </p:pic>
      <p:sp>
        <p:nvSpPr>
          <p:cNvPr id="9" name="Card 요점"/>
          <p:cNvSpPr/>
          <p:nvPr/>
        </p:nvSpPr>
        <p:spPr>
          <a:xfrm>
            <a:off x="7498079" y="1399032"/>
            <a:ext cx="4206240" cy="4133087"/>
          </a:xfrm>
          <a:prstGeom prst="roundRect">
            <a:avLst>
              <a:gd name="adj" fmla="val 3400"/>
            </a:avLst>
          </a:prstGeom>
          <a:solidFill>
            <a:srgbClr val="FBFBFB"/>
          </a:solidFill>
          <a:ln w="12700">
            <a:solidFill>
              <a:srgbClr val="AFAF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Header 요점"/>
          <p:cNvSpPr/>
          <p:nvPr/>
        </p:nvSpPr>
        <p:spPr>
          <a:xfrm>
            <a:off x="7680959" y="1188720"/>
            <a:ext cx="3840479" cy="420624"/>
          </a:xfrm>
          <a:prstGeom prst="roundRect">
            <a:avLst>
              <a:gd name="adj" fmla="val 25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lIns="73152" tIns="27432" rIns="73152" bIns="27432" rtlCol="0" anchor="ctr"/>
          <a:lstStyle/>
          <a:p>
            <a:pPr algn="ctr"/>
            <a:r>
              <a:rPr sz="1600" b="1">
                <a:solidFill>
                  <a:srgbClr val="FFFFFF"/>
                </a:solidFill>
              </a:rPr>
              <a:t>요점</a:t>
            </a:r>
          </a:p>
        </p:txBody>
      </p:sp>
      <p:sp>
        <p:nvSpPr>
          <p:cNvPr id="11" name="TextBox 10"/>
          <p:cNvSpPr txBox="1"/>
          <p:nvPr/>
        </p:nvSpPr>
        <p:spPr>
          <a:xfrm>
            <a:off x="7680959" y="1783080"/>
            <a:ext cx="3886200" cy="1815882"/>
          </a:xfrm>
          <a:prstGeom prst="rect">
            <a:avLst/>
          </a:prstGeom>
          <a:noFill/>
        </p:spPr>
        <p:txBody>
          <a:bodyPr wrap="square">
            <a:spAutoFit/>
          </a:bodyPr>
          <a:lstStyle/>
          <a:p>
            <a:pPr marL="201168" indent="-201168">
              <a:spcBef>
                <a:spcPts val="0"/>
              </a:spcBef>
              <a:buFont typeface="Arial"/>
              <a:buChar char="•"/>
            </a:pPr>
            <a:r>
              <a:rPr sz="1400" b="0" dirty="0" err="1">
                <a:solidFill>
                  <a:srgbClr val="000000"/>
                </a:solidFill>
              </a:rPr>
              <a:t>이유</a:t>
            </a:r>
            <a:r>
              <a:rPr sz="1400" b="0" dirty="0">
                <a:solidFill>
                  <a:srgbClr val="000000"/>
                </a:solidFill>
              </a:rPr>
              <a:t>: </a:t>
            </a:r>
            <a:r>
              <a:rPr sz="1400" b="0" dirty="0" err="1">
                <a:solidFill>
                  <a:srgbClr val="000000"/>
                </a:solidFill>
              </a:rPr>
              <a:t>같은</a:t>
            </a:r>
            <a:r>
              <a:rPr sz="1400" b="0" dirty="0">
                <a:solidFill>
                  <a:srgbClr val="000000"/>
                </a:solidFill>
              </a:rPr>
              <a:t> </a:t>
            </a:r>
            <a:r>
              <a:rPr sz="1400" b="0" dirty="0" err="1">
                <a:solidFill>
                  <a:srgbClr val="000000"/>
                </a:solidFill>
              </a:rPr>
              <a:t>날에도</a:t>
            </a:r>
            <a:r>
              <a:rPr sz="1400" b="0" dirty="0">
                <a:solidFill>
                  <a:srgbClr val="000000"/>
                </a:solidFill>
              </a:rPr>
              <a:t> </a:t>
            </a:r>
            <a:r>
              <a:rPr sz="1400" b="0" dirty="0" err="1">
                <a:solidFill>
                  <a:srgbClr val="000000"/>
                </a:solidFill>
              </a:rPr>
              <a:t>처리</a:t>
            </a:r>
            <a:r>
              <a:rPr sz="1400" b="0" dirty="0">
                <a:solidFill>
                  <a:srgbClr val="000000"/>
                </a:solidFill>
              </a:rPr>
              <a:t> 간 </a:t>
            </a:r>
            <a:r>
              <a:rPr sz="1400" b="0" dirty="0" err="1">
                <a:solidFill>
                  <a:srgbClr val="000000"/>
                </a:solidFill>
              </a:rPr>
              <a:t>측정</a:t>
            </a:r>
            <a:r>
              <a:rPr sz="1400" b="0" dirty="0">
                <a:solidFill>
                  <a:srgbClr val="000000"/>
                </a:solidFill>
              </a:rPr>
              <a:t> </a:t>
            </a:r>
            <a:r>
              <a:rPr sz="1400" b="0" dirty="0" err="1">
                <a:solidFill>
                  <a:srgbClr val="000000"/>
                </a:solidFill>
              </a:rPr>
              <a:t>PAR·기온이</a:t>
            </a:r>
            <a:r>
              <a:rPr sz="1400" b="0" dirty="0">
                <a:solidFill>
                  <a:srgbClr val="000000"/>
                </a:solidFill>
              </a:rPr>
              <a:t> </a:t>
            </a:r>
            <a:r>
              <a:rPr sz="1400" b="0" dirty="0" err="1">
                <a:solidFill>
                  <a:srgbClr val="000000"/>
                </a:solidFill>
              </a:rPr>
              <a:t>달랐음</a:t>
            </a:r>
            <a:endParaRPr sz="1400" b="0" dirty="0">
              <a:solidFill>
                <a:srgbClr val="000000"/>
              </a:solidFill>
            </a:endParaRPr>
          </a:p>
          <a:p>
            <a:pPr marL="201168" indent="-201168">
              <a:spcBef>
                <a:spcPts val="0"/>
              </a:spcBef>
              <a:buFont typeface="Arial"/>
              <a:buChar char="•"/>
            </a:pPr>
            <a:r>
              <a:rPr sz="1400" b="0" dirty="0" err="1">
                <a:solidFill>
                  <a:srgbClr val="000000"/>
                </a:solidFill>
              </a:rPr>
              <a:t>모형</a:t>
            </a:r>
            <a:r>
              <a:rPr sz="1400" b="0" dirty="0">
                <a:solidFill>
                  <a:srgbClr val="000000"/>
                </a:solidFill>
              </a:rPr>
              <a:t>: y = μ + </a:t>
            </a:r>
            <a:r>
              <a:rPr sz="1400" b="0" dirty="0" err="1">
                <a:solidFill>
                  <a:srgbClr val="000000"/>
                </a:solidFill>
              </a:rPr>
              <a:t>처리</a:t>
            </a:r>
            <a:r>
              <a:rPr sz="1400" b="0" dirty="0">
                <a:solidFill>
                  <a:srgbClr val="000000"/>
                </a:solidFill>
              </a:rPr>
              <a:t> + </a:t>
            </a:r>
            <a:r>
              <a:rPr sz="1400" b="0" dirty="0" err="1">
                <a:solidFill>
                  <a:srgbClr val="000000"/>
                </a:solidFill>
              </a:rPr>
              <a:t>측정일</a:t>
            </a:r>
            <a:r>
              <a:rPr sz="1400" b="0" dirty="0">
                <a:solidFill>
                  <a:srgbClr val="000000"/>
                </a:solidFill>
              </a:rPr>
              <a:t> + β</a:t>
            </a:r>
            <a:r>
              <a:rPr sz="1400" b="0" baseline="-25000" dirty="0">
                <a:solidFill>
                  <a:srgbClr val="000000"/>
                </a:solidFill>
              </a:rPr>
              <a:t>1</a:t>
            </a:r>
            <a:r>
              <a:rPr sz="1400" b="0" dirty="0">
                <a:solidFill>
                  <a:srgbClr val="000000"/>
                </a:solidFill>
              </a:rPr>
              <a:t>·Q</a:t>
            </a:r>
            <a:r>
              <a:rPr sz="1400" b="0" baseline="-25000" dirty="0">
                <a:solidFill>
                  <a:srgbClr val="000000"/>
                </a:solidFill>
              </a:rPr>
              <a:t>amb</a:t>
            </a:r>
            <a:r>
              <a:rPr sz="1400" b="0" dirty="0">
                <a:solidFill>
                  <a:srgbClr val="000000"/>
                </a:solidFill>
              </a:rPr>
              <a:t> + β</a:t>
            </a:r>
            <a:r>
              <a:rPr sz="1400" b="0" baseline="-25000" dirty="0">
                <a:solidFill>
                  <a:srgbClr val="000000"/>
                </a:solidFill>
              </a:rPr>
              <a:t>2</a:t>
            </a:r>
            <a:r>
              <a:rPr sz="1400" b="0" dirty="0">
                <a:solidFill>
                  <a:srgbClr val="000000"/>
                </a:solidFill>
              </a:rPr>
              <a:t>·T</a:t>
            </a:r>
            <a:r>
              <a:rPr sz="1400" b="0" baseline="-25000" dirty="0">
                <a:solidFill>
                  <a:srgbClr val="000000"/>
                </a:solidFill>
              </a:rPr>
              <a:t>air</a:t>
            </a:r>
            <a:r>
              <a:rPr sz="1400" b="0" dirty="0">
                <a:solidFill>
                  <a:srgbClr val="000000"/>
                </a:solidFill>
              </a:rPr>
              <a:t> + ε (Ali et al., 2025; Gao et al., 2024)</a:t>
            </a:r>
          </a:p>
          <a:p>
            <a:pPr marL="201168" indent="-201168">
              <a:spcBef>
                <a:spcPts val="0"/>
              </a:spcBef>
              <a:buFont typeface="Arial"/>
              <a:buChar char="•"/>
            </a:pPr>
            <a:r>
              <a:rPr sz="1400" b="0" dirty="0" err="1">
                <a:solidFill>
                  <a:srgbClr val="000000"/>
                </a:solidFill>
              </a:rPr>
              <a:t>선형</a:t>
            </a:r>
            <a:r>
              <a:rPr sz="1400" b="0" dirty="0">
                <a:solidFill>
                  <a:srgbClr val="000000"/>
                </a:solidFill>
              </a:rPr>
              <a:t> </a:t>
            </a:r>
            <a:r>
              <a:rPr sz="1400" b="0" dirty="0" err="1">
                <a:solidFill>
                  <a:srgbClr val="000000"/>
                </a:solidFill>
              </a:rPr>
              <a:t>PAR이</a:t>
            </a:r>
            <a:r>
              <a:rPr sz="1400" b="0" dirty="0">
                <a:solidFill>
                  <a:srgbClr val="000000"/>
                </a:solidFill>
              </a:rPr>
              <a:t> </a:t>
            </a:r>
            <a:r>
              <a:rPr sz="1400" b="0" dirty="0" err="1">
                <a:solidFill>
                  <a:srgbClr val="000000"/>
                </a:solidFill>
              </a:rPr>
              <a:t>가장</a:t>
            </a:r>
            <a:r>
              <a:rPr sz="1400" b="0" dirty="0">
                <a:solidFill>
                  <a:srgbClr val="000000"/>
                </a:solidFill>
              </a:rPr>
              <a:t> </a:t>
            </a:r>
            <a:r>
              <a:rPr sz="1400" b="0" dirty="0" err="1">
                <a:solidFill>
                  <a:srgbClr val="000000"/>
                </a:solidFill>
              </a:rPr>
              <a:t>적합했고</a:t>
            </a:r>
            <a:r>
              <a:rPr sz="1400" b="0" dirty="0">
                <a:solidFill>
                  <a:srgbClr val="000000"/>
                </a:solidFill>
              </a:rPr>
              <a:t> </a:t>
            </a:r>
            <a:r>
              <a:rPr sz="1400" b="0" dirty="0" err="1">
                <a:solidFill>
                  <a:srgbClr val="000000"/>
                </a:solidFill>
              </a:rPr>
              <a:t>기온</a:t>
            </a:r>
            <a:r>
              <a:rPr sz="1400" b="0" dirty="0">
                <a:solidFill>
                  <a:srgbClr val="000000"/>
                </a:solidFill>
              </a:rPr>
              <a:t> </a:t>
            </a:r>
            <a:r>
              <a:rPr sz="1400" b="0" dirty="0" err="1">
                <a:solidFill>
                  <a:srgbClr val="000000"/>
                </a:solidFill>
              </a:rPr>
              <a:t>기울기는</a:t>
            </a:r>
            <a:r>
              <a:rPr sz="1400" b="0" dirty="0">
                <a:solidFill>
                  <a:srgbClr val="000000"/>
                </a:solidFill>
              </a:rPr>
              <a:t> </a:t>
            </a:r>
            <a:r>
              <a:rPr sz="1400" b="0" dirty="0" err="1">
                <a:solidFill>
                  <a:srgbClr val="000000"/>
                </a:solidFill>
              </a:rPr>
              <a:t>유의하지</a:t>
            </a:r>
            <a:r>
              <a:rPr sz="1400" b="0" dirty="0">
                <a:solidFill>
                  <a:srgbClr val="000000"/>
                </a:solidFill>
              </a:rPr>
              <a:t> </a:t>
            </a:r>
            <a:r>
              <a:rPr sz="1400" b="0" dirty="0" err="1">
                <a:solidFill>
                  <a:srgbClr val="000000"/>
                </a:solidFill>
              </a:rPr>
              <a:t>않았음</a:t>
            </a:r>
            <a:endParaRPr sz="1400" b="0" dirty="0">
              <a:solidFill>
                <a:srgbClr val="000000"/>
              </a:solidFill>
            </a:endParaRPr>
          </a:p>
          <a:p>
            <a:pPr marL="201168" indent="-201168">
              <a:spcBef>
                <a:spcPts val="0"/>
              </a:spcBef>
              <a:buFont typeface="Arial"/>
              <a:buChar char="•"/>
            </a:pPr>
            <a:r>
              <a:rPr lang="ko-KR" altLang="en-US" sz="1400" b="0" dirty="0">
                <a:solidFill>
                  <a:srgbClr val="000000"/>
                </a:solidFill>
              </a:rPr>
              <a:t>상추</a:t>
            </a:r>
            <a:r>
              <a:rPr sz="1400" b="0" dirty="0">
                <a:solidFill>
                  <a:srgbClr val="000000"/>
                </a:solidFill>
              </a:rPr>
              <a:t>: </a:t>
            </a:r>
            <a:r>
              <a:rPr sz="1400" b="0" dirty="0" err="1">
                <a:solidFill>
                  <a:srgbClr val="000000"/>
                </a:solidFill>
              </a:rPr>
              <a:t>g</a:t>
            </a:r>
            <a:r>
              <a:rPr sz="1400" b="0" baseline="-25000" dirty="0" err="1">
                <a:solidFill>
                  <a:srgbClr val="000000"/>
                </a:solidFill>
              </a:rPr>
              <a:t>sw</a:t>
            </a:r>
            <a:r>
              <a:rPr sz="1400" b="0" dirty="0" err="1">
                <a:solidFill>
                  <a:srgbClr val="000000"/>
                </a:solidFill>
              </a:rPr>
              <a:t>·Φ</a:t>
            </a:r>
            <a:r>
              <a:rPr sz="1400" b="0" baseline="-25000" dirty="0" err="1">
                <a:solidFill>
                  <a:srgbClr val="000000"/>
                </a:solidFill>
              </a:rPr>
              <a:t>PSII</a:t>
            </a:r>
            <a:r>
              <a:rPr sz="1400" b="0" dirty="0" err="1">
                <a:solidFill>
                  <a:srgbClr val="000000"/>
                </a:solidFill>
              </a:rPr>
              <a:t>·F</a:t>
            </a:r>
            <a:r>
              <a:rPr sz="1400" b="0" baseline="-25000" dirty="0" err="1">
                <a:solidFill>
                  <a:srgbClr val="000000"/>
                </a:solidFill>
              </a:rPr>
              <a:t>s</a:t>
            </a:r>
            <a:r>
              <a:rPr sz="1400" b="0" dirty="0" err="1">
                <a:solidFill>
                  <a:srgbClr val="000000"/>
                </a:solidFill>
              </a:rPr>
              <a:t>·ETR</a:t>
            </a:r>
            <a:r>
              <a:rPr sz="1400" b="0" dirty="0">
                <a:solidFill>
                  <a:srgbClr val="000000"/>
                </a:solidFill>
              </a:rPr>
              <a:t> </a:t>
            </a:r>
            <a:r>
              <a:rPr sz="1400" b="0" dirty="0" err="1">
                <a:solidFill>
                  <a:srgbClr val="000000"/>
                </a:solidFill>
              </a:rPr>
              <a:t>모두</a:t>
            </a:r>
            <a:r>
              <a:rPr sz="1400" b="0" dirty="0">
                <a:solidFill>
                  <a:srgbClr val="000000"/>
                </a:solidFill>
              </a:rPr>
              <a:t> </a:t>
            </a:r>
            <a:r>
              <a:rPr sz="1400" b="0" dirty="0" err="1">
                <a:solidFill>
                  <a:srgbClr val="000000"/>
                </a:solidFill>
              </a:rPr>
              <a:t>PAR만</a:t>
            </a:r>
            <a:r>
              <a:rPr sz="1400" b="0" dirty="0">
                <a:solidFill>
                  <a:srgbClr val="000000"/>
                </a:solidFill>
              </a:rPr>
              <a:t> </a:t>
            </a:r>
            <a:r>
              <a:rPr sz="1400" b="0" dirty="0" err="1">
                <a:solidFill>
                  <a:srgbClr val="000000"/>
                </a:solidFill>
              </a:rPr>
              <a:t>보정과</a:t>
            </a:r>
            <a:r>
              <a:rPr sz="1400" b="0" dirty="0">
                <a:solidFill>
                  <a:srgbClr val="000000"/>
                </a:solidFill>
              </a:rPr>
              <a:t> </a:t>
            </a:r>
            <a:r>
              <a:rPr sz="1400" b="0" dirty="0" err="1">
                <a:solidFill>
                  <a:srgbClr val="000000"/>
                </a:solidFill>
              </a:rPr>
              <a:t>PAR+기온</a:t>
            </a:r>
            <a:r>
              <a:rPr sz="1400" b="0" dirty="0">
                <a:solidFill>
                  <a:srgbClr val="000000"/>
                </a:solidFill>
              </a:rPr>
              <a:t> </a:t>
            </a:r>
            <a:r>
              <a:rPr sz="1400" b="0" dirty="0" err="1">
                <a:solidFill>
                  <a:srgbClr val="000000"/>
                </a:solidFill>
              </a:rPr>
              <a:t>보정의</a:t>
            </a:r>
            <a:r>
              <a:rPr sz="1400" b="0" dirty="0">
                <a:solidFill>
                  <a:srgbClr val="000000"/>
                </a:solidFill>
              </a:rPr>
              <a:t> </a:t>
            </a:r>
            <a:r>
              <a:rPr sz="1400" b="0" dirty="0" err="1">
                <a:solidFill>
                  <a:srgbClr val="000000"/>
                </a:solidFill>
              </a:rPr>
              <a:t>판정이</a:t>
            </a:r>
            <a:r>
              <a:rPr sz="1400" b="0" dirty="0">
                <a:solidFill>
                  <a:srgbClr val="000000"/>
                </a:solidFill>
              </a:rPr>
              <a:t> </a:t>
            </a:r>
            <a:r>
              <a:rPr sz="1400" b="0" dirty="0" err="1">
                <a:solidFill>
                  <a:srgbClr val="000000"/>
                </a:solidFill>
              </a:rPr>
              <a:t>같음</a:t>
            </a:r>
            <a:endParaRPr sz="1400" b="0" dirty="0">
              <a:solidFill>
                <a:srgbClr val="000000"/>
              </a:solidFill>
            </a:endParaRPr>
          </a:p>
        </p:txBody>
      </p:sp>
      <p:sp>
        <p:nvSpPr>
          <p:cNvPr id="12"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큰 차이(g</a:t>
            </a:r>
            <a:r>
              <a:rPr sz="1600" baseline="-25000">
                <a:solidFill>
                  <a:srgbClr val="E97132"/>
                </a:solidFill>
              </a:rPr>
              <a:t>sw</a:t>
            </a:r>
            <a:r>
              <a:rPr sz="1600">
                <a:solidFill>
                  <a:srgbClr val="E97132"/>
                </a:solidFill>
              </a:rPr>
              <a:t>, F</a:t>
            </a:r>
            <a:r>
              <a:rPr sz="1600" baseline="-25000">
                <a:solidFill>
                  <a:srgbClr val="E97132"/>
                </a:solidFill>
              </a:rPr>
              <a:t>s</a:t>
            </a:r>
            <a:r>
              <a:rPr sz="1600">
                <a:solidFill>
                  <a:srgbClr val="E97132"/>
                </a:solidFill>
              </a:rPr>
              <a:t>, 콩 P2)는 보정에 안정적 — 작은 차이(콩 P1 Φ</a:t>
            </a:r>
            <a:r>
              <a:rPr sz="1600" baseline="-25000">
                <a:solidFill>
                  <a:srgbClr val="E97132"/>
                </a:solidFill>
              </a:rPr>
              <a:t>PSII</a:t>
            </a:r>
            <a:r>
              <a:rPr sz="1600">
                <a:solidFill>
                  <a:srgbClr val="E97132"/>
                </a:solidFill>
              </a:rPr>
              <a:t>, ETR)는 보정 방식에 민감</a:t>
            </a:r>
          </a:p>
        </p:txBody>
      </p:sp>
      <p:sp>
        <p:nvSpPr>
          <p:cNvPr id="13"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그림 A: 콩 P2 개별 잎, 선 = 보정 후 PAR 기울기. B·C: 같은 날 처리별 PAR·기온. 표: 콩 P1(P2는 4처리) 처리 P, Wald F. Ali et al. (2025) J. Exp. Bot. 76:4141; Gao et al. (2024) J. Exp. Bot. 75:4904.</a:t>
            </a:r>
          </a:p>
        </p:txBody>
      </p:sp>
      <p:sp>
        <p:nvSpPr>
          <p:cNvPr id="15"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7"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18"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9"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20" name="Nav 부록"/>
          <p:cNvSpPr txBox="1"/>
          <p:nvPr/>
        </p:nvSpPr>
        <p:spPr>
          <a:xfrm>
            <a:off x="7699248" y="100584"/>
            <a:ext cx="1371600" cy="329184"/>
          </a:xfrm>
          <a:prstGeom prst="rect">
            <a:avLst/>
          </a:prstGeom>
          <a:noFill/>
        </p:spPr>
        <p:txBody>
          <a:bodyPr wrap="none" lIns="0" tIns="0" rIns="0" bIns="0" anchor="ctr">
            <a:spAutoFit/>
          </a:bodyPr>
          <a:lstStyle/>
          <a:p>
            <a:pPr algn="ctr"/>
            <a:r>
              <a:rPr sz="1450" b="1" u="sng">
                <a:solidFill>
                  <a:srgbClr val="1A1A1A"/>
                </a:solidFill>
              </a:rPr>
              <a:t>부록</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LI-6800 : 광-광합성 곡선 (A-Q)</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21</a:t>
            </a:fld>
            <a:endParaRPr lang="ko-KR" altLang="en-US"/>
          </a:p>
        </p:txBody>
      </p:sp>
      <p:pic>
        <p:nvPicPr>
          <p:cNvPr id="14" name="Picture 13" descr="image.png"/>
          <p:cNvPicPr>
            <a:picLocks noChangeAspect="1"/>
          </p:cNvPicPr>
          <p:nvPr/>
        </p:nvPicPr>
        <p:blipFill>
          <a:blip r:embed="rId4"/>
          <a:stretch>
            <a:fillRect/>
          </a:stretch>
        </p:blipFill>
        <p:spPr>
          <a:xfrm>
            <a:off x="457199" y="1364948"/>
            <a:ext cx="6766560" cy="2706624"/>
          </a:xfrm>
          <a:prstGeom prst="rect">
            <a:avLst/>
          </a:prstGeom>
        </p:spPr>
      </p:pic>
      <p:sp>
        <p:nvSpPr>
          <p:cNvPr id="8" name="Card PPFD별 Dunc"/>
          <p:cNvSpPr/>
          <p:nvPr/>
        </p:nvSpPr>
        <p:spPr>
          <a:xfrm>
            <a:off x="7498079" y="1399032"/>
            <a:ext cx="4206240" cy="4133087"/>
          </a:xfrm>
          <a:prstGeom prst="roundRect">
            <a:avLst>
              <a:gd name="adj" fmla="val 3400"/>
            </a:avLst>
          </a:prstGeom>
          <a:solidFill>
            <a:srgbClr val="FBFBFB"/>
          </a:solidFill>
          <a:ln w="12700">
            <a:solidFill>
              <a:srgbClr val="AFAF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Header PPFD별 Dunc"/>
          <p:cNvSpPr/>
          <p:nvPr/>
        </p:nvSpPr>
        <p:spPr>
          <a:xfrm>
            <a:off x="7680959" y="1188720"/>
            <a:ext cx="3840479" cy="420624"/>
          </a:xfrm>
          <a:prstGeom prst="roundRect">
            <a:avLst>
              <a:gd name="adj" fmla="val 25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lIns="73152" tIns="27432" rIns="73152" bIns="27432" rtlCol="0" anchor="ctr"/>
          <a:lstStyle/>
          <a:p>
            <a:pPr algn="ctr"/>
            <a:r>
              <a:rPr sz="1600" b="1">
                <a:solidFill>
                  <a:srgbClr val="FFFFFF"/>
                </a:solidFill>
              </a:rPr>
              <a:t>PPFD 1,500에서의 A</a:t>
            </a:r>
          </a:p>
        </p:txBody>
      </p:sp>
      <p:graphicFrame>
        <p:nvGraphicFramePr>
          <p:cNvPr id="10" name="Table 9"/>
          <p:cNvGraphicFramePr>
            <a:graphicFrameLocks noGrp="1"/>
          </p:cNvGraphicFramePr>
          <p:nvPr/>
        </p:nvGraphicFramePr>
        <p:xfrm>
          <a:off x="7680960" y="1783080"/>
          <a:ext cx="3749040" cy="1426464"/>
        </p:xfrm>
        <a:graphic>
          <a:graphicData uri="http://schemas.openxmlformats.org/drawingml/2006/table">
            <a:tbl>
              <a:tblPr>
                <a:tableStyleId>{2D5ABB26-0587-4C30-8999-92F81FD0307C}</a:tableStyleId>
              </a:tblPr>
              <a:tblGrid>
                <a:gridCol w="128016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tblGrid>
              <a:tr h="237744">
                <a:tc>
                  <a:txBody>
                    <a:bodyPr/>
                    <a:lstStyle/>
                    <a:p>
                      <a:pPr algn="l">
                        <a:lnSpc>
                          <a:spcPct val="100000"/>
                        </a:lnSpc>
                        <a:spcBef>
                          <a:spcPts val="0"/>
                        </a:spcBef>
                        <a:spcAft>
                          <a:spcPts val="0"/>
                        </a:spcAft>
                      </a:pPr>
                      <a:r>
                        <a:rPr sz="1050" b="1">
                          <a:solidFill>
                            <a:srgbClr val="000000"/>
                          </a:solidFill>
                        </a:rPr>
                        <a:t>A (PPFD 1500)</a:t>
                      </a:r>
                      <a:endParaRPr sz="10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50" b="1">
                          <a:solidFill>
                            <a:srgbClr val="000000"/>
                          </a:solidFill>
                        </a:rPr>
                        <a:t>Soybean</a:t>
                      </a:r>
                      <a:endParaRPr sz="10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50" b="1">
                          <a:solidFill>
                            <a:srgbClr val="000000"/>
                          </a:solidFill>
                        </a:rPr>
                        <a:t>Romaine</a:t>
                      </a:r>
                      <a:endParaRPr sz="10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237744">
                <a:tc>
                  <a:txBody>
                    <a:bodyPr/>
                    <a:lstStyle/>
                    <a:p>
                      <a:pPr algn="l">
                        <a:lnSpc>
                          <a:spcPct val="100000"/>
                        </a:lnSpc>
                        <a:spcBef>
                          <a:spcPts val="0"/>
                        </a:spcBef>
                        <a:spcAft>
                          <a:spcPts val="0"/>
                        </a:spcAft>
                      </a:pPr>
                      <a:r>
                        <a:rPr sz="1050" b="0">
                          <a:solidFill>
                            <a:srgbClr val="000000"/>
                          </a:solidFill>
                        </a:rPr>
                        <a:t>Pre-treatment</a:t>
                      </a:r>
                      <a:endParaRPr sz="105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50" b="0">
                          <a:solidFill>
                            <a:srgbClr val="000000"/>
                          </a:solidFill>
                        </a:rPr>
                        <a:t>12.9</a:t>
                      </a:r>
                      <a:endParaRPr sz="105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50" b="0">
                          <a:solidFill>
                            <a:srgbClr val="000000"/>
                          </a:solidFill>
                        </a:rPr>
                        <a:t>22.6</a:t>
                      </a:r>
                      <a:endParaRPr sz="1050"/>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237744">
                <a:tc>
                  <a:txBody>
                    <a:bodyPr/>
                    <a:lstStyle/>
                    <a:p>
                      <a:pPr algn="l">
                        <a:lnSpc>
                          <a:spcPct val="100000"/>
                        </a:lnSpc>
                        <a:spcBef>
                          <a:spcPts val="0"/>
                        </a:spcBef>
                        <a:spcAft>
                          <a:spcPts val="0"/>
                        </a:spcAft>
                      </a:pPr>
                      <a:r>
                        <a:rPr sz="1050" b="0">
                          <a:solidFill>
                            <a:srgbClr val="000000"/>
                          </a:solidFill>
                        </a:rPr>
                        <a:t>Control</a:t>
                      </a:r>
                      <a:endParaRPr sz="10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50" b="0">
                          <a:solidFill>
                            <a:srgbClr val="000000"/>
                          </a:solidFill>
                        </a:rPr>
                        <a:t>16.4</a:t>
                      </a:r>
                      <a:endParaRPr sz="10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50" b="0">
                          <a:solidFill>
                            <a:srgbClr val="000000"/>
                          </a:solidFill>
                        </a:rPr>
                        <a:t>19.5</a:t>
                      </a:r>
                      <a:endParaRPr sz="10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237744">
                <a:tc>
                  <a:txBody>
                    <a:bodyPr/>
                    <a:lstStyle/>
                    <a:p>
                      <a:pPr algn="l">
                        <a:lnSpc>
                          <a:spcPct val="100000"/>
                        </a:lnSpc>
                        <a:spcBef>
                          <a:spcPts val="0"/>
                        </a:spcBef>
                        <a:spcAft>
                          <a:spcPts val="0"/>
                        </a:spcAft>
                      </a:pPr>
                      <a:r>
                        <a:rPr sz="1050" b="0">
                          <a:solidFill>
                            <a:srgbClr val="000000"/>
                          </a:solidFill>
                        </a:rPr>
                        <a:t>Drought</a:t>
                      </a:r>
                      <a:endParaRPr sz="10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50" b="0">
                          <a:solidFill>
                            <a:srgbClr val="000000"/>
                          </a:solidFill>
                        </a:rPr>
                        <a:t>16.7</a:t>
                      </a:r>
                      <a:endParaRPr sz="10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50" b="0">
                          <a:solidFill>
                            <a:srgbClr val="000000"/>
                          </a:solidFill>
                        </a:rPr>
                        <a:t>19.5</a:t>
                      </a:r>
                      <a:endParaRPr sz="10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237744">
                <a:tc>
                  <a:txBody>
                    <a:bodyPr/>
                    <a:lstStyle/>
                    <a:p>
                      <a:pPr algn="l">
                        <a:lnSpc>
                          <a:spcPct val="100000"/>
                        </a:lnSpc>
                        <a:spcBef>
                          <a:spcPts val="0"/>
                        </a:spcBef>
                        <a:spcAft>
                          <a:spcPts val="0"/>
                        </a:spcAft>
                      </a:pPr>
                      <a:r>
                        <a:rPr sz="1050" b="0">
                          <a:solidFill>
                            <a:srgbClr val="000000"/>
                          </a:solidFill>
                        </a:rPr>
                        <a:t>Waterlogging</a:t>
                      </a:r>
                      <a:endParaRPr sz="10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50" b="0">
                          <a:solidFill>
                            <a:srgbClr val="000000"/>
                          </a:solidFill>
                        </a:rPr>
                        <a:t>12.5</a:t>
                      </a:r>
                      <a:endParaRPr sz="10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50" b="0">
                          <a:solidFill>
                            <a:srgbClr val="000000"/>
                          </a:solidFill>
                        </a:rPr>
                        <a:t>21.2</a:t>
                      </a:r>
                      <a:endParaRPr sz="10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4"/>
                  </a:ext>
                </a:extLst>
              </a:tr>
              <a:tr h="237744">
                <a:tc>
                  <a:txBody>
                    <a:bodyPr/>
                    <a:lstStyle/>
                    <a:p>
                      <a:pPr algn="l">
                        <a:lnSpc>
                          <a:spcPct val="100000"/>
                        </a:lnSpc>
                        <a:spcBef>
                          <a:spcPts val="0"/>
                        </a:spcBef>
                        <a:spcAft>
                          <a:spcPts val="0"/>
                        </a:spcAft>
                      </a:pPr>
                      <a:r>
                        <a:rPr sz="1050" b="0">
                          <a:solidFill>
                            <a:srgbClr val="000000"/>
                          </a:solidFill>
                        </a:rPr>
                        <a:t>Combined</a:t>
                      </a:r>
                      <a:endParaRPr sz="105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50" b="0">
                          <a:solidFill>
                            <a:srgbClr val="000000"/>
                          </a:solidFill>
                        </a:rPr>
                        <a:t>15.8</a:t>
                      </a:r>
                      <a:endParaRPr sz="105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50" b="0">
                          <a:solidFill>
                            <a:srgbClr val="000000"/>
                          </a:solidFill>
                        </a:rPr>
                        <a:t>17.7</a:t>
                      </a:r>
                      <a:endParaRPr sz="1050"/>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5"/>
                  </a:ext>
                </a:extLst>
              </a:tr>
            </a:tbl>
          </a:graphicData>
        </a:graphic>
      </p:graphicFrame>
      <p:sp>
        <p:nvSpPr>
          <p:cNvPr id="11" name="TextBox 10"/>
          <p:cNvSpPr txBox="1"/>
          <p:nvPr/>
        </p:nvSpPr>
        <p:spPr>
          <a:xfrm>
            <a:off x="7680960" y="3749039"/>
            <a:ext cx="3886200" cy="769441"/>
          </a:xfrm>
          <a:prstGeom prst="rect">
            <a:avLst/>
          </a:prstGeom>
          <a:noFill/>
        </p:spPr>
        <p:txBody>
          <a:bodyPr wrap="square">
            <a:spAutoFit/>
          </a:bodyPr>
          <a:lstStyle/>
          <a:p>
            <a:pPr marL="201168" indent="-201168">
              <a:buFont typeface="Arial"/>
              <a:buChar char="•"/>
            </a:pPr>
            <a:r>
              <a:rPr sz="1100" b="0" dirty="0" err="1">
                <a:solidFill>
                  <a:srgbClr val="000000"/>
                </a:solidFill>
              </a:rPr>
              <a:t>모든</a:t>
            </a:r>
            <a:r>
              <a:rPr sz="1100" b="0" dirty="0">
                <a:solidFill>
                  <a:srgbClr val="000000"/>
                </a:solidFill>
              </a:rPr>
              <a:t> PPFD </a:t>
            </a:r>
            <a:r>
              <a:rPr sz="1100" b="0" dirty="0" err="1">
                <a:solidFill>
                  <a:srgbClr val="000000"/>
                </a:solidFill>
              </a:rPr>
              <a:t>수준에서</a:t>
            </a:r>
            <a:r>
              <a:rPr sz="1100" b="0" dirty="0">
                <a:solidFill>
                  <a:srgbClr val="000000"/>
                </a:solidFill>
              </a:rPr>
              <a:t> </a:t>
            </a:r>
            <a:r>
              <a:rPr sz="1100" b="0" dirty="0" err="1">
                <a:solidFill>
                  <a:srgbClr val="000000"/>
                </a:solidFill>
              </a:rPr>
              <a:t>처리</a:t>
            </a:r>
            <a:r>
              <a:rPr sz="1100" b="0" dirty="0">
                <a:solidFill>
                  <a:srgbClr val="000000"/>
                </a:solidFill>
              </a:rPr>
              <a:t> 간 </a:t>
            </a:r>
            <a:r>
              <a:rPr sz="1100" b="0" dirty="0" err="1">
                <a:solidFill>
                  <a:srgbClr val="000000"/>
                </a:solidFill>
              </a:rPr>
              <a:t>유의차</a:t>
            </a:r>
            <a:r>
              <a:rPr sz="1100" b="0" dirty="0">
                <a:solidFill>
                  <a:srgbClr val="000000"/>
                </a:solidFill>
              </a:rPr>
              <a:t> </a:t>
            </a:r>
            <a:r>
              <a:rPr sz="1100" b="0" dirty="0" err="1">
                <a:solidFill>
                  <a:srgbClr val="000000"/>
                </a:solidFill>
              </a:rPr>
              <a:t>없음</a:t>
            </a:r>
            <a:endParaRPr sz="1100" b="0" dirty="0">
              <a:solidFill>
                <a:srgbClr val="000000"/>
              </a:solidFill>
            </a:endParaRPr>
          </a:p>
          <a:p>
            <a:pPr marL="201168" indent="-201168">
              <a:buFont typeface="Arial"/>
              <a:buChar char="•"/>
            </a:pPr>
            <a:r>
              <a:rPr sz="1100" b="0" dirty="0" err="1">
                <a:solidFill>
                  <a:srgbClr val="000000"/>
                </a:solidFill>
              </a:rPr>
              <a:t>콩은</a:t>
            </a:r>
            <a:r>
              <a:rPr sz="1100" b="0" dirty="0">
                <a:solidFill>
                  <a:srgbClr val="000000"/>
                </a:solidFill>
              </a:rPr>
              <a:t> </a:t>
            </a:r>
            <a:r>
              <a:rPr sz="1100" b="0" dirty="0" err="1">
                <a:solidFill>
                  <a:srgbClr val="000000"/>
                </a:solidFill>
              </a:rPr>
              <a:t>처리</a:t>
            </a:r>
            <a:r>
              <a:rPr sz="1100" b="0" dirty="0">
                <a:solidFill>
                  <a:srgbClr val="000000"/>
                </a:solidFill>
              </a:rPr>
              <a:t> 전 </a:t>
            </a:r>
            <a:r>
              <a:rPr sz="1100" b="0" dirty="0" err="1">
                <a:solidFill>
                  <a:srgbClr val="000000"/>
                </a:solidFill>
              </a:rPr>
              <a:t>곡선이</a:t>
            </a:r>
            <a:r>
              <a:rPr sz="1100" b="0" dirty="0">
                <a:solidFill>
                  <a:srgbClr val="000000"/>
                </a:solidFill>
              </a:rPr>
              <a:t> </a:t>
            </a:r>
            <a:r>
              <a:rPr sz="1100" b="0" dirty="0" err="1">
                <a:solidFill>
                  <a:srgbClr val="000000"/>
                </a:solidFill>
              </a:rPr>
              <a:t>처리</a:t>
            </a:r>
            <a:r>
              <a:rPr sz="1100" b="0" dirty="0">
                <a:solidFill>
                  <a:srgbClr val="000000"/>
                </a:solidFill>
              </a:rPr>
              <a:t> </a:t>
            </a:r>
            <a:r>
              <a:rPr sz="1100" b="0" dirty="0" err="1">
                <a:solidFill>
                  <a:srgbClr val="000000"/>
                </a:solidFill>
              </a:rPr>
              <a:t>후보다</a:t>
            </a:r>
            <a:r>
              <a:rPr sz="1100" b="0" dirty="0">
                <a:solidFill>
                  <a:srgbClr val="000000"/>
                </a:solidFill>
              </a:rPr>
              <a:t> </a:t>
            </a:r>
            <a:r>
              <a:rPr sz="1100" b="0" dirty="0" err="1">
                <a:solidFill>
                  <a:srgbClr val="000000"/>
                </a:solidFill>
              </a:rPr>
              <a:t>낮고</a:t>
            </a:r>
            <a:r>
              <a:rPr sz="1100" b="0" dirty="0">
                <a:solidFill>
                  <a:srgbClr val="000000"/>
                </a:solidFill>
              </a:rPr>
              <a:t>, </a:t>
            </a:r>
            <a:r>
              <a:rPr lang="ko-KR" altLang="en-US" sz="1100" b="0" dirty="0">
                <a:solidFill>
                  <a:srgbClr val="000000"/>
                </a:solidFill>
              </a:rPr>
              <a:t>상추는</a:t>
            </a:r>
            <a:r>
              <a:rPr sz="1100" b="0" dirty="0">
                <a:solidFill>
                  <a:srgbClr val="000000"/>
                </a:solidFill>
              </a:rPr>
              <a:t> </a:t>
            </a:r>
            <a:r>
              <a:rPr sz="1100" b="0" dirty="0" err="1">
                <a:solidFill>
                  <a:srgbClr val="000000"/>
                </a:solidFill>
              </a:rPr>
              <a:t>처리</a:t>
            </a:r>
            <a:r>
              <a:rPr sz="1100" b="0" dirty="0">
                <a:solidFill>
                  <a:srgbClr val="000000"/>
                </a:solidFill>
              </a:rPr>
              <a:t> 전 </a:t>
            </a:r>
            <a:r>
              <a:rPr sz="1100" b="0" dirty="0" err="1">
                <a:solidFill>
                  <a:srgbClr val="000000"/>
                </a:solidFill>
              </a:rPr>
              <a:t>곡선이</a:t>
            </a:r>
            <a:r>
              <a:rPr sz="1100" b="0" dirty="0">
                <a:solidFill>
                  <a:srgbClr val="000000"/>
                </a:solidFill>
              </a:rPr>
              <a:t> </a:t>
            </a:r>
            <a:r>
              <a:rPr sz="1100" b="0" dirty="0" err="1">
                <a:solidFill>
                  <a:srgbClr val="000000"/>
                </a:solidFill>
              </a:rPr>
              <a:t>처리</a:t>
            </a:r>
            <a:r>
              <a:rPr sz="1100" b="0" dirty="0">
                <a:solidFill>
                  <a:srgbClr val="000000"/>
                </a:solidFill>
              </a:rPr>
              <a:t> </a:t>
            </a:r>
            <a:r>
              <a:rPr sz="1100" b="0" dirty="0" err="1">
                <a:solidFill>
                  <a:srgbClr val="000000"/>
                </a:solidFill>
              </a:rPr>
              <a:t>후보다</a:t>
            </a:r>
            <a:r>
              <a:rPr sz="1100" b="0" dirty="0">
                <a:solidFill>
                  <a:srgbClr val="000000"/>
                </a:solidFill>
              </a:rPr>
              <a:t> </a:t>
            </a:r>
            <a:r>
              <a:rPr sz="1100" b="0" dirty="0" err="1">
                <a:solidFill>
                  <a:srgbClr val="000000"/>
                </a:solidFill>
              </a:rPr>
              <a:t>높음</a:t>
            </a:r>
            <a:endParaRPr sz="1100" b="0" dirty="0">
              <a:solidFill>
                <a:srgbClr val="000000"/>
              </a:solidFill>
            </a:endParaRPr>
          </a:p>
          <a:p>
            <a:pPr marL="201168" indent="-201168">
              <a:buFont typeface="Arial"/>
              <a:buChar char="•"/>
            </a:pPr>
            <a:r>
              <a:rPr sz="1100" b="0" dirty="0">
                <a:solidFill>
                  <a:srgbClr val="000000"/>
                </a:solidFill>
              </a:rPr>
              <a:t>콩 </a:t>
            </a:r>
            <a:r>
              <a:rPr sz="1100" b="0" dirty="0" err="1">
                <a:solidFill>
                  <a:srgbClr val="000000"/>
                </a:solidFill>
              </a:rPr>
              <a:t>침수구와</a:t>
            </a:r>
            <a:r>
              <a:rPr sz="1100" b="0" dirty="0">
                <a:solidFill>
                  <a:srgbClr val="000000"/>
                </a:solidFill>
              </a:rPr>
              <a:t> </a:t>
            </a:r>
            <a:r>
              <a:rPr lang="ko-KR" altLang="en-US" sz="1100" b="0" dirty="0">
                <a:solidFill>
                  <a:srgbClr val="000000"/>
                </a:solidFill>
              </a:rPr>
              <a:t>상추</a:t>
            </a:r>
            <a:r>
              <a:rPr sz="1100" b="0" dirty="0">
                <a:solidFill>
                  <a:srgbClr val="000000"/>
                </a:solidFill>
              </a:rPr>
              <a:t> </a:t>
            </a:r>
            <a:r>
              <a:rPr sz="1100" b="0" dirty="0" err="1">
                <a:solidFill>
                  <a:srgbClr val="000000"/>
                </a:solidFill>
              </a:rPr>
              <a:t>복합구가</a:t>
            </a:r>
            <a:r>
              <a:rPr sz="1100" b="0" dirty="0">
                <a:solidFill>
                  <a:srgbClr val="000000"/>
                </a:solidFill>
              </a:rPr>
              <a:t> </a:t>
            </a:r>
            <a:r>
              <a:rPr sz="1100" b="0" dirty="0" err="1">
                <a:solidFill>
                  <a:srgbClr val="000000"/>
                </a:solidFill>
              </a:rPr>
              <a:t>낮은</a:t>
            </a:r>
            <a:r>
              <a:rPr sz="1100" b="0" dirty="0">
                <a:solidFill>
                  <a:srgbClr val="000000"/>
                </a:solidFill>
              </a:rPr>
              <a:t> </a:t>
            </a:r>
            <a:r>
              <a:rPr sz="1100" b="0" dirty="0" err="1">
                <a:solidFill>
                  <a:srgbClr val="000000"/>
                </a:solidFill>
              </a:rPr>
              <a:t>경향</a:t>
            </a:r>
            <a:endParaRPr sz="1100" b="0" dirty="0">
              <a:solidFill>
                <a:srgbClr val="000000"/>
              </a:solidFill>
            </a:endParaRPr>
          </a:p>
        </p:txBody>
      </p:sp>
      <p:sp>
        <p:nvSpPr>
          <p:cNvPr id="12"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b="0">
                <a:solidFill>
                  <a:srgbClr val="E97132"/>
                </a:solidFill>
              </a:rPr>
              <a:t>두 작물 모두 처리 간 A-Q 곡선 차이는 없음</a:t>
            </a:r>
          </a:p>
        </p:txBody>
      </p:sp>
      <p:sp>
        <p:nvSpPr>
          <p:cNvPr id="13" name="Footnote"/>
          <p:cNvSpPr txBox="1"/>
          <p:nvPr/>
        </p:nvSpPr>
        <p:spPr>
          <a:xfrm>
            <a:off x="457200" y="6473952"/>
            <a:ext cx="8138160" cy="310896"/>
          </a:xfrm>
          <a:prstGeom prst="rect">
            <a:avLst/>
          </a:prstGeom>
          <a:noFill/>
        </p:spPr>
        <p:txBody>
          <a:bodyPr wrap="square" lIns="45720" tIns="0" rIns="45720" bIns="0" anchor="t">
            <a:spAutoFit/>
          </a:bodyPr>
          <a:lstStyle/>
          <a:p>
            <a:r>
              <a:rPr sz="1000" b="0" dirty="0">
                <a:solidFill>
                  <a:srgbClr val="595959"/>
                </a:solidFill>
              </a:rPr>
              <a:t>값: </a:t>
            </a:r>
            <a:r>
              <a:rPr sz="1000" b="0" dirty="0" err="1">
                <a:solidFill>
                  <a:srgbClr val="595959"/>
                </a:solidFill>
              </a:rPr>
              <a:t>평균</a:t>
            </a:r>
            <a:r>
              <a:rPr sz="1000" b="0" dirty="0">
                <a:solidFill>
                  <a:srgbClr val="595959"/>
                </a:solidFill>
              </a:rPr>
              <a:t> ± SE (µmol CO</a:t>
            </a:r>
            <a:r>
              <a:rPr sz="1000" b="0" baseline="-25000" dirty="0">
                <a:solidFill>
                  <a:srgbClr val="595959"/>
                </a:solidFill>
              </a:rPr>
              <a:t>2</a:t>
            </a:r>
            <a:r>
              <a:rPr sz="1000" b="0" dirty="0">
                <a:solidFill>
                  <a:srgbClr val="595959"/>
                </a:solidFill>
              </a:rPr>
              <a:t> m</a:t>
            </a:r>
            <a:r>
              <a:rPr sz="1000" b="0" baseline="30000" dirty="0">
                <a:solidFill>
                  <a:srgbClr val="595959"/>
                </a:solidFill>
              </a:rPr>
              <a:t>−2</a:t>
            </a:r>
            <a:r>
              <a:rPr sz="1000" b="0" dirty="0">
                <a:solidFill>
                  <a:srgbClr val="595959"/>
                </a:solidFill>
              </a:rPr>
              <a:t>·s</a:t>
            </a:r>
            <a:r>
              <a:rPr sz="1000" b="0" baseline="30000" dirty="0">
                <a:solidFill>
                  <a:srgbClr val="595959"/>
                </a:solidFill>
              </a:rPr>
              <a:t>−1</a:t>
            </a:r>
            <a:r>
              <a:rPr sz="1000" b="0" dirty="0">
                <a:solidFill>
                  <a:srgbClr val="595959"/>
                </a:solidFill>
              </a:rPr>
              <a:t>). 콩 </a:t>
            </a:r>
            <a:r>
              <a:rPr sz="1000" b="0" dirty="0" err="1">
                <a:solidFill>
                  <a:srgbClr val="595959"/>
                </a:solidFill>
              </a:rPr>
              <a:t>처리</a:t>
            </a:r>
            <a:r>
              <a:rPr sz="1000" b="0" dirty="0">
                <a:solidFill>
                  <a:srgbClr val="595959"/>
                </a:solidFill>
              </a:rPr>
              <a:t> 전 7/22~23(3곡선), </a:t>
            </a:r>
            <a:r>
              <a:rPr lang="ko-KR" altLang="en-US" sz="1000" b="0" dirty="0">
                <a:solidFill>
                  <a:srgbClr val="595959"/>
                </a:solidFill>
              </a:rPr>
              <a:t>상추</a:t>
            </a:r>
            <a:r>
              <a:rPr sz="1000" b="0" dirty="0">
                <a:solidFill>
                  <a:srgbClr val="595959"/>
                </a:solidFill>
              </a:rPr>
              <a:t> </a:t>
            </a:r>
            <a:r>
              <a:rPr sz="1000" b="0" dirty="0" err="1">
                <a:solidFill>
                  <a:srgbClr val="595959"/>
                </a:solidFill>
              </a:rPr>
              <a:t>처리</a:t>
            </a:r>
            <a:r>
              <a:rPr sz="1000" b="0" dirty="0">
                <a:solidFill>
                  <a:srgbClr val="595959"/>
                </a:solidFill>
              </a:rPr>
              <a:t> 전 10/4(3곡선), </a:t>
            </a:r>
            <a:r>
              <a:rPr sz="1000" b="0" dirty="0" err="1">
                <a:solidFill>
                  <a:srgbClr val="595959"/>
                </a:solidFill>
              </a:rPr>
              <a:t>처리</a:t>
            </a:r>
            <a:r>
              <a:rPr sz="1000" b="0" dirty="0">
                <a:solidFill>
                  <a:srgbClr val="595959"/>
                </a:solidFill>
              </a:rPr>
              <a:t> 후 </a:t>
            </a:r>
            <a:r>
              <a:rPr sz="1000" b="0" dirty="0" err="1">
                <a:solidFill>
                  <a:srgbClr val="595959"/>
                </a:solidFill>
              </a:rPr>
              <a:t>처리당</a:t>
            </a:r>
            <a:r>
              <a:rPr sz="1000" b="0" dirty="0">
                <a:solidFill>
                  <a:srgbClr val="595959"/>
                </a:solidFill>
              </a:rPr>
              <a:t> 3곡선(10/16~19). PPFD </a:t>
            </a:r>
            <a:r>
              <a:rPr sz="1000" b="0" dirty="0" err="1">
                <a:solidFill>
                  <a:srgbClr val="595959"/>
                </a:solidFill>
              </a:rPr>
              <a:t>수준별</a:t>
            </a:r>
            <a:r>
              <a:rPr sz="1000" b="0" dirty="0">
                <a:solidFill>
                  <a:srgbClr val="595959"/>
                </a:solidFill>
              </a:rPr>
              <a:t> Tukey.</a:t>
            </a:r>
          </a:p>
        </p:txBody>
      </p:sp>
      <p:sp>
        <p:nvSpPr>
          <p:cNvPr id="15"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7"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18"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9"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20" name="Nav 부록"/>
          <p:cNvSpPr txBox="1"/>
          <p:nvPr/>
        </p:nvSpPr>
        <p:spPr>
          <a:xfrm>
            <a:off x="7699248" y="100584"/>
            <a:ext cx="1371600" cy="329184"/>
          </a:xfrm>
          <a:prstGeom prst="rect">
            <a:avLst/>
          </a:prstGeom>
          <a:noFill/>
        </p:spPr>
        <p:txBody>
          <a:bodyPr wrap="none" lIns="0" tIns="0" rIns="0" bIns="0" anchor="ctr">
            <a:spAutoFit/>
          </a:bodyPr>
          <a:lstStyle/>
          <a:p>
            <a:pPr algn="ctr"/>
            <a:r>
              <a:rPr sz="1450" b="1" u="sng">
                <a:solidFill>
                  <a:srgbClr val="1A1A1A"/>
                </a:solidFill>
              </a:rPr>
              <a:t>부록</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LI-600 : 정상 상태 형광 (F</a:t>
            </a:r>
            <a:r>
              <a:rPr lang="ko-KR" altLang="en-US" sz="2800" baseline="-25000" dirty="0"/>
              <a:t>s</a:t>
            </a:r>
            <a:r>
              <a:rPr lang="ko-KR" altLang="en-US" sz="2800" dirty="0"/>
              <a:t>)</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22</a:t>
            </a:fld>
            <a:endParaRPr lang="ko-KR" altLang="en-US"/>
          </a:p>
        </p:txBody>
      </p:sp>
      <p:pic>
        <p:nvPicPr>
          <p:cNvPr id="14" name="Picture 13" descr="image.png"/>
          <p:cNvPicPr>
            <a:picLocks noChangeAspect="1"/>
          </p:cNvPicPr>
          <p:nvPr/>
        </p:nvPicPr>
        <p:blipFill>
          <a:blip r:embed="rId4"/>
          <a:stretch>
            <a:fillRect/>
          </a:stretch>
        </p:blipFill>
        <p:spPr>
          <a:xfrm>
            <a:off x="721559" y="1188720"/>
            <a:ext cx="6375000" cy="2550000"/>
          </a:xfrm>
          <a:prstGeom prst="rect">
            <a:avLst/>
          </a:prstGeom>
        </p:spPr>
      </p:pic>
      <p:graphicFrame>
        <p:nvGraphicFramePr>
          <p:cNvPr id="8" name="Table 7"/>
          <p:cNvGraphicFramePr>
            <a:graphicFrameLocks noGrp="1"/>
          </p:cNvGraphicFramePr>
          <p:nvPr/>
        </p:nvGraphicFramePr>
        <p:xfrm>
          <a:off x="457200" y="3790000"/>
          <a:ext cx="6858000" cy="950000"/>
        </p:xfrm>
        <a:graphic>
          <a:graphicData uri="http://schemas.openxmlformats.org/drawingml/2006/table">
            <a:tbl>
              <a:tblPr>
                <a:tableStyleId>{2D5ABB26-0587-4C30-8999-92F81FD0307C}</a:tableStyleId>
              </a:tblPr>
              <a:tblGrid>
                <a:gridCol w="17373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190000">
                <a:tc>
                  <a:txBody>
                    <a:bodyPr/>
                    <a:lstStyle/>
                    <a:p>
                      <a:pPr algn="l">
                        <a:lnSpc>
                          <a:spcPct val="100000"/>
                        </a:lnSpc>
                        <a:spcBef>
                          <a:spcPts val="0"/>
                        </a:spcBef>
                        <a:spcAft>
                          <a:spcPts val="0"/>
                        </a:spcAft>
                      </a:pPr>
                      <a:r>
                        <a:rPr sz="800" b="1" dirty="0">
                          <a:solidFill>
                            <a:srgbClr val="000000"/>
                          </a:solidFill>
                        </a:rPr>
                        <a:t>Treatment</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Soybean</a:t>
                      </a:r>
                      <a:r>
                        <a:rPr sz="800" b="1" dirty="0">
                          <a:solidFill>
                            <a:srgbClr val="000000"/>
                          </a:solidFill>
                        </a:rPr>
                        <a:t> P1</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Soybean</a:t>
                      </a:r>
                      <a:r>
                        <a:rPr sz="800" b="1" dirty="0">
                          <a:solidFill>
                            <a:srgbClr val="000000"/>
                          </a:solidFill>
                        </a:rPr>
                        <a:t> P2</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Romaine P1</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Romaine P2</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190000">
                <a:tc>
                  <a:txBody>
                    <a:bodyPr/>
                    <a:lstStyle/>
                    <a:p>
                      <a:pPr algn="l">
                        <a:lnSpc>
                          <a:spcPct val="100000"/>
                        </a:lnSpc>
                        <a:spcBef>
                          <a:spcPts val="0"/>
                        </a:spcBef>
                        <a:spcAft>
                          <a:spcPts val="0"/>
                        </a:spcAft>
                      </a:pPr>
                      <a:r>
                        <a:rPr sz="800" b="0">
                          <a:solidFill>
                            <a:srgbClr val="000000"/>
                          </a:solidFill>
                        </a:rPr>
                        <a:t>Control</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129 b</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113 b</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157.3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142.1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190000">
                <a:tc>
                  <a:txBody>
                    <a:bodyPr/>
                    <a:lstStyle/>
                    <a:p>
                      <a:pPr algn="l">
                        <a:lnSpc>
                          <a:spcPct val="100000"/>
                        </a:lnSpc>
                        <a:spcBef>
                          <a:spcPts val="0"/>
                        </a:spcBef>
                        <a:spcAft>
                          <a:spcPts val="0"/>
                        </a:spcAft>
                      </a:pPr>
                      <a:r>
                        <a:rPr sz="800" b="0">
                          <a:solidFill>
                            <a:srgbClr val="000000"/>
                          </a:solidFill>
                        </a:rPr>
                        <a:t>Drought</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132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161.0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141.8 a</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190000">
                <a:tc>
                  <a:txBody>
                    <a:bodyPr/>
                    <a:lstStyle/>
                    <a:p>
                      <a:pPr algn="l">
                        <a:lnSpc>
                          <a:spcPct val="100000"/>
                        </a:lnSpc>
                        <a:spcBef>
                          <a:spcPts val="0"/>
                        </a:spcBef>
                        <a:spcAft>
                          <a:spcPts val="0"/>
                        </a:spcAft>
                      </a:pPr>
                      <a:r>
                        <a:rPr lang="en-US" sz="800" b="0" dirty="0">
                          <a:solidFill>
                            <a:srgbClr val="000000"/>
                          </a:solidFill>
                        </a:rPr>
                        <a:t>Waterlogging</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139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131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158.0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141.6 a</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190000">
                <a:tc>
                  <a:txBody>
                    <a:bodyPr/>
                    <a:lstStyle/>
                    <a:p>
                      <a:pPr algn="l">
                        <a:lnSpc>
                          <a:spcPct val="100000"/>
                        </a:lnSpc>
                        <a:spcBef>
                          <a:spcPts val="0"/>
                        </a:spcBef>
                        <a:spcAft>
                          <a:spcPts val="0"/>
                        </a:spcAft>
                      </a:pPr>
                      <a:r>
                        <a:rPr lang="en-US" sz="800" b="0" dirty="0">
                          <a:solidFill>
                            <a:srgbClr val="000000"/>
                          </a:solidFill>
                        </a:rPr>
                        <a:t>Combined</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134 a</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161.6 a</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144.5 a</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4"/>
                  </a:ext>
                </a:extLst>
              </a:tr>
            </a:tbl>
          </a:graphicData>
        </a:graphic>
      </p:graphicFrame>
      <p:sp>
        <p:nvSpPr>
          <p:cNvPr id="9" name="Card 요점"/>
          <p:cNvSpPr/>
          <p:nvPr/>
        </p:nvSpPr>
        <p:spPr>
          <a:xfrm>
            <a:off x="7498079" y="1399032"/>
            <a:ext cx="4206240" cy="4133087"/>
          </a:xfrm>
          <a:prstGeom prst="roundRect">
            <a:avLst>
              <a:gd name="adj" fmla="val 3400"/>
            </a:avLst>
          </a:prstGeom>
          <a:solidFill>
            <a:srgbClr val="FBFBFB"/>
          </a:solidFill>
          <a:ln w="12700">
            <a:solidFill>
              <a:srgbClr val="AFAF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Header 요점"/>
          <p:cNvSpPr/>
          <p:nvPr/>
        </p:nvSpPr>
        <p:spPr>
          <a:xfrm>
            <a:off x="7680959" y="1188720"/>
            <a:ext cx="3840479" cy="420624"/>
          </a:xfrm>
          <a:prstGeom prst="roundRect">
            <a:avLst>
              <a:gd name="adj" fmla="val 25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lIns="73152" tIns="27432" rIns="73152" bIns="27432" rtlCol="0" anchor="ctr"/>
          <a:lstStyle/>
          <a:p>
            <a:pPr algn="ctr"/>
            <a:r>
              <a:rPr sz="1600" b="1">
                <a:solidFill>
                  <a:srgbClr val="FFFFFF"/>
                </a:solidFill>
              </a:rPr>
              <a:t>요점</a:t>
            </a:r>
          </a:p>
        </p:txBody>
      </p:sp>
      <p:sp>
        <p:nvSpPr>
          <p:cNvPr id="11" name="TextBox 10"/>
          <p:cNvSpPr txBox="1"/>
          <p:nvPr/>
        </p:nvSpPr>
        <p:spPr>
          <a:xfrm>
            <a:off x="7680959" y="1783080"/>
            <a:ext cx="3886200" cy="828432"/>
          </a:xfrm>
          <a:prstGeom prst="rect">
            <a:avLst/>
          </a:prstGeom>
          <a:noFill/>
        </p:spPr>
        <p:txBody>
          <a:bodyPr wrap="square">
            <a:spAutoFit/>
          </a:bodyPr>
          <a:lstStyle/>
          <a:p>
            <a:pPr marL="201168" indent="-201168">
              <a:spcBef>
                <a:spcPts val="0"/>
              </a:spcBef>
              <a:buFont typeface="Arial"/>
              <a:buChar char="•"/>
            </a:pPr>
            <a:r>
              <a:rPr sz="1400" dirty="0">
                <a:solidFill>
                  <a:srgbClr val="000000"/>
                </a:solidFill>
              </a:rPr>
              <a:t>콩: P1 </a:t>
            </a:r>
            <a:r>
              <a:rPr sz="1400" dirty="0" err="1">
                <a:solidFill>
                  <a:srgbClr val="000000"/>
                </a:solidFill>
              </a:rPr>
              <a:t>침수구</a:t>
            </a:r>
            <a:r>
              <a:rPr sz="1400" dirty="0">
                <a:solidFill>
                  <a:srgbClr val="000000"/>
                </a:solidFill>
              </a:rPr>
              <a:t>, P2 </a:t>
            </a:r>
            <a:r>
              <a:rPr sz="1400" dirty="0" err="1">
                <a:solidFill>
                  <a:srgbClr val="000000"/>
                </a:solidFill>
              </a:rPr>
              <a:t>건조·침수·복합구가</a:t>
            </a:r>
            <a:r>
              <a:rPr sz="1400" dirty="0">
                <a:solidFill>
                  <a:srgbClr val="000000"/>
                </a:solidFill>
              </a:rPr>
              <a:t> </a:t>
            </a:r>
            <a:r>
              <a:rPr sz="1400" dirty="0" err="1">
                <a:solidFill>
                  <a:srgbClr val="000000"/>
                </a:solidFill>
              </a:rPr>
              <a:t>대조구보다</a:t>
            </a:r>
            <a:r>
              <a:rPr sz="1400" dirty="0">
                <a:solidFill>
                  <a:srgbClr val="000000"/>
                </a:solidFill>
              </a:rPr>
              <a:t> </a:t>
            </a:r>
            <a:r>
              <a:rPr sz="1400" dirty="0" err="1">
                <a:solidFill>
                  <a:srgbClr val="000000"/>
                </a:solidFill>
              </a:rPr>
              <a:t>높음</a:t>
            </a:r>
            <a:endParaRPr sz="1400" dirty="0">
              <a:solidFill>
                <a:srgbClr val="000000"/>
              </a:solidFill>
            </a:endParaRPr>
          </a:p>
          <a:p>
            <a:pPr marL="201168" indent="-201168">
              <a:spcBef>
                <a:spcPts val="700"/>
              </a:spcBef>
              <a:buFont typeface="Arial"/>
              <a:buChar char="•"/>
            </a:pPr>
            <a:r>
              <a:rPr lang="ko-KR" altLang="en-US" sz="1400" dirty="0">
                <a:solidFill>
                  <a:srgbClr val="000000"/>
                </a:solidFill>
              </a:rPr>
              <a:t>상추</a:t>
            </a:r>
            <a:r>
              <a:rPr sz="1400" dirty="0">
                <a:solidFill>
                  <a:srgbClr val="000000"/>
                </a:solidFill>
              </a:rPr>
              <a:t>: </a:t>
            </a:r>
            <a:r>
              <a:rPr sz="1400" dirty="0" err="1">
                <a:solidFill>
                  <a:srgbClr val="000000"/>
                </a:solidFill>
              </a:rPr>
              <a:t>처리</a:t>
            </a:r>
            <a:r>
              <a:rPr sz="1400" dirty="0">
                <a:solidFill>
                  <a:srgbClr val="000000"/>
                </a:solidFill>
              </a:rPr>
              <a:t> 간 </a:t>
            </a:r>
            <a:r>
              <a:rPr sz="1400" dirty="0" err="1">
                <a:solidFill>
                  <a:srgbClr val="000000"/>
                </a:solidFill>
              </a:rPr>
              <a:t>차이</a:t>
            </a:r>
            <a:r>
              <a:rPr sz="1400" dirty="0">
                <a:solidFill>
                  <a:srgbClr val="000000"/>
                </a:solidFill>
              </a:rPr>
              <a:t> </a:t>
            </a:r>
            <a:r>
              <a:rPr sz="1400" dirty="0" err="1">
                <a:solidFill>
                  <a:srgbClr val="000000"/>
                </a:solidFill>
              </a:rPr>
              <a:t>없음</a:t>
            </a:r>
            <a:endParaRPr sz="1400" dirty="0">
              <a:solidFill>
                <a:srgbClr val="000000"/>
              </a:solidFill>
            </a:endParaRPr>
          </a:p>
        </p:txBody>
      </p:sp>
      <p:sp>
        <p:nvSpPr>
          <p:cNvPr id="12"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F</a:t>
            </a:r>
            <a:r>
              <a:rPr sz="1600" baseline="-25000">
                <a:solidFill>
                  <a:srgbClr val="E97132"/>
                </a:solidFill>
              </a:rPr>
              <a:t>s</a:t>
            </a:r>
            <a:r>
              <a:rPr sz="1600">
                <a:solidFill>
                  <a:srgbClr val="E97132"/>
                </a:solidFill>
              </a:rPr>
              <a:t> 절대값 차이는 형광 신호 크기 변화를 포함 — 생리 해석은 비율 지표(Φ</a:t>
            </a:r>
            <a:r>
              <a:rPr sz="1600" baseline="-25000">
                <a:solidFill>
                  <a:srgbClr val="E97132"/>
                </a:solidFill>
              </a:rPr>
              <a:t>PSII</a:t>
            </a:r>
            <a:r>
              <a:rPr sz="1600">
                <a:solidFill>
                  <a:srgbClr val="E97132"/>
                </a:solidFill>
              </a:rPr>
              <a:t>)로</a:t>
            </a:r>
          </a:p>
        </p:txBody>
      </p:sp>
      <p:sp>
        <p:nvSpPr>
          <p:cNvPr id="13"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표: 측정일·선형 PAR(Q</a:t>
            </a:r>
            <a:r>
              <a:rPr sz="1000" baseline="-25000">
                <a:solidFill>
                  <a:srgbClr val="595959"/>
                </a:solidFill>
              </a:rPr>
              <a:t>amb</a:t>
            </a:r>
            <a:r>
              <a:rPr sz="1000">
                <a:solidFill>
                  <a:srgbClr val="595959"/>
                </a:solidFill>
              </a:rPr>
              <a:t>)·기온(T</a:t>
            </a:r>
            <a:r>
              <a:rPr sz="1000" baseline="-25000">
                <a:solidFill>
                  <a:srgbClr val="595959"/>
                </a:solidFill>
              </a:rPr>
              <a:t>air</a:t>
            </a:r>
            <a:r>
              <a:rPr sz="1000">
                <a:solidFill>
                  <a:srgbClr val="595959"/>
                </a:solidFill>
              </a:rPr>
              <a:t>) 보정 평균, Tukey 문자. 그림(보정 일평균): 음영 ± SE, 점선 P1/P2 경계, 회색 띠 흐린 날, * 당일 P&lt;0.05(Holm), X 처리 전.</a:t>
            </a:r>
          </a:p>
        </p:txBody>
      </p:sp>
      <p:sp>
        <p:nvSpPr>
          <p:cNvPr id="15"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7"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18"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9"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20" name="Nav 부록"/>
          <p:cNvSpPr txBox="1"/>
          <p:nvPr/>
        </p:nvSpPr>
        <p:spPr>
          <a:xfrm>
            <a:off x="7699248" y="100584"/>
            <a:ext cx="1371600" cy="329184"/>
          </a:xfrm>
          <a:prstGeom prst="rect">
            <a:avLst/>
          </a:prstGeom>
          <a:noFill/>
        </p:spPr>
        <p:txBody>
          <a:bodyPr wrap="none" lIns="0" tIns="0" rIns="0" bIns="0" anchor="ctr">
            <a:spAutoFit/>
          </a:bodyPr>
          <a:lstStyle/>
          <a:p>
            <a:pPr algn="ctr"/>
            <a:r>
              <a:rPr sz="1450" b="1" u="sng">
                <a:solidFill>
                  <a:srgbClr val="1A1A1A"/>
                </a:solidFill>
              </a:rPr>
              <a:t>부록</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LI-600 : 전자전달속도 (ETR)</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23</a:t>
            </a:fld>
            <a:endParaRPr lang="ko-KR" altLang="en-US"/>
          </a:p>
        </p:txBody>
      </p:sp>
      <p:pic>
        <p:nvPicPr>
          <p:cNvPr id="14" name="Picture 13" descr="image.png"/>
          <p:cNvPicPr>
            <a:picLocks noChangeAspect="1"/>
          </p:cNvPicPr>
          <p:nvPr/>
        </p:nvPicPr>
        <p:blipFill>
          <a:blip r:embed="rId4"/>
          <a:stretch>
            <a:fillRect/>
          </a:stretch>
        </p:blipFill>
        <p:spPr>
          <a:xfrm>
            <a:off x="721559" y="1188720"/>
            <a:ext cx="6375000" cy="2550000"/>
          </a:xfrm>
          <a:prstGeom prst="rect">
            <a:avLst/>
          </a:prstGeom>
        </p:spPr>
      </p:pic>
      <p:graphicFrame>
        <p:nvGraphicFramePr>
          <p:cNvPr id="8" name="Table 7"/>
          <p:cNvGraphicFramePr>
            <a:graphicFrameLocks noGrp="1"/>
          </p:cNvGraphicFramePr>
          <p:nvPr>
            <p:extLst>
              <p:ext uri="{D42A27DB-BD31-4B8C-83A1-F6EECF244321}">
                <p14:modId xmlns:p14="http://schemas.microsoft.com/office/powerpoint/2010/main" val="4152298316"/>
              </p:ext>
            </p:extLst>
          </p:nvPr>
        </p:nvGraphicFramePr>
        <p:xfrm>
          <a:off x="457200" y="3790000"/>
          <a:ext cx="6858000" cy="950000"/>
        </p:xfrm>
        <a:graphic>
          <a:graphicData uri="http://schemas.openxmlformats.org/drawingml/2006/table">
            <a:tbl>
              <a:tblPr>
                <a:tableStyleId>{2D5ABB26-0587-4C30-8999-92F81FD0307C}</a:tableStyleId>
              </a:tblPr>
              <a:tblGrid>
                <a:gridCol w="17373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190000">
                <a:tc>
                  <a:txBody>
                    <a:bodyPr/>
                    <a:lstStyle/>
                    <a:p>
                      <a:pPr algn="l">
                        <a:lnSpc>
                          <a:spcPct val="100000"/>
                        </a:lnSpc>
                        <a:spcBef>
                          <a:spcPts val="0"/>
                        </a:spcBef>
                        <a:spcAft>
                          <a:spcPts val="0"/>
                        </a:spcAft>
                      </a:pPr>
                      <a:r>
                        <a:rPr sz="800" b="1" dirty="0">
                          <a:solidFill>
                            <a:srgbClr val="000000"/>
                          </a:solidFill>
                        </a:rPr>
                        <a:t>Treatment</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Soybean</a:t>
                      </a:r>
                      <a:r>
                        <a:rPr sz="800" b="1" dirty="0">
                          <a:solidFill>
                            <a:srgbClr val="000000"/>
                          </a:solidFill>
                        </a:rPr>
                        <a:t> P1</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Soybean</a:t>
                      </a:r>
                      <a:r>
                        <a:rPr sz="800" b="1" dirty="0">
                          <a:solidFill>
                            <a:srgbClr val="000000"/>
                          </a:solidFill>
                        </a:rPr>
                        <a:t> P2</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Romaine P1</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Romaine P2</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190000">
                <a:tc>
                  <a:txBody>
                    <a:bodyPr/>
                    <a:lstStyle/>
                    <a:p>
                      <a:pPr algn="l">
                        <a:lnSpc>
                          <a:spcPct val="100000"/>
                        </a:lnSpc>
                        <a:spcBef>
                          <a:spcPts val="0"/>
                        </a:spcBef>
                        <a:spcAft>
                          <a:spcPts val="0"/>
                        </a:spcAft>
                      </a:pPr>
                      <a:r>
                        <a:rPr sz="800" b="0">
                          <a:solidFill>
                            <a:srgbClr val="000000"/>
                          </a:solidFill>
                        </a:rPr>
                        <a:t>Control</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119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190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141.7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75.6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190000">
                <a:tc>
                  <a:txBody>
                    <a:bodyPr/>
                    <a:lstStyle/>
                    <a:p>
                      <a:pPr algn="l">
                        <a:lnSpc>
                          <a:spcPct val="100000"/>
                        </a:lnSpc>
                        <a:spcBef>
                          <a:spcPts val="0"/>
                        </a:spcBef>
                        <a:spcAft>
                          <a:spcPts val="0"/>
                        </a:spcAft>
                      </a:pPr>
                      <a:r>
                        <a:rPr sz="800" b="0">
                          <a:solidFill>
                            <a:srgbClr val="000000"/>
                          </a:solidFill>
                        </a:rPr>
                        <a:t>Drought</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146 c</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137.8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78.3 a</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190000">
                <a:tc>
                  <a:txBody>
                    <a:bodyPr/>
                    <a:lstStyle/>
                    <a:p>
                      <a:pPr algn="l">
                        <a:lnSpc>
                          <a:spcPct val="100000"/>
                        </a:lnSpc>
                        <a:spcBef>
                          <a:spcPts val="0"/>
                        </a:spcBef>
                        <a:spcAft>
                          <a:spcPts val="0"/>
                        </a:spcAft>
                      </a:pPr>
                      <a:r>
                        <a:rPr lang="en-US" sz="800" b="0" dirty="0">
                          <a:solidFill>
                            <a:srgbClr val="000000"/>
                          </a:solidFill>
                        </a:rPr>
                        <a:t>Waterlogging</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110 b</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180 ab</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132.7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72.7 a</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190000">
                <a:tc>
                  <a:txBody>
                    <a:bodyPr/>
                    <a:lstStyle/>
                    <a:p>
                      <a:pPr algn="l">
                        <a:lnSpc>
                          <a:spcPct val="100000"/>
                        </a:lnSpc>
                        <a:spcBef>
                          <a:spcPts val="0"/>
                        </a:spcBef>
                        <a:spcAft>
                          <a:spcPts val="0"/>
                        </a:spcAft>
                      </a:pPr>
                      <a:r>
                        <a:rPr lang="en-US" sz="800" b="0" dirty="0">
                          <a:solidFill>
                            <a:srgbClr val="000000"/>
                          </a:solidFill>
                        </a:rPr>
                        <a:t>Combined</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165 bc</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130.1 a</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80.4 a</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4"/>
                  </a:ext>
                </a:extLst>
              </a:tr>
            </a:tbl>
          </a:graphicData>
        </a:graphic>
      </p:graphicFrame>
      <p:sp>
        <p:nvSpPr>
          <p:cNvPr id="9" name="Card 요점"/>
          <p:cNvSpPr/>
          <p:nvPr/>
        </p:nvSpPr>
        <p:spPr>
          <a:xfrm>
            <a:off x="7498079" y="1399032"/>
            <a:ext cx="4206240" cy="4133087"/>
          </a:xfrm>
          <a:prstGeom prst="roundRect">
            <a:avLst>
              <a:gd name="adj" fmla="val 3400"/>
            </a:avLst>
          </a:prstGeom>
          <a:solidFill>
            <a:srgbClr val="FBFBFB"/>
          </a:solidFill>
          <a:ln w="12700">
            <a:solidFill>
              <a:srgbClr val="AFAF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Header 요점"/>
          <p:cNvSpPr/>
          <p:nvPr/>
        </p:nvSpPr>
        <p:spPr>
          <a:xfrm>
            <a:off x="7680959" y="1188720"/>
            <a:ext cx="3840479" cy="420624"/>
          </a:xfrm>
          <a:prstGeom prst="roundRect">
            <a:avLst>
              <a:gd name="adj" fmla="val 25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lIns="73152" tIns="27432" rIns="73152" bIns="27432" rtlCol="0" anchor="ctr"/>
          <a:lstStyle/>
          <a:p>
            <a:pPr algn="ctr"/>
            <a:r>
              <a:rPr sz="1600" b="1">
                <a:solidFill>
                  <a:srgbClr val="FFFFFF"/>
                </a:solidFill>
              </a:rPr>
              <a:t>요점</a:t>
            </a:r>
          </a:p>
        </p:txBody>
      </p:sp>
      <p:sp>
        <p:nvSpPr>
          <p:cNvPr id="11" name="TextBox 10"/>
          <p:cNvSpPr txBox="1"/>
          <p:nvPr/>
        </p:nvSpPr>
        <p:spPr>
          <a:xfrm>
            <a:off x="7680959" y="1783080"/>
            <a:ext cx="3886200" cy="828432"/>
          </a:xfrm>
          <a:prstGeom prst="rect">
            <a:avLst/>
          </a:prstGeom>
          <a:noFill/>
        </p:spPr>
        <p:txBody>
          <a:bodyPr wrap="square">
            <a:spAutoFit/>
          </a:bodyPr>
          <a:lstStyle/>
          <a:p>
            <a:pPr marL="201168" indent="-201168">
              <a:spcBef>
                <a:spcPts val="0"/>
              </a:spcBef>
              <a:buFont typeface="Arial"/>
              <a:buChar char="•"/>
            </a:pPr>
            <a:r>
              <a:rPr sz="1400" dirty="0">
                <a:solidFill>
                  <a:srgbClr val="000000"/>
                </a:solidFill>
              </a:rPr>
              <a:t>콩: </a:t>
            </a:r>
            <a:r>
              <a:rPr sz="1400" dirty="0" err="1">
                <a:solidFill>
                  <a:srgbClr val="000000"/>
                </a:solidFill>
              </a:rPr>
              <a:t>대조구가</a:t>
            </a:r>
            <a:r>
              <a:rPr sz="1400" dirty="0">
                <a:solidFill>
                  <a:srgbClr val="000000"/>
                </a:solidFill>
              </a:rPr>
              <a:t> </a:t>
            </a:r>
            <a:r>
              <a:rPr sz="1400" dirty="0" err="1">
                <a:solidFill>
                  <a:srgbClr val="000000"/>
                </a:solidFill>
              </a:rPr>
              <a:t>높고</a:t>
            </a:r>
            <a:r>
              <a:rPr sz="1400" dirty="0">
                <a:solidFill>
                  <a:srgbClr val="000000"/>
                </a:solidFill>
              </a:rPr>
              <a:t> </a:t>
            </a:r>
            <a:r>
              <a:rPr sz="1400" dirty="0" err="1">
                <a:solidFill>
                  <a:srgbClr val="000000"/>
                </a:solidFill>
              </a:rPr>
              <a:t>건조구가</a:t>
            </a:r>
            <a:r>
              <a:rPr sz="1400" dirty="0">
                <a:solidFill>
                  <a:srgbClr val="000000"/>
                </a:solidFill>
              </a:rPr>
              <a:t> </a:t>
            </a:r>
            <a:r>
              <a:rPr sz="1400" dirty="0" err="1">
                <a:solidFill>
                  <a:srgbClr val="000000"/>
                </a:solidFill>
              </a:rPr>
              <a:t>가장</a:t>
            </a:r>
            <a:r>
              <a:rPr sz="1400" dirty="0">
                <a:solidFill>
                  <a:srgbClr val="000000"/>
                </a:solidFill>
              </a:rPr>
              <a:t> </a:t>
            </a:r>
            <a:r>
              <a:rPr sz="1400" dirty="0" err="1">
                <a:solidFill>
                  <a:srgbClr val="000000"/>
                </a:solidFill>
              </a:rPr>
              <a:t>낮음</a:t>
            </a:r>
            <a:endParaRPr sz="1400" dirty="0">
              <a:solidFill>
                <a:srgbClr val="000000"/>
              </a:solidFill>
            </a:endParaRPr>
          </a:p>
          <a:p>
            <a:pPr marL="201168" indent="-201168">
              <a:spcBef>
                <a:spcPts val="700"/>
              </a:spcBef>
              <a:buFont typeface="Arial"/>
              <a:buChar char="•"/>
            </a:pPr>
            <a:r>
              <a:rPr lang="ko-KR" altLang="en-US" sz="1400" dirty="0">
                <a:solidFill>
                  <a:srgbClr val="000000"/>
                </a:solidFill>
              </a:rPr>
              <a:t>상추</a:t>
            </a:r>
            <a:r>
              <a:rPr sz="1400" dirty="0">
                <a:solidFill>
                  <a:srgbClr val="000000"/>
                </a:solidFill>
              </a:rPr>
              <a:t>: P1 </a:t>
            </a:r>
            <a:r>
              <a:rPr sz="1400" dirty="0" err="1">
                <a:solidFill>
                  <a:srgbClr val="000000"/>
                </a:solidFill>
              </a:rPr>
              <a:t>대조구가</a:t>
            </a:r>
            <a:r>
              <a:rPr sz="1400" dirty="0">
                <a:solidFill>
                  <a:srgbClr val="000000"/>
                </a:solidFill>
              </a:rPr>
              <a:t> </a:t>
            </a:r>
            <a:r>
              <a:rPr sz="1400" dirty="0" err="1">
                <a:solidFill>
                  <a:srgbClr val="000000"/>
                </a:solidFill>
              </a:rPr>
              <a:t>높은</a:t>
            </a:r>
            <a:r>
              <a:rPr sz="1400" dirty="0">
                <a:solidFill>
                  <a:srgbClr val="000000"/>
                </a:solidFill>
              </a:rPr>
              <a:t> </a:t>
            </a:r>
            <a:r>
              <a:rPr sz="1400" dirty="0" err="1">
                <a:solidFill>
                  <a:srgbClr val="000000"/>
                </a:solidFill>
              </a:rPr>
              <a:t>경향</a:t>
            </a:r>
            <a:r>
              <a:rPr sz="1400" dirty="0">
                <a:solidFill>
                  <a:srgbClr val="000000"/>
                </a:solidFill>
              </a:rPr>
              <a:t>, P2 </a:t>
            </a:r>
            <a:r>
              <a:rPr sz="1400" dirty="0" err="1">
                <a:solidFill>
                  <a:srgbClr val="000000"/>
                </a:solidFill>
              </a:rPr>
              <a:t>처리</a:t>
            </a:r>
            <a:r>
              <a:rPr sz="1400" dirty="0">
                <a:solidFill>
                  <a:srgbClr val="000000"/>
                </a:solidFill>
              </a:rPr>
              <a:t> 간 </a:t>
            </a:r>
            <a:r>
              <a:rPr sz="1400" dirty="0" err="1">
                <a:solidFill>
                  <a:srgbClr val="000000"/>
                </a:solidFill>
              </a:rPr>
              <a:t>차이</a:t>
            </a:r>
            <a:r>
              <a:rPr sz="1400" dirty="0">
                <a:solidFill>
                  <a:srgbClr val="000000"/>
                </a:solidFill>
              </a:rPr>
              <a:t> </a:t>
            </a:r>
            <a:r>
              <a:rPr sz="1400" dirty="0" err="1">
                <a:solidFill>
                  <a:srgbClr val="000000"/>
                </a:solidFill>
              </a:rPr>
              <a:t>없음</a:t>
            </a:r>
            <a:endParaRPr sz="1400" dirty="0">
              <a:solidFill>
                <a:srgbClr val="000000"/>
              </a:solidFill>
            </a:endParaRPr>
          </a:p>
        </p:txBody>
      </p:sp>
      <p:sp>
        <p:nvSpPr>
          <p:cNvPr id="12"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ETR은 광도에 비례 — 콩 P2 처리 차이는 Φ</a:t>
            </a:r>
            <a:r>
              <a:rPr sz="1600" baseline="-25000">
                <a:solidFill>
                  <a:srgbClr val="E97132"/>
                </a:solidFill>
              </a:rPr>
              <a:t>PSII</a:t>
            </a:r>
            <a:r>
              <a:rPr sz="1600">
                <a:solidFill>
                  <a:srgbClr val="E97132"/>
                </a:solidFill>
              </a:rPr>
              <a:t>와 같이 고광도에서 커짐</a:t>
            </a:r>
          </a:p>
        </p:txBody>
      </p:sp>
      <p:sp>
        <p:nvSpPr>
          <p:cNvPr id="13"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표: 측정일·선형 PAR(Q</a:t>
            </a:r>
            <a:r>
              <a:rPr sz="1000" baseline="-25000">
                <a:solidFill>
                  <a:srgbClr val="595959"/>
                </a:solidFill>
              </a:rPr>
              <a:t>amb</a:t>
            </a:r>
            <a:r>
              <a:rPr sz="1000">
                <a:solidFill>
                  <a:srgbClr val="595959"/>
                </a:solidFill>
              </a:rPr>
              <a:t>)·기온(T</a:t>
            </a:r>
            <a:r>
              <a:rPr sz="1000" baseline="-25000">
                <a:solidFill>
                  <a:srgbClr val="595959"/>
                </a:solidFill>
              </a:rPr>
              <a:t>air</a:t>
            </a:r>
            <a:r>
              <a:rPr sz="1000">
                <a:solidFill>
                  <a:srgbClr val="595959"/>
                </a:solidFill>
              </a:rPr>
              <a:t>) 보정 평균, Tukey 문자.</a:t>
            </a:r>
          </a:p>
        </p:txBody>
      </p:sp>
      <p:sp>
        <p:nvSpPr>
          <p:cNvPr id="15"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7"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18"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9"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20" name="Nav 부록"/>
          <p:cNvSpPr txBox="1"/>
          <p:nvPr/>
        </p:nvSpPr>
        <p:spPr>
          <a:xfrm>
            <a:off x="7699248" y="100584"/>
            <a:ext cx="1371600" cy="329184"/>
          </a:xfrm>
          <a:prstGeom prst="rect">
            <a:avLst/>
          </a:prstGeom>
          <a:noFill/>
        </p:spPr>
        <p:txBody>
          <a:bodyPr wrap="none" lIns="0" tIns="0" rIns="0" bIns="0" anchor="ctr">
            <a:spAutoFit/>
          </a:bodyPr>
          <a:lstStyle/>
          <a:p>
            <a:pPr algn="ctr"/>
            <a:r>
              <a:rPr sz="1450" b="1" u="sng">
                <a:solidFill>
                  <a:srgbClr val="1A1A1A"/>
                </a:solidFill>
              </a:rPr>
              <a:t>부록</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A5. 측정 당시 일사 조건: 흐린 날 표시</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24</a:t>
            </a:fld>
            <a:endParaRPr lang="ko-KR" altLang="en-US"/>
          </a:p>
        </p:txBody>
      </p:sp>
      <p:sp>
        <p:nvSpPr>
          <p:cNvPr id="7" name="Rounded Rectangle 6"/>
          <p:cNvSpPr/>
          <p:nvPr/>
        </p:nvSpPr>
        <p:spPr>
          <a:xfrm>
            <a:off x="457200" y="1188720"/>
            <a:ext cx="5394960" cy="274320"/>
          </a:xfrm>
          <a:prstGeom prst="roundRect">
            <a:avLst>
              <a:gd name="adj" fmla="val 20000"/>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300" b="1">
                <a:solidFill>
                  <a:srgbClr val="FFFFFF"/>
                </a:solidFill>
              </a:rPr>
              <a:t>콩</a:t>
            </a:r>
          </a:p>
        </p:txBody>
      </p:sp>
      <p:graphicFrame>
        <p:nvGraphicFramePr>
          <p:cNvPr id="8" name="Table 7"/>
          <p:cNvGraphicFramePr>
            <a:graphicFrameLocks noGrp="1"/>
          </p:cNvGraphicFramePr>
          <p:nvPr/>
        </p:nvGraphicFramePr>
        <p:xfrm>
          <a:off x="457200" y="1508760"/>
          <a:ext cx="5394960" cy="3634740"/>
        </p:xfrm>
        <a:graphic>
          <a:graphicData uri="http://schemas.openxmlformats.org/drawingml/2006/table">
            <a:tbl>
              <a:tblPr>
                <a:tableStyleId>{2D5ABB26-0587-4C30-8999-92F81FD0307C}</a:tableStyleId>
              </a:tblPr>
              <a:tblGrid>
                <a:gridCol w="7315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242316">
                <a:tc>
                  <a:txBody>
                    <a:bodyPr/>
                    <a:lstStyle/>
                    <a:p>
                      <a:pPr algn="l">
                        <a:lnSpc>
                          <a:spcPct val="100000"/>
                        </a:lnSpc>
                        <a:spcBef>
                          <a:spcPts val="0"/>
                        </a:spcBef>
                        <a:spcAft>
                          <a:spcPts val="0"/>
                        </a:spcAft>
                      </a:pPr>
                      <a:r>
                        <a:rPr sz="950" b="1">
                          <a:solidFill>
                            <a:srgbClr val="000000"/>
                          </a:solidFill>
                        </a:rPr>
                        <a:t>Date</a:t>
                      </a:r>
                      <a:endParaRPr sz="9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950" b="1">
                          <a:solidFill>
                            <a:srgbClr val="000000"/>
                          </a:solidFill>
                        </a:rPr>
                        <a:t>Time</a:t>
                      </a:r>
                      <a:endParaRPr sz="9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950" b="1">
                          <a:solidFill>
                            <a:srgbClr val="000000"/>
                          </a:solidFill>
                        </a:rPr>
                        <a:t>SW (W·m</a:t>
                      </a:r>
                      <a:r>
                        <a:rPr sz="950" b="1" baseline="30000">
                          <a:solidFill>
                            <a:srgbClr val="000000"/>
                          </a:solidFill>
                        </a:rPr>
                        <a:t>−2</a:t>
                      </a:r>
                      <a:r>
                        <a:rPr sz="950" b="1">
                          <a:solidFill>
                            <a:srgbClr val="000000"/>
                          </a:solidFill>
                        </a:rPr>
                        <a:t>)</a:t>
                      </a:r>
                      <a:endParaRPr sz="9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950" b="1">
                          <a:solidFill>
                            <a:srgbClr val="000000"/>
                          </a:solidFill>
                        </a:rPr>
                        <a:t>CI</a:t>
                      </a:r>
                      <a:endParaRPr sz="9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950" b="1">
                          <a:solidFill>
                            <a:srgbClr val="000000"/>
                          </a:solidFill>
                        </a:rPr>
                        <a:t>Use</a:t>
                      </a:r>
                      <a:endParaRPr sz="9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242316">
                <a:tc>
                  <a:txBody>
                    <a:bodyPr/>
                    <a:lstStyle/>
                    <a:p>
                      <a:pPr algn="l">
                        <a:lnSpc>
                          <a:spcPct val="100000"/>
                        </a:lnSpc>
                        <a:spcBef>
                          <a:spcPts val="0"/>
                        </a:spcBef>
                        <a:spcAft>
                          <a:spcPts val="0"/>
                        </a:spcAft>
                      </a:pPr>
                      <a:r>
                        <a:rPr sz="950" b="0">
                          <a:solidFill>
                            <a:srgbClr val="000000"/>
                          </a:solidFill>
                        </a:rPr>
                        <a:t>08/13</a:t>
                      </a:r>
                      <a:endParaRPr sz="95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950" b="0">
                          <a:solidFill>
                            <a:srgbClr val="000000"/>
                          </a:solidFill>
                        </a:rPr>
                        <a:t>10:31–11:01</a:t>
                      </a:r>
                      <a:endParaRPr sz="95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950" b="0">
                          <a:solidFill>
                            <a:srgbClr val="000000"/>
                          </a:solidFill>
                        </a:rPr>
                        <a:t>348</a:t>
                      </a:r>
                      <a:endParaRPr sz="95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950" b="0">
                          <a:solidFill>
                            <a:srgbClr val="000000"/>
                          </a:solidFill>
                        </a:rPr>
                        <a:t>0.61</a:t>
                      </a:r>
                      <a:endParaRPr sz="95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242316">
                <a:tc>
                  <a:txBody>
                    <a:bodyPr/>
                    <a:lstStyle/>
                    <a:p>
                      <a:pPr algn="l">
                        <a:lnSpc>
                          <a:spcPct val="100000"/>
                        </a:lnSpc>
                        <a:spcBef>
                          <a:spcPts val="0"/>
                        </a:spcBef>
                        <a:spcAft>
                          <a:spcPts val="0"/>
                        </a:spcAft>
                      </a:pPr>
                      <a:r>
                        <a:rPr sz="950" b="0">
                          <a:solidFill>
                            <a:srgbClr val="000000"/>
                          </a:solidFill>
                        </a:rPr>
                        <a:t>08/14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10:19–10:36</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312</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0.66</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242316">
                <a:tc>
                  <a:txBody>
                    <a:bodyPr/>
                    <a:lstStyle/>
                    <a:p>
                      <a:pPr algn="l">
                        <a:lnSpc>
                          <a:spcPct val="100000"/>
                        </a:lnSpc>
                        <a:spcBef>
                          <a:spcPts val="0"/>
                        </a:spcBef>
                        <a:spcAft>
                          <a:spcPts val="0"/>
                        </a:spcAft>
                      </a:pPr>
                      <a:r>
                        <a:rPr sz="950" b="0">
                          <a:solidFill>
                            <a:srgbClr val="000000"/>
                          </a:solidFill>
                        </a:rPr>
                        <a:t>08/15</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08:31–08:40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138</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0.54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242316">
                <a:tc>
                  <a:txBody>
                    <a:bodyPr/>
                    <a:lstStyle/>
                    <a:p>
                      <a:pPr algn="l">
                        <a:lnSpc>
                          <a:spcPct val="100000"/>
                        </a:lnSpc>
                        <a:spcBef>
                          <a:spcPts val="0"/>
                        </a:spcBef>
                        <a:spcAft>
                          <a:spcPts val="0"/>
                        </a:spcAft>
                      </a:pPr>
                      <a:r>
                        <a:rPr sz="950" b="0">
                          <a:solidFill>
                            <a:srgbClr val="000000"/>
                          </a:solidFill>
                        </a:rPr>
                        <a:t>08/16</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08:43–08:57</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51</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0.20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 (흐림)</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4"/>
                  </a:ext>
                </a:extLst>
              </a:tr>
              <a:tr h="242316">
                <a:tc>
                  <a:txBody>
                    <a:bodyPr/>
                    <a:lstStyle/>
                    <a:p>
                      <a:pPr algn="l">
                        <a:lnSpc>
                          <a:spcPct val="100000"/>
                        </a:lnSpc>
                        <a:spcBef>
                          <a:spcPts val="0"/>
                        </a:spcBef>
                        <a:spcAft>
                          <a:spcPts val="0"/>
                        </a:spcAft>
                      </a:pPr>
                      <a:r>
                        <a:rPr sz="950" b="0">
                          <a:solidFill>
                            <a:srgbClr val="000000"/>
                          </a:solidFill>
                        </a:rPr>
                        <a:t>08/17</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08:37–08:51</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178</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0.69</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5"/>
                  </a:ext>
                </a:extLst>
              </a:tr>
              <a:tr h="242316">
                <a:tc>
                  <a:txBody>
                    <a:bodyPr/>
                    <a:lstStyle/>
                    <a:p>
                      <a:pPr algn="l">
                        <a:lnSpc>
                          <a:spcPct val="100000"/>
                        </a:lnSpc>
                        <a:spcBef>
                          <a:spcPts val="0"/>
                        </a:spcBef>
                        <a:spcAft>
                          <a:spcPts val="0"/>
                        </a:spcAft>
                      </a:pPr>
                      <a:r>
                        <a:rPr sz="950" b="0">
                          <a:solidFill>
                            <a:srgbClr val="000000"/>
                          </a:solidFill>
                        </a:rPr>
                        <a:t>08/18</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08:54–09:05</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243</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0.93</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6"/>
                  </a:ext>
                </a:extLst>
              </a:tr>
              <a:tr h="242316">
                <a:tc>
                  <a:txBody>
                    <a:bodyPr/>
                    <a:lstStyle/>
                    <a:p>
                      <a:pPr algn="l">
                        <a:lnSpc>
                          <a:spcPct val="100000"/>
                        </a:lnSpc>
                        <a:spcBef>
                          <a:spcPts val="0"/>
                        </a:spcBef>
                        <a:spcAft>
                          <a:spcPts val="0"/>
                        </a:spcAft>
                      </a:pPr>
                      <a:r>
                        <a:rPr sz="950" b="0">
                          <a:solidFill>
                            <a:srgbClr val="000000"/>
                          </a:solidFill>
                        </a:rPr>
                        <a:t>08/19</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09:42–10:01</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104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0.35</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 (흐림)</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7"/>
                  </a:ext>
                </a:extLst>
              </a:tr>
              <a:tr h="242316">
                <a:tc>
                  <a:txBody>
                    <a:bodyPr/>
                    <a:lstStyle/>
                    <a:p>
                      <a:pPr algn="l">
                        <a:lnSpc>
                          <a:spcPct val="100000"/>
                        </a:lnSpc>
                        <a:spcBef>
                          <a:spcPts val="0"/>
                        </a:spcBef>
                        <a:spcAft>
                          <a:spcPts val="0"/>
                        </a:spcAft>
                      </a:pPr>
                      <a:r>
                        <a:rPr sz="950" b="0">
                          <a:solidFill>
                            <a:srgbClr val="000000"/>
                          </a:solidFill>
                        </a:rPr>
                        <a:t>08/20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09:32–09:45</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162</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0.60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8"/>
                  </a:ext>
                </a:extLst>
              </a:tr>
              <a:tr h="242316">
                <a:tc>
                  <a:txBody>
                    <a:bodyPr/>
                    <a:lstStyle/>
                    <a:p>
                      <a:pPr algn="l">
                        <a:lnSpc>
                          <a:spcPct val="100000"/>
                        </a:lnSpc>
                        <a:spcBef>
                          <a:spcPts val="0"/>
                        </a:spcBef>
                        <a:spcAft>
                          <a:spcPts val="0"/>
                        </a:spcAft>
                      </a:pPr>
                      <a:r>
                        <a:rPr sz="950" b="0">
                          <a:solidFill>
                            <a:srgbClr val="000000"/>
                          </a:solidFill>
                        </a:rPr>
                        <a:t>08/21</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08:18–08:25</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52</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0.18</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 (흐림)</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9"/>
                  </a:ext>
                </a:extLst>
              </a:tr>
              <a:tr h="242316">
                <a:tc>
                  <a:txBody>
                    <a:bodyPr/>
                    <a:lstStyle/>
                    <a:p>
                      <a:pPr algn="l">
                        <a:lnSpc>
                          <a:spcPct val="100000"/>
                        </a:lnSpc>
                        <a:spcBef>
                          <a:spcPts val="0"/>
                        </a:spcBef>
                        <a:spcAft>
                          <a:spcPts val="0"/>
                        </a:spcAft>
                      </a:pPr>
                      <a:r>
                        <a:rPr sz="950" b="0">
                          <a:solidFill>
                            <a:srgbClr val="000000"/>
                          </a:solidFill>
                        </a:rPr>
                        <a:t>08/29</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11:39–12:32</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76</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0.12</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 (흐림)</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0"/>
                  </a:ext>
                </a:extLst>
              </a:tr>
              <a:tr h="242316">
                <a:tc>
                  <a:txBody>
                    <a:bodyPr/>
                    <a:lstStyle/>
                    <a:p>
                      <a:pPr algn="l">
                        <a:lnSpc>
                          <a:spcPct val="100000"/>
                        </a:lnSpc>
                        <a:spcBef>
                          <a:spcPts val="0"/>
                        </a:spcBef>
                        <a:spcAft>
                          <a:spcPts val="0"/>
                        </a:spcAft>
                      </a:pPr>
                      <a:r>
                        <a:rPr sz="950" b="0">
                          <a:solidFill>
                            <a:srgbClr val="000000"/>
                          </a:solidFill>
                        </a:rPr>
                        <a:t>09/04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10:25–11:02</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330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1"/>
                  </a:ext>
                </a:extLst>
              </a:tr>
              <a:tr h="242316">
                <a:tc>
                  <a:txBody>
                    <a:bodyPr/>
                    <a:lstStyle/>
                    <a:p>
                      <a:pPr algn="l">
                        <a:lnSpc>
                          <a:spcPct val="100000"/>
                        </a:lnSpc>
                        <a:spcBef>
                          <a:spcPts val="0"/>
                        </a:spcBef>
                        <a:spcAft>
                          <a:spcPts val="0"/>
                        </a:spcAft>
                      </a:pPr>
                      <a:r>
                        <a:rPr sz="950" b="0">
                          <a:solidFill>
                            <a:srgbClr val="000000"/>
                          </a:solidFill>
                        </a:rPr>
                        <a:t>09/11</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10:16–10:43</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340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1.04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2"/>
                  </a:ext>
                </a:extLst>
              </a:tr>
              <a:tr h="242316">
                <a:tc>
                  <a:txBody>
                    <a:bodyPr/>
                    <a:lstStyle/>
                    <a:p>
                      <a:pPr algn="l">
                        <a:lnSpc>
                          <a:spcPct val="100000"/>
                        </a:lnSpc>
                        <a:spcBef>
                          <a:spcPts val="0"/>
                        </a:spcBef>
                        <a:spcAft>
                          <a:spcPts val="0"/>
                        </a:spcAft>
                      </a:pPr>
                      <a:r>
                        <a:rPr sz="950" b="0">
                          <a:solidFill>
                            <a:srgbClr val="000000"/>
                          </a:solidFill>
                        </a:rPr>
                        <a:t>09/25</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09:19–09:59</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129</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0.34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 (흐림)</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3"/>
                  </a:ext>
                </a:extLst>
              </a:tr>
              <a:tr h="242316">
                <a:tc>
                  <a:txBody>
                    <a:bodyPr/>
                    <a:lstStyle/>
                    <a:p>
                      <a:pPr algn="l">
                        <a:lnSpc>
                          <a:spcPct val="100000"/>
                        </a:lnSpc>
                        <a:spcBef>
                          <a:spcPts val="0"/>
                        </a:spcBef>
                        <a:spcAft>
                          <a:spcPts val="0"/>
                        </a:spcAft>
                      </a:pPr>
                      <a:r>
                        <a:rPr sz="950" b="0">
                          <a:solidFill>
                            <a:srgbClr val="000000"/>
                          </a:solidFill>
                        </a:rPr>
                        <a:t>10/02</a:t>
                      </a:r>
                      <a:endParaRPr sz="95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950" b="0">
                          <a:solidFill>
                            <a:srgbClr val="000000"/>
                          </a:solidFill>
                        </a:rPr>
                        <a:t>10:25–11:06</a:t>
                      </a:r>
                      <a:endParaRPr sz="95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950" b="0">
                          <a:solidFill>
                            <a:srgbClr val="000000"/>
                          </a:solidFill>
                        </a:rPr>
                        <a:t>338</a:t>
                      </a:r>
                      <a:endParaRPr sz="95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950" b="0">
                          <a:solidFill>
                            <a:srgbClr val="000000"/>
                          </a:solidFill>
                        </a:rPr>
                        <a:t>0.92</a:t>
                      </a:r>
                      <a:endParaRPr sz="95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14"/>
                  </a:ext>
                </a:extLst>
              </a:tr>
            </a:tbl>
          </a:graphicData>
        </a:graphic>
      </p:graphicFrame>
      <p:sp>
        <p:nvSpPr>
          <p:cNvPr id="9" name="Rounded Rectangle 8"/>
          <p:cNvSpPr/>
          <p:nvPr/>
        </p:nvSpPr>
        <p:spPr>
          <a:xfrm>
            <a:off x="6309360" y="1188720"/>
            <a:ext cx="5394960" cy="274320"/>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lang="ko-KR" altLang="en-US" sz="1300" b="1" dirty="0">
                <a:solidFill>
                  <a:srgbClr val="FFFFFF"/>
                </a:solidFill>
              </a:rPr>
              <a:t>상추</a:t>
            </a:r>
            <a:r>
              <a:rPr sz="1300" b="1" dirty="0">
                <a:solidFill>
                  <a:srgbClr val="FFFFFF"/>
                </a:solidFill>
              </a:rPr>
              <a:t> </a:t>
            </a:r>
            <a:r>
              <a:rPr sz="1300" b="1" dirty="0" err="1">
                <a:solidFill>
                  <a:srgbClr val="FFFFFF"/>
                </a:solidFill>
              </a:rPr>
              <a:t>상추</a:t>
            </a:r>
            <a:endParaRPr sz="1300" b="1" dirty="0">
              <a:solidFill>
                <a:srgbClr val="FFFFFF"/>
              </a:solidFill>
            </a:endParaRPr>
          </a:p>
        </p:txBody>
      </p:sp>
      <p:graphicFrame>
        <p:nvGraphicFramePr>
          <p:cNvPr id="10" name="Table 9"/>
          <p:cNvGraphicFramePr>
            <a:graphicFrameLocks noGrp="1"/>
          </p:cNvGraphicFramePr>
          <p:nvPr/>
        </p:nvGraphicFramePr>
        <p:xfrm>
          <a:off x="6309360" y="1508760"/>
          <a:ext cx="5394960" cy="3634740"/>
        </p:xfrm>
        <a:graphic>
          <a:graphicData uri="http://schemas.openxmlformats.org/drawingml/2006/table">
            <a:tbl>
              <a:tblPr>
                <a:tableStyleId>{2D5ABB26-0587-4C30-8999-92F81FD0307C}</a:tableStyleId>
              </a:tblPr>
              <a:tblGrid>
                <a:gridCol w="7315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242316">
                <a:tc>
                  <a:txBody>
                    <a:bodyPr/>
                    <a:lstStyle/>
                    <a:p>
                      <a:pPr algn="l">
                        <a:lnSpc>
                          <a:spcPct val="100000"/>
                        </a:lnSpc>
                        <a:spcBef>
                          <a:spcPts val="0"/>
                        </a:spcBef>
                        <a:spcAft>
                          <a:spcPts val="0"/>
                        </a:spcAft>
                      </a:pPr>
                      <a:r>
                        <a:rPr sz="950" b="1">
                          <a:solidFill>
                            <a:srgbClr val="000000"/>
                          </a:solidFill>
                        </a:rPr>
                        <a:t>Date</a:t>
                      </a:r>
                      <a:endParaRPr sz="9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950" b="1">
                          <a:solidFill>
                            <a:srgbClr val="000000"/>
                          </a:solidFill>
                        </a:rPr>
                        <a:t>Time</a:t>
                      </a:r>
                      <a:endParaRPr sz="9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950" b="1">
                          <a:solidFill>
                            <a:srgbClr val="000000"/>
                          </a:solidFill>
                        </a:rPr>
                        <a:t>SW (W·m</a:t>
                      </a:r>
                      <a:r>
                        <a:rPr sz="950" b="1" baseline="30000">
                          <a:solidFill>
                            <a:srgbClr val="000000"/>
                          </a:solidFill>
                        </a:rPr>
                        <a:t>−2</a:t>
                      </a:r>
                      <a:r>
                        <a:rPr sz="950" b="1">
                          <a:solidFill>
                            <a:srgbClr val="000000"/>
                          </a:solidFill>
                        </a:rPr>
                        <a:t>)</a:t>
                      </a:r>
                      <a:endParaRPr sz="9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950" b="1">
                          <a:solidFill>
                            <a:srgbClr val="000000"/>
                          </a:solidFill>
                        </a:rPr>
                        <a:t>CI</a:t>
                      </a:r>
                      <a:endParaRPr sz="9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950" b="1">
                          <a:solidFill>
                            <a:srgbClr val="000000"/>
                          </a:solidFill>
                        </a:rPr>
                        <a:t>Use</a:t>
                      </a:r>
                      <a:endParaRPr sz="9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242316">
                <a:tc>
                  <a:txBody>
                    <a:bodyPr/>
                    <a:lstStyle/>
                    <a:p>
                      <a:pPr algn="l">
                        <a:lnSpc>
                          <a:spcPct val="100000"/>
                        </a:lnSpc>
                        <a:spcBef>
                          <a:spcPts val="0"/>
                        </a:spcBef>
                        <a:spcAft>
                          <a:spcPts val="0"/>
                        </a:spcAft>
                      </a:pPr>
                      <a:r>
                        <a:rPr sz="950" b="0">
                          <a:solidFill>
                            <a:srgbClr val="000000"/>
                          </a:solidFill>
                        </a:rPr>
                        <a:t>10/06</a:t>
                      </a:r>
                      <a:endParaRPr sz="95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950" b="0">
                          <a:solidFill>
                            <a:srgbClr val="000000"/>
                          </a:solidFill>
                        </a:rPr>
                        <a:t>10:20–10:22</a:t>
                      </a:r>
                      <a:endParaRPr sz="95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950" b="0">
                          <a:solidFill>
                            <a:srgbClr val="000000"/>
                          </a:solidFill>
                        </a:rPr>
                        <a:t>214</a:t>
                      </a:r>
                      <a:endParaRPr sz="95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950" b="0">
                          <a:solidFill>
                            <a:srgbClr val="000000"/>
                          </a:solidFill>
                        </a:rPr>
                        <a:t>0.50</a:t>
                      </a:r>
                      <a:endParaRPr sz="95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950" b="0">
                          <a:solidFill>
                            <a:srgbClr val="000000"/>
                          </a:solidFill>
                        </a:rPr>
                        <a:t>사용 (흐림)</a:t>
                      </a:r>
                      <a:endParaRPr sz="950"/>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242316">
                <a:tc>
                  <a:txBody>
                    <a:bodyPr/>
                    <a:lstStyle/>
                    <a:p>
                      <a:pPr algn="l">
                        <a:lnSpc>
                          <a:spcPct val="100000"/>
                        </a:lnSpc>
                        <a:spcBef>
                          <a:spcPts val="0"/>
                        </a:spcBef>
                        <a:spcAft>
                          <a:spcPts val="0"/>
                        </a:spcAft>
                      </a:pPr>
                      <a:r>
                        <a:rPr sz="950" b="0">
                          <a:solidFill>
                            <a:srgbClr val="000000"/>
                          </a:solidFill>
                        </a:rPr>
                        <a:t>10/08</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09:29–09:36</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133</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0.42</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 (흐림)</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242316">
                <a:tc>
                  <a:txBody>
                    <a:bodyPr/>
                    <a:lstStyle/>
                    <a:p>
                      <a:pPr algn="l">
                        <a:lnSpc>
                          <a:spcPct val="100000"/>
                        </a:lnSpc>
                        <a:spcBef>
                          <a:spcPts val="0"/>
                        </a:spcBef>
                        <a:spcAft>
                          <a:spcPts val="0"/>
                        </a:spcAft>
                      </a:pPr>
                      <a:r>
                        <a:rPr sz="950" b="0">
                          <a:solidFill>
                            <a:srgbClr val="000000"/>
                          </a:solidFill>
                        </a:rPr>
                        <a:t>10/09</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10:53–10:59</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228</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0.45</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 (흐림)</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242316">
                <a:tc>
                  <a:txBody>
                    <a:bodyPr/>
                    <a:lstStyle/>
                    <a:p>
                      <a:pPr algn="l">
                        <a:lnSpc>
                          <a:spcPct val="100000"/>
                        </a:lnSpc>
                        <a:spcBef>
                          <a:spcPts val="0"/>
                        </a:spcBef>
                        <a:spcAft>
                          <a:spcPts val="0"/>
                        </a:spcAft>
                      </a:pPr>
                      <a:r>
                        <a:rPr sz="950" b="0">
                          <a:solidFill>
                            <a:srgbClr val="000000"/>
                          </a:solidFill>
                        </a:rPr>
                        <a:t>10/10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09:44–09:53</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354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0.96</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4"/>
                  </a:ext>
                </a:extLst>
              </a:tr>
              <a:tr h="242316">
                <a:tc>
                  <a:txBody>
                    <a:bodyPr/>
                    <a:lstStyle/>
                    <a:p>
                      <a:pPr algn="l">
                        <a:lnSpc>
                          <a:spcPct val="100000"/>
                        </a:lnSpc>
                        <a:spcBef>
                          <a:spcPts val="0"/>
                        </a:spcBef>
                        <a:spcAft>
                          <a:spcPts val="0"/>
                        </a:spcAft>
                      </a:pPr>
                      <a:r>
                        <a:rPr sz="950" b="0">
                          <a:solidFill>
                            <a:srgbClr val="000000"/>
                          </a:solidFill>
                        </a:rPr>
                        <a:t>10/11</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11:17–11:28</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366</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0.74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5"/>
                  </a:ext>
                </a:extLst>
              </a:tr>
              <a:tr h="242316">
                <a:tc>
                  <a:txBody>
                    <a:bodyPr/>
                    <a:lstStyle/>
                    <a:p>
                      <a:pPr algn="l">
                        <a:lnSpc>
                          <a:spcPct val="100000"/>
                        </a:lnSpc>
                        <a:spcBef>
                          <a:spcPts val="0"/>
                        </a:spcBef>
                        <a:spcAft>
                          <a:spcPts val="0"/>
                        </a:spcAft>
                      </a:pPr>
                      <a:r>
                        <a:rPr sz="950" b="0">
                          <a:solidFill>
                            <a:srgbClr val="000000"/>
                          </a:solidFill>
                        </a:rPr>
                        <a:t>10/12</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10:36–10:57</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484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0.97</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6"/>
                  </a:ext>
                </a:extLst>
              </a:tr>
              <a:tr h="242316">
                <a:tc>
                  <a:txBody>
                    <a:bodyPr/>
                    <a:lstStyle/>
                    <a:p>
                      <a:pPr algn="l">
                        <a:lnSpc>
                          <a:spcPct val="100000"/>
                        </a:lnSpc>
                        <a:spcBef>
                          <a:spcPts val="0"/>
                        </a:spcBef>
                        <a:spcAft>
                          <a:spcPts val="0"/>
                        </a:spcAft>
                      </a:pPr>
                      <a:r>
                        <a:rPr sz="950" b="0">
                          <a:solidFill>
                            <a:srgbClr val="000000"/>
                          </a:solidFill>
                        </a:rPr>
                        <a:t>10/13</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09:33–10:06</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0.04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 (흐림)</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7"/>
                  </a:ext>
                </a:extLst>
              </a:tr>
              <a:tr h="242316">
                <a:tc>
                  <a:txBody>
                    <a:bodyPr/>
                    <a:lstStyle/>
                    <a:p>
                      <a:pPr algn="l">
                        <a:lnSpc>
                          <a:spcPct val="100000"/>
                        </a:lnSpc>
                        <a:spcBef>
                          <a:spcPts val="0"/>
                        </a:spcBef>
                        <a:spcAft>
                          <a:spcPts val="0"/>
                        </a:spcAft>
                      </a:pPr>
                      <a:r>
                        <a:rPr sz="950" b="0">
                          <a:solidFill>
                            <a:srgbClr val="000000"/>
                          </a:solidFill>
                        </a:rPr>
                        <a:t>10/14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09:28–09:53</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378</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1.10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8"/>
                  </a:ext>
                </a:extLst>
              </a:tr>
              <a:tr h="242316">
                <a:tc>
                  <a:txBody>
                    <a:bodyPr/>
                    <a:lstStyle/>
                    <a:p>
                      <a:pPr algn="l">
                        <a:lnSpc>
                          <a:spcPct val="100000"/>
                        </a:lnSpc>
                        <a:spcBef>
                          <a:spcPts val="0"/>
                        </a:spcBef>
                        <a:spcAft>
                          <a:spcPts val="0"/>
                        </a:spcAft>
                      </a:pPr>
                      <a:r>
                        <a:rPr sz="950" b="0">
                          <a:solidFill>
                            <a:srgbClr val="000000"/>
                          </a:solidFill>
                        </a:rPr>
                        <a:t>10/15</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09:31–09:51</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342</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0.98</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9"/>
                  </a:ext>
                </a:extLst>
              </a:tr>
              <a:tr h="242316">
                <a:tc>
                  <a:txBody>
                    <a:bodyPr/>
                    <a:lstStyle/>
                    <a:p>
                      <a:pPr algn="l">
                        <a:lnSpc>
                          <a:spcPct val="100000"/>
                        </a:lnSpc>
                        <a:spcBef>
                          <a:spcPts val="0"/>
                        </a:spcBef>
                        <a:spcAft>
                          <a:spcPts val="0"/>
                        </a:spcAft>
                      </a:pPr>
                      <a:r>
                        <a:rPr sz="950" b="0">
                          <a:solidFill>
                            <a:srgbClr val="000000"/>
                          </a:solidFill>
                        </a:rPr>
                        <a:t>10/16</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09:40–09:56</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334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0"/>
                  </a:ext>
                </a:extLst>
              </a:tr>
              <a:tr h="242316">
                <a:tc>
                  <a:txBody>
                    <a:bodyPr/>
                    <a:lstStyle/>
                    <a:p>
                      <a:pPr algn="l">
                        <a:lnSpc>
                          <a:spcPct val="100000"/>
                        </a:lnSpc>
                        <a:spcBef>
                          <a:spcPts val="0"/>
                        </a:spcBef>
                        <a:spcAft>
                          <a:spcPts val="0"/>
                        </a:spcAft>
                      </a:pPr>
                      <a:r>
                        <a:rPr sz="950" b="0">
                          <a:solidFill>
                            <a:srgbClr val="000000"/>
                          </a:solidFill>
                        </a:rPr>
                        <a:t>10/17</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08:59–09:33</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260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0.97</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1"/>
                  </a:ext>
                </a:extLst>
              </a:tr>
              <a:tr h="242316">
                <a:tc>
                  <a:txBody>
                    <a:bodyPr/>
                    <a:lstStyle/>
                    <a:p>
                      <a:pPr algn="l">
                        <a:lnSpc>
                          <a:spcPct val="100000"/>
                        </a:lnSpc>
                        <a:spcBef>
                          <a:spcPts val="0"/>
                        </a:spcBef>
                        <a:spcAft>
                          <a:spcPts val="0"/>
                        </a:spcAft>
                      </a:pPr>
                      <a:r>
                        <a:rPr sz="950" b="0">
                          <a:solidFill>
                            <a:srgbClr val="000000"/>
                          </a:solidFill>
                        </a:rPr>
                        <a:t>10/19</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08:28–09:27</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134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0.60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2"/>
                  </a:ext>
                </a:extLst>
              </a:tr>
              <a:tr h="242316">
                <a:tc>
                  <a:txBody>
                    <a:bodyPr/>
                    <a:lstStyle/>
                    <a:p>
                      <a:pPr algn="l">
                        <a:lnSpc>
                          <a:spcPct val="100000"/>
                        </a:lnSpc>
                        <a:spcBef>
                          <a:spcPts val="0"/>
                        </a:spcBef>
                        <a:spcAft>
                          <a:spcPts val="0"/>
                        </a:spcAft>
                      </a:pPr>
                      <a:r>
                        <a:rPr sz="950" b="0">
                          <a:solidFill>
                            <a:srgbClr val="000000"/>
                          </a:solidFill>
                        </a:rPr>
                        <a:t>10/21</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09:47–10:04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21</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0.05</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 (흐림)</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3"/>
                  </a:ext>
                </a:extLst>
              </a:tr>
              <a:tr h="242316">
                <a:tc>
                  <a:txBody>
                    <a:bodyPr/>
                    <a:lstStyle/>
                    <a:p>
                      <a:pPr algn="l">
                        <a:lnSpc>
                          <a:spcPct val="100000"/>
                        </a:lnSpc>
                        <a:spcBef>
                          <a:spcPts val="0"/>
                        </a:spcBef>
                        <a:spcAft>
                          <a:spcPts val="0"/>
                        </a:spcAft>
                      </a:pPr>
                      <a:r>
                        <a:rPr sz="950" b="0">
                          <a:solidFill>
                            <a:srgbClr val="000000"/>
                          </a:solidFill>
                        </a:rPr>
                        <a:t>10/23</a:t>
                      </a:r>
                      <a:endParaRPr sz="95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950" b="0">
                          <a:solidFill>
                            <a:srgbClr val="000000"/>
                          </a:solidFill>
                        </a:rPr>
                        <a:t>09:33–09:55</a:t>
                      </a:r>
                      <a:endParaRPr sz="95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950" b="0">
                          <a:solidFill>
                            <a:srgbClr val="000000"/>
                          </a:solidFill>
                        </a:rPr>
                        <a:t>340</a:t>
                      </a:r>
                      <a:endParaRPr sz="95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950" b="0">
                          <a:solidFill>
                            <a:srgbClr val="000000"/>
                          </a:solidFill>
                        </a:rPr>
                        <a:t>0.95</a:t>
                      </a:r>
                      <a:endParaRPr sz="95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14"/>
                  </a:ext>
                </a:extLst>
              </a:tr>
            </a:tbl>
          </a:graphicData>
        </a:graphic>
      </p:graphicFrame>
      <p:sp>
        <p:nvSpPr>
          <p:cNvPr id="11" name="Conclusion Box"/>
          <p:cNvSpPr/>
          <p:nvPr/>
        </p:nvSpPr>
        <p:spPr>
          <a:xfrm>
            <a:off x="841248" y="5715000"/>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모든 측정일을 포함하고 측정일·선형 PAR·기온으로 보정 — CI &lt; 0.5인 날은 회색 띠로 표시</a:t>
            </a:r>
          </a:p>
        </p:txBody>
      </p:sp>
      <p:sp>
        <p:nvSpPr>
          <p:cNvPr id="12" name="Footnote"/>
          <p:cNvSpPr txBox="1"/>
          <p:nvPr/>
        </p:nvSpPr>
        <p:spPr>
          <a:xfrm>
            <a:off x="457200" y="6355080"/>
            <a:ext cx="8138160" cy="310896"/>
          </a:xfrm>
          <a:prstGeom prst="rect">
            <a:avLst/>
          </a:prstGeom>
          <a:noFill/>
        </p:spPr>
        <p:txBody>
          <a:bodyPr wrap="square" lIns="45720" tIns="0" rIns="45720" bIns="0" anchor="t">
            <a:spAutoFit/>
          </a:bodyPr>
          <a:lstStyle/>
          <a:p>
            <a:r>
              <a:rPr sz="1000" dirty="0">
                <a:solidFill>
                  <a:srgbClr val="595959"/>
                </a:solidFill>
              </a:rPr>
              <a:t>CI = </a:t>
            </a:r>
            <a:r>
              <a:rPr sz="1000" dirty="0" err="1">
                <a:solidFill>
                  <a:srgbClr val="595959"/>
                </a:solidFill>
              </a:rPr>
              <a:t>측정</a:t>
            </a:r>
            <a:r>
              <a:rPr sz="1000" dirty="0">
                <a:solidFill>
                  <a:srgbClr val="595959"/>
                </a:solidFill>
              </a:rPr>
              <a:t> </a:t>
            </a:r>
            <a:r>
              <a:rPr sz="1000" dirty="0" err="1">
                <a:solidFill>
                  <a:srgbClr val="595959"/>
                </a:solidFill>
              </a:rPr>
              <a:t>구간</a:t>
            </a:r>
            <a:r>
              <a:rPr sz="1000" dirty="0">
                <a:solidFill>
                  <a:srgbClr val="595959"/>
                </a:solidFill>
              </a:rPr>
              <a:t> </a:t>
            </a:r>
            <a:r>
              <a:rPr sz="1000" dirty="0" err="1">
                <a:solidFill>
                  <a:srgbClr val="595959"/>
                </a:solidFill>
              </a:rPr>
              <a:t>평균</a:t>
            </a:r>
            <a:r>
              <a:rPr sz="1000" dirty="0">
                <a:solidFill>
                  <a:srgbClr val="595959"/>
                </a:solidFill>
              </a:rPr>
              <a:t> SW / </a:t>
            </a:r>
            <a:r>
              <a:rPr sz="1000" dirty="0" err="1">
                <a:solidFill>
                  <a:srgbClr val="595959"/>
                </a:solidFill>
              </a:rPr>
              <a:t>같은</a:t>
            </a:r>
            <a:r>
              <a:rPr sz="1000" dirty="0">
                <a:solidFill>
                  <a:srgbClr val="595959"/>
                </a:solidFill>
              </a:rPr>
              <a:t> </a:t>
            </a:r>
            <a:r>
              <a:rPr sz="1000" dirty="0" err="1">
                <a:solidFill>
                  <a:srgbClr val="595959"/>
                </a:solidFill>
              </a:rPr>
              <a:t>시각대</a:t>
            </a:r>
            <a:r>
              <a:rPr sz="1000" dirty="0">
                <a:solidFill>
                  <a:srgbClr val="595959"/>
                </a:solidFill>
              </a:rPr>
              <a:t> ±10일 90분위수 SW(</a:t>
            </a:r>
            <a:r>
              <a:rPr sz="1000" dirty="0" err="1">
                <a:solidFill>
                  <a:srgbClr val="595959"/>
                </a:solidFill>
              </a:rPr>
              <a:t>맑은</a:t>
            </a:r>
            <a:r>
              <a:rPr sz="1000" dirty="0">
                <a:solidFill>
                  <a:srgbClr val="595959"/>
                </a:solidFill>
              </a:rPr>
              <a:t> 날 </a:t>
            </a:r>
            <a:r>
              <a:rPr sz="1000" dirty="0" err="1">
                <a:solidFill>
                  <a:srgbClr val="595959"/>
                </a:solidFill>
              </a:rPr>
              <a:t>기준</a:t>
            </a:r>
            <a:r>
              <a:rPr sz="1000" dirty="0">
                <a:solidFill>
                  <a:srgbClr val="595959"/>
                </a:solidFill>
              </a:rPr>
              <a:t>). </a:t>
            </a:r>
            <a:r>
              <a:rPr sz="1000" dirty="0" err="1">
                <a:solidFill>
                  <a:srgbClr val="595959"/>
                </a:solidFill>
              </a:rPr>
              <a:t>날짜별</a:t>
            </a:r>
            <a:r>
              <a:rPr sz="1000" dirty="0">
                <a:solidFill>
                  <a:srgbClr val="595959"/>
                </a:solidFill>
              </a:rPr>
              <a:t> </a:t>
            </a:r>
            <a:r>
              <a:rPr sz="1000" dirty="0" err="1">
                <a:solidFill>
                  <a:srgbClr val="595959"/>
                </a:solidFill>
              </a:rPr>
              <a:t>예외</a:t>
            </a:r>
            <a:r>
              <a:rPr sz="1000" dirty="0">
                <a:solidFill>
                  <a:srgbClr val="595959"/>
                </a:solidFill>
              </a:rPr>
              <a:t> </a:t>
            </a:r>
            <a:r>
              <a:rPr sz="1000" dirty="0" err="1">
                <a:solidFill>
                  <a:srgbClr val="595959"/>
                </a:solidFill>
              </a:rPr>
              <a:t>없이</a:t>
            </a:r>
            <a:r>
              <a:rPr sz="1000" dirty="0">
                <a:solidFill>
                  <a:srgbClr val="595959"/>
                </a:solidFill>
              </a:rPr>
              <a:t> 한 </a:t>
            </a:r>
            <a:r>
              <a:rPr sz="1000" dirty="0" err="1">
                <a:solidFill>
                  <a:srgbClr val="595959"/>
                </a:solidFill>
              </a:rPr>
              <a:t>규칙으로</a:t>
            </a:r>
            <a:r>
              <a:rPr sz="1000" dirty="0">
                <a:solidFill>
                  <a:srgbClr val="595959"/>
                </a:solidFill>
              </a:rPr>
              <a:t> </a:t>
            </a:r>
            <a:r>
              <a:rPr sz="1000" dirty="0" err="1">
                <a:solidFill>
                  <a:srgbClr val="595959"/>
                </a:solidFill>
              </a:rPr>
              <a:t>통일</a:t>
            </a:r>
            <a:r>
              <a:rPr sz="1000" dirty="0">
                <a:solidFill>
                  <a:srgbClr val="595959"/>
                </a:solidFill>
              </a:rPr>
              <a:t>. </a:t>
            </a:r>
            <a:r>
              <a:rPr lang="ko-KR" altLang="en-US" sz="1000" dirty="0">
                <a:solidFill>
                  <a:srgbClr val="595959"/>
                </a:solidFill>
              </a:rPr>
              <a:t>상추</a:t>
            </a:r>
            <a:r>
              <a:rPr sz="1000" dirty="0">
                <a:solidFill>
                  <a:srgbClr val="595959"/>
                </a:solidFill>
              </a:rPr>
              <a:t> 10/13은 SW </a:t>
            </a:r>
            <a:r>
              <a:rPr sz="1000" dirty="0" err="1">
                <a:solidFill>
                  <a:srgbClr val="595959"/>
                </a:solidFill>
              </a:rPr>
              <a:t>자료가</a:t>
            </a:r>
            <a:r>
              <a:rPr sz="1000" dirty="0">
                <a:solidFill>
                  <a:srgbClr val="595959"/>
                </a:solidFill>
              </a:rPr>
              <a:t> 4분뿐(</a:t>
            </a:r>
            <a:r>
              <a:rPr sz="1000" dirty="0" err="1">
                <a:solidFill>
                  <a:srgbClr val="595959"/>
                </a:solidFill>
              </a:rPr>
              <a:t>결측</a:t>
            </a:r>
            <a:r>
              <a:rPr sz="1000" dirty="0">
                <a:solidFill>
                  <a:srgbClr val="595959"/>
                </a:solidFill>
              </a:rPr>
              <a:t>).</a:t>
            </a:r>
          </a:p>
        </p:txBody>
      </p:sp>
      <p:sp>
        <p:nvSpPr>
          <p:cNvPr id="13"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4"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5"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16"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7"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18" name="Nav 부록"/>
          <p:cNvSpPr txBox="1"/>
          <p:nvPr/>
        </p:nvSpPr>
        <p:spPr>
          <a:xfrm>
            <a:off x="7699248" y="100584"/>
            <a:ext cx="1371600" cy="329184"/>
          </a:xfrm>
          <a:prstGeom prst="rect">
            <a:avLst/>
          </a:prstGeom>
          <a:noFill/>
        </p:spPr>
        <p:txBody>
          <a:bodyPr wrap="none" lIns="0" tIns="0" rIns="0" bIns="0" anchor="ctr">
            <a:spAutoFit/>
          </a:bodyPr>
          <a:lstStyle/>
          <a:p>
            <a:pPr algn="ctr"/>
            <a:r>
              <a:rPr sz="1450" b="1" u="sng">
                <a:solidFill>
                  <a:srgbClr val="1A1A1A"/>
                </a:solidFill>
              </a:rPr>
              <a:t>부록</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A6. 참고문헌</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25</a:t>
            </a:fld>
            <a:endParaRPr lang="ko-KR" altLang="en-US"/>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b="0">
                <a:solidFill>
                  <a:srgbClr val="595959"/>
                </a:solidFill>
              </a:rPr>
              <a:t>질의응답용 보충 자료.</a:t>
            </a:r>
          </a:p>
        </p:txBody>
      </p:sp>
      <p:sp>
        <p:nvSpPr>
          <p:cNvPr id="27" name="Appendix list"/>
          <p:cNvSpPr txBox="1"/>
          <p:nvPr/>
        </p:nvSpPr>
        <p:spPr>
          <a:xfrm>
            <a:off x="1280160" y="1463040"/>
            <a:ext cx="9601200" cy="4114800"/>
          </a:xfrm>
          <a:prstGeom prst="rect">
            <a:avLst/>
          </a:prstGeom>
          <a:noFill/>
          <a:ln>
            <a:noFill/>
          </a:ln>
        </p:spPr>
        <p:txBody>
          <a:bodyPr wrap="square" lIns="18288" tIns="18288" rIns="18288" bIns="18288" rtlCol="0" anchor="t">
            <a:noAutofit/>
          </a:bodyPr>
          <a:lstStyle/>
          <a:p>
            <a:pPr marL="0" indent="0" algn="l">
              <a:spcBef>
                <a:spcPts val="0"/>
              </a:spcBef>
              <a:buNone/>
            </a:pPr>
            <a:r>
              <a:rPr lang="ko-KR" altLang="en-US" sz="1600" dirty="0">
                <a:solidFill>
                  <a:srgbClr val="000000"/>
                </a:solidFill>
              </a:rPr>
              <a:t>Ali et al. (2025) J Exp Bot 76:4141.</a:t>
            </a:r>
          </a:p>
          <a:p>
            <a:pPr marL="0" indent="0" algn="l">
              <a:spcBef>
                <a:spcPts val="800"/>
              </a:spcBef>
              <a:buNone/>
            </a:pPr>
            <a:r>
              <a:rPr lang="ko-KR" altLang="en-US" sz="1600" dirty="0">
                <a:solidFill>
                  <a:srgbClr val="000000"/>
                </a:solidFill>
              </a:rPr>
              <a:t>Buckley TN (2019) New Phytol 224 (doi:10.1111/nph.15899).</a:t>
            </a:r>
          </a:p>
          <a:p>
            <a:pPr marL="0" indent="0" algn="l">
              <a:spcBef>
                <a:spcPts val="800"/>
              </a:spcBef>
              <a:buNone/>
            </a:pPr>
            <a:r>
              <a:rPr lang="ko-KR" altLang="en-US" sz="1600" dirty="0">
                <a:solidFill>
                  <a:srgbClr val="000000"/>
                </a:solidFill>
              </a:rPr>
              <a:t>Gao et al. (2024) J Exp Bot 75:4904.</a:t>
            </a:r>
          </a:p>
          <a:p>
            <a:pPr marL="0" indent="0" algn="l">
              <a:spcBef>
                <a:spcPts val="800"/>
              </a:spcBef>
              <a:buNone/>
            </a:pPr>
            <a:r>
              <a:rPr lang="ko-KR" altLang="en-US" sz="1600" dirty="0">
                <a:solidFill>
                  <a:srgbClr val="000000"/>
                </a:solidFill>
              </a:rPr>
              <a:t>Haverroth EJ et al. (2024) Plant Physiol 197(1):kiae336.</a:t>
            </a:r>
          </a:p>
          <a:p>
            <a:pPr marL="0" indent="0" algn="l">
              <a:spcBef>
                <a:spcPts val="800"/>
              </a:spcBef>
              <a:buNone/>
            </a:pPr>
            <a:r>
              <a:rPr lang="ko-KR" altLang="en-US" sz="1600" dirty="0">
                <a:solidFill>
                  <a:srgbClr val="000000"/>
                </a:solidFill>
              </a:rPr>
              <a:t>Hilker M et al. (2016) Biol Rev 91:1118–1133.</a:t>
            </a:r>
          </a:p>
          <a:p>
            <a:pPr marL="0" indent="0" algn="l">
              <a:spcBef>
                <a:spcPts val="800"/>
              </a:spcBef>
              <a:buNone/>
            </a:pPr>
            <a:r>
              <a:rPr lang="ko-KR" altLang="en-US" sz="1600" dirty="0">
                <a:solidFill>
                  <a:srgbClr val="000000"/>
                </a:solidFill>
              </a:rPr>
              <a:t>Körner C (2015) Curr Opin Plant Biol 25:107–114.</a:t>
            </a:r>
          </a:p>
          <a:p>
            <a:pPr marL="0" indent="0" algn="l">
              <a:spcBef>
                <a:spcPts val="800"/>
              </a:spcBef>
              <a:buNone/>
            </a:pPr>
            <a:r>
              <a:rPr lang="ko-KR" altLang="en-US" sz="1600" dirty="0">
                <a:solidFill>
                  <a:srgbClr val="000000"/>
                </a:solidFill>
              </a:rPr>
              <a:t>Rizzo KT, Bailey BN (2026) Plant Cell Environ 49:1412–1423.</a:t>
            </a:r>
          </a:p>
          <a:p>
            <a:pPr marL="0" indent="0" algn="l">
              <a:spcBef>
                <a:spcPts val="800"/>
              </a:spcBef>
              <a:buNone/>
            </a:pPr>
            <a:r>
              <a:rPr lang="ko-KR" altLang="en-US" sz="1600" dirty="0">
                <a:solidFill>
                  <a:srgbClr val="000000"/>
                </a:solidFill>
              </a:rPr>
              <a:t>Sasidharan R et al. (2018) Plant Physiol 176:1106–1117.</a:t>
            </a:r>
          </a:p>
          <a:p>
            <a:pPr marL="0" indent="0" algn="l">
              <a:spcBef>
                <a:spcPts val="800"/>
              </a:spcBef>
              <a:buNone/>
            </a:pPr>
            <a:r>
              <a:rPr lang="ko-KR" altLang="en-US" sz="1600" dirty="0">
                <a:solidFill>
                  <a:srgbClr val="000000"/>
                </a:solidFill>
              </a:rPr>
              <a:t>Swain DL et al. (2018) Nat Clim Change 8:427–433.</a:t>
            </a:r>
          </a:p>
          <a:p>
            <a:pPr marL="0" indent="0" algn="l">
              <a:spcBef>
                <a:spcPts val="800"/>
              </a:spcBef>
              <a:buNone/>
            </a:pPr>
            <a:r>
              <a:rPr lang="ko-KR" altLang="en-US" sz="1600" dirty="0">
                <a:solidFill>
                  <a:srgbClr val="000000"/>
                </a:solidFill>
              </a:rPr>
              <a:t>Tan X et al. (2018) J Plant Physiol 227:20–30.</a:t>
            </a:r>
          </a:p>
          <a:p>
            <a:pPr marL="0" indent="0" algn="l">
              <a:spcBef>
                <a:spcPts val="800"/>
              </a:spcBef>
              <a:buNone/>
            </a:pPr>
            <a:r>
              <a:rPr lang="ko-KR" altLang="en-US" sz="1600" dirty="0">
                <a:solidFill>
                  <a:srgbClr val="000000"/>
                </a:solidFill>
              </a:rPr>
              <a:t>Tardieu F, Simonneau T, Muller B (2018) Annu Rev Plant Biol 69.</a:t>
            </a:r>
          </a:p>
          <a:p>
            <a:pPr marL="0" indent="0" algn="l">
              <a:spcBef>
                <a:spcPts val="800"/>
              </a:spcBef>
              <a:buNone/>
            </a:pPr>
            <a:r>
              <a:rPr lang="ko-KR" altLang="en-US" sz="1600" dirty="0">
                <a:solidFill>
                  <a:srgbClr val="000000"/>
                </a:solidFill>
              </a:rPr>
              <a:t>Yeung E et al. (2018) PNAS 115:E6085–E6094.</a:t>
            </a:r>
          </a:p>
          <a:p>
            <a:pPr marL="0" indent="0" algn="l">
              <a:spcBef>
                <a:spcPts val="800"/>
              </a:spcBef>
              <a:buNone/>
            </a:pPr>
            <a:r>
              <a:rPr lang="ko-KR" altLang="en-US" sz="1600" dirty="0">
                <a:solidFill>
                  <a:srgbClr val="000000"/>
                </a:solidFill>
              </a:rPr>
              <a:t>Zandalinas SI, Mittler R (2022) New Phytol 234:1161–1167.</a:t>
            </a:r>
          </a:p>
        </p:txBody>
      </p:sp>
      <p:sp>
        <p:nvSpPr>
          <p:cNvPr id="28"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29"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30"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31"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32"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33" name="Nav 부록"/>
          <p:cNvSpPr txBox="1"/>
          <p:nvPr/>
        </p:nvSpPr>
        <p:spPr>
          <a:xfrm>
            <a:off x="7699248" y="100584"/>
            <a:ext cx="1371600" cy="329184"/>
          </a:xfrm>
          <a:prstGeom prst="rect">
            <a:avLst/>
          </a:prstGeom>
          <a:noFill/>
        </p:spPr>
        <p:txBody>
          <a:bodyPr wrap="none" lIns="0" tIns="0" rIns="0" bIns="0" anchor="ctr">
            <a:spAutoFit/>
          </a:bodyPr>
          <a:lstStyle/>
          <a:p>
            <a:pPr algn="ctr"/>
            <a:r>
              <a:rPr sz="1450" b="1" u="sng">
                <a:solidFill>
                  <a:srgbClr val="1A1A1A"/>
                </a:solidFill>
              </a:rPr>
              <a:t>부록</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847690B-9EC7-46B6-89C7-B4D0A48C43BA}">
  <we:reference id="wa200010001" version="1.0.0.1" store="en-US" storeType="OMEX"/>
  <we:alternateReferences>
    <we:reference id="wa200010001" version="1.0.0.1" store="en-US" storeType="OMEX"/>
  </we:alternateReferences>
  <we:properties>
    <we:property name="claude.fileId" value="&quot;4f520049-4b44-42da-a845-ab676c9aec6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19595</TotalTime>
  <Words>4881</Words>
  <Application>Microsoft Office PowerPoint</Application>
  <PresentationFormat>와이드스크린</PresentationFormat>
  <Paragraphs>872</Paragraphs>
  <Slides>25</Slides>
  <Notes>25</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25</vt:i4>
      </vt:variant>
    </vt:vector>
  </HeadingPairs>
  <TitlesOfParts>
    <vt:vector size="30" baseType="lpstr">
      <vt:lpstr>Malgun Gothic</vt:lpstr>
      <vt:lpstr>Malgun Gothic</vt:lpstr>
      <vt:lpstr>Arial</vt:lpstr>
      <vt:lpstr>Times New Roman</vt:lpstr>
      <vt:lpstr>Office 테마</vt:lpstr>
      <vt:lpstr>침수 및 건조 복합재해에 대한  생육 및 생리 반응 비교  Comparison of Growth and Physiological Responses of Soybean and Romaine Lettuce to Flooding, Drought, and Combined Stress</vt:lpstr>
      <vt:lpstr>연구 배경</vt:lpstr>
      <vt:lpstr>연구 목적</vt:lpstr>
      <vt:lpstr>공시 작물 및 수분 처리</vt:lpstr>
      <vt:lpstr>처리 일정과 측정 시기 (DAT 기준 정렬)</vt:lpstr>
      <vt:lpstr>측정 항목: 제한 단계별 지표</vt:lpstr>
      <vt:lpstr>기상 센서 : 기온, 일적산광량 (DLI)</vt:lpstr>
      <vt:lpstr>로드셀·포트 무게 : 누적 관수량</vt:lpstr>
      <vt:lpstr>LI-600 : 기공전도도 (gsw)</vt:lpstr>
      <vt:lpstr>LI-600 : 기공전도도 회복 (gsw, % of control)</vt:lpstr>
      <vt:lpstr>LI-600 : 광계 II 양자수율 (ΦPSII)</vt:lpstr>
      <vt:lpstr>LI-6800 : 광합성 능력 (Vcmax, Jmax, Rd, Amax, α)</vt:lpstr>
      <vt:lpstr>생육 조사 : 수량 및 지상부 생육</vt:lpstr>
      <vt:lpstr>종합 : 지표별 반응 (대조구 대비)</vt:lpstr>
      <vt:lpstr>콩 (기공 → 명반응 → 광합성 능력 → 수량)</vt:lpstr>
      <vt:lpstr>상추 (기공 → 명반응 → 광합성 능력 → 건물중)</vt:lpstr>
      <vt:lpstr>결론</vt:lpstr>
      <vt:lpstr>PowerPoint 프레젠테이션</vt:lpstr>
      <vt:lpstr>보충 자료</vt:lpstr>
      <vt:lpstr>LI-600 : PAR·기온 보정</vt:lpstr>
      <vt:lpstr>LI-6800 : 광-광합성 곡선 (A-Q)</vt:lpstr>
      <vt:lpstr>LI-600 : 정상 상태 형광 (Fs)</vt:lpstr>
      <vt:lpstr>LI-600 : 전자전달속도 (ETR)</vt:lpstr>
      <vt:lpstr>A5. 측정 당시 일사 조건: 흐린 날 표시</vt:lpstr>
      <vt:lpstr>A6. 참고문헌</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윤정민</dc:creator>
  <cp:lastModifiedBy>윤정민</cp:lastModifiedBy>
  <cp:revision>26</cp:revision>
  <dcterms:created xsi:type="dcterms:W3CDTF">2026-04-06T01:45:26Z</dcterms:created>
  <dcterms:modified xsi:type="dcterms:W3CDTF">2026-11-01T13:30:07Z</dcterms:modified>
</cp:coreProperties>
</file>