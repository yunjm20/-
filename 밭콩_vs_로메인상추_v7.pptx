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12" r:id="rId3"/>
    <p:sldId id="372" r:id="rId4"/>
    <p:sldId id="373" r:id="rId5"/>
    <p:sldId id="374" r:id="rId6"/>
    <p:sldId id="375" r:id="rId7"/>
    <p:sldId id="404" r:id="rId8"/>
    <p:sldId id="395" r:id="rId9"/>
    <p:sldId id="376" r:id="rId10"/>
    <p:sldId id="393" r:id="rId11"/>
    <p:sldId id="403" r:id="rId12"/>
    <p:sldId id="377" r:id="rId13"/>
    <p:sldId id="378" r:id="rId14"/>
    <p:sldId id="379" r:id="rId15"/>
    <p:sldId id="380" r:id="rId16"/>
    <p:sldId id="381" r:id="rId17"/>
    <p:sldId id="400" r:id="rId18"/>
    <p:sldId id="392" r:id="rId19"/>
    <p:sldId id="382" r:id="rId20"/>
    <p:sldId id="383" r:id="rId21"/>
    <p:sldId id="384" r:id="rId22"/>
    <p:sldId id="394" r:id="rId23"/>
    <p:sldId id="391" r:id="rId24"/>
    <p:sldId id="385" r:id="rId25"/>
    <p:sldId id="386" r:id="rId26"/>
    <p:sldId id="388" r:id="rId28"/>
    <p:sldId id="389" r:id="rId29"/>
    <p:sldId id="396" r:id="rId30"/>
    <p:sldId id="390" r:id="rId31"/>
    <p:sldId id="397" r:id="rId32"/>
    <p:sldId id="398" r:id="rId33"/>
    <p:sldId id="399" r:id="rId34"/>
    <p:sldId id="401" r:id="rId35"/>
    <p:sldId id="402" r:id="rId36"/>
    <p:sldId id="301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136331"/>
    <a:srgbClr val="1E3A8A"/>
    <a:srgbClr val="991B1B"/>
    <a:srgbClr val="8D711D"/>
    <a:srgbClr val="7A5B00"/>
    <a:srgbClr val="595959"/>
    <a:srgbClr val="CC2E27"/>
    <a:srgbClr val="FFF4CC"/>
    <a:srgbClr val="135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F9948B-81CF-445F-864E-46C76BE4EC44}" v="10" dt="2026-10-29T14:23:23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1273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정민" userId="6b15c765-da21-42d7-95fe-61eaef7495af" providerId="ADAL" clId="{5C7C66C6-67D0-439D-9B00-412197ADBF19}"/>
    <pc:docChg chg="undo custSel addSld delSld modSld sldOrd">
      <pc:chgData name="윤정민" userId="6b15c765-da21-42d7-95fe-61eaef7495af" providerId="ADAL" clId="{5C7C66C6-67D0-439D-9B00-412197ADBF19}" dt="2026-10-30T01:42:25.843" v="3035" actId="1036"/>
      <pc:docMkLst>
        <pc:docMk/>
      </pc:docMkLst>
      <pc:sldChg chg="modSp mod">
        <pc:chgData name="윤정민" userId="6b15c765-da21-42d7-95fe-61eaef7495af" providerId="ADAL" clId="{5C7C66C6-67D0-439D-9B00-412197ADBF19}" dt="2026-10-30T01:42:25.843" v="3035" actId="1036"/>
        <pc:sldMkLst>
          <pc:docMk/>
          <pc:sldMk cId="2396855445" sldId="256"/>
        </pc:sldMkLst>
        <pc:spChg chg="mod">
          <ac:chgData name="윤정민" userId="6b15c765-da21-42d7-95fe-61eaef7495af" providerId="ADAL" clId="{5C7C66C6-67D0-439D-9B00-412197ADBF19}" dt="2026-10-29T14:14:16.711" v="3024"/>
          <ac:spMkLst>
            <pc:docMk/>
            <pc:sldMk cId="2396855445" sldId="256"/>
            <ac:spMk id="2" creationId="{5E2CE28E-68F2-8698-8327-B6D337810C4C}"/>
          </ac:spMkLst>
        </pc:spChg>
        <pc:spChg chg="mod">
          <ac:chgData name="윤정민" userId="6b15c765-da21-42d7-95fe-61eaef7495af" providerId="ADAL" clId="{5C7C66C6-67D0-439D-9B00-412197ADBF19}" dt="2026-10-29T14:23:52.937" v="3031" actId="20577"/>
          <ac:spMkLst>
            <pc:docMk/>
            <pc:sldMk cId="2396855445" sldId="256"/>
            <ac:spMk id="3" creationId="{1CE9F5BD-D28B-5F96-2E69-88270E8FFD15}"/>
          </ac:spMkLst>
        </pc:spChg>
        <pc:cxnChg chg="mod">
          <ac:chgData name="윤정민" userId="6b15c765-da21-42d7-95fe-61eaef7495af" providerId="ADAL" clId="{5C7C66C6-67D0-439D-9B00-412197ADBF19}" dt="2026-10-30T01:42:25.843" v="3035" actId="1036"/>
          <ac:cxnSpMkLst>
            <pc:docMk/>
            <pc:sldMk cId="2396855445" sldId="256"/>
            <ac:cxnSpMk id="11" creationId="{F25E478C-FA31-1F67-05B3-34C5962519CF}"/>
          </ac:cxnSpMkLst>
        </pc:cxnChg>
      </pc:sldChg>
      <pc:sldChg chg="delSp mod">
        <pc:chgData name="윤정민" userId="6b15c765-da21-42d7-95fe-61eaef7495af" providerId="ADAL" clId="{5C7C66C6-67D0-439D-9B00-412197ADBF19}" dt="2026-10-29T11:43:29.780" v="2966" actId="478"/>
        <pc:sldMkLst>
          <pc:docMk/>
          <pc:sldMk cId="0" sldId="373"/>
        </pc:sldMkLst>
        <pc:spChg chg="del">
          <ac:chgData name="윤정민" userId="6b15c765-da21-42d7-95fe-61eaef7495af" providerId="ADAL" clId="{5C7C66C6-67D0-439D-9B00-412197ADBF19}" dt="2026-10-29T11:43:29.780" v="2966" actId="478"/>
          <ac:spMkLst>
            <pc:docMk/>
            <pc:sldMk cId="0" sldId="373"/>
            <ac:spMk id="88" creationId="{00000000-0000-0000-0000-000000000000}"/>
          </ac:spMkLst>
        </pc:sp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6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6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7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7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8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8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9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9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4:14:45.062" v="3027" actId="14734"/>
        <pc:sldMkLst>
          <pc:docMk/>
          <pc:sldMk cId="0" sldId="380"/>
        </pc:sldMkLst>
        <pc:graphicFrameChg chg="mod modGraphic">
          <ac:chgData name="윤정민" userId="6b15c765-da21-42d7-95fe-61eaef7495af" providerId="ADAL" clId="{5C7C66C6-67D0-439D-9B00-412197ADBF19}" dt="2026-10-29T14:14:45.062" v="3027" actId="14734"/>
          <ac:graphicFrameMkLst>
            <pc:docMk/>
            <pc:sldMk cId="0" sldId="380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4:23:22.065" v="3029"/>
        <pc:sldMkLst>
          <pc:docMk/>
          <pc:sldMk cId="0" sldId="381"/>
        </pc:sldMkLst>
        <pc:spChg chg="mod">
          <ac:chgData name="윤정민" userId="6b15c765-da21-42d7-95fe-61eaef7495af" providerId="ADAL" clId="{5C7C66C6-67D0-439D-9B00-412197ADBF19}" dt="2026-10-29T11:08:01.866" v="2959" actId="20577"/>
          <ac:spMkLst>
            <pc:docMk/>
            <pc:sldMk cId="0" sldId="381"/>
            <ac:spMk id="2" creationId="{00000000-0000-0000-0000-000000000000}"/>
          </ac:spMkLst>
        </pc:spChg>
        <pc:graphicFrameChg chg="mod">
          <ac:chgData name="윤정민" userId="6b15c765-da21-42d7-95fe-61eaef7495af" providerId="ADAL" clId="{5C7C66C6-67D0-439D-9B00-412197ADBF19}" dt="2026-10-29T14:23:22.065" v="3029"/>
          <ac:graphicFrameMkLst>
            <pc:docMk/>
            <pc:sldMk cId="0" sldId="381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2:11:57.602" v="2987"/>
        <pc:sldMkLst>
          <pc:docMk/>
          <pc:sldMk cId="0" sldId="382"/>
        </pc:sldMkLst>
        <pc:graphicFrameChg chg="mod modGraphic">
          <ac:chgData name="윤정민" userId="6b15c765-da21-42d7-95fe-61eaef7495af" providerId="ADAL" clId="{5C7C66C6-67D0-439D-9B00-412197ADBF19}" dt="2026-10-29T12:11:57.602" v="2987"/>
          <ac:graphicFrameMkLst>
            <pc:docMk/>
            <pc:sldMk cId="0" sldId="382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1:32:50.538" v="2965"/>
        <pc:sldMkLst>
          <pc:docMk/>
          <pc:sldMk cId="0" sldId="383"/>
        </pc:sldMkLst>
        <pc:graphicFrameChg chg="mod">
          <ac:chgData name="윤정민" userId="6b15c765-da21-42d7-95fe-61eaef7495af" providerId="ADAL" clId="{5C7C66C6-67D0-439D-9B00-412197ADBF19}" dt="2026-10-29T11:32:50.538" v="2965"/>
          <ac:graphicFrameMkLst>
            <pc:docMk/>
            <pc:sldMk cId="0" sldId="383"/>
            <ac:graphicFrameMk id="10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2:16:13.330" v="3020"/>
        <pc:sldMkLst>
          <pc:docMk/>
          <pc:sldMk cId="0" sldId="384"/>
        </pc:sldMkLst>
        <pc:graphicFrameChg chg="mod modGraphic">
          <ac:chgData name="윤정민" userId="6b15c765-da21-42d7-95fe-61eaef7495af" providerId="ADAL" clId="{5C7C66C6-67D0-439D-9B00-412197ADBF19}" dt="2026-10-29T12:16:13.330" v="3020"/>
          <ac:graphicFrameMkLst>
            <pc:docMk/>
            <pc:sldMk cId="0" sldId="384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4:14:16.711" v="3024"/>
        <pc:sldMkLst>
          <pc:docMk/>
          <pc:sldMk cId="0" sldId="385"/>
        </pc:sldMkLst>
        <pc:spChg chg="mod">
          <ac:chgData name="윤정민" userId="6b15c765-da21-42d7-95fe-61eaef7495af" providerId="ADAL" clId="{5C7C66C6-67D0-439D-9B00-412197ADBF19}" dt="2026-10-29T12:26:27.272" v="3022" actId="20577"/>
          <ac:spMkLst>
            <pc:docMk/>
            <pc:sldMk cId="0" sldId="385"/>
            <ac:spMk id="11" creationId="{00000000-0000-0000-0000-000000000000}"/>
          </ac:spMkLst>
        </pc:spChg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5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86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6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87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7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88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8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1:32:50.538" v="2965"/>
        <pc:sldMkLst>
          <pc:docMk/>
          <pc:sldMk cId="0" sldId="389"/>
        </pc:sldMkLst>
        <pc:graphicFrameChg chg="mod">
          <ac:chgData name="윤정민" userId="6b15c765-da21-42d7-95fe-61eaef7495af" providerId="ADAL" clId="{5C7C66C6-67D0-439D-9B00-412197ADBF19}" dt="2026-10-29T11:32:50.538" v="2965"/>
          <ac:graphicFrameMkLst>
            <pc:docMk/>
            <pc:sldMk cId="0" sldId="389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2:21:37.609" v="3021"/>
        <pc:sldMkLst>
          <pc:docMk/>
          <pc:sldMk cId="0" sldId="391"/>
        </pc:sldMkLst>
        <pc:graphicFrameChg chg="mod">
          <ac:chgData name="윤정민" userId="6b15c765-da21-42d7-95fe-61eaef7495af" providerId="ADAL" clId="{5C7C66C6-67D0-439D-9B00-412197ADBF19}" dt="2026-10-29T12:21:37.609" v="3021"/>
          <ac:graphicFrameMkLst>
            <pc:docMk/>
            <pc:sldMk cId="0" sldId="391"/>
            <ac:graphicFrameMk id="14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1:31:56.423" v="2964" actId="20577"/>
        <pc:sldMkLst>
          <pc:docMk/>
          <pc:sldMk cId="0" sldId="395"/>
        </pc:sldMkLst>
        <pc:spChg chg="mod">
          <ac:chgData name="윤정민" userId="6b15c765-da21-42d7-95fe-61eaef7495af" providerId="ADAL" clId="{5C7C66C6-67D0-439D-9B00-412197ADBF19}" dt="2026-10-29T11:31:56.423" v="2964" actId="20577"/>
          <ac:spMkLst>
            <pc:docMk/>
            <pc:sldMk cId="0" sldId="395"/>
            <ac:spMk id="11" creationId="{00000000-0000-0000-0000-000000000000}"/>
          </ac:spMkLst>
        </pc:sp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98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98"/>
            <ac:graphicFrameMk id="8" creationId="{00000000-0000-0000-0000-000000000000}"/>
          </ac:graphicFrameMkLst>
        </pc:graphicFrameChg>
      </pc:sldChg>
      <pc:sldChg chg="del">
        <pc:chgData name="윤정민" userId="6b15c765-da21-42d7-95fe-61eaef7495af" providerId="ADAL" clId="{5C7C66C6-67D0-439D-9B00-412197ADBF19}" dt="2026-10-29T12:07:58.056" v="2967" actId="2696"/>
        <pc:sldMkLst>
          <pc:docMk/>
          <pc:sldMk cId="0" sldId="400"/>
        </pc:sldMkLst>
      </pc:sldChg>
      <pc:sldChg chg="add">
        <pc:chgData name="윤정민" userId="6b15c765-da21-42d7-95fe-61eaef7495af" providerId="ADAL" clId="{5C7C66C6-67D0-439D-9B00-412197ADBF19}" dt="2026-10-29T12:08:03.279" v="2968"/>
        <pc:sldMkLst>
          <pc:docMk/>
          <pc:sldMk cId="4244796549" sldId="400"/>
        </pc:sldMkLst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401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401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2:30:05.420" v="3023"/>
        <pc:sldMkLst>
          <pc:docMk/>
          <pc:sldMk cId="0" sldId="402"/>
        </pc:sldMkLst>
        <pc:graphicFrameChg chg="mod">
          <ac:chgData name="윤정민" userId="6b15c765-da21-42d7-95fe-61eaef7495af" providerId="ADAL" clId="{5C7C66C6-67D0-439D-9B00-412197ADBF19}" dt="2026-10-29T12:30:05.420" v="3023"/>
          <ac:graphicFrameMkLst>
            <pc:docMk/>
            <pc:sldMk cId="0" sldId="402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7B71-203A-44A4-BF64-F0E05ABB4A10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4595A-DD79-43DB-8171-24D3E6EC3B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3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광합성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광반응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곡선 분석 방법론 비교 분석을 통한 상추의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광포화점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주제로 발표할 전북대학교 스마트농업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융합학과 석사과정 윤정민입니다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4595A-DD79-43DB-8171-24D3E6EC3B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80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목차는 다음과 같습니다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서론에서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광포화점에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대한 전반적인 배경에 대해 설명하고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재료 및 측정 장비에 대한 방법론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결과를 말씀드리며 발표를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4595A-DD79-43DB-8171-24D3E6EC3B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705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수확량을 비교했습니다. 로메인은 10월 23일 수확 시 지상부 생체중이 수확량인데, 건조구 −29%, 침수구 −26%, 복합구 −38%로 모두 유의하게 감소했고 두 스트레스의 효과가 더해졌습니다. 콩은 10월 6일, 종실 비대기인 R6~R7에 파괴 조사한 값으로, 종실 건물중, 종실 수, 꼬투리 수, 100립중 모두 처리 간 차이가 없었습니다. DAT 20에 침수로 늦어졌던 꼬투리와 종실 발달이 이 시점에는 대조구 수준까지 따라잡았습니다. 다만 성숙기 최종 수확 전 값이라는 점을 고려해야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발표를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4595A-DD79-43DB-8171-24D3E6EC3B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83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072F4-2873-FA64-1793-1B59A9006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C725AA-7A3D-1E01-136A-BA5E31AAF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D4592-A7B5-1B8E-7084-C40EC53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423D-07B6-40C2-A3B1-DE84ED9F922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8F786-E4C0-F7C0-32CD-34E91CEF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BECFB-E902-EC85-FEC1-E4AB644B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43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C47BA-E2E9-69D7-F6E0-02DC3B98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7C6CC-8DA3-FD4D-87B4-868FAA535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2C51B-FB8D-E7C1-6733-5EC2ECA1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5C9A-BDB9-48A9-9066-A45ABF71364F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E2A7E-4A0C-FD9F-1ED0-7811F3E1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65C28-2F83-31A3-5148-349E65E6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1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FBAAD-2832-D2E6-9201-28DBD759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63489E-C9A3-CFD5-E26E-C4F2F9B4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888C3-0185-B4BB-FE7C-08442FC7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124EE-B7C9-47F6-AC19-1FC82632F435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0C6D9C-5A42-E114-6EA7-D4D918C2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B716F0-7AC5-35C9-215B-75DBDDF0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1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125F4-6D71-334C-84D5-A1ACC974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27950-5013-95BA-AFC7-A8A163281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FFBEAB-A7F2-2965-ACDF-C78C8B76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28652-A26B-FC7B-C0DE-C56897C8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CE93-FFF2-48C5-876B-C29D334070AC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54ECFA-AB42-AC1C-4117-09D00A9D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583EDE-A663-AC4C-23CA-8E1840BC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38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429BE-5249-9056-163C-74FA9783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3B763C-22D9-C80F-CCDE-0707C6AC9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74F77-2209-A440-F7AB-3060E96F4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1B2901-98D7-6D8A-F650-669806F46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FDDB69-9C13-7002-F81F-1C1EFD7B7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01F8E8-08B1-62D8-B503-4283DFAC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14133-4840-4F08-BA32-D57CA94E303C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9B74BF-BE22-63C7-48D7-C09BC987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248C76-A4AD-26F0-801B-E0C228FD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30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62E28-2DBA-605A-BECA-20063F14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8E0772-E95D-EF89-1540-90BAF501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1F09-6923-414B-A1FA-93B7B6B05A0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18BA7F-B0B9-9AEB-CFFF-E6BB7172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7F523-2E13-CF6D-4554-8D965EA1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6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BE8BF9-A354-4992-F8C2-90BF8785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528D-0A4B-4725-BECB-0A804A98733B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0C3AA4-8FE3-F53A-0F4F-13CDD6F7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CA705-4832-583C-C769-782684C7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22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4CB40-F222-33F8-2930-F8C8F170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83CDC-0D06-E8FF-5CB6-AD0E41A0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D3C8C-90E8-FE3F-941F-50AF76CE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B14FF-82AA-1021-E783-8543CC45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A0492-4290-4283-8041-C72F2A3FD572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1E3FCC-569A-6CE6-D4EF-75FFC816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5CEF7-23C1-61E3-0CB0-E857E9E8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81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FDFA6-91D5-3744-B2AE-8AD520F1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8EC9AF-67D0-C116-F5BD-AFF40AB49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4B042C-7642-FF7C-B5B2-E432270BB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8D809-019A-150B-309F-5E84A532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010E-CE60-4360-8079-7BED3621D0DA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8F648C-2B44-F25B-BA65-0F0EA932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10761-27DA-5D7F-A72E-03EC8DD5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84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ABC10-DCAE-3EA5-9B62-E982FA39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B3CE13-292C-C63A-86DA-B62C68FA0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5F8A6-B9F4-6134-3C3F-3B42A7DB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8C8-AD83-442B-B306-C2E74F989BB3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9D320-0180-2E7B-CB63-6406A988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DEF9D-4DBA-4D73-41B0-D03A4776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70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EA5634-B559-9843-AFE5-E5585D0EF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F5A501-6259-5E2A-4E7B-7823242DC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567E4-4880-C0C0-8932-6BF75072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0C41-AFF9-488A-8C02-EEA924D341C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8955D-85B0-2FB5-B2D9-EFD9AE0F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28678-A0B9-C385-2F24-B9CE6337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033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8C9D72-72B9-1829-B00B-B4FFF7CBC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67C0B4-28E8-F572-9FD7-8D8C462D9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D7AAD-7768-C084-52A6-0F737C0AE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9DF18-70C5-4E96-87E8-EA7D036EB1FB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BE269-CA62-A3AD-C7CF-3E5EB5818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8E5383-3E5C-18D7-E7DF-D4D229327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6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4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5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CE28E-68F2-8698-8327-B6D337810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457" y="1367249"/>
            <a:ext cx="9231086" cy="2475807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밭콩 vs 로메인 상추</a:t>
            </a:r>
            <a:br>
              <a:rPr lang="en-US" altLang="ko-KR" sz="4000" b="1" dirty="0"/>
            </a:br>
            <a:r>
              <a:rPr lang="ko-KR" altLang="en-US" sz="4000" b="1" dirty="0"/>
              <a:t>건조·침수에 따른 생리·생육 반응 비교</a:t>
            </a:r>
            <a:br>
              <a:rPr lang="en-US" altLang="ko-KR" sz="4000" b="1" dirty="0"/>
            </a:br>
            <a:br>
              <a:rPr lang="en-US" altLang="ko-KR" sz="1600" b="1" dirty="0"/>
            </a:b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Physiological and Growth Responses of Upland Soybean and Romaine Lettuce to Drought and Waterlogging</a:t>
            </a:r>
            <a:endParaRPr lang="ko-KR" alt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E9F5BD-D28B-5F96-2E69-88270E8FF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5580"/>
            <a:ext cx="9144000" cy="234485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ko-KR" altLang="en-US" sz="2000" dirty="0"/>
              <a:t>전북대학교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스마트농업AI융합학과</a:t>
            </a:r>
            <a:endParaRPr lang="en-US" altLang="ko-KR" sz="2000" dirty="0"/>
          </a:p>
          <a:p>
            <a:pPr>
              <a:lnSpc>
                <a:spcPct val="80000"/>
              </a:lnSpc>
            </a:pPr>
            <a:r>
              <a:rPr lang="ko-KR" altLang="en-US" sz="1800" dirty="0"/>
              <a:t>석사과정 윤정민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2026. 10. 29.</a:t>
            </a:r>
            <a:endParaRPr lang="ko-KR" altLang="en-US" sz="1800" dirty="0"/>
          </a:p>
        </p:txBody>
      </p:sp>
      <p:pic>
        <p:nvPicPr>
          <p:cNvPr id="1026" name="Picture 2" descr="폰트, 그래픽, 로고, 텍스트이(가) 표시된 사진&#10;&#10;자동 생성된 설명">
            <a:extLst>
              <a:ext uri="{FF2B5EF4-FFF2-40B4-BE49-F238E27FC236}">
                <a16:creationId xmlns:a16="http://schemas.microsoft.com/office/drawing/2014/main" id="{1F5D21A4-5CE8-CA11-3AC9-D4DA2CEEA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381" y="5753613"/>
            <a:ext cx="221366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A2E225-EF8F-F661-C3B4-5EE926C3C211}"/>
              </a:ext>
            </a:extLst>
          </p:cNvPr>
          <p:cNvCxnSpPr>
            <a:cxnSpLocks/>
          </p:cNvCxnSpPr>
          <p:nvPr/>
        </p:nvCxnSpPr>
        <p:spPr>
          <a:xfrm>
            <a:off x="783772" y="89376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25E478C-FA31-1F67-05B3-34C5962519CF}"/>
              </a:ext>
            </a:extLst>
          </p:cNvPr>
          <p:cNvCxnSpPr>
            <a:cxnSpLocks/>
          </p:cNvCxnSpPr>
          <p:nvPr/>
        </p:nvCxnSpPr>
        <p:spPr>
          <a:xfrm>
            <a:off x="1506584" y="4023121"/>
            <a:ext cx="9231086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사)한국원예학회">
            <a:extLst>
              <a:ext uri="{FF2B5EF4-FFF2-40B4-BE49-F238E27FC236}">
                <a16:creationId xmlns:a16="http://schemas.microsoft.com/office/drawing/2014/main" id="{4869A5E8-6B1D-FCB7-158B-34C00508F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2" y="88083"/>
            <a:ext cx="317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전북대학교 로고 브랜드 시그니처 마크 상징물 다운로드 LOGO UI MI CI AI BI JPG">
            <a:extLst>
              <a:ext uri="{FF2B5EF4-FFF2-40B4-BE49-F238E27FC236}">
                <a16:creationId xmlns:a16="http://schemas.microsoft.com/office/drawing/2014/main" id="{6B76D25D-FBEA-3892-9D2A-4667E65B4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410" y="5753613"/>
            <a:ext cx="2936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85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33E84A-8D44-D9BE-62F1-8D0DDD73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목차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D6B51F85-8E06-4A49-CB6E-300B96CFE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44904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106691" y="1296466"/>
          <a:ext cx="9978617" cy="475488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474126">
                  <a:extLst>
                    <a:ext uri="{9D8B030D-6E8A-4147-A177-3AD203B41FA5}">
                      <a16:colId xmlns:a16="http://schemas.microsoft.com/office/drawing/2014/main" val="2607330397"/>
                    </a:ext>
                  </a:extLst>
                </a:gridCol>
                <a:gridCol w="7504491">
                  <a:extLst>
                    <a:ext uri="{9D8B030D-6E8A-4147-A177-3AD203B41FA5}">
                      <a16:colId xmlns:a16="http://schemas.microsoft.com/office/drawing/2014/main" val="3068141479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실험 개요 및 비교 방법</a:t>
                      </a:r>
                      <a:endParaRPr lang="ko-KR" altLang="en-US" sz="20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52398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광합성·엽록소 형광 반응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83355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생육 반응 및 수확량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027065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관수량 및 환경 조건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292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종합 결론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4761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F24537-D7E0-62F0-A604-63DFAE406170}"/>
              </a:ext>
            </a:extLst>
          </p:cNvPr>
          <p:cNvSpPr txBox="1"/>
          <p:nvPr/>
        </p:nvSpPr>
        <p:spPr>
          <a:xfrm>
            <a:off x="9946433" y="1618065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 p.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9CD7-4B15-B5ED-C315-41E9B7946509}"/>
              </a:ext>
            </a:extLst>
          </p:cNvPr>
          <p:cNvSpPr txBox="1"/>
          <p:nvPr/>
        </p:nvSpPr>
        <p:spPr>
          <a:xfrm>
            <a:off x="9946432" y="3520017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 p.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974CD-0839-256C-B9D8-B3E5B53BAD0C}"/>
              </a:ext>
            </a:extLst>
          </p:cNvPr>
          <p:cNvSpPr txBox="1"/>
          <p:nvPr/>
        </p:nvSpPr>
        <p:spPr>
          <a:xfrm>
            <a:off x="9946431" y="4470993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23 p.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CAF57-3756-D457-BDAB-CF1D97C413D1}"/>
              </a:ext>
            </a:extLst>
          </p:cNvPr>
          <p:cNvSpPr txBox="1"/>
          <p:nvPr/>
        </p:nvSpPr>
        <p:spPr>
          <a:xfrm>
            <a:off x="9946431" y="5421969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28 p.</a:t>
            </a:r>
            <a:endParaRPr lang="ko-KR" altLang="en-US" sz="1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F24537-D7E0-62F0-A604-63DFAE406170}"/>
              </a:ext>
            </a:extLst>
          </p:cNvPr>
          <p:cNvSpPr txBox="1"/>
          <p:nvPr/>
        </p:nvSpPr>
        <p:spPr>
          <a:xfrm>
            <a:off x="9946433" y="2569041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6 p.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5040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실험 개요: 밭콩 vs 로메인 상추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263905"/>
              </p:ext>
            </p:extLst>
          </p:nvPr>
        </p:nvGraphicFramePr>
        <p:xfrm>
          <a:off x="548640" y="1280160"/>
          <a:ext cx="1088136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밭콩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로메인 상추 (크라디우스)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자료 기간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6/26 ~ 10/6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10/4 ~ 10/23 (파종 8/22, 정식 9/15)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침수 처리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8/12 ~ 8/14 (3일)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10/7 11시 ~ 10/10 11시 (3일)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건조 처리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8/15 ~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대조구의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50%)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10/12 ~</a:t>
                      </a:r>
                      <a:r>
                        <a:rPr lang="en-US" altLang="ko-KR" sz="1300" b="0" dirty="0">
                          <a:solidFill>
                            <a:srgbClr val="000000"/>
                          </a:solidFill>
                        </a:rPr>
                        <a:t> (대조구 ETc의 50%)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처리구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대조구·건조·침수·복합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대조구·건조·침수·복합 (동일)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LI-600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(gsw·형광)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8/13 ~ 10/2, 14일 중 흐린 날 3일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10/6 ~ 10/23, 14일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 (흐린 날 5일 포함, 처리당 8~12잎)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LI-6800 (A-Ci, A-Q, 형광)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처리 전(7/22~23) + 처리 후 광도 곡선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처리 전(10/4) + 10/10 대조·침수 + 처리 후(10/16~19) 광도 곡선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생육 조사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파괴 9/1, 10/6 (처리당 6~9주)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파괴 10/7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(대조구 8주)·10/23 (처리당 8주), 캐노피 사진 4회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관수·환경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EC5 자동 관수, 로드셀, 기상 센서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로드셀 관수, 화분 증산량, 26번 온실 환경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Conclusion Box"/>
          <p:cNvSpPr/>
          <p:nvPr/>
        </p:nvSpPr>
        <p:spPr>
          <a:xfrm>
            <a:off x="841248" y="562356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두 작물의 처리 설계는 같으나 </a:t>
            </a:r>
            <a:r>
              <a:rPr sz="1600" b="1">
                <a:solidFill>
                  <a:srgbClr val="AA572C"/>
                </a:solidFill>
              </a:rPr>
              <a:t>시기·온실·기간이 달라</a:t>
            </a:r>
            <a:r>
              <a:rPr sz="1600" b="0">
                <a:solidFill>
                  <a:srgbClr val="AA572C"/>
                </a:solidFill>
              </a:rPr>
              <a:t> 처리 후 일수(DAT) 기준으로 대조구 포함 실제 값을 비교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DAT: 침수 처리 시작일 기준 경과 일수 (밭콩 8/12, 로메인 상추 10/7). 로메인 10/7 이전은 대조구만 측정.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처리 일정과 측정 시기 (DAT 기준 정렬)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595959"/>
                </a:solidFill>
              </a:rPr>
              <a:t>DAT (일)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19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55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1691640"/>
            <a:ext cx="9555479" cy="0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6B4226"/>
                </a:solidFill>
              </a:rPr>
              <a:t>밭콩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011680"/>
            <a:ext cx="521207" cy="457200"/>
          </a:xfrm>
          <a:prstGeom prst="roundRect">
            <a:avLst>
              <a:gd name="adj" fmla="val 20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침수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41448" y="2011680"/>
            <a:ext cx="9034272" cy="457200"/>
          </a:xfrm>
          <a:prstGeom prst="roundRect">
            <a:avLst>
              <a:gd name="adj" fmla="val 20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건조·복합 50% 관수</a:t>
            </a:r>
          </a:p>
        </p:txBody>
      </p:sp>
      <p:sp>
        <p:nvSpPr>
          <p:cNvPr id="24" name="Oval 23"/>
          <p:cNvSpPr/>
          <p:nvPr/>
        </p:nvSpPr>
        <p:spPr>
          <a:xfrm>
            <a:off x="2039112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12848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386584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0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34056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07792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81528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55264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429000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18888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861304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077456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09759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725911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LI-600 측정일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2E6B3F"/>
                </a:solidFill>
              </a:rPr>
              <a:t>로메인 상추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3566160"/>
            <a:ext cx="521207" cy="457200"/>
          </a:xfrm>
          <a:prstGeom prst="roundRect">
            <a:avLst>
              <a:gd name="adj" fmla="val 20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침수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41447" y="3566160"/>
            <a:ext cx="2258569" cy="457200"/>
          </a:xfrm>
          <a:prstGeom prst="roundRect">
            <a:avLst>
              <a:gd name="adj" fmla="val 20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50% 관수</a:t>
            </a:r>
          </a:p>
        </p:txBody>
      </p:sp>
      <p:sp>
        <p:nvSpPr>
          <p:cNvPr id="43" name="Oval 42"/>
          <p:cNvSpPr/>
          <p:nvPr/>
        </p:nvSpPr>
        <p:spPr>
          <a:xfrm>
            <a:off x="2039112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212848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386584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560320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734056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907792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81528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255264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429000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602736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950208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297680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645152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09651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LI-600 측정일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491947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595959"/>
                </a:solidFill>
              </a:rPr>
              <a:t>밭콩 DAT 55 (10/6), 로메인 DAT 16 (10/23) 종료. ●LI-600 ▲LI-6800 ■파괴 ◇비파괴(로메인 캐노피 사진 DAT 5·8·12·16) 생육조사.</a:t>
            </a:r>
          </a:p>
        </p:txBody>
      </p:sp>
      <p:sp>
        <p:nvSpPr>
          <p:cNvPr id="58" name="Conclusion Box"/>
          <p:cNvSpPr/>
          <p:nvPr/>
        </p:nvSpPr>
        <p:spPr>
          <a:xfrm>
            <a:off x="841248" y="521208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로메인 상추는 </a:t>
            </a:r>
            <a:r>
              <a:rPr sz="1600" b="1">
                <a:solidFill>
                  <a:srgbClr val="AA572C"/>
                </a:solidFill>
              </a:rPr>
              <a:t>DAT 16까지만</a:t>
            </a:r>
            <a:r>
              <a:rPr sz="1600" b="0">
                <a:solidFill>
                  <a:srgbClr val="AA572C"/>
                </a:solidFill>
              </a:rPr>
              <a:t> 관찰되어, 밭콩의 </a:t>
            </a:r>
            <a:r>
              <a:rPr sz="1600" b="1">
                <a:solidFill>
                  <a:srgbClr val="AA572C"/>
                </a:solidFill>
              </a:rPr>
              <a:t>처리 초기(DAT 0~16) 구간</a:t>
            </a:r>
            <a:r>
              <a:rPr sz="1600" b="0">
                <a:solidFill>
                  <a:srgbClr val="AA572C"/>
                </a:solidFill>
              </a:rPr>
              <a:t>과 직접 비교</a:t>
            </a:r>
          </a:p>
        </p:txBody>
      </p:sp>
      <p:sp>
        <p:nvSpPr>
          <p:cNvPr id="59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밭콩 침수 8/12~14, 관수 50%는 8/15부터. 로메인 상추 침수 10/7~10/10 오전, 건조 10/10, 50% 관수 10/12부터.</a:t>
            </a:r>
          </a:p>
        </p:txBody>
      </p:sp>
      <p:sp>
        <p:nvSpPr>
          <p:cNvPr id="60" name="Marker 60"/>
          <p:cNvSpPr/>
          <p:nvPr/>
        </p:nvSpPr>
        <p:spPr>
          <a:xfrm>
            <a:off x="3076956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ker 61"/>
          <p:cNvSpPr/>
          <p:nvPr/>
        </p:nvSpPr>
        <p:spPr>
          <a:xfrm>
            <a:off x="3250692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Marker 62"/>
          <p:cNvSpPr/>
          <p:nvPr/>
        </p:nvSpPr>
        <p:spPr>
          <a:xfrm>
            <a:off x="3424428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ker 63"/>
          <p:cNvSpPr/>
          <p:nvPr/>
        </p:nvSpPr>
        <p:spPr>
          <a:xfrm>
            <a:off x="5509259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Marker 64"/>
          <p:cNvSpPr/>
          <p:nvPr/>
        </p:nvSpPr>
        <p:spPr>
          <a:xfrm>
            <a:off x="5682995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ker 65"/>
          <p:cNvSpPr/>
          <p:nvPr/>
        </p:nvSpPr>
        <p:spPr>
          <a:xfrm>
            <a:off x="6377940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Marker 66"/>
          <p:cNvSpPr/>
          <p:nvPr/>
        </p:nvSpPr>
        <p:spPr>
          <a:xfrm>
            <a:off x="6551676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ker 67"/>
          <p:cNvSpPr/>
          <p:nvPr/>
        </p:nvSpPr>
        <p:spPr>
          <a:xfrm>
            <a:off x="6725412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Marker 68"/>
          <p:cNvSpPr/>
          <p:nvPr/>
        </p:nvSpPr>
        <p:spPr>
          <a:xfrm>
            <a:off x="6899147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ker 69"/>
          <p:cNvSpPr/>
          <p:nvPr/>
        </p:nvSpPr>
        <p:spPr>
          <a:xfrm>
            <a:off x="7072884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Marker 70"/>
          <p:cNvSpPr/>
          <p:nvPr/>
        </p:nvSpPr>
        <p:spPr>
          <a:xfrm>
            <a:off x="7594092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ker 71"/>
          <p:cNvSpPr/>
          <p:nvPr/>
        </p:nvSpPr>
        <p:spPr>
          <a:xfrm>
            <a:off x="7767828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Marker 72"/>
          <p:cNvSpPr/>
          <p:nvPr/>
        </p:nvSpPr>
        <p:spPr>
          <a:xfrm>
            <a:off x="8115300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ker 73"/>
          <p:cNvSpPr/>
          <p:nvPr/>
        </p:nvSpPr>
        <p:spPr>
          <a:xfrm>
            <a:off x="10026396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5404104" y="309067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3950208" y="464515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3255264" y="464515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2734056" y="464515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ker 75"/>
          <p:cNvSpPr/>
          <p:nvPr/>
        </p:nvSpPr>
        <p:spPr>
          <a:xfrm>
            <a:off x="11420855" y="309067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Marker 76"/>
          <p:cNvSpPr/>
          <p:nvPr/>
        </p:nvSpPr>
        <p:spPr>
          <a:xfrm>
            <a:off x="2894076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ker 77"/>
          <p:cNvSpPr/>
          <p:nvPr/>
        </p:nvSpPr>
        <p:spPr>
          <a:xfrm>
            <a:off x="4457700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Marker 78"/>
          <p:cNvSpPr/>
          <p:nvPr/>
        </p:nvSpPr>
        <p:spPr>
          <a:xfrm>
            <a:off x="5262372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ker 79"/>
          <p:cNvSpPr/>
          <p:nvPr/>
        </p:nvSpPr>
        <p:spPr>
          <a:xfrm>
            <a:off x="6542532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Marker 80"/>
          <p:cNvSpPr/>
          <p:nvPr/>
        </p:nvSpPr>
        <p:spPr>
          <a:xfrm>
            <a:off x="7758684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ker 81"/>
          <p:cNvSpPr/>
          <p:nvPr/>
        </p:nvSpPr>
        <p:spPr>
          <a:xfrm>
            <a:off x="8974836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Marker 82"/>
          <p:cNvSpPr/>
          <p:nvPr/>
        </p:nvSpPr>
        <p:spPr>
          <a:xfrm>
            <a:off x="10190988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ker 83"/>
          <p:cNvSpPr/>
          <p:nvPr/>
        </p:nvSpPr>
        <p:spPr>
          <a:xfrm>
            <a:off x="2382012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Marker 84"/>
          <p:cNvSpPr/>
          <p:nvPr/>
        </p:nvSpPr>
        <p:spPr>
          <a:xfrm>
            <a:off x="3424428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ker 85"/>
          <p:cNvSpPr/>
          <p:nvPr/>
        </p:nvSpPr>
        <p:spPr>
          <a:xfrm>
            <a:off x="3598164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Marker 86"/>
          <p:cNvSpPr/>
          <p:nvPr/>
        </p:nvSpPr>
        <p:spPr>
          <a:xfrm>
            <a:off x="3771899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ker 87"/>
          <p:cNvSpPr/>
          <p:nvPr/>
        </p:nvSpPr>
        <p:spPr>
          <a:xfrm>
            <a:off x="3945636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ker 89"/>
          <p:cNvSpPr/>
          <p:nvPr/>
        </p:nvSpPr>
        <p:spPr>
          <a:xfrm>
            <a:off x="1865376" y="4645152"/>
            <a:ext cx="109728" cy="109728"/>
          </a:xfrm>
          <a:prstGeom prst="rect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Marker 90"/>
          <p:cNvSpPr/>
          <p:nvPr/>
        </p:nvSpPr>
        <p:spPr>
          <a:xfrm>
            <a:off x="4645152" y="4645152"/>
            <a:ext cx="109728" cy="109728"/>
          </a:xfrm>
          <a:prstGeom prst="rect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37"/>
          <p:cNvSpPr txBox="1"/>
          <p:nvPr/>
        </p:nvSpPr>
        <p:spPr>
          <a:xfrm>
            <a:off x="457200" y="27980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LI-6800 측정일</a:t>
            </a:r>
          </a:p>
        </p:txBody>
      </p:sp>
      <p:sp>
        <p:nvSpPr>
          <p:cNvPr id="92" name="TextBox 37"/>
          <p:cNvSpPr txBox="1"/>
          <p:nvPr/>
        </p:nvSpPr>
        <p:spPr>
          <a:xfrm>
            <a:off x="457200" y="30540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생육조사일</a:t>
            </a:r>
          </a:p>
        </p:txBody>
      </p:sp>
      <p:sp>
        <p:nvSpPr>
          <p:cNvPr id="93" name="TextBox 37"/>
          <p:cNvSpPr txBox="1"/>
          <p:nvPr/>
        </p:nvSpPr>
        <p:spPr>
          <a:xfrm>
            <a:off x="457200" y="43525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LI-6800 측정일</a:t>
            </a:r>
          </a:p>
        </p:txBody>
      </p:sp>
      <p:sp>
        <p:nvSpPr>
          <p:cNvPr id="94" name="TextBox 37"/>
          <p:cNvSpPr txBox="1"/>
          <p:nvPr/>
        </p:nvSpPr>
        <p:spPr>
          <a:xfrm>
            <a:off x="457200" y="46085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생육조사일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비교 분석 방법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Card 표시 방식"/>
          <p:cNvSpPr/>
          <p:nvPr/>
        </p:nvSpPr>
        <p:spPr>
          <a:xfrm>
            <a:off x="841248" y="1399032"/>
            <a:ext cx="3383280" cy="372160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표시 방식"/>
          <p:cNvSpPr/>
          <p:nvPr/>
        </p:nvSpPr>
        <p:spPr>
          <a:xfrm>
            <a:off x="102412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표시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대조구(ETc 100%) 포함 실제 측정값(평균 ± SE)으로 표시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처리 전(Pre-treatment) 값은 그림에 회색 X로만 참고 표시, 표에서는 제외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* : 측정일별 ANOVA Holm 보정 P&lt;0.05</a:t>
            </a:r>
          </a:p>
        </p:txBody>
      </p:sp>
      <p:sp>
        <p:nvSpPr>
          <p:cNvPr id="10" name="Card 시간 축 · 선별"/>
          <p:cNvSpPr/>
          <p:nvPr/>
        </p:nvSpPr>
        <p:spPr>
          <a:xfrm>
            <a:off x="4407408" y="1399032"/>
            <a:ext cx="3383280" cy="372160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ader 시간 축 · 선별"/>
          <p:cNvSpPr/>
          <p:nvPr/>
        </p:nvSpPr>
        <p:spPr>
          <a:xfrm>
            <a:off x="459028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시간 축 · 선별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침수 시작일 기준 DAT로 정렬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LI-600: 흐린 날(CI&lt;0.5)을 포함한 모든 측정일 사용, 구간 비교는 측정일·선형 PAR(Q</a:t>
            </a:r>
            <a:r>
              <a:rPr sz="1600" baseline="-25000">
                <a:solidFill>
                  <a:srgbClr val="000000"/>
                </a:solidFill>
              </a:rPr>
              <a:t>amb</a:t>
            </a:r>
            <a:r>
              <a:rPr sz="1600">
                <a:solidFill>
                  <a:srgbClr val="000000"/>
                </a:solidFill>
              </a:rPr>
              <a:t>)와 기온(T</a:t>
            </a:r>
            <a:r>
              <a:rPr sz="1600" baseline="-25000">
                <a:solidFill>
                  <a:srgbClr val="000000"/>
                </a:solidFill>
              </a:rPr>
              <a:t>air</a:t>
            </a:r>
            <a:r>
              <a:rPr sz="1600">
                <a:solidFill>
                  <a:srgbClr val="000000"/>
                </a:solidFill>
              </a:rPr>
              <a:t>)로 보정, 흐린 날은 회색 띠로 표시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암적응 F</a:t>
            </a:r>
            <a:r>
              <a:rPr sz="1600" baseline="-25000">
                <a:solidFill>
                  <a:srgbClr val="000000"/>
                </a:solidFill>
              </a:rPr>
              <a:t>v</a:t>
            </a:r>
            <a:r>
              <a:rPr sz="1600">
                <a:solidFill>
                  <a:srgbClr val="000000"/>
                </a:solidFill>
              </a:rPr>
              <a:t>/F</a:t>
            </a:r>
            <a:r>
              <a:rPr sz="1600" baseline="-25000">
                <a:solidFill>
                  <a:srgbClr val="000000"/>
                </a:solidFill>
              </a:rPr>
              <a:t>m</a:t>
            </a:r>
            <a:r>
              <a:rPr sz="1600">
                <a:solidFill>
                  <a:srgbClr val="000000"/>
                </a:solidFill>
              </a:rPr>
              <a:t>은 야간 측정이라 해당 없음, 콩 9/28 값은 LI-6800 측정이라 제외</a:t>
            </a:r>
          </a:p>
        </p:txBody>
      </p:sp>
      <p:sp>
        <p:nvSpPr>
          <p:cNvPr id="13" name="Card 통계 검정"/>
          <p:cNvSpPr/>
          <p:nvPr/>
        </p:nvSpPr>
        <p:spPr>
          <a:xfrm>
            <a:off x="7973568" y="1399032"/>
            <a:ext cx="3383280" cy="372160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der 통계 검정"/>
          <p:cNvSpPr/>
          <p:nvPr/>
        </p:nvSpPr>
        <p:spPr>
          <a:xfrm>
            <a:off x="815644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통계 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측정일별 비교(Holm 보정) + 측정일 반복 검정 병기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구간: 침수 × 관수 이원 ANOVA + Tukey, 광도 의존 지표는 처리 × 선형 PAR(Q</a:t>
            </a:r>
            <a:r>
              <a:rPr sz="1600" baseline="-25000">
                <a:solidFill>
                  <a:srgbClr val="000000"/>
                </a:solidFill>
              </a:rPr>
              <a:t>amb</a:t>
            </a:r>
            <a:r>
              <a:rPr sz="1600">
                <a:solidFill>
                  <a:srgbClr val="000000"/>
                </a:solidFill>
              </a:rPr>
              <a:t>) + 기온(T</a:t>
            </a:r>
            <a:r>
              <a:rPr sz="1600" baseline="-25000">
                <a:solidFill>
                  <a:srgbClr val="000000"/>
                </a:solidFill>
              </a:rPr>
              <a:t>air</a:t>
            </a:r>
            <a:r>
              <a:rPr sz="1600">
                <a:solidFill>
                  <a:srgbClr val="000000"/>
                </a:solidFill>
              </a:rPr>
              <a:t>) 모형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P1: 침수 시작~종료 후 7일 (콩 DAT 1~9, 로메인 DAT 5~10 공통 측정일)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P2: 그 이후. 생육은 전 개체 사용(이상치 제거 없음)</a:t>
            </a:r>
          </a:p>
        </p:txBody>
      </p:sp>
      <p:sp>
        <p:nvSpPr>
          <p:cNvPr id="16" name="Conclusion Box"/>
          <p:cNvSpPr/>
          <p:nvPr/>
        </p:nvSpPr>
        <p:spPr>
          <a:xfrm>
            <a:off x="841248" y="539496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구간 평균은 처리 효과가 측정일 간 일관될 때만 해석, 두 작물은 병렬 사례로 비교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처리 전: 밭콩 LI-600 8/7·LI-6800 7/22~23, 로메인 상추 LI-600 10/6·LI-6800 10/4(참고용). 건조·복합 측정은 밭콩 DAT 17, 로메인 상추 DAT 5부터. 콩 뿌리 이탈과 로메인 포트 과습은 처리 강도 검증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Measurement conditions</a:t>
            </a:r>
            <a:br>
              <a:rPr lang="en-US" altLang="ko-KR" sz="2800" dirty="0"/>
            </a:br>
            <a:r>
              <a:rPr lang="ko-KR" altLang="en-US" sz="3200" dirty="0"/>
              <a:t>측정 당시 일사 조건: 흐린 날 판정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밭콩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5394960" cy="3634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</a:rPr>
                        <a:t>Date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Time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SW (W·m</a:t>
                      </a:r>
                      <a:r>
                        <a:rPr sz="950" b="1" baseline="30000">
                          <a:solidFill>
                            <a:srgbClr val="000000"/>
                          </a:solidFill>
                        </a:rPr>
                        <a:t>−2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CI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Use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10:31–11:01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10:19–10:36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08:31–08:40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138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08:43–08:57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08:37–08:51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08:54–09:05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243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09:42–10:01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0.35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09:32–09:45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08:18–08:25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0.18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11:39–12:32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09/04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10:25–11:02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330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09/11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10:16–10:43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1.04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09/25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09:19–09:59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10:25–11:06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338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118872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로메인 상추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508760"/>
          <a:ext cx="5394960" cy="3634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</a:rPr>
                        <a:t>Date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Time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SW (W·m</a:t>
                      </a:r>
                      <a:r>
                        <a:rPr sz="950" b="1" baseline="30000">
                          <a:solidFill>
                            <a:srgbClr val="000000"/>
                          </a:solidFill>
                        </a:rPr>
                        <a:t>−2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CI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Use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10:20–10:22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09:29–09:36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133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0.42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10:53–10:59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228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09:44–09:53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11:17–11:28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366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0.74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10:36–10:57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484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09:33–10:06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09:28–09:53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1.10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09:31–09:51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09:40–09:56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08:59–09:33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08:28–09:27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09:47–10:04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0.05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10/23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09:33–09:55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Conclusion Box"/>
          <p:cNvSpPr/>
          <p:nvPr/>
        </p:nvSpPr>
        <p:spPr>
          <a:xfrm>
            <a:off x="841248" y="571500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모든 측정일을 포함하고 측정 광도(선형 PAR Q</a:t>
            </a:r>
            <a:r>
              <a:rPr sz="1600" baseline="-25000">
                <a:solidFill>
                  <a:srgbClr val="E97132"/>
                </a:solidFill>
              </a:rPr>
              <a:t>amb</a:t>
            </a:r>
            <a:r>
              <a:rPr sz="1600">
                <a:solidFill>
                  <a:srgbClr val="E97132"/>
                </a:solidFill>
              </a:rPr>
              <a:t>)와 기온(T</a:t>
            </a:r>
            <a:r>
              <a:rPr sz="1600" baseline="-25000">
                <a:solidFill>
                  <a:srgbClr val="E97132"/>
                </a:solidFill>
              </a:rPr>
              <a:t>air</a:t>
            </a:r>
            <a:r>
              <a:rPr sz="1600">
                <a:solidFill>
                  <a:srgbClr val="E97132"/>
                </a:solidFill>
              </a:rPr>
              <a:t>)로 보정 — CI &lt; 0.5인 날은 회색 띠로 표시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457200" y="6355080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CI = 측정 구간 평균 SW / 같은 시각대 ±10일 90분위수 SW(맑은 날 기준). 날짜별 예외 없이 한 규칙으로 통일. 로메인 10/13은 SW 자료가 4분뿐(결측).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LI-600 보정: 선형 PAR(Q</a:t>
            </a:r>
            <a:r>
              <a:rPr lang="ko-KR" altLang="en-US" sz="3200" baseline="-25000" dirty="0"/>
              <a:t>amb</a:t>
            </a:r>
            <a:r>
              <a:rPr lang="ko-KR" altLang="en-US" sz="3200" dirty="0"/>
              <a:t>) + 기온(T</a:t>
            </a:r>
            <a:r>
              <a:rPr lang="ko-KR" altLang="en-US" sz="3200" baseline="-25000" dirty="0"/>
              <a:t>air</a:t>
            </a:r>
            <a:r>
              <a:rPr lang="ko-KR" altLang="en-US" sz="3200" dirty="0"/>
              <a:t>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Picture 6" descr="a_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903720" cy="208301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858000" cy="17282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콩 P1 (대조구 vs 침수)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선형 PAR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+ 기온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결론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PSII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ETR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0.081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차이 없음 →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PSII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콩 P2 (4처리)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ETR 콩 P2 (4처리)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이유: 같은 날에도 처리 간 PAR·기온이 달랐음 (8/13 PAR 970 vs 632 µmol m</a:t>
            </a:r>
            <a:r>
              <a:rPr sz="1400" baseline="30000">
                <a:solidFill>
                  <a:srgbClr val="000000"/>
                </a:solidFill>
              </a:rPr>
              <a:t>-2</a:t>
            </a:r>
            <a:r>
              <a:rPr sz="1400">
                <a:solidFill>
                  <a:srgbClr val="000000"/>
                </a:solidFill>
              </a:rPr>
              <a:t> s</a:t>
            </a:r>
            <a:r>
              <a:rPr sz="1400" baseline="30000">
                <a:solidFill>
                  <a:srgbClr val="000000"/>
                </a:solidFill>
              </a:rPr>
              <a:t>-1</a:t>
            </a:r>
            <a:r>
              <a:rPr sz="1400">
                <a:solidFill>
                  <a:srgbClr val="000000"/>
                </a:solidFill>
              </a:rPr>
              <a:t>, 기온 33.3 vs 34.0 °C)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모형: y = μ + 처리 + 측정일 + β</a:t>
            </a:r>
            <a:r>
              <a:rPr sz="1400" baseline="-25000">
                <a:solidFill>
                  <a:srgbClr val="000000"/>
                </a:solidFill>
              </a:rPr>
              <a:t>1</a:t>
            </a:r>
            <a:r>
              <a:rPr sz="1400">
                <a:solidFill>
                  <a:srgbClr val="000000"/>
                </a:solidFill>
              </a:rPr>
              <a:t>·Q</a:t>
            </a:r>
            <a:r>
              <a:rPr sz="1400" baseline="-25000">
                <a:solidFill>
                  <a:srgbClr val="000000"/>
                </a:solidFill>
              </a:rPr>
              <a:t>amb</a:t>
            </a:r>
            <a:r>
              <a:rPr sz="1400">
                <a:solidFill>
                  <a:srgbClr val="000000"/>
                </a:solidFill>
              </a:rPr>
              <a:t> + β</a:t>
            </a:r>
            <a:r>
              <a:rPr sz="1400" baseline="-25000">
                <a:solidFill>
                  <a:srgbClr val="000000"/>
                </a:solidFill>
              </a:rPr>
              <a:t>2</a:t>
            </a:r>
            <a:r>
              <a:rPr sz="1400">
                <a:solidFill>
                  <a:srgbClr val="000000"/>
                </a:solidFill>
              </a:rPr>
              <a:t>·T</a:t>
            </a:r>
            <a:r>
              <a:rPr sz="1400" baseline="-25000">
                <a:solidFill>
                  <a:srgbClr val="000000"/>
                </a:solidFill>
              </a:rPr>
              <a:t>air</a:t>
            </a:r>
            <a:r>
              <a:rPr sz="1400">
                <a:solidFill>
                  <a:srgbClr val="000000"/>
                </a:solidFill>
              </a:rPr>
              <a:t> + ε. Ali 2025, Gao 2024도 광도·온도를 공변량으로 보정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보정 평균: 균등 가중 LS mean, Wald F, Tukey-Kramer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P2 Φ</a:t>
            </a:r>
            <a:r>
              <a:rPr sz="1400" baseline="-25000">
                <a:solidFill>
                  <a:srgbClr val="000000"/>
                </a:solidFill>
              </a:rPr>
              <a:t>PSII</a:t>
            </a:r>
            <a:r>
              <a:rPr sz="1400">
                <a:solidFill>
                  <a:srgbClr val="000000"/>
                </a:solidFill>
              </a:rPr>
              <a:t>: PAR 100당 −0.022, 기온 효과 없음 (P=0.68)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gsw·ΦPSII·Fs·ETR 모두 PAR만 보정과 PAR+기온 보정의 판정이 같음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한계: 선형 근사(PAR 약 100~1,900), PAR·기온 r=0.29, T</a:t>
            </a:r>
            <a:r>
              <a:rPr sz="1400" baseline="-25000">
                <a:solidFill>
                  <a:srgbClr val="000000"/>
                </a:solidFill>
              </a:rPr>
              <a:t>air</a:t>
            </a:r>
            <a:r>
              <a:rPr sz="1400">
                <a:solidFill>
                  <a:srgbClr val="000000"/>
                </a:solidFill>
              </a:rPr>
              <a:t> = LI-600 챔버 기온(Tref), 잎 온도는 처리 영향을 받아 제외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큰 차이(g</a:t>
            </a:r>
            <a:r>
              <a:rPr sz="1600" baseline="-25000">
                <a:solidFill>
                  <a:srgbClr val="E97132"/>
                </a:solidFill>
              </a:rPr>
              <a:t>sw</a:t>
            </a:r>
            <a:r>
              <a:rPr sz="1600">
                <a:solidFill>
                  <a:srgbClr val="E97132"/>
                </a:solidFill>
              </a:rPr>
              <a:t>, F</a:t>
            </a:r>
            <a:r>
              <a:rPr sz="1600" baseline="-25000">
                <a:solidFill>
                  <a:srgbClr val="E97132"/>
                </a:solidFill>
              </a:rPr>
              <a:t>s</a:t>
            </a:r>
            <a:r>
              <a:rPr sz="1600">
                <a:solidFill>
                  <a:srgbClr val="E97132"/>
                </a:solidFill>
              </a:rPr>
              <a:t>, 콩 P2)는 기온 포함 여부와 무관 — 작은 차이(콩 P1 ETR)는 기온 공변량에 민감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dirty="0" err="1">
                <a:solidFill>
                  <a:srgbClr val="595959"/>
                </a:solidFill>
              </a:rPr>
              <a:t>그림 A: 콩 P2 개별 잎, 선 = 보정 후 PAR 기울기. B·C: 측정일별 평균 ± SE. 표: 콩 P1(P2는 4처리). 적용: 9·11~15쪽 표·그림, 10쪽 비율은 PAR+기온 보정(표 괄호 = PAR만; 원 평균), 처리 전(X)·F</a:t>
            </a:r>
            <a:r>
              <a:rPr sz="1000" dirty="0" err="1" baseline="-25000">
                <a:solidFill>
                  <a:srgbClr val="595959"/>
                </a:solidFill>
              </a:rPr>
              <a:t>m</a:t>
            </a:r>
            <a:r>
              <a:rPr sz="1000" dirty="0" err="1">
                <a:solidFill>
                  <a:srgbClr val="595959"/>
                </a:solidFill>
              </a:rPr>
              <a:t>·F</a:t>
            </a:r>
            <a:r>
              <a:rPr sz="1000" dirty="0" err="1" baseline="-25000">
                <a:solidFill>
                  <a:srgbClr val="595959"/>
                </a:solidFill>
              </a:rPr>
              <a:t>v</a:t>
            </a:r>
            <a:r>
              <a:rPr sz="1000" dirty="0" err="1">
                <a:solidFill>
                  <a:srgbClr val="595959"/>
                </a:solidFill>
              </a:rPr>
              <a:t>/F</a:t>
            </a:r>
            <a:r>
              <a:rPr sz="1000" dirty="0" err="1" baseline="-25000">
                <a:solidFill>
                  <a:srgbClr val="595959"/>
                </a:solidFill>
              </a:rPr>
              <a:t>m</a:t>
            </a:r>
            <a:r>
              <a:rPr sz="1000" dirty="0" err="1">
                <a:solidFill>
                  <a:srgbClr val="595959"/>
                </a:solidFill>
              </a:rPr>
              <a:t>은 보정 없음. Ali et al. (2025) JXB 76:4141; Gao et al. (2024) JXB 75:4904.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Limitations</a:t>
            </a:r>
            <a:br>
              <a:rPr lang="en-US" altLang="ko-KR" sz="2800" dirty="0"/>
            </a:br>
            <a:r>
              <a:rPr lang="ko-KR" altLang="en-US" sz="3200" dirty="0"/>
              <a:t>한계점: 처리 강도와 비교의 한계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91" y="1188720"/>
            <a:ext cx="6720537" cy="2689761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로메인 침수 = 3일 침지 후 과습 유지 (배수 후에도 대조구보다 약 200~300 g 무거움, 관수량은 대조구의 56%)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로메인 건조 실제 관수 = 대조구의 43%(목표 50%), 복합 37% — 건조 기간(10/12~23)이 짧고 저온(평균 18 °C)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콩: 뿌리가 배수구로 이탈(지면 접촉), 침수 시 이탈 뿌리 절단 → 건조 강도 희석 가능, 뿌리 건조중은 포트 안 회수분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콩 DAT 55 '차이 없음'은 검출 한계 약 40~50%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계절·온실·기온(18 vs 28 °C)·생육단계가 달라 작물 차이는 가설 수준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로메인 침수 = 3일 침지 후 과습 유지, 콩은 포트 밖 뿌리로 건조 강도가 희석됐을 수 있음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관수: 포트에 들어간 누적 관수량(대조구 대비), 콩 8/16~10/6, 로메인 10/12~10/22. 로메인 화분 무게: 증산량 시트 관수 전 무게(ETc·침수 각 3반복). 50% 처리는 간헐 관수(콩 관수일: 대조 64/67, 건조 58/66, 침수 63/65, 복합 48/67일).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기공전도도 (g</a:t>
            </a:r>
            <a:r>
              <a:rPr lang="ko-KR" altLang="en-US" sz="3200" baseline="-25000" dirty="0"/>
              <a:t>sw</a:t>
            </a:r>
            <a:r>
              <a:rPr lang="ko-KR" altLang="en-US" sz="3200" dirty="0"/>
              <a:t>): 실제 값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147994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231821"/>
              </p:ext>
            </p:extLst>
          </p:nvPr>
        </p:nvGraphicFramePr>
        <p:xfrm>
          <a:off x="457200" y="315468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0.353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(0.358; 0.363)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0.355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(0.351; 0.347)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(0.264; 0.264)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0.155 ab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(0.153; 0.155)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0.215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(0.212; 0.224)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0.249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(0.249; 0.248)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0.113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(0.112; 0.113)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(0.261; 0.273)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0.346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(0.348; 0.353)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0.255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(0.255; 0.254)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0.161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(0.160; 0.162)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0.226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(0.229; 0.233)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0.237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(0.237; 0.237)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0.144 ab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(0.143; 0.145)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 (측정일 반복)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 0.006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I 0.001; W×I 0.99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n.s. (보정 모형 0.20)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I 0.015 (반복 n.s., 0.11)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처리 × 측정일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0.085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0.067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P1:</a:t>
            </a:r>
            <a:r>
              <a:rPr sz="1400">
                <a:solidFill>
                  <a:srgbClr val="000000"/>
                </a:solidFill>
              </a:rPr>
              <a:t> 침수 0.26 vs 대조구 0.35 — 측정일을 반복으로 해도 유의 (P=0.006)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P2:</a:t>
            </a:r>
            <a:r>
              <a:rPr sz="1400">
                <a:solidFill>
                  <a:srgbClr val="000000"/>
                </a:solidFill>
              </a:rPr>
              <a:t> 건조·복합 0.22~0.23 &lt; 대조구·침수 0.35, 관수 효과만 유의 (P=0.001; W × I P=0.99)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로메인 P1:</a:t>
            </a:r>
            <a:r>
              <a:rPr sz="1400">
                <a:solidFill>
                  <a:srgbClr val="000000"/>
                </a:solidFill>
              </a:rPr>
              <a:t> 4처리 차이 없음 (P=0.20) — 침수 중(DAT 2~4) 0.10→0.028→0.10 vs 대조구 0.24~0.29, DAT 5부터 대조구 수준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P2:  건조 0.113 (b) &lt; 침수 0.161 (a), 관수 효과 P=0.015 (측정일 반복은 n.s., P=0.11); DAT 16 건조 0.055 vs 대조구 0.144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최저값: DAT 3에 대조구의 10% (0.026 vs 0.256)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기공은 두 작물 모두 침수에 즉시 반응 — </a:t>
            </a:r>
            <a:r>
              <a:rPr sz="1600" b="1">
                <a:solidFill>
                  <a:srgbClr val="E97132"/>
                </a:solidFill>
              </a:rPr>
              <a:t>차이는 회복 속도에서 나타남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PAR·기온 보정 평균, Tukey 문자. 괄호 = (PAR만 보정; 원 평균). P(측정일 반복) = 처리별 측정일 평균 ~ 침수 × 관수 + 측정일 (W 침수, I 관수). 그림(보정 일평균): 음영 ± SE, 회색 띠 흐린 날, * 당일 P&lt;0.05(Holm).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기공 회복: 로메인은 빠르게, 콩은 느리게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8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3138054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b="1" dirty="0">
                <a:solidFill>
                  <a:srgbClr val="000000"/>
                </a:solidFill>
              </a:rPr>
              <a:t>로메인:</a:t>
            </a:r>
            <a:r>
              <a:rPr lang="ko-KR" altLang="en-US" sz="1250" dirty="0">
                <a:solidFill>
                  <a:srgbClr val="000000"/>
                </a:solidFill>
              </a:rPr>
              <a:t> DAT 3 최저(10%) → 침수 종료 후 DAT 5~6(87~98%)에 대조구 수준 회복 (DAT 4 36%)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b="1" dirty="0">
                <a:solidFill>
                  <a:srgbClr val="000000"/>
                </a:solidFill>
              </a:rPr>
              <a:t>콩:</a:t>
            </a:r>
            <a:r>
              <a:rPr lang="ko-KR" altLang="en-US" sz="1250" dirty="0">
                <a:solidFill>
                  <a:srgbClr val="000000"/>
                </a:solidFill>
              </a:rPr>
              <a:t> DAT 2~9에 39~90%로 낮음(DAT 9 52%) → DAT 17 86%(흐림, 차이 없음), DAT 23 99%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같은 3일 침수에도 로메인은 배수 2~3일 만에 회복, 콩은 DAT 9까지 회복되지 않음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침수구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÷ 같은 날 대조구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× 100 (로메인: PAR·기온 보정 일평균). * 대조 vs 침수 P&lt;0.05(Welch t, Holm 보정). 회색 띠 = 흐린 날(CI&lt;0.5). 콩 수치는 기존 분석값(DAT 10~16은 측정 없음).</a:t>
            </a:r>
          </a:p>
        </p:txBody>
      </p:sp>
      <p:sp>
        <p:nvSpPr>
          <p:cNvPr id="5" name="Rounded Rectangle 9"/>
          <p:cNvSpPr/>
          <p:nvPr/>
        </p:nvSpPr>
        <p:spPr>
          <a:xfrm>
            <a:off x="82296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0"/>
          <p:cNvSpPr txBox="1"/>
          <p:nvPr/>
        </p:nvSpPr>
        <p:spPr>
          <a:xfrm>
            <a:off x="86868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2~3일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86868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로메인: 침수 종료 후 대조구 수준까지 회복</a:t>
            </a:r>
          </a:p>
        </p:txBody>
      </p:sp>
      <p:sp>
        <p:nvSpPr>
          <p:cNvPr id="15" name="Rounded Rectangle 9"/>
          <p:cNvSpPr/>
          <p:nvPr/>
        </p:nvSpPr>
        <p:spPr>
          <a:xfrm>
            <a:off x="406908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/>
          <p:cNvSpPr txBox="1"/>
          <p:nvPr/>
        </p:nvSpPr>
        <p:spPr>
          <a:xfrm>
            <a:off x="411480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DAT 9: 52%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411480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콩: 침수 종료 6일 후에도 미회복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로메인 침수 직후(10/10): 대조 vs 침수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01" y="1188720"/>
            <a:ext cx="6633918" cy="196398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858000" cy="18227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10/10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Waterlogging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Waterlog./Control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P (Welch t)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Vcmax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(A-Ci, 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114.6 ± 8.0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89.4 ± 3.5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78%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0.070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Jmax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(A-Ci, 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195.6 ± 12.1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153.4 ± 10.2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78%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0.058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(A-Ci, 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2.31 ± 0.20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1.98 ± 0.08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gsw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(LI-600, n=12)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0.256 ± 0.009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0.026 ± 0.009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ΦPSII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(LI-600, n=12)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0.552 ± 0.019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0.485 ± 0.019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33776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Fv/Fm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(암적응, n=9)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0.829 ± 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0.820 ± 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99%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기공: g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250" dirty="0">
                <a:solidFill>
                  <a:srgbClr val="000000"/>
                </a:solidFill>
              </a:rPr>
              <a:t> 0.026 vs 0.256 (대조구의 10%, P&lt;0.001)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광계 II: Φ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PSII</a:t>
            </a:r>
            <a:r>
              <a:rPr lang="ko-KR" altLang="en-US" sz="1250" dirty="0">
                <a:solidFill>
                  <a:srgbClr val="000000"/>
                </a:solidFill>
              </a:rPr>
              <a:t> 88% (P=0.023, 보정), F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v</a:t>
            </a:r>
            <a:r>
              <a:rPr lang="ko-KR" altLang="en-US" sz="1250" dirty="0">
                <a:solidFill>
                  <a:srgbClr val="000000"/>
                </a:solidFill>
              </a:rPr>
              <a:t>/F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m</a:t>
            </a:r>
            <a:r>
              <a:rPr lang="ko-KR" altLang="en-US" sz="1250" dirty="0">
                <a:solidFill>
                  <a:srgbClr val="000000"/>
                </a:solidFill>
              </a:rPr>
              <a:t> 0.820 vs 0.829 (P=0.011) — 작지만 유의한 감소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생화학 능력: V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cmax</a:t>
            </a:r>
            <a:r>
              <a:rPr lang="ko-KR" altLang="en-US" sz="1250" dirty="0">
                <a:solidFill>
                  <a:srgbClr val="000000"/>
                </a:solidFill>
              </a:rPr>
              <a:t> 78% (P=0.070), J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max</a:t>
            </a:r>
            <a:r>
              <a:rPr lang="ko-KR" altLang="en-US" sz="1250" dirty="0">
                <a:solidFill>
                  <a:srgbClr val="000000"/>
                </a:solidFill>
              </a:rPr>
              <a:t> 78% (P=0.058) — 감소 경향이나 n=3이라 유의하지 않음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→ 기공이 거의 닫혔고(10%) PSII·생화학 지표도 함께 낮아지는 경향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Φ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PSII</a:t>
            </a:r>
            <a:r>
              <a:rPr lang="ko-KR" altLang="en-US" sz="1250" dirty="0">
                <a:solidFill>
                  <a:srgbClr val="000000"/>
                </a:solidFill>
              </a:rPr>
              <a:t>는 원 평균으로는 P=0.26: 보정(대조 PAR 843 vs 침수 781) 후 유의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침수 3일째 g</a:t>
            </a:r>
            <a:r>
              <a:rPr sz="1600" baseline="-25000">
                <a:solidFill>
                  <a:srgbClr val="E97132"/>
                </a:solidFill>
              </a:rPr>
              <a:t>sw</a:t>
            </a:r>
            <a:r>
              <a:rPr sz="1600">
                <a:solidFill>
                  <a:srgbClr val="E97132"/>
                </a:solidFill>
              </a:rPr>
              <a:t>는 10%로 급감, F</a:t>
            </a:r>
            <a:r>
              <a:rPr sz="1600" baseline="-25000">
                <a:solidFill>
                  <a:srgbClr val="E97132"/>
                </a:solidFill>
              </a:rPr>
              <a:t>v</a:t>
            </a:r>
            <a:r>
              <a:rPr sz="1600">
                <a:solidFill>
                  <a:srgbClr val="E97132"/>
                </a:solidFill>
              </a:rPr>
              <a:t>/F</a:t>
            </a:r>
            <a:r>
              <a:rPr sz="1600" baseline="-25000">
                <a:solidFill>
                  <a:srgbClr val="E97132"/>
                </a:solidFill>
              </a:rPr>
              <a:t>m</a:t>
            </a:r>
            <a:r>
              <a:rPr sz="1600">
                <a:solidFill>
                  <a:srgbClr val="E97132"/>
                </a:solidFill>
              </a:rPr>
              <a:t>·Φ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도 작게 감소 — V</a:t>
            </a:r>
            <a:r>
              <a:rPr sz="1600" baseline="-25000">
                <a:solidFill>
                  <a:srgbClr val="E97132"/>
                </a:solidFill>
              </a:rPr>
              <a:t>cmax</a:t>
            </a:r>
            <a:r>
              <a:rPr sz="1600">
                <a:solidFill>
                  <a:srgbClr val="E97132"/>
                </a:solidFill>
              </a:rPr>
              <a:t>·J</a:t>
            </a:r>
            <a:r>
              <a:rPr sz="1600" baseline="-25000">
                <a:solidFill>
                  <a:srgbClr val="E97132"/>
                </a:solidFill>
              </a:rPr>
              <a:t>max</a:t>
            </a:r>
            <a:r>
              <a:rPr sz="1600">
                <a:solidFill>
                  <a:srgbClr val="E97132"/>
                </a:solidFill>
              </a:rPr>
              <a:t>는 ~78% (검출력 낮음)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10/10 A-Ci 처리당 3곡선(Welch t), LI-600 처리당 12잎(당일 PAR·기온 보정, Wald F), 암적응 F</a:t>
            </a:r>
            <a:r>
              <a:rPr sz="1000" baseline="-25000">
                <a:solidFill>
                  <a:srgbClr val="595959"/>
                </a:solidFill>
              </a:rPr>
              <a:t>v</a:t>
            </a:r>
            <a:r>
              <a:rPr sz="1000">
                <a:solidFill>
                  <a:srgbClr val="595959"/>
                </a:solidFill>
              </a:rPr>
              <a:t>/F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 처리당 9잎(20~21시, Welch t). 상자: 사분위, 가로선: 평균 ± SE(n&lt;4).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Φ</a:t>
            </a:r>
            <a:r>
              <a:rPr lang="ko-KR" altLang="en-US" sz="3200" baseline="-25000" dirty="0"/>
              <a:t>PSII</a:t>
            </a:r>
            <a:r>
              <a:rPr lang="ko-KR" altLang="en-US" sz="3200" dirty="0"/>
              <a:t>: 콩 건조 저하는 고광도에서만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129334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54680"/>
          <a:ext cx="6720840" cy="2048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 (300)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 (1,200)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0.704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(0.701; 0.694)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0.68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0.611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(0.611; 0.599)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0.645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(0.645; 0.658)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0.72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0.50 c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0.595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(0.595; 0.612)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0.649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(0.649; 0.661)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0.679 b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(0.680; 0.687)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0.74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0.58 b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0.591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(0.591; 0.595)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0.642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(0.642; 0.637)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0.73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0.54 bc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0.585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(0.585; 0.576)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0.655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(0.655; 0.642)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 (측정일 반복)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 0.44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I 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W×I 0.027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 0.24 (n.s.)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처리 × PAR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P1: 측정일 반복 검정은 두 작물 모두 차이 없음 (콩 P=0.44, 로메인 P=0.24). 콩 광도·기온 보정 평균은 침수 0.679 &lt; 대조구 0.704 (P&lt;0.001)로 차이가 작고 보정 방식에 따라 달라짐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P2:</a:t>
            </a:r>
            <a:r>
              <a:rPr sz="1400">
                <a:solidFill>
                  <a:srgbClr val="000000"/>
                </a:solidFill>
              </a:rPr>
              <a:t> 저광(300)에서는 0.72~0.75로 차이 없음, 고광(1,200)에서 건조 0.50 &lt; 복합 0.54 &lt; 침수 0.58 &lt; 대조구 0.68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처리 × 광도 상호작용 P&lt;0.001 — 건조의 명반응 저하는 과잉광에서만 (기공 제한의 2차 결과와 부합)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침수 × 관수 상호작용은 측정일 반복 검정에서도 유지 (P=0.027)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로메인은 P1 0.585~0.611 (침수 효과 P=0.049, 처리 P=0.10), P2 0.642~0.655 (P=0.75): 구간 차이 없음 — DAT 3·7 침수구가 낮았으나 당일 Holm 후 n.s.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 건조의 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 저하는 고광도에서만 — 로메인은 잎 광화학 효율 변화 작음 (침수 후 약 3% 낮은 경향)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PAR·기온 보정 평균(콩 P2는 처리 × PAR 모형의 PPFD 300·1,200 예측, 9/4 기준). 괄호 = (PAR만 보정; 원 평균), P2 예측은 PAR만 보정. P(측정일 반복) = 처리별 측정일 평균 ~ 침수 × 관수 + 측정일. 문자: Tukey(로메인은 n.s.라 모두 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정상 상태 형광 (F</a:t>
            </a:r>
            <a:r>
              <a:rPr lang="ko-KR" altLang="en-US" sz="3200" baseline="-25000" dirty="0"/>
              <a:t>s</a:t>
            </a:r>
            <a:r>
              <a:rPr lang="ko-KR" altLang="en-US" sz="3200" dirty="0"/>
              <a:t>): 실제 값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14637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5468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129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(130; 130)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113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(114; 110)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157.3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(157.1; 158.3)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142.1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(142.8; 143.2)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132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(133; 134)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161.0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(161.0; 159.3)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141.8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(142.5; 142.7)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139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(139; 138)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(131; 129)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158.0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(158.0; 157.7)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141.6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(142.1; 141.2)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134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(133; 131)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161.6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(161.7; 162.6)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144.5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(144.7; 143.4)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 × I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Treatment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처리 전 F</a:t>
            </a:r>
            <a:r>
              <a:rPr sz="1400" baseline="-25000">
                <a:solidFill>
                  <a:srgbClr val="000000"/>
                </a:solidFill>
              </a:rPr>
              <a:t>s</a:t>
            </a:r>
            <a:r>
              <a:rPr sz="1400">
                <a:solidFill>
                  <a:srgbClr val="000000"/>
                </a:solidFill>
              </a:rPr>
              <a:t>: 콩 118, 로메인 154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P1 침수 139 (a) &gt; 대조구 129 (b), P2 건조·침수·복합 131~134 (a) &gt; 대조구 113 (b)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P1 155~162, P2 142~145: 처리 간 차이 없음 (P=0.66, 0.92) — P1 처리 × 측정일 P=0.046: 날짜마다 순위가 바뀜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F</a:t>
            </a:r>
            <a:r>
              <a:rPr sz="1600" baseline="-25000">
                <a:solidFill>
                  <a:srgbClr val="E97132"/>
                </a:solidFill>
              </a:rPr>
              <a:t>s</a:t>
            </a:r>
            <a:r>
              <a:rPr sz="1600">
                <a:solidFill>
                  <a:srgbClr val="E97132"/>
                </a:solidFill>
              </a:rPr>
              <a:t> 절대값 차이는 형광 신호 크기 변화를 포함 — 생리 해석은 비율 지표(Φ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, F</a:t>
            </a:r>
            <a:r>
              <a:rPr sz="1600" baseline="-25000">
                <a:solidFill>
                  <a:srgbClr val="E97132"/>
                </a:solidFill>
              </a:rPr>
              <a:t>v</a:t>
            </a:r>
            <a:r>
              <a:rPr sz="1600">
                <a:solidFill>
                  <a:srgbClr val="E97132"/>
                </a:solidFill>
              </a:rPr>
              <a:t>/F</a:t>
            </a:r>
            <a:r>
              <a:rPr sz="1600" baseline="-25000">
                <a:solidFill>
                  <a:srgbClr val="E97132"/>
                </a:solidFill>
              </a:rPr>
              <a:t>m</a:t>
            </a:r>
            <a:r>
              <a:rPr sz="1600">
                <a:solidFill>
                  <a:srgbClr val="E97132"/>
                </a:solidFill>
              </a:rPr>
              <a:t>)로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PAR(Q</a:t>
            </a:r>
            <a:r>
              <a:rPr sz="1000" baseline="-25000">
                <a:solidFill>
                  <a:srgbClr val="595959"/>
                </a:solidFill>
              </a:rPr>
              <a:t>amb</a:t>
            </a:r>
            <a:r>
              <a:rPr sz="1000">
                <a:solidFill>
                  <a:srgbClr val="595959"/>
                </a:solidFill>
              </a:rPr>
              <a:t>)·기온(T</a:t>
            </a:r>
            <a:r>
              <a:rPr sz="1000" baseline="-25000">
                <a:solidFill>
                  <a:srgbClr val="595959"/>
                </a:solidFill>
              </a:rPr>
              <a:t>air</a:t>
            </a:r>
            <a:r>
              <a:rPr sz="1000">
                <a:solidFill>
                  <a:srgbClr val="595959"/>
                </a:solidFill>
              </a:rPr>
              <a:t>) 보정 평균, Tukey 문자, 괄호 = (PAR만 보정; 원 평균). 공통 측정일만 사용(로메인 P1 = DAT 5~10). W × I = 침수 × 관수 상호작용. 그림(보정 일평균): 음영 ± SE, 점선 P1/P2 경계, 회색 띠 흐린 날, * 당일 P&lt;0.05(Holm), X 처리 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전자전달속도 (ETR): 실제 값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146158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98316"/>
              </p:ext>
            </p:extLst>
          </p:nvPr>
        </p:nvGraphicFramePr>
        <p:xfrm>
          <a:off x="457200" y="315468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119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(116; 121)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190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(189; 170)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141.7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(141.5; 147.1)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75.6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(76.4; 72.3)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146 c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(146; 154)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137.8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(137.8; 129.8)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78.3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(79.0; 75.5)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110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(111; 109)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180 ab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(180; 175)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132.7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(132.7; 130.8)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72.7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(73.2; 75.6)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165 bc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(165; 152)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130.1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(130.2; 134.5)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80.4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(80.5; 85.6)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 × I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Treatment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처리 전 ETR: 콩 187 (로메인은 그림의 × 참조)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P1 대조구 119 (a) vs 침수 110 (b) (P=0.021, 광도·기온 보정 방식에 따라 유의성이 달라짐), P2 대조구 190 (a) &gt; 복합 165 (bc) &gt; 건조 146 (c) (W × I P=0.036)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P1 대조구 142 &gt; 침수 133·복합 130 (침수 효과 P=0.011, 처리 P=0.060; 측정일 반복 n.s., P=0.46), P2 차이 없음 (P=0.61)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ETR은 측정 당시 광도(PPFD)에 의존 — 광도 보정 평균으로 비교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ETR은 광도에 비례 — 콩 P2 처리 차이는 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와 같이 고광도에서 커짐 (보정 평균은 참고)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PAR(Q</a:t>
            </a:r>
            <a:r>
              <a:rPr sz="1000" baseline="-25000">
                <a:solidFill>
                  <a:srgbClr val="595959"/>
                </a:solidFill>
              </a:rPr>
              <a:t>amb</a:t>
            </a:r>
            <a:r>
              <a:rPr sz="1000">
                <a:solidFill>
                  <a:srgbClr val="595959"/>
                </a:solidFill>
              </a:rPr>
              <a:t>)·기온(T</a:t>
            </a:r>
            <a:r>
              <a:rPr sz="1000" baseline="-25000">
                <a:solidFill>
                  <a:srgbClr val="595959"/>
                </a:solidFill>
              </a:rPr>
              <a:t>air</a:t>
            </a:r>
            <a:r>
              <a:rPr sz="1000">
                <a:solidFill>
                  <a:srgbClr val="595959"/>
                </a:solidFill>
              </a:rPr>
              <a:t>) 보정 평균, Tukey 문자, 괄호 = (PAR만 보정; 원 평균). 공통 측정일만 사용(로메인 P1 = DAT 5~10). W × I = 침수 × 관수 상호작용. 그림(보정 일평균): 음영 ± SE, 점선 P1/P2 경계, 회색 띠 흐린 날, * 당일 P&lt;0.05(Holm), X 처리 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광계 II 손상과 형광 신호 크기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159265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91450"/>
              </p:ext>
            </p:extLst>
          </p:nvPr>
        </p:nvGraphicFramePr>
        <p:xfrm>
          <a:off x="457200" y="3154680"/>
          <a:ext cx="7635240" cy="15361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′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 (dark)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′/F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155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458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655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3.06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158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(102%)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449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(98%)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653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2.96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156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443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636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2.98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(98%)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160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(103%)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452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(99%)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657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2.95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0.78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8275320" y="1399032"/>
            <a:ext cx="342900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8458200" y="1188720"/>
            <a:ext cx="3063240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7830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콩 침수 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v</a:t>
            </a:r>
            <a:r>
              <a:rPr lang="ko-KR" altLang="en-US" sz="1100" dirty="0">
                <a:solidFill>
                  <a:srgbClr val="000000"/>
                </a:solidFill>
              </a:rPr>
              <a:t>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: DAT 5~8에 0.82~0.83 &lt; 대조구 0.84 — 경미·일시적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로메인 침수 중 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v</a:t>
            </a:r>
            <a:r>
              <a:rPr lang="ko-KR" altLang="en-US" sz="1100" dirty="0">
                <a:solidFill>
                  <a:srgbClr val="000000"/>
                </a:solidFill>
              </a:rPr>
              <a:t>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 0.820~0.822 &lt; 대조구 0.827~0.831 (DAT 2~4, Holm 후 n.s.), DAT 6 침수 0.812 &lt; 대조 0.828 (Holm P=0.047)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로메인 P1 신호 크기(F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s</a:t>
            </a:r>
            <a:r>
              <a:rPr lang="ko-KR" altLang="en-US" sz="1100" dirty="0">
                <a:solidFill>
                  <a:srgbClr val="000000"/>
                </a:solidFill>
              </a:rPr>
              <a:t>·F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′·F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·F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′/F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s</a:t>
            </a:r>
            <a:r>
              <a:rPr lang="ko-KR" altLang="en-US" sz="1100" dirty="0">
                <a:solidFill>
                  <a:srgbClr val="000000"/>
                </a:solidFill>
              </a:rPr>
              <a:t>) 차이 없음 (P≥0.11), 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v</a:t>
            </a:r>
            <a:r>
              <a:rPr lang="ko-KR" altLang="en-US" sz="1100" dirty="0">
                <a:solidFill>
                  <a:srgbClr val="000000"/>
                </a:solidFill>
              </a:rPr>
              <a:t>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 감소 ≈1%로 모두 0.80 이상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콩 ΦNO·NPQ → 광도·측정일 의존이 커 본 자료에서 제외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광계 II 손상은 콩·로메인 모두 침수 직후 경미·일시적 — 로메인 형광 신호 크기 변화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F</a:t>
            </a:r>
            <a:r>
              <a:rPr sz="1000" baseline="-25000">
                <a:solidFill>
                  <a:srgbClr val="595959"/>
                </a:solidFill>
              </a:rPr>
              <a:t>v</a:t>
            </a:r>
            <a:r>
              <a:rPr sz="1000">
                <a:solidFill>
                  <a:srgbClr val="595959"/>
                </a:solidFill>
              </a:rPr>
              <a:t>/F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: LI-600 야간 암적응, 평균 ± SE, * 당일 ANOVA P&lt;0.05. 콩 건조·복합구는 DAT 29만(9/28 LI-6800 값 제외). 신호 크기 표·그림: 로메인 P1(DAT 5~10), F</a:t>
            </a:r>
            <a:r>
              <a:rPr sz="1000" baseline="-25000">
                <a:solidFill>
                  <a:srgbClr val="595959"/>
                </a:solidFill>
              </a:rPr>
              <a:t>s</a:t>
            </a:r>
            <a:r>
              <a:rPr sz="1000">
                <a:solidFill>
                  <a:srgbClr val="595959"/>
                </a:solidFill>
              </a:rPr>
              <a:t>·F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′는 PAR·기온 보정, 암적응 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은 보정 없음. 문자: Tukey.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광합성 능력 (9</a:t>
            </a:r>
            <a:r>
              <a:rPr lang="en-US" altLang="ko-KR" sz="3200" dirty="0"/>
              <a:t>, 10</a:t>
            </a:r>
            <a:r>
              <a:rPr lang="ko-KR" altLang="en-US" sz="3200" dirty="0"/>
              <a:t>월): A-Ci, A-Q 파라미터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347" y="1188720"/>
            <a:ext cx="5672583" cy="25146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19548"/>
              </p:ext>
            </p:extLst>
          </p:nvPr>
        </p:nvGraphicFramePr>
        <p:xfrm>
          <a:off x="457200" y="3794760"/>
          <a:ext cx="6812280" cy="18470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cmax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α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cmax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α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Pre-treatment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60.4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83.3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1.44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98.3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172.7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1.70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26.4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1.44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18.5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0.049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103.6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200.1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1.94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26.1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104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1.04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19.4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94.0 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174.9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2.06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25.0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Flooding-ETc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1.16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0.046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81.4 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151.0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1.93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28.9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0.059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Flooding-ETc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120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0.86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18.6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0.048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73.1 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141.8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1.76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21.6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P (ANOVA)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0.686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0.420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0.082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0.58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0.79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9월 A-Ci:</a:t>
            </a:r>
            <a:r>
              <a:rPr sz="1400">
                <a:solidFill>
                  <a:srgbClr val="000000"/>
                </a:solidFill>
              </a:rPr>
              <a:t>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대조구 90 (a) &gt; 침수 85 &gt; 복합 75 &gt; 건조 68 (b) (P=0.011), 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대조구·침수 (a) &gt; 복합·건조 (b) (P&lt;0.001) — 관수 주효과만 유의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8월(DAT 7~9) A-Ci 13곡선은 처리 간 차이 없음 (V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P=0.23)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: 대조구 104 (a) &gt; 건조 94 &gt; 침수 81 &gt; 복합 73 (b) (P=0.043, 침수 P=0.009), 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같은 순서로 감소 경향 (P=0.082)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Rd·Amax·α·A-Q 곡선은 두 작물 모두 차이 없음 (로메인 P≥0.58). 처리별 측정일이 달라(콩 9/2~9/17, 로메인 10/16~19) 측정일과 교락 — 해석 주의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 건조·복합구(9월)와 로메인 침수·복합구(10월)는 V</a:t>
            </a:r>
            <a:r>
              <a:rPr sz="1600" baseline="-25000">
                <a:solidFill>
                  <a:srgbClr val="E97132"/>
                </a:solidFill>
              </a:rPr>
              <a:t>cmax</a:t>
            </a:r>
            <a:r>
              <a:rPr sz="1600">
                <a:solidFill>
                  <a:srgbClr val="E97132"/>
                </a:solidFill>
              </a:rPr>
              <a:t>·J</a:t>
            </a:r>
            <a:r>
              <a:rPr sz="1600" baseline="-25000">
                <a:solidFill>
                  <a:srgbClr val="E97132"/>
                </a:solidFill>
              </a:rPr>
              <a:t>max</a:t>
            </a:r>
            <a:r>
              <a:rPr sz="1600">
                <a:solidFill>
                  <a:srgbClr val="E97132"/>
                </a:solidFill>
              </a:rPr>
              <a:t>가 낮은 경향 (측정일 교락 주의)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상자: 사분위(n≥4), 가로선: 평균 ± SE(n&lt;4), 점: 개별 곡선, 문자: Tukey(ANOVA P&lt;0.05일 때만). 콩: 9월 파라미터 엑셀 'ACi·AQ 선택적 데이터' 시트(A-Ci 15곡선, A-Q 20곡선, 9/2~9/17). 8월 A-Ci는 측정 시기가 달라 별도 검정. 로메인: 10/16~19 (처리당 A-Ci 3~4곡선, A-Q 3곡선), 10/19 CR 4는 CR-2와 같은 개체라 제외. 회색 X: 처리 전(참고용).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A-Ci·A-Q 파라미터: 전체 곡선 포함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" y="1188720"/>
            <a:ext cx="6766560" cy="2441290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9월 A-Ci:</a:t>
            </a:r>
            <a:r>
              <a:rPr sz="1400">
                <a:solidFill>
                  <a:srgbClr val="000000"/>
                </a:solidFill>
              </a:rPr>
              <a:t> 36곡선 전체(4처리 26곡선 + 75·25% 10곡선)로 보면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 0.011 → 0.241, 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&lt;0.001 → 0.445, R</a:t>
            </a:r>
            <a:r>
              <a:rPr sz="1400" baseline="-25000">
                <a:solidFill>
                  <a:srgbClr val="000000"/>
                </a:solidFill>
              </a:rPr>
              <a:t>d</a:t>
            </a:r>
            <a:r>
              <a:rPr sz="1400">
                <a:solidFill>
                  <a:srgbClr val="000000"/>
                </a:solidFill>
              </a:rPr>
              <a:t> 0.049 → 0.510: 건조·복합의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·J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감소가 사라짐 (선별 15곡선에서만 유의)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9월 A-Q 35곡선: A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·α·θ·R</a:t>
            </a:r>
            <a:r>
              <a:rPr sz="1400" baseline="-25000">
                <a:solidFill>
                  <a:srgbClr val="000000"/>
                </a:solidFill>
              </a:rPr>
              <a:t>d</a:t>
            </a:r>
            <a:r>
              <a:rPr sz="1400">
                <a:solidFill>
                  <a:srgbClr val="000000"/>
                </a:solidFill>
              </a:rPr>
              <a:t> 모두 처리 간 차이 없음 (P 0.42~0.97), 공란 처리했던 6셀 복원 포함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8월 A-Ci 22곡선: 4처리 차이 없음 (V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P=0.24), 75·25% 포함 시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P=0.003·J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P=0.007로 처리 간 차이가 나타남 — 측정일 교락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이 부록 분석 자료 없음 (10/16~19 A-Ci·A-Q는 16쪽 본문, 10/19 CR 4는 CR-2와 같은 개체라 제외)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전체 곡선으로 보면 콩 9월 V</a:t>
            </a:r>
            <a:r>
              <a:rPr sz="1600" baseline="-25000">
                <a:solidFill>
                  <a:srgbClr val="E97132"/>
                </a:solidFill>
              </a:rPr>
              <a:t>cmax</a:t>
            </a:r>
            <a:r>
              <a:rPr sz="1600">
                <a:solidFill>
                  <a:srgbClr val="E97132"/>
                </a:solidFill>
              </a:rPr>
              <a:t>·J</a:t>
            </a:r>
            <a:r>
              <a:rPr sz="1600" baseline="-25000">
                <a:solidFill>
                  <a:srgbClr val="E97132"/>
                </a:solidFill>
              </a:rPr>
              <a:t>max</a:t>
            </a:r>
            <a:r>
              <a:rPr sz="1600">
                <a:solidFill>
                  <a:srgbClr val="E97132"/>
                </a:solidFill>
              </a:rPr>
              <a:t> 감소는 선별에 의존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상자: 사분위(n≥4), 가로선: 평균 ± SE(n&lt;4), 점: 개별 곡선, × = 사용자가 선택적 데이터에서 뺀 곡선(4처리 해당분), 문자: Tukey(ANOVA P&lt;0.05일 때만). 콩: 26_9월·260819 파라미터 results 시트.</a:t>
            </a:r>
          </a:p>
        </p:txBody>
      </p:sp>
    </p:spTree>
    <p:extLst>
      <p:ext uri="{BB962C8B-B14F-4D97-AF65-F5344CB8AC3E}">
        <p14:creationId xmlns:p14="http://schemas.microsoft.com/office/powerpoint/2010/main" val="4244796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광합성 능력 (8월): A-Ci 파라미터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Picture 6" descr="a_p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82" y="1378995"/>
            <a:ext cx="6808116" cy="245408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6858000" cy="1481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cmax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d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 (A-Ci)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n (curves)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55.3 ± 6.3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87.5 ± 9.2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2.63 ± 0.24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Drought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75.6 ± 5.2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117.0 ± 7.3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3.37 ± 0.51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Waterlogging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56.2 ± 12.4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83.2 ± 16.3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2.12 ± 0.35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Combined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61.2 ± 2.4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90.7 ± 5.8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2.91 ± 0.51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ANOVA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0.231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0.153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0.336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8월(8/19~8/21) A-Ci 선택적 데이터 13곡선 (대조구 3, 건조 3, 침수 3, 복합 4)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처리 간 차이 없음: V</a:t>
            </a:r>
            <a:r>
              <a:rPr sz="1400" b="0" baseline="-25000">
                <a:solidFill>
                  <a:srgbClr val="000000"/>
                </a:solidFill>
              </a:rPr>
              <a:t>cmax</a:t>
            </a:r>
            <a:r>
              <a:rPr sz="1400" b="0">
                <a:solidFill>
                  <a:srgbClr val="000000"/>
                </a:solidFill>
              </a:rPr>
              <a:t> P=0.23, J</a:t>
            </a:r>
            <a:r>
              <a:rPr sz="1400" b="0" baseline="-25000">
                <a:solidFill>
                  <a:srgbClr val="000000"/>
                </a:solidFill>
              </a:rPr>
              <a:t>max</a:t>
            </a:r>
            <a:r>
              <a:rPr sz="1400" b="0">
                <a:solidFill>
                  <a:srgbClr val="000000"/>
                </a:solidFill>
              </a:rPr>
              <a:t> P=0.15, R</a:t>
            </a:r>
            <a:r>
              <a:rPr sz="1400" b="0" baseline="-25000">
                <a:solidFill>
                  <a:srgbClr val="000000"/>
                </a:solidFill>
              </a:rPr>
              <a:t>d</a:t>
            </a:r>
            <a:r>
              <a:rPr sz="1400" b="0">
                <a:solidFill>
                  <a:srgbClr val="000000"/>
                </a:solidFill>
              </a:rPr>
              <a:t> P=0.34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A-Q 광곡선은 8월 측정 없음 (A</a:t>
            </a:r>
            <a:r>
              <a:rPr sz="1400" b="0" baseline="-25000">
                <a:solidFill>
                  <a:srgbClr val="000000"/>
                </a:solidFill>
              </a:rPr>
              <a:t>max</a:t>
            </a:r>
            <a:r>
              <a:rPr sz="1400" b="0">
                <a:solidFill>
                  <a:srgbClr val="000000"/>
                </a:solidFill>
              </a:rPr>
              <a:t>·α는 9월부터)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처리별 측정일이 달라(대조구 8/19, 건조 8/21, 침수 8/19·20, 복합 8/19·21) 처리 효과와 측정일이 섞임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8월 A-Ci 파라미터도 </a:t>
            </a:r>
            <a:r>
              <a:rPr sz="1600" b="1">
                <a:solidFill>
                  <a:srgbClr val="AA572C"/>
                </a:solidFill>
              </a:rPr>
              <a:t>처리 간 차이 없음</a:t>
            </a:r>
            <a:r>
              <a:rPr sz="1600" b="0">
                <a:solidFill>
                  <a:srgbClr val="AA572C"/>
                </a:solidFill>
              </a:rPr>
              <a:t> (처리당 3~4곡선)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상자·점: 개별 곡선, 문자는 4처리 Tukey (ANOVA P≥0.05는 모두 a). 밭콩 8월: 260819 파라미터 엑셀 'Aci 선택적 데이터' 시트. 슬라이드 12(9월)와 측정일·계절이 달라 합치지 않음.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LI-6800 광-광합성 곡선 (A-Q)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427" y="1393195"/>
            <a:ext cx="5554426" cy="260856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06255"/>
              </p:ext>
            </p:extLst>
          </p:nvPr>
        </p:nvGraphicFramePr>
        <p:xfrm>
          <a:off x="457200" y="4343400"/>
          <a:ext cx="6858000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A at PPFD 1500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-100%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-50%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rgbClr val="000000"/>
                          </a:solidFill>
                        </a:rPr>
                        <a:t>Soybean</a:t>
                      </a:r>
                      <a:endParaRPr sz="105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12.9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16.4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16.7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12.5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15.8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PPFD 8개 수준 모두에서 처리 간 유의차 없음 (최소 P: 밭콩 0.057)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처리 전 곡선은 처리 후보다 낮음 (1500에서 밭콩 약 13)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밭콩 침수구는 12.5로 대조구 16.4보다 낮은 경향 (P≈0.06)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로메인: A-PPFD 곡선 자료 없음 (A</a:t>
            </a:r>
            <a:r>
              <a:rPr sz="1400" b="0" baseline="-25000">
                <a:solidFill>
                  <a:srgbClr val="000000"/>
                </a:solidFill>
              </a:rPr>
              <a:t>max</a:t>
            </a:r>
            <a:r>
              <a:rPr sz="1400" b="0">
                <a:solidFill>
                  <a:srgbClr val="000000"/>
                </a:solidFill>
              </a:rPr>
              <a:t>·α는 16쪽: 처리 간 차이 없음, P≥0.58)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처리 전 곡선보다 처리 후가 높고, </a:t>
            </a:r>
            <a:r>
              <a:rPr sz="1600" b="1">
                <a:solidFill>
                  <a:srgbClr val="AA572C"/>
                </a:solidFill>
              </a:rPr>
              <a:t>처리 간 A-Q 곡선 차이는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값: 평균 ± SE (µmol CO</a:t>
            </a:r>
            <a:r>
              <a:rPr sz="1000" b="0" baseline="-25000">
                <a:solidFill>
                  <a:srgbClr val="595959"/>
                </a:solidFill>
              </a:rPr>
              <a:t>2</a:t>
            </a:r>
            <a:r>
              <a:rPr sz="1000" b="0">
                <a:solidFill>
                  <a:srgbClr val="595959"/>
                </a:solidFill>
              </a:rPr>
              <a:t> m</a:t>
            </a:r>
            <a:r>
              <a:rPr sz="1000" b="0" baseline="30000">
                <a:solidFill>
                  <a:srgbClr val="595959"/>
                </a:solidFill>
              </a:rPr>
              <a:t>−2</a:t>
            </a:r>
            <a:r>
              <a:rPr sz="1000" b="0">
                <a:solidFill>
                  <a:srgbClr val="595959"/>
                </a:solidFill>
              </a:rPr>
              <a:t>·s</a:t>
            </a:r>
            <a:r>
              <a:rPr sz="1000" b="0" baseline="30000">
                <a:solidFill>
                  <a:srgbClr val="595959"/>
                </a:solidFill>
              </a:rPr>
              <a:t>−1</a:t>
            </a:r>
            <a:r>
              <a:rPr sz="1000" b="0">
                <a:solidFill>
                  <a:srgbClr val="595959"/>
                </a:solidFill>
              </a:rPr>
              <a:t>). 밭콩 처리 전 7/22~23(3곡선). 처리 후 PPFD 수준별 Tukey.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LI-6800 광도별 형광 반응 (처리 전 포함)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60" y="1353312"/>
            <a:ext cx="5961640" cy="3986784"/>
          </a:xfrm>
          <a:prstGeom prst="rect">
            <a:avLst/>
          </a:prstGeom>
        </p:spPr>
      </p:pic>
      <p:sp>
        <p:nvSpPr>
          <p:cNvPr id="8" name="Card PPFD별 Dunc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ader PPFD별 Dunc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PPFD별 최소 P (8개 광도)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80960" y="1783080"/>
          <a:ext cx="3749040" cy="19019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min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Romaine min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qP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0.225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NPQ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0.276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ETR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50" b="0" baseline="-25000">
                          <a:solidFill>
                            <a:srgbClr val="000000"/>
                          </a:solidFill>
                        </a:rPr>
                        <a:t>PSII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50" b="0" baseline="-25000">
                          <a:solidFill>
                            <a:srgbClr val="000000"/>
                          </a:solidFill>
                        </a:rPr>
                        <a:t>NPQ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0.310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50" b="0" baseline="-250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0.174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qL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0.261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80960" y="3749039"/>
            <a:ext cx="3886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buFont typeface="Arial"/>
              <a:buChar char="•"/>
            </a:pPr>
            <a:r>
              <a:rPr sz="1100">
                <a:solidFill>
                  <a:srgbClr val="000000"/>
                </a:solidFill>
              </a:rPr>
              <a:t>F</a:t>
            </a:r>
            <a:r>
              <a:rPr sz="1100" baseline="-25000">
                <a:solidFill>
                  <a:srgbClr val="000000"/>
                </a:solidFill>
              </a:rPr>
              <a:t>o</a:t>
            </a:r>
            <a:r>
              <a:rPr sz="1100">
                <a:solidFill>
                  <a:srgbClr val="000000"/>
                </a:solidFill>
              </a:rPr>
              <a:t>·F</a:t>
            </a:r>
            <a:r>
              <a:rPr sz="1100" baseline="-25000">
                <a:solidFill>
                  <a:srgbClr val="000000"/>
                </a:solidFill>
              </a:rPr>
              <a:t>m</a:t>
            </a:r>
            <a:r>
              <a:rPr sz="1100">
                <a:solidFill>
                  <a:srgbClr val="000000"/>
                </a:solidFill>
              </a:rPr>
              <a:t>: 처리별 평균 적용 (콩 9/28 n=6)</a:t>
            </a:r>
          </a:p>
          <a:p>
            <a:pPr marL="201168" indent="-201168">
              <a:buFont typeface="Arial"/>
              <a:buChar char="•"/>
            </a:pPr>
            <a:r>
              <a:rPr sz="1100">
                <a:solidFill>
                  <a:srgbClr val="000000"/>
                </a:solidFill>
              </a:rPr>
              <a:t>8개 광도 모두 콩 처리 간 유의차 없음</a:t>
            </a:r>
          </a:p>
          <a:p>
            <a:pPr marL="201168" indent="-201168">
              <a:buFont typeface="Arial"/>
              <a:buChar char="•"/>
            </a:pPr>
            <a:r>
              <a:rPr sz="1100">
                <a:solidFill>
                  <a:srgbClr val="000000"/>
                </a:solidFill>
              </a:rPr>
              <a:t>로메인: LI-6800 광도별 형광 반응 자료 없음 (LI-600 형광은 12~15쪽)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콩 광도-반응 곡선은 처리 간 유의차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F</a:t>
            </a:r>
            <a:r>
              <a:rPr sz="1000" b="0" baseline="-25000">
                <a:solidFill>
                  <a:srgbClr val="595959"/>
                </a:solidFill>
              </a:rPr>
              <a:t>o</a:t>
            </a:r>
            <a:r>
              <a:rPr sz="1000" b="0">
                <a:solidFill>
                  <a:srgbClr val="595959"/>
                </a:solidFill>
              </a:rPr>
              <a:t>·F</a:t>
            </a:r>
            <a:r>
              <a:rPr sz="1000" b="0" baseline="-25000">
                <a:solidFill>
                  <a:srgbClr val="595959"/>
                </a:solidFill>
              </a:rPr>
              <a:t>m</a:t>
            </a:r>
            <a:r>
              <a:rPr sz="1000" b="0">
                <a:solidFill>
                  <a:srgbClr val="595959"/>
                </a:solidFill>
              </a:rPr>
              <a:t> 처리별 평균(콩 9/28 F</a:t>
            </a:r>
            <a:r>
              <a:rPr sz="1000" b="0" baseline="-25000">
                <a:solidFill>
                  <a:srgbClr val="595959"/>
                </a:solidFill>
              </a:rPr>
              <a:t>m</a:t>
            </a:r>
            <a:r>
              <a:rPr sz="1000" b="0">
                <a:solidFill>
                  <a:srgbClr val="595959"/>
                </a:solidFill>
              </a:rPr>
              <a:t> P=0.020), 처리 전은 대조구 값. 평균 ± 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Growth</a:t>
            </a:r>
            <a:br>
              <a:rPr lang="en-US" altLang="ko-KR" sz="2800" dirty="0"/>
            </a:br>
            <a:r>
              <a:rPr lang="ko-KR" altLang="en-US" sz="3200" dirty="0"/>
              <a:t>생육 비교: 실제 측정값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7" y="1280160"/>
            <a:ext cx="4626864" cy="2103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747526"/>
              </p:ext>
            </p:extLst>
          </p:nvPr>
        </p:nvGraphicFramePr>
        <p:xfrm>
          <a:off x="457200" y="3456432"/>
          <a:ext cx="6940296" cy="2221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endParaRPr sz="900" b="1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ETc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SPAD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38.0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37.8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41.1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엽면적 (cm</a:t>
                      </a:r>
                      <a:r>
                        <a:rPr sz="900" b="0" baseline="3000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9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5333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3578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4846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4186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1599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1289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1348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1138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엽수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35.6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31.1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31.4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30.4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지상부 생체중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278.1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180.4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201.3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225.2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89.9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63.5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66.3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55.4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지상부 건조중*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92.2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75.4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84.2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6.47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5.43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4.30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3.69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총 건조중†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189.7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144.3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186.8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종실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69.3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66.3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뿌리 건조중**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14.7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20.8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29.6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33.8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4.46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2.71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2.01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1.45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로메인(DAT 16): 지상부 생체중 90 (대조구) &gt; 건조 63·침수 66·복합 55 g, 건조중 6.47 &gt; 5.43 &gt; 4.30 &gt; 3.69 g (침수 P&lt;0.001, 관수 P=0.026, 상호작용 없음)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엽면적 1599 (대조구) vs 1138~1348 cm</a:t>
            </a:r>
            <a:r>
              <a:rPr sz="1250" baseline="30000">
                <a:solidFill>
                  <a:srgbClr val="000000"/>
                </a:solidFill>
              </a:rPr>
              <a:t>2</a:t>
            </a:r>
            <a:r>
              <a:rPr sz="1250">
                <a:solidFill>
                  <a:srgbClr val="000000"/>
                </a:solidFill>
              </a:rPr>
              <a:t>, 엽수 35.6 (a) &gt; 30.4~31.4 (b); 뿌리 건조중 대조구 4.46 (a) &gt; 건조 2.71·침수 2.01·복합 1.45 g (b)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10/6 (전 개체): 잎+줄기 생체중 대조구 258 ≈ 복합 260 (a) &gt; 건조 184 (b) (P=0.026, 침수×관수 P=0.008), SPAD 대조구 46.8 (a) &gt; 침수 34.7 (c) (침수×관수 P&lt;0.001)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총 건조중 158~179 g (P=0.89), 종실 57~63 g (P=0.95)은 차이 없음 — 검출 한계 약 40~50%, 뿌리 이탈로 근거는 약함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뿌리 건조중은 포트 안 회수분만 반영되어 처리 효과 근거로 쓰지 않음 (참고)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로메인은 건조·침수 모두 생육 감소(복합 −43%), 콩은 잎+줄기 생체중·SPAD 외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B: 밭콩 10/6, R: 로메인 10/23, 평균·Tukey 문자(ANOVA P&lt;0.05일 때만), 전 개체 사용(이상치 제거 없음). *밭콩 = 잎+줄기, 로메인 = 지상부 전체. †밭콩 = 잎+줄기+꼬투리+종실. **밭콩은 포트 안 회수분, 로메인은 배지 제외. 로메인 SPAD는 그림(P=0.022) 참조.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Growth</a:t>
            </a:r>
            <a:br>
              <a:rPr lang="en-US" altLang="ko-KR" sz="2800" dirty="0"/>
            </a:br>
            <a:r>
              <a:rPr lang="ko-KR" altLang="en-US" sz="3200" dirty="0"/>
              <a:t>캐노피 투영 엽면적: 침수 후 확장 지연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70" y="1188720"/>
            <a:ext cx="6692380" cy="2465614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1">
                <a:solidFill>
                  <a:srgbClr val="000000"/>
                </a:solidFill>
              </a:rPr>
              <a:t>DAT 5</a:t>
            </a:r>
            <a:r>
              <a:rPr sz="1250" b="0">
                <a:solidFill>
                  <a:srgbClr val="000000"/>
                </a:solidFill>
              </a:rPr>
              <a:t>: 침수 72%·복합 69% (b) — 침수 3일 동안 잎 확장이 멈춤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1">
                <a:solidFill>
                  <a:srgbClr val="000000"/>
                </a:solidFill>
              </a:rPr>
              <a:t>DAT 16</a:t>
            </a:r>
            <a:r>
              <a:rPr sz="1250" b="0">
                <a:solidFill>
                  <a:srgbClr val="000000"/>
                </a:solidFill>
              </a:rPr>
              <a:t>: 침수 85%, 복합 77% (b), 건조 95%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0">
                <a:solidFill>
                  <a:srgbClr val="000000"/>
                </a:solidFill>
              </a:rPr>
              <a:t>배수 후 침수구 확장 속도는 대조구보다 빠름(RGR 0.031 vs 0.015 d</a:t>
            </a:r>
            <a:r>
              <a:rPr sz="1250" baseline="30000" b="0">
                <a:solidFill>
                  <a:srgbClr val="000000"/>
                </a:solidFill>
              </a:rPr>
              <a:t>-1</a:t>
            </a:r>
            <a:r>
              <a:rPr sz="1250" b="0">
                <a:solidFill>
                  <a:srgbClr val="000000"/>
                </a:solidFill>
              </a:rPr>
              <a:t>, 침수 P=0.001) — 그러나 따라잡지 못함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0">
                <a:solidFill>
                  <a:srgbClr val="000000"/>
                </a:solidFill>
              </a:rPr>
              <a:t>건조구는 DAT 12 이후 확장이 멈춤(RGR 최저)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침수 중 멈춘 잎 확장이 </a:t>
            </a:r>
            <a:r>
              <a:rPr sz="1600" b="1">
                <a:solidFill>
                  <a:srgbClr val="E97132"/>
                </a:solidFill>
              </a:rPr>
              <a:t>초기 차이를 만들고</a:t>
            </a:r>
            <a:r>
              <a:rPr sz="1600" b="0">
                <a:solidFill>
                  <a:srgbClr val="E97132"/>
                </a:solidFill>
              </a:rPr>
              <a:t>, 건조는 후반(DAT 12~16)에 확장을 늦춤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투영 엽면적(PCA): 위에서 찍은 사진의 SAM 분할(결과_SAM_수동), 처리당 6주, 평균 ± SE, 문자 Tukey(ANOVA P&lt;0.05일 때만). 처리 전 촬영 없음.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841923"/>
          <a:ext cx="6858000" cy="13716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5 (10/12)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8 (10/15)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12 (10/19)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16 (10/23)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RGR DAT 5→16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440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511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530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516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0.015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458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518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543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491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317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396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421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440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0.031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304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360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387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398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0.025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P (ANOVA)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Yield</a:t>
            </a:r>
            <a:br>
              <a:rPr lang="en-US" altLang="ko-KR" sz="2800" dirty="0"/>
            </a:br>
            <a:r>
              <a:rPr lang="ko-KR" altLang="en-US" sz="3200" dirty="0"/>
              <a:t>수확량 비교: 로메인 지상부 vs 콩 종실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385762"/>
            <a:ext cx="7040880" cy="1777862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수확 생체중(DAT 16): 건조 −29%, 침수 −26%, 복합 −38% (P&lt;0.001)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건물중 6.47 &gt; 5.43 &gt; 4.30 &gt; 3.69 g (침수 P&lt;0.001, 관수 P=0.026, 상호작용 없음) — 건조·침수 효과가 더해짐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콩 종실 건물중 57~63 g·plant</a:t>
            </a:r>
            <a:r>
              <a:rPr sz="1250" baseline="30000">
                <a:solidFill>
                  <a:srgbClr val="000000"/>
                </a:solidFill>
              </a:rPr>
              <a:t>−1</a:t>
            </a:r>
            <a:r>
              <a:rPr sz="1250">
                <a:solidFill>
                  <a:srgbClr val="000000"/>
                </a:solidFill>
              </a:rPr>
              <a:t>, 종실 수·꼬투리 수·100립중 모두 처리 간 차이 없음 (P≥0.20) — 검출 한계(약 40~50%)와 뿌리 이탈로 근거는 약함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콩 DAT 20의 꼬투리·종실 발달 지연(대조구의 65%)은 DAT 55에 차이가 없으나 횡단 비교이며 회복으로 단정하지 않음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로메인은 건조·침수·복합 모두 수확량이 감소(복합 −38%), 콩은 종실 수량 구성요소에서 처리 간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로메인 10/23(DAT 16) 수확, n=8. 콩 10/6(DAT 55, R6~R7) 파괴 조사(성숙기 최종 수확 전), n=6~9. 100립중 = 20립 샘플 종실 D.W ÷ 종실 수 × 100. 평균 ± SE, 문자: Tukey (ANOVA P&lt;0.05일 때만). W × I = 침수 × 관수 상호작용.</a:t>
            </a:r>
          </a:p>
        </p:txBody>
      </p:sp>
      <p:graphicFrame>
        <p:nvGraphicFramePr>
          <p:cNvPr id="14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102231"/>
              </p:ext>
            </p:extLst>
          </p:nvPr>
        </p:nvGraphicFramePr>
        <p:xfrm>
          <a:off x="457200" y="3429000"/>
          <a:ext cx="6730000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Crop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Drought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Waterlogging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Combined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W × I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rowSpan="2"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Shoot FW</a:t>
                      </a:r>
                      <a:r>
                        <a:rPr sz="900">
                          <a:solidFill>
                            <a:srgbClr val="000000"/>
                          </a:solidFill>
                        </a:rPr>
                        <a:t> (g·plant−1)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89.9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63.5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66.3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55.4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0.067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Shoot DW</a:t>
                      </a:r>
                      <a:r>
                        <a:rPr sz="900" dirty="0">
                          <a:solidFill>
                            <a:srgbClr val="000000"/>
                          </a:solidFill>
                        </a:rPr>
                        <a:t> (g·plant−1)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6.47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5.43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4.30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3.69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0.546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 rowSpan="4"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000000"/>
                          </a:solidFill>
                        </a:rPr>
                        <a:t>Soybean</a:t>
                      </a:r>
                      <a:endParaRPr sz="90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Seed DW (g·plant</a:t>
                      </a:r>
                      <a:r>
                        <a:rPr sz="900" baseline="30000" dirty="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9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69.3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66.3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0.438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0.789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Seed no. (plant</a:t>
                      </a:r>
                      <a:r>
                        <a:rPr sz="900" baseline="30000" dirty="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9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326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0.468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0.895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Pod no. (plant</a:t>
                      </a:r>
                      <a:r>
                        <a:rPr sz="900" baseline="3000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90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163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144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0.404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0.643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100-seed DW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22.3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21.5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20.1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21.3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0.196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0.154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Irrigation</a:t>
            </a:r>
            <a:br>
              <a:rPr lang="en-US" altLang="ko-KR" sz="2800" dirty="0"/>
            </a:br>
            <a:r>
              <a:rPr lang="ko-KR" altLang="en-US" sz="3200" dirty="0"/>
              <a:t>관수량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01793"/>
            <a:ext cx="7040880" cy="233417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675120" cy="1170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</a:rPr>
                        <a:t>Design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endParaRPr sz="1150" b="1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</a:rPr>
                        <a:t>ETc 50% (건조)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50% of 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40%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43%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115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 100% (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침수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87%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56%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115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 50% (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복합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50% of </a:t>
                      </a:r>
                      <a:r>
                        <a:rPr lang="en-US" sz="115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endParaRPr sz="115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44%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37%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대조구(ETc 100%) 대비 포트 누적 관수량: 건조 밭콩 40%, 로메인 43%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복합은 침수구의 50% (밭콩 50.4%), 로메인은 66% (386 vs 586 g) — 침수구 관수 자체가 적었음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침수구는 대조구의 87%(밭콩), 56%(로메인): 로메인 침수구는 과습이 이어져 덜 관수됨</a:t>
            </a:r>
            <a:endParaRPr sz="1500" dirty="0">
              <a:solidFill>
                <a:srgbClr val="000000"/>
              </a:solidFill>
            </a:endParaRP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로메인 건조는 목표(50%)에 가까운 43% 관수됨 (목표 492 g, 실제 446 g)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콩은 뿌리 이탈로 실제 수분 이용은 다를 수 있음</a:t>
            </a:r>
            <a:endParaRPr sz="1500" dirty="0">
              <a:solidFill>
                <a:srgbClr val="000000"/>
              </a:solidFill>
            </a:endParaRP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두 실험 모두 포트 관수량 기준으로 감수 관수가 실현됨 (식물이 쓴 물의 양은 아님)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밭콩 8/16~10/6 (대조구 150 g 이상 관수일), 로메인 10/12~10/22 합계 기준. 로드셀 관수량(대조구 = 로드셀 4화분 평균).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Irrigation</a:t>
            </a:r>
            <a:br>
              <a:rPr lang="en-US" altLang="ko-KR" sz="2800" dirty="0"/>
            </a:br>
            <a:r>
              <a:rPr lang="ko-KR" altLang="en-US" sz="3200" dirty="0"/>
              <a:t>관수량과 화분 무게: 처리 강도 확인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47796"/>
            <a:ext cx="7040880" cy="2468880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10/12~22 누적 관수(화분당): 대조구 1046 g, 건조 446 g (43%), 침수 586 g (56%), 복합 386 g (37%)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침수구는 10/12 무관수, 기간 합계 목표의 74% — 화분이 과습해 덜 줌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침수구 화분 무게는 배수 후에도 1,070~1,230 g으로 대조구(780~920 g)보다 무거움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증산량(DAT 5~16 화분 평균): 침수구가 대조구보다 약 20% 적음 (P=0.06)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건조구는 설계(50%)에 가깝게 관수(43%), </a:t>
            </a:r>
            <a:r>
              <a:rPr sz="1600" b="1">
                <a:solidFill>
                  <a:srgbClr val="E97132"/>
                </a:solidFill>
              </a:rPr>
              <a:t>침수구는 과습으로 관수 자체가 적었음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관수량: 관수량 비교 시트의 화분 평균 관수량(대조구 = 로드셀 4화분 평균, 결측 = 0). 화분 무게: 증산량 시트 관수 전 무게(ETc·침수 각 3반복).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719231"/>
          <a:ext cx="6858000" cy="114300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1234440"/>
                <a:gridCol w="868680"/>
                <a:gridCol w="96012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Design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Target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Delivered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Delivered / Target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% of 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증산량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985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1046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1.06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100%의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0.91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43%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침수 후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792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586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0.74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침수 후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386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37%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Irrigation</a:t>
            </a:r>
            <a:br>
              <a:rPr lang="en-US" altLang="ko-KR" sz="2800" dirty="0"/>
            </a:br>
            <a:r>
              <a:rPr lang="ko-KR" altLang="en-US" sz="3200" dirty="0"/>
              <a:t>밭콩 일 물 소모량: 로드셀 vs EC5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Picture 6" descr="a_bean_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6402"/>
            <a:ext cx="7040880" cy="190511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709160"/>
          <a:ext cx="6766560" cy="9509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Loadcell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EC5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EC5/LC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121%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두 방법은 같은 방향으로 변동 (대조구 r=0.83, 침수 r=0.59)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EC5는 로드셀보다 낮게 추정: 대조구 66%, 침수 80%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건조구는 EC5(센서 7~9)가 오히려 높음 (121%), 상관 낮음 (r=0.34) — 이 센서는 보정식 신뢰도가 낮아(종합데이터 안내문) 뿌리 이탈 가능성과 함께 정황 자료로만 사용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로드셀 기준 건조/대조구 = 54%로 설계(50%)와 유사, EC5 기준은 94%로 처리 차이를 구분 못 함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EC5는 변동 경향은 반영하나 </a:t>
            </a:r>
            <a:r>
              <a:rPr sz="1600" b="1">
                <a:solidFill>
                  <a:srgbClr val="AA572C"/>
                </a:solidFill>
              </a:rPr>
              <a:t>처리 간 물 소모 차이는 로드셀이 더 정확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00800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일 물 소모(mm/일) = 관수 후(08:30~09:00)와 다음날 관수 직전의 차. 로드셀 38.01 g/mm, EC5 VWC·180 mm. 두 값 모두 있는 날만.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Environment</a:t>
            </a:r>
            <a:br>
              <a:rPr lang="en-US" altLang="ko-KR" sz="2800" dirty="0"/>
            </a:br>
            <a:r>
              <a:rPr lang="ko-KR" altLang="en-US" sz="3200" dirty="0"/>
              <a:t>환경 조건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6323"/>
            <a:ext cx="7040880" cy="234086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6766560" cy="1481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 DAT 0–16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 8/12–10/6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Romaine 10/7–10/23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평균 기온 (°C)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28.4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24.6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18.2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최저 기온 (°C)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17.6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7.9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5.0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평균 상대습도 (%)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DLI (mol·m</a:t>
                      </a:r>
                      <a:r>
                        <a:rPr sz="1100" b="0" baseline="30000">
                          <a:solidFill>
                            <a:srgbClr val="000000"/>
                          </a:solidFill>
                        </a:rPr>
                        <a:t>−2</a:t>
                      </a:r>
                      <a:r>
                        <a:rPr sz="1100" b="0">
                          <a:solidFill>
                            <a:srgbClr val="000000"/>
                          </a:solidFill>
                        </a:rPr>
                        <a:t>·d</a:t>
                      </a:r>
                      <a:r>
                        <a:rPr sz="1100" b="0" baseline="3000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11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22.0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22.2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17.5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로메인 시기(10/7~10/23) 평균 기온 18.2 °C로 밭콩 처리 초기(28.4 °C)보다 약 10 °C 낮음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DLI도 낮음 (17.5 vs 22.0 mol·m</a:t>
            </a:r>
            <a:r>
              <a:rPr sz="1500" b="0" baseline="30000">
                <a:solidFill>
                  <a:srgbClr val="000000"/>
                </a:solidFill>
              </a:rPr>
              <a:t>−2</a:t>
            </a:r>
            <a:r>
              <a:rPr sz="1500" b="0">
                <a:solidFill>
                  <a:srgbClr val="000000"/>
                </a:solidFill>
              </a:rPr>
              <a:t>·d</a:t>
            </a:r>
            <a:r>
              <a:rPr sz="1500" b="0" baseline="30000">
                <a:solidFill>
                  <a:srgbClr val="000000"/>
                </a:solidFill>
              </a:rPr>
              <a:t>−1</a:t>
            </a:r>
            <a:r>
              <a:rPr sz="1500" b="0">
                <a:solidFill>
                  <a:srgbClr val="000000"/>
                </a:solidFill>
              </a:rPr>
              <a:t>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10월에는 기온 하강이 뚜렷해 증산 요구량 자체가 낮음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작물·온실·계절 차이로 반응 차이에 환경 교란이 포함됨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로메인은 저온·중간 일사 조건에서 처리되어 증발산 부하와 건조 스트레스 강도가 다름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밭콩: CR1000X 기상 센서, 로메인: 26번 온실 환경 데이터(CR300; 10/13·10/18 결측일 제외). 로메인 DLI = 일사량(MJ) × 2.02 mol/MJ 추정.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Discussion</a:t>
            </a:r>
            <a:br>
              <a:rPr lang="en-US" altLang="ko-KR" sz="2800" dirty="0"/>
            </a:br>
            <a:r>
              <a:rPr lang="ko-KR" altLang="en-US" sz="3200" dirty="0"/>
              <a:t>고찰: 생육 감소 경로와 처리 강도의 한계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Card 공통 반응"/>
          <p:cNvSpPr/>
          <p:nvPr/>
        </p:nvSpPr>
        <p:spPr>
          <a:xfrm>
            <a:off x="84124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공통 반응"/>
          <p:cNvSpPr/>
          <p:nvPr/>
        </p:nvSpPr>
        <p:spPr>
          <a:xfrm>
            <a:off x="102412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① 로메인: 잎 확장 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g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 10%까지 감소, 캐노피 확장 정지(DAT 5 투영 엽면적 69~72%); 배수 후 g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·Φ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PSII</a:t>
            </a:r>
            <a:r>
              <a:rPr lang="ko-KR" altLang="en-US" sz="1350" dirty="0">
                <a:solidFill>
                  <a:srgbClr val="000000"/>
                </a:solidFill>
              </a:rPr>
              <a:t>는 2~3일 내 회복, 확장 속도도 더 빠름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→ 수확 감소의 주원인은 침수 중 손실된 잎 면적이라는 가설 (건조구는 DAT 12 이후 캐노피 정체, DAT 16 g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 0.055 vs 0.144)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−31%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복합구 캐노피 면적, DAT 5 (대조구 대비)</a:t>
            </a:r>
          </a:p>
        </p:txBody>
      </p:sp>
      <p:sp>
        <p:nvSpPr>
          <p:cNvPr id="13" name="Card 작물 간 차이"/>
          <p:cNvSpPr/>
          <p:nvPr/>
        </p:nvSpPr>
        <p:spPr>
          <a:xfrm>
            <a:off x="440740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der 작물 간 차이"/>
          <p:cNvSpPr/>
          <p:nvPr/>
        </p:nvSpPr>
        <p:spPr>
          <a:xfrm>
            <a:off x="459028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② 콩: 교차 내성은 가설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고광도 Φ</a:t>
            </a:r>
            <a:r>
              <a:rPr lang="ko-KR" altLang="en-US" sz="1350" baseline="-25000" dirty="0">
                <a:solidFill>
                  <a:srgbClr val="000000"/>
                </a:solidFill>
              </a:rPr>
              <a:t>PSII</a:t>
            </a:r>
            <a:r>
              <a:rPr lang="ko-KR" altLang="en-US" sz="1350" dirty="0">
                <a:solidFill>
                  <a:srgbClr val="000000"/>
                </a:solidFill>
              </a:rPr>
              <a:t>·SPAD에서 복합 &gt; 건조 (W × I P=0.027, &lt;0.001), g</a:t>
            </a:r>
            <a:r>
              <a:rPr lang="ko-KR" altLang="en-US" sz="1350" baseline="-25000" dirty="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에는 상호작용 없음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대안: 근계 변화, 포트 밖 뿌리의 수분 이용 차이 — 단 침수 때 이탈 뿌리가 끊겨 복합구가 오히려 불리했을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2E6B3F"/>
                </a:solidFill>
              </a:rPr>
              <a:t>P=0.027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Φ</a:t>
            </a:r>
            <a:r>
              <a:rPr sz="1150" baseline="-25000">
                <a:solidFill>
                  <a:srgbClr val="595959"/>
                </a:solidFill>
              </a:rPr>
              <a:t>PSII</a:t>
            </a:r>
            <a:r>
              <a:rPr sz="1150">
                <a:solidFill>
                  <a:srgbClr val="595959"/>
                </a:solidFill>
              </a:rPr>
              <a:t> 침수×관수 (측정일 반복 검정)</a:t>
            </a:r>
          </a:p>
        </p:txBody>
      </p:sp>
      <p:sp>
        <p:nvSpPr>
          <p:cNvPr id="19" name="Card 생육"/>
          <p:cNvSpPr/>
          <p:nvPr/>
        </p:nvSpPr>
        <p:spPr>
          <a:xfrm>
            <a:off x="797356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ader 생육"/>
          <p:cNvSpPr/>
          <p:nvPr/>
        </p:nvSpPr>
        <p:spPr>
          <a:xfrm>
            <a:off x="815644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③ 처리 강도와 비교의 한계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로메인: 침수 후 과습 유지로 침수구 관수 56%, 복합구 37%; A-Ci·A-Q는 처리당 3~4곡선으로 측정일과 반복이 겹침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콩은 포트 밖 뿌리로 건조 강도 희석 가능, 두 실험은 계절·생육단계가 달라 병렬 사례로 해석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AA572C"/>
                </a:solidFill>
              </a:rPr>
              <a:t>≈ 40~50%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DAT 55 생육 비교의 검출 한계</a:t>
            </a:r>
          </a:p>
        </p:txBody>
      </p:sp>
      <p:sp>
        <p:nvSpPr>
          <p:cNvPr id="25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로메인 생육 감소는 침수 중 잎 확장 정지와 후반 건조 억제로 설명 가능한 가설, 콩의 교차 내성은 뿌리 이탈을 배제할 수 없는 가설로 해석</a:t>
            </a:r>
          </a:p>
        </p:txBody>
      </p:sp>
      <p:sp>
        <p:nvSpPr>
          <p:cNvPr id="26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잎 확장 손실은 SAM 투영 엽면적 기준(실제 엽면적 아님). 2차년도: 포트 하단 차단(방근 시트·받침대), 수확 시 이탈 뿌리 기록, 엽 수분퍼텐셜·처리 전후 잎 신장 측정, 두 작물 동시 처리.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Conclusion</a:t>
            </a:r>
            <a:br>
              <a:rPr lang="en-US" altLang="ko-KR" sz="2800" dirty="0"/>
            </a:br>
            <a:r>
              <a:rPr lang="ko-KR" altLang="en-US" sz="3200" dirty="0"/>
              <a:t>종합 결론: 밭콩 vs 로메인 상추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Card 공통 반응"/>
          <p:cNvSpPr/>
          <p:nvPr/>
        </p:nvSpPr>
        <p:spPr>
          <a:xfrm>
            <a:off x="84124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공통 반응"/>
          <p:cNvSpPr/>
          <p:nvPr/>
        </p:nvSpPr>
        <p:spPr>
          <a:xfrm>
            <a:off x="102412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공통 반응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g</a:t>
            </a:r>
            <a:r>
              <a:rPr sz="1250" baseline="-25000">
                <a:solidFill>
                  <a:srgbClr val="000000"/>
                </a:solidFill>
              </a:rPr>
              <a:t>sw</a:t>
            </a:r>
            <a:r>
              <a:rPr sz="1250">
                <a:solidFill>
                  <a:srgbClr val="000000"/>
                </a:solidFill>
              </a:rPr>
              <a:t>는 침수 직후 두 작물 모두 감소: 로메인은 배수 2~3일 후 회복(DAT 3 10%), 콩은 DAT 9에도 48%, DAT 23 회복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콩 건조의 Φ</a:t>
            </a:r>
            <a:r>
              <a:rPr sz="1250" baseline="-25000">
                <a:solidFill>
                  <a:srgbClr val="000000"/>
                </a:solidFill>
              </a:rPr>
              <a:t>PSII</a:t>
            </a:r>
            <a:r>
              <a:rPr sz="1250">
                <a:solidFill>
                  <a:srgbClr val="000000"/>
                </a:solidFill>
              </a:rPr>
              <a:t> 저하는 고광도에서만 (PPFD 1,200: 0.68 → 0.50), 교차 내성은 가설 (뿌리 이탈 배제 불가)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F</a:t>
            </a:r>
            <a:r>
              <a:rPr sz="1250" baseline="-25000">
                <a:solidFill>
                  <a:srgbClr val="000000"/>
                </a:solidFill>
              </a:rPr>
              <a:t>v</a:t>
            </a:r>
            <a:r>
              <a:rPr sz="1250">
                <a:solidFill>
                  <a:srgbClr val="000000"/>
                </a:solidFill>
              </a:rPr>
              <a:t>/F</a:t>
            </a:r>
            <a:r>
              <a:rPr sz="1250" baseline="-25000">
                <a:solidFill>
                  <a:srgbClr val="000000"/>
                </a:solidFill>
              </a:rPr>
              <a:t>m</a:t>
            </a:r>
            <a:r>
              <a:rPr sz="1250">
                <a:solidFill>
                  <a:srgbClr val="000000"/>
                </a:solidFill>
              </a:rPr>
              <a:t>은 모든 처리구 0.80 이상, V</a:t>
            </a:r>
            <a:r>
              <a:rPr sz="1250" baseline="-25000">
                <a:solidFill>
                  <a:srgbClr val="000000"/>
                </a:solidFill>
              </a:rPr>
              <a:t>cmax</a:t>
            </a:r>
            <a:r>
              <a:rPr sz="1250">
                <a:solidFill>
                  <a:srgbClr val="000000"/>
                </a:solidFill>
              </a:rPr>
              <a:t>·J</a:t>
            </a:r>
            <a:r>
              <a:rPr sz="1250" baseline="-25000">
                <a:solidFill>
                  <a:srgbClr val="000000"/>
                </a:solidFill>
              </a:rPr>
              <a:t>max</a:t>
            </a:r>
            <a:r>
              <a:rPr sz="1250">
                <a:solidFill>
                  <a:srgbClr val="000000"/>
                </a:solidFill>
              </a:rPr>
              <a:t>는 콩 건조·복합구, 로메인 침수·복합구에서 낮은 경향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DAT 9: 48%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침수구 g</a:t>
            </a:r>
            <a:r>
              <a:rPr sz="1150" baseline="-25000">
                <a:solidFill>
                  <a:srgbClr val="595959"/>
                </a:solidFill>
              </a:rPr>
              <a:t>sw</a:t>
            </a:r>
            <a:r>
              <a:rPr sz="1150">
                <a:solidFill>
                  <a:srgbClr val="595959"/>
                </a:solidFill>
              </a:rPr>
              <a:t> (같은 날 대조구 대비)</a:t>
            </a:r>
          </a:p>
        </p:txBody>
      </p:sp>
      <p:sp>
        <p:nvSpPr>
          <p:cNvPr id="13" name="Card 작물 간 차이"/>
          <p:cNvSpPr/>
          <p:nvPr/>
        </p:nvSpPr>
        <p:spPr>
          <a:xfrm>
            <a:off x="440740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der 작물 간 차이"/>
          <p:cNvSpPr/>
          <p:nvPr/>
        </p:nvSpPr>
        <p:spPr>
          <a:xfrm>
            <a:off x="459028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작물 간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로메인은 Φ</a:t>
            </a:r>
            <a:r>
              <a:rPr sz="1250" baseline="-25000">
                <a:solidFill>
                  <a:srgbClr val="000000"/>
                </a:solidFill>
              </a:rPr>
              <a:t>PSII</a:t>
            </a:r>
            <a:r>
              <a:rPr sz="1250">
                <a:solidFill>
                  <a:srgbClr val="000000"/>
                </a:solidFill>
              </a:rPr>
              <a:t>·F</a:t>
            </a:r>
            <a:r>
              <a:rPr sz="1250" baseline="-25000">
                <a:solidFill>
                  <a:srgbClr val="000000"/>
                </a:solidFill>
              </a:rPr>
              <a:t>s</a:t>
            </a:r>
            <a:r>
              <a:rPr sz="1250">
                <a:solidFill>
                  <a:srgbClr val="000000"/>
                </a:solidFill>
              </a:rPr>
              <a:t>·ETR 구간 평균에 처리 차이가 없고 F</a:t>
            </a:r>
            <a:r>
              <a:rPr sz="1250" baseline="-25000">
                <a:solidFill>
                  <a:srgbClr val="000000"/>
                </a:solidFill>
              </a:rPr>
              <a:t>v</a:t>
            </a:r>
            <a:r>
              <a:rPr sz="1250">
                <a:solidFill>
                  <a:srgbClr val="000000"/>
                </a:solidFill>
              </a:rPr>
              <a:t>/F</a:t>
            </a:r>
            <a:r>
              <a:rPr sz="1250" baseline="-25000">
                <a:solidFill>
                  <a:srgbClr val="000000"/>
                </a:solidFill>
              </a:rPr>
              <a:t>m</a:t>
            </a:r>
            <a:r>
              <a:rPr sz="1250">
                <a:solidFill>
                  <a:srgbClr val="000000"/>
                </a:solidFill>
              </a:rPr>
              <a:t>도 약 1~3% 작게 감소 후 회복 — 잎 광화학 손상은 작음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침수 3일째 로메인 V</a:t>
            </a:r>
            <a:r>
              <a:rPr sz="1250" baseline="-25000">
                <a:solidFill>
                  <a:srgbClr val="000000"/>
                </a:solidFill>
              </a:rPr>
              <a:t>cmax</a:t>
            </a:r>
            <a:r>
              <a:rPr sz="1250">
                <a:solidFill>
                  <a:srgbClr val="000000"/>
                </a:solidFill>
              </a:rPr>
              <a:t>·J</a:t>
            </a:r>
            <a:r>
              <a:rPr sz="1250" baseline="-25000">
                <a:solidFill>
                  <a:srgbClr val="000000"/>
                </a:solidFill>
              </a:rPr>
              <a:t>max</a:t>
            </a:r>
            <a:r>
              <a:rPr sz="1250">
                <a:solidFill>
                  <a:srgbClr val="000000"/>
                </a:solidFill>
              </a:rPr>
              <a:t> ≈ 78% (P=0.06~0.07, n=3): 감소 경향이나 검출력 낮음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물 소모: EC5는 로드셀의 66~80%, 건조구 센서는 신뢰도 낮음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2E6B3F"/>
                </a:solidFill>
              </a:rPr>
              <a:t>−43%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로메인 복합구 지상부 건조중 (DAT 16)</a:t>
            </a:r>
          </a:p>
        </p:txBody>
      </p:sp>
      <p:sp>
        <p:nvSpPr>
          <p:cNvPr id="19" name="Card 생육"/>
          <p:cNvSpPr/>
          <p:nvPr/>
        </p:nvSpPr>
        <p:spPr>
          <a:xfrm>
            <a:off x="797356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ader 생육"/>
          <p:cNvSpPr/>
          <p:nvPr/>
        </p:nvSpPr>
        <p:spPr>
          <a:xfrm>
            <a:off x="815644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생육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16일: 지상부 생체중 90 → 55~66 g, 건조중 6.5 → 3.7 g (복합), 침수·건조 효과 가법적 → 침수 중 잎 확장 정지(캐노피 DAT 5 69~72%) + 후반 건조 억제 가설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DAT 20: 침수구 꼬투리+종실 65%, DAT 55 총 건조중·종실 차이 없음 (검출 한계 약 40~50%, 뿌리 이탈)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뿌리 건조중은 포트 안 회수분이라 제외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AA572C"/>
                </a:solidFill>
              </a:rPr>
              <a:t>≈ 40~50%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DAT 55 비교의 검출 한계</a:t>
            </a:r>
          </a:p>
        </p:txBody>
      </p:sp>
      <p:sp>
        <p:nvSpPr>
          <p:cNvPr id="25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수분 재해 피해 진단에는 잎 생리 지표와 함께 잎 신장·생장 지표가 필요</a:t>
            </a:r>
          </a:p>
        </p:txBody>
      </p:sp>
      <p:sp>
        <p:nvSpPr>
          <p:cNvPr id="26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밭콩 10/6, 로메인 10/23까지 자료. 두 실험은 계절·온실·생육단계가 달라 병렬 사례로 해석하며, 작물 차이는 가설 수준.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원자료 전체 포함 분석: 제외·선별 자료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24712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사용자가 삭제·선별한 내용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개수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전체 포함 분석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전체 포함 시 달라진 점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LI-600 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2026-10-26 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12개 삭제(콩 8/13·8/17·8/19·8/20·8/29·9/11)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1·2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침수 직후 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비율 DAT 7 39→32%, DAT 8 65→56%, 9/11 82→106%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 9월 (LI-6800)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A-Ci_results 36곡선 중 15곡선만 사용 (75·25% 10곡선, 피팅 문제 표시 곡선 등 제외)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21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cmax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P 0.011→0.241, J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&lt;0.001→0.445, R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0.049→0.510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A-Q 9월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A-Q_results 35곡선 중 20곡선만 사용, 이상값 6셀 공란 처리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 제외 + 6셀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P 0.118(공란 복원)→0.546(전체)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 8월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A-Ci_results 22곡선 중 13곡선만 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4처리 P 0.23 → 0.24 (차이 없음)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LSP (A-Q 피팅)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측정 문제 곡선 5개 제외 (콩 침수·복합)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콩 LSP P 0.011 → 0.396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콩 생육 (파괴조사)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'이상값제거' 시트: 원자료 60개체 중 124개 셀 공란, 1개체 행 삭제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124셀 + 1행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10/6 총 건조중 P 0.889→0.035, 뿌리 0.099→0.001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콩 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/F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9/28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LI-6800 측정 값이라 LI-600 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/F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분석에서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6처리 × 6잎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비교 PPT v5 포함본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6처리 0.842~0.851, P=0.53 (차이 없음)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제거·선별한 자료를 모두 되살려 다시 분석하면 콩 광합성 능력·생육의 일부 결론이 바뀜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출처: 마스터 14_이상값_보정내역, 광합성 데이터\26_9월 파라미터.xlsx(A-Ci_results·A-Q_results)·260819 파라미터.xlsx, 밭콩 파괴조사 rawdata.xlsx(대원콩·260901·261006·이상값제거). 75·25% 곡선은 4처리 분석에서 제외하고 6처리 일원 ANOVA만 병기.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g</a:t>
            </a:r>
            <a:r>
              <a:rPr lang="ko-KR" altLang="en-US" sz="3200" baseline="-25000" dirty="0"/>
              <a:t>sw</a:t>
            </a:r>
            <a:r>
              <a:rPr lang="ko-KR" altLang="en-US" sz="3200" dirty="0"/>
              <a:t> 전체 측정값 포함 (삭제 12개 복원)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147994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5468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0.368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0.335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0.155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0.224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0.249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0.113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0.255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0.161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0.233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0.237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0.144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처리 P (보정 모형)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침수×관수 P (v6 → 전체)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0.60 → 0.969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변화 없음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변화 없음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삭제된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 12개 중 4처리 분석에 해당하는 11개를 복원 (원래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는 마스터 14_이상값_보정내역,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_보정은 같은 날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~g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_보정 선형식으로 추정, 8/29 ETc25 1개는 75·25% 처리라 4처리 분석 밖)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P1: 대조구 0.368 (a) &gt; 침수 0.264 (b) — v6 0.363 vs 0.273, 침수 효과는 같은 방향으로 유지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P2: 건조·복합 0.22~0.23 (b) &lt; 대조구·침수 0.33~0.35 (a), 관수 효과만 유의 — 침수×관수 P 0.60 → 0.969 (9/11 대조구 두 값 복원으로 대조구 평균 0.60 → 0.969)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로메인은 삭제된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가 없어 결과 동일 (9쪽)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삭제값을 되살려도 침수 직후 g</a:t>
            </a:r>
            <a:r>
              <a:rPr sz="1600" baseline="-25000">
                <a:solidFill>
                  <a:srgbClr val="E97132"/>
                </a:solidFill>
              </a:rPr>
              <a:t>sw</a:t>
            </a:r>
            <a:r>
              <a:rPr sz="1600">
                <a:solidFill>
                  <a:srgbClr val="E97132"/>
                </a:solidFill>
              </a:rPr>
              <a:t> 감소와 건조의 지속 감소는 그대로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원 평균과 Tukey 문자(처리 P&lt;0.05), 로메인 열은 9쪽과 동일. 그림: 흐린 날 포함 전 측정일, 선 = 평균, 음영 = ± SE, 회색 띠 = 흐린 날, * 당일 P&lt;0.05(Holm). 복원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_보정은 추정값.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기공 회복 속도 (g</a:t>
            </a:r>
            <a:r>
              <a:rPr lang="ko-KR" altLang="en-US" sz="3200" baseline="-25000" dirty="0"/>
              <a:t>sw</a:t>
            </a:r>
            <a:r>
              <a:rPr lang="ko-KR" altLang="en-US" sz="3200" dirty="0"/>
              <a:t> 전체 측정값 포함)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18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3138054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콩:  DAT 2~9에 32~85%로 낮음 (DAT 7 39→32%, DAT 8 65→56%, DAT 9 48%) → DAT 17 86%(흐림), DAT 23 105%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9/11(DAT 30)은 대조구 두 값 복원으로 82% → 106%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로메인은 삭제된 g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250" dirty="0">
                <a:solidFill>
                  <a:srgbClr val="000000"/>
                </a:solidFill>
              </a:rPr>
              <a:t>가 없어 결과 동일 (DAT 3 최저 10%, DAT 5~6 회복, 10쪽)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복원 후에도 콩은 DAT 9까지 회복되지 않고 DAT 23에 대조구 수준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침수구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÷ 같은 날 대조구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× 100. * 대조 vs 침수 P&lt;0.05(Welch t, Holm 보정). 회색 띠 = 흐린 날(CI&lt;0.5). 복원한 11개 값은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_보정 추정값 사용.</a:t>
            </a:r>
          </a:p>
        </p:txBody>
      </p:sp>
      <p:sp>
        <p:nvSpPr>
          <p:cNvPr id="5" name="Rounded Rectangle 9"/>
          <p:cNvSpPr/>
          <p:nvPr/>
        </p:nvSpPr>
        <p:spPr>
          <a:xfrm>
            <a:off x="82296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0"/>
          <p:cNvSpPr txBox="1"/>
          <p:nvPr/>
        </p:nvSpPr>
        <p:spPr>
          <a:xfrm>
            <a:off x="86868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2~3일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86868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로메인: 침수 종료 후 대조구 수준까지 회복</a:t>
            </a:r>
          </a:p>
        </p:txBody>
      </p:sp>
      <p:sp>
        <p:nvSpPr>
          <p:cNvPr id="15" name="Rounded Rectangle 9"/>
          <p:cNvSpPr/>
          <p:nvPr/>
        </p:nvSpPr>
        <p:spPr>
          <a:xfrm>
            <a:off x="406908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/>
          <p:cNvSpPr txBox="1"/>
          <p:nvPr/>
        </p:nvSpPr>
        <p:spPr>
          <a:xfrm>
            <a:off x="411480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DAT 8: 56%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411480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콩: 침수 종료 6일 후에도 미회복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광포화점 LSP: 측정 문제 곡선 5개 포함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34</a:t>
            </a:fld>
            <a:endParaRPr lang="ko-KR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68580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 (콩)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LSP 현재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LSP 전체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 현재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 전체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560.8 b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560.8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17.6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17.6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815.5 a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815.5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18.8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18.8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548.6 b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660.0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15.5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13.9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689.9 ab (n=4)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794.1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17.8 (n=4)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17.7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ANOVA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0.380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측정 문제로 제외한 콩 침수·복합 5곡선(9/3·9/14 2곡선·9/14·9/15 등)을 포함하면 LSP 처리 간 차이가 사라짐 (P 0.011 → 0.396)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현재 분석의 '건조 LSP 816 (a) &gt; 대조구 561 (b)'는 5곡선 제외에 의존, 전체로 보면 침수·복합이 660~794로 올라가 차이 없음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A</a:t>
            </a:r>
            <a:r>
              <a:rPr lang="ko-KR" altLang="en-US" sz="1250" baseline="-25000" dirty="0">
                <a:solidFill>
                  <a:srgbClr val="000000"/>
                </a:solidFill>
              </a:rPr>
              <a:t>max</a:t>
            </a:r>
            <a:r>
              <a:rPr lang="ko-KR" altLang="en-US" sz="1250" dirty="0">
                <a:solidFill>
                  <a:srgbClr val="000000"/>
                </a:solidFill>
              </a:rPr>
              <a:t>(순)도 P 0.380 → 0.104로 모두 비유의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로메인: LSP 분석 자료 없음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LSP의 건조 효과는 5개 곡선 제외에 의존 — 전체 곡선에서는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LSP = NRH 피팅 순광합성이 A</a:t>
            </a:r>
            <a:r>
              <a:rPr sz="1000" baseline="-25000">
                <a:solidFill>
                  <a:srgbClr val="595959"/>
                </a:solidFill>
              </a:rPr>
              <a:t>max</a:t>
            </a:r>
            <a:r>
              <a:rPr sz="1000">
                <a:solidFill>
                  <a:srgbClr val="595959"/>
                </a:solidFill>
              </a:rPr>
              <a:t>(순)의 80%가 되는 PPFD(µmol·m</a:t>
            </a:r>
            <a:r>
              <a:rPr sz="1000" baseline="30000">
                <a:solidFill>
                  <a:srgbClr val="595959"/>
                </a:solidFill>
              </a:rPr>
              <a:t>−2</a:t>
            </a:r>
            <a:r>
              <a:rPr sz="1000">
                <a:solidFill>
                  <a:srgbClr val="595959"/>
                </a:solidFill>
              </a:rPr>
              <a:t>·s</a:t>
            </a:r>
            <a:r>
              <a:rPr sz="1000" baseline="30000">
                <a:solidFill>
                  <a:srgbClr val="595959"/>
                </a:solidFill>
              </a:rPr>
              <a:t>−1</a:t>
            </a:r>
            <a:r>
              <a:rPr sz="1000">
                <a:solidFill>
                  <a:srgbClr val="595959"/>
                </a:solidFill>
              </a:rPr>
              <a:t>). 평균과 Tukey 문자(ANOVA P&lt;0.05일 때만), n = 곡선 수. 콩 처리 후 A-Q 곡선.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콩 생육: 원자료 전체 vs 이상값제거 시트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Picture 6" descr="a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851" y="1188720"/>
            <a:ext cx="4691575" cy="2103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82470"/>
              </p:ext>
            </p:extLst>
          </p:nvPr>
        </p:nvGraphicFramePr>
        <p:xfrm>
          <a:off x="457200" y="3218688"/>
          <a:ext cx="6940296" cy="2221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10/6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원 ETc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원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원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원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ETc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SPAD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38.0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34.7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44.2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46.8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38.0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34.7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엽면적 (cm</a:t>
                      </a:r>
                      <a:r>
                        <a:rPr sz="900" b="0" baseline="3000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9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5333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4091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4846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5055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5333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4846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5055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엽수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45.0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37.3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37.2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잎+줄기 FW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257.9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184.4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216.7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260.2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278.1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180.4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201.3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225.2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잎+줄기 DW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81.4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76.1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67.5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98.4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92.2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75.4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총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157.9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178.5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189.7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144.3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186.8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종실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60.0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69.3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66.3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뿌리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19.5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27.1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36.6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14.7 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20.8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29.6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33.8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'이상값제거' 시트는 원자료 60개체에서 124개 셀(15개 항목)을 비우고 1개체 행을 뺌 → 처리당 n이 3~8로 줄어듦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10/6 총 건조중 P 0.889 → 0.035, 뿌리 0.099 → &lt;0.001, 잎+줄기 DW 0.070 → 0.020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9/1: 엽면적 P 0.075 → 0.008, 잎+줄기 FW 0.092 → 0.010, 종실 DW 0.204 → 0.005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원자료 전체: 10/6 콩은 잎+줄기 생체중·SPAD 외 처리 간 차이 없음 — 제거 여부에 따라 유의성이 새로 생김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생육 결론은 이상값 제거 여부에 민감 — 원자료 전체를 본문 근거로 사용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평균과 Tukey 문자(ANOVA P&lt;0.05일 때만), 침수 = Fl100, 복합 = Fl50. 원 = 밭콩 파괴조사 rawdata(260901·261006), 제거 = '이상값제거' 시트. 총 건조중 = 잎+줄기+꼬투리+종실.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양쪽 모서리가 둥근 사각형 1">
            <a:extLst>
              <a:ext uri="{FF2B5EF4-FFF2-40B4-BE49-F238E27FC236}">
                <a16:creationId xmlns:a16="http://schemas.microsoft.com/office/drawing/2014/main" id="{61F6D138-DFFC-10C1-053C-3D2B417CC93E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/>
          </a:prstGeom>
          <a:solidFill>
            <a:srgbClr val="044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1A0B38-A3E4-9B0E-0886-5E9788B47173}"/>
              </a:ext>
            </a:extLst>
          </p:cNvPr>
          <p:cNvSpPr txBox="1"/>
          <p:nvPr/>
        </p:nvSpPr>
        <p:spPr>
          <a:xfrm>
            <a:off x="3766530" y="2681512"/>
            <a:ext cx="4658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400" b="1" spc="-200" dirty="0">
                <a:solidFill>
                  <a:srgbClr val="04458A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감사합니다</a:t>
            </a:r>
            <a:endParaRPr kumimoji="1" lang="en-US" altLang="ko-Kore-KR" sz="4400" b="1" spc="-200" dirty="0">
              <a:solidFill>
                <a:srgbClr val="04458A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D9CEE3-88A3-FC3B-9B6B-4B8B7C7214DE}"/>
              </a:ext>
            </a:extLst>
          </p:cNvPr>
          <p:cNvSpPr txBox="1"/>
          <p:nvPr/>
        </p:nvSpPr>
        <p:spPr>
          <a:xfrm>
            <a:off x="3026229" y="3520615"/>
            <a:ext cx="6139542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2400" b="1" spc="-1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전북대학교 </a:t>
            </a:r>
            <a:r>
              <a:rPr kumimoji="1" lang="ko-KR" altLang="en-US" sz="2400" b="1" spc="-100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스마트농업AI융합학과</a:t>
            </a:r>
            <a:endParaRPr kumimoji="1" lang="en-US" altLang="ko-KR" sz="2400" b="1" spc="-1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2000" b="1" spc="-1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석사과정 윤정민</a:t>
            </a:r>
            <a:endParaRPr kumimoji="1" lang="en-US" altLang="ko-Kore-KR" sz="2000" b="1" spc="-1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3A3A"/>
      </a:accent1>
      <a:accent2>
        <a:srgbClr val="AA572C"/>
      </a:accent2>
      <a:accent3>
        <a:srgbClr val="2E6B3F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3A3A"/>
      </a:accent1>
      <a:accent2>
        <a:srgbClr val="AA572C"/>
      </a:accent2>
      <a:accent3>
        <a:srgbClr val="2E6B3F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47690B-9EC7-46B6-89C7-B4D0A48C43B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f520049-4b44-42da-a845-ab676c9aec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19467</TotalTime>
  <Words>8909</Words>
  <Application>Microsoft Office PowerPoint</Application>
  <PresentationFormat>와이드스크린</PresentationFormat>
  <Paragraphs>1374</Paragraphs>
  <Slides>36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맑은 고딕</vt:lpstr>
      <vt:lpstr>맑은 고딕</vt:lpstr>
      <vt:lpstr>Arial</vt:lpstr>
      <vt:lpstr>Times New Roman</vt:lpstr>
      <vt:lpstr>Office 테마</vt:lpstr>
      <vt:lpstr>밭콩 vs 잎상추 건조·침수에 따른 생리·생육 반응 비교  Comparison of Physiological and Growth Responses of Upland Soybean and Lettuce to Drought and Waterlogging</vt:lpstr>
      <vt:lpstr>목차</vt:lpstr>
      <vt:lpstr>Materials and Methods 실험 개요: 밭콩 vs 잎상추</vt:lpstr>
      <vt:lpstr>Materials and Methods 처리 일정과 측정 시기 (DAT 기준 정렬)</vt:lpstr>
      <vt:lpstr>Materials and Methods 비교 분석 방법</vt:lpstr>
      <vt:lpstr>Measurement conditions 측정 당시 일사 조건: 흐린 날 판정</vt:lpstr>
      <vt:lpstr>Materials and Methods LI-600 보정: 선형 PAR(Qamb) + 기온(Tair)</vt:lpstr>
      <vt:lpstr>Limitations 한계점: 처리 강도와 비교의 한계</vt:lpstr>
      <vt:lpstr>Photosynthesis 기공전도도 (gsw): 실제 값 비교</vt:lpstr>
      <vt:lpstr>Photosynthesis 기공 회복 속도: 상추는 빠르게, 콩은 느리게</vt:lpstr>
      <vt:lpstr>Photosynthesis 상추 침수 직후(10/10): 광합성 대조 vs 침수</vt:lpstr>
      <vt:lpstr>Chlorophyll fluorescence ΦPSII: 콩 건조 저하는 고광도에서만</vt:lpstr>
      <vt:lpstr>Chlorophyll fluorescence 정상 상태 형광 (Fs): 실제 값 비교</vt:lpstr>
      <vt:lpstr>Chlorophyll fluorescence 전자전달속도 (ETR): 실제 값 비교</vt:lpstr>
      <vt:lpstr>Chlorophyll fluorescence 광계 II 손상과 형광 신호 크기</vt:lpstr>
      <vt:lpstr>Photosynthesis 광합성 능력 (9, 10월): A-Ci, A-Q 파라미터</vt:lpstr>
      <vt:lpstr>Appendix A-Ci·A-Q 파라미터: 전체 곡선 포함</vt:lpstr>
      <vt:lpstr>Photosynthesis 광합성 능력 (8월): A-Ci 파라미터</vt:lpstr>
      <vt:lpstr>Photosynthesis LI-6800 광-광합성 곡선 (A-Q)</vt:lpstr>
      <vt:lpstr>Chlorophyll fluorescence LI-6800 광도별 형광 반응 (처리 전 포함)</vt:lpstr>
      <vt:lpstr>Growth 생육 비교: 실제 측정값</vt:lpstr>
      <vt:lpstr>Growth 상추 생육 감소는 잎 생리로 설명되지 않음</vt:lpstr>
      <vt:lpstr>Yield 수확량 비교: 상추 지상부 vs 콩 종실</vt:lpstr>
      <vt:lpstr>Irrigation 관수량 비교</vt:lpstr>
      <vt:lpstr>Irrigation 잎상추 관수 확인: 로드셀 CSV vs 목표</vt:lpstr>
      <vt:lpstr>Irrigation 잎상추 증산량과 ETc 로드셀 신뢰도</vt:lpstr>
      <vt:lpstr>Irrigation 밭콩 일 물 소모량: 로드셀 vs EC5</vt:lpstr>
      <vt:lpstr>Environment 환경 조건 비교</vt:lpstr>
      <vt:lpstr>Discussion 고찰: 생육 감소 경로와 처리 강도의 한계</vt:lpstr>
      <vt:lpstr>Conclusion 종합 결론: 밭콩 vs 잎상추</vt:lpstr>
      <vt:lpstr>Appendix 원자료 전체 포함 분석: 제외·선별 자료</vt:lpstr>
      <vt:lpstr>Appendix gsw 전체 측정값 포함 (삭제 12개 복원)</vt:lpstr>
      <vt:lpstr>Appendix 기공 회복 속도 (gsw 전체 측정값 포함)</vt:lpstr>
      <vt:lpstr>Appendix 광포화점 LSP: 측정 문제 곡선 5개 포함</vt:lpstr>
      <vt:lpstr>Appendix 콩 생육: 원자료 전체 vs 이상값제거 시트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윤정민</dc:creator>
  <cp:lastModifiedBy>윤정민</cp:lastModifiedBy>
  <cp:revision>2</cp:revision>
  <dcterms:created xsi:type="dcterms:W3CDTF">2026-04-06T01:45:26Z</dcterms:created>
  <dcterms:modified xsi:type="dcterms:W3CDTF">2026-10-30T01:42:29Z</dcterms:modified>
</cp:coreProperties>
</file>