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378" r:id="rId26"/>
    <p:sldId id="379" r:id="rId9"/>
    <p:sldId id="380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  <a:srgbClr val="136331"/>
    <a:srgbClr val="1E3A8A"/>
    <a:srgbClr val="991B1B"/>
    <a:srgbClr val="8D711D"/>
    <a:srgbClr val="7A5B00"/>
    <a:srgbClr val="595959"/>
    <a:srgbClr val="CC2E27"/>
    <a:srgbClr val="FFF4CC"/>
    <a:srgbClr val="135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1273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26" Type="http://schemas.openxmlformats.org/officeDocument/2006/relationships/slide" Target="slides/slide2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정민" userId="6b15c765-da21-42d7-95fe-61eaef7495af" providerId="ADAL" clId="{5C7C66C6-67D0-439D-9B00-412197ADBF19}"/>
    <pc:docChg chg="undo custSel addSld delSld modSld sldOrd">
      <pc:chgData name="윤정민" userId="6b15c765-da21-42d7-95fe-61eaef7495af" providerId="ADAL" clId="{5C7C66C6-67D0-439D-9B00-412197ADBF19}" dt="2026-10-30T01:34:00.518" v="2957" actId="14100"/>
      <pc:docMkLst>
        <pc:docMk/>
      </pc:docMkLst>
      <pc:sldChg chg="modSp mod">
        <pc:chgData name="윤정민" userId="6b15c765-da21-42d7-95fe-61eaef7495af" providerId="ADAL" clId="{5C7C66C6-67D0-439D-9B00-412197ADBF19}" dt="2026-10-30T01:33:35.113" v="2956" actId="14100"/>
        <pc:sldMkLst>
          <pc:docMk/>
          <pc:sldMk cId="0" sldId="377"/>
        </pc:sldMkLst>
        <pc:spChg chg="mod">
          <ac:chgData name="윤정민" userId="6b15c765-da21-42d7-95fe-61eaef7495af" providerId="ADAL" clId="{5C7C66C6-67D0-439D-9B00-412197ADBF19}" dt="2026-10-30T01:33:35.113" v="2956" actId="14100"/>
          <ac:spMkLst>
            <pc:docMk/>
            <pc:sldMk cId="0" sldId="377"/>
            <ac:spMk id="2" creationId="{00000000-0000-0000-0000-000000000000}"/>
          </ac:spMkLst>
        </pc:spChg>
      </pc:sldChg>
      <pc:sldChg chg="modSp mod">
        <pc:chgData name="윤정민" userId="6b15c765-da21-42d7-95fe-61eaef7495af" providerId="ADAL" clId="{5C7C66C6-67D0-439D-9B00-412197ADBF19}" dt="2026-10-30T01:34:00.518" v="2957" actId="14100"/>
        <pc:sldMkLst>
          <pc:docMk/>
          <pc:sldMk cId="0" sldId="397"/>
        </pc:sldMkLst>
        <pc:spChg chg="mod">
          <ac:chgData name="윤정민" userId="6b15c765-da21-42d7-95fe-61eaef7495af" providerId="ADAL" clId="{5C7C66C6-67D0-439D-9B00-412197ADBF19}" dt="2026-10-30T01:34:00.518" v="2957" actId="14100"/>
          <ac:spMkLst>
            <pc:docMk/>
            <pc:sldMk cId="0" sldId="397"/>
            <ac:spMk id="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C7B71-203A-44A4-BF64-F0E05ABB4A10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4595A-DD79-43DB-8171-24D3E6EC3B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3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 비조절 에너지 소산 양자수율 ΦNO입니다. 이 값이 높으면 조절되지 않는 형태로 에너지가 소산되어 광계 손상 위험이 커진다는 신호입니다. 콩은 P1에서 침수구가, P2에서 건조·침수·복합구가 모두 대조구보다 높았고, 로메인은 처리 간 차이가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 조절된 에너지 소산 양자수율 ΦNPQ입니다. 콩은 P1에서 침수구가 대조구보다 높았고, P2에서는 건조구가 대조구와 침수구보다 높았습니다. 앞서 건조구에서 ΦPSII가 낮았던 것과 같이 보면, 흡수한 에너지가 광화학이 아니라 열소산 쪽으로 더 많이 쓰였다고 해석됩니다. 로메인은 처리 간 차이가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(약 25초) 비광화학적 소광 NPQ입니다. 콩은 P1에서는 처리 간 차이가 없었고 P2에서는 건조구가 침수구보다 높았습니다. 로메인 상추는 P1과 P2 모두 처리 간 차이가 없었습니다. 건조 스트레스에서 콩이 과잉 에너지를 열로 더 많이 소산했다는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072F4-2873-FA64-1793-1B59A9006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C725AA-7A3D-1E01-136A-BA5E31AAF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D4592-A7B5-1B8E-7084-C40EC53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423D-07B6-40C2-A3B1-DE84ED9F922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48F786-E4C0-F7C0-32CD-34E91CEF7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BECFB-E902-EC85-FEC1-E4AB644B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43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C47BA-E2E9-69D7-F6E0-02DC3B98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97C6CC-8DA3-FD4D-87B4-868FAA535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2C51B-FB8D-E7C1-6733-5EC2ECA1C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45C9A-BDB9-48A9-9066-A45ABF71364F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E2A7E-4A0C-FD9F-1ED0-7811F3E1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C65C28-2F83-31A3-5148-349E65E6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1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9FBAAD-2832-D2E6-9201-28DBD759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3489E-C9A3-CFD5-E26E-C4F2F9B40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9888C3-0185-B4BB-FE7C-08442FC7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124EE-B7C9-47F6-AC19-1FC82632F435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C6D9C-5A42-E114-6EA7-D4D918C2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B716F0-7AC5-35C9-215B-75DBDDF02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1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125F4-6D71-334C-84D5-A1ACC974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A27950-5013-95BA-AFC7-A8A163281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FFBEAB-A7F2-2965-ACDF-C78C8B7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28652-A26B-FC7B-C0DE-C56897C8B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CE93-FFF2-48C5-876B-C29D334070A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54ECFA-AB42-AC1C-4117-09D00A9DB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583EDE-A663-AC4C-23CA-8E1840BC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38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D429BE-5249-9056-163C-74FA9783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3B763C-22D9-C80F-CCDE-0707C6AC9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74F77-2209-A440-F7AB-3060E96F4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1B2901-98D7-6D8A-F650-669806F46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1FDDB69-9C13-7002-F81F-1C1EFD7B7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01F8E8-08B1-62D8-B503-4283DFAC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14133-4840-4F08-BA32-D57CA94E303C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9B74BF-BE22-63C7-48D7-C09BC987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248C76-A4AD-26F0-801B-E0C228FD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30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62E28-2DBA-605A-BECA-20063F147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8E0772-E95D-EF89-1540-90BAF501D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1F09-6923-414B-A1FA-93B7B6B05A0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18BA7F-B0B9-9AEB-CFFF-E6BB7172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9C7F523-2E13-CF6D-4554-8D965EA1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6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BE8BF9-A354-4992-F8C2-90BF87854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528D-0A4B-4725-BECB-0A804A98733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0C3AA4-8FE3-F53A-0F4F-13CDD6F7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CA705-4832-583C-C769-782684C7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22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34CB40-F222-33F8-2930-F8C8F170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683CDC-0D06-E8FF-5CB6-AD0E41A04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5D3C8C-90E8-FE3F-941F-50AF76CE2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4B14FF-82AA-1021-E783-8543CC45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A0492-4290-4283-8041-C72F2A3FD572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1E3FCC-569A-6CE6-D4EF-75FFC816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45CEF7-23C1-61E3-0CB0-E857E9E8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81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FDFA6-91D5-3744-B2AE-8AD520F1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8EC9AF-67D0-C116-F5BD-AFF40AB49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4B042C-7642-FF7C-B5B2-E432270BB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18D809-019A-150B-309F-5E84A532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010E-CE60-4360-8079-7BED3621D0DA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8F648C-2B44-F25B-BA65-0F0EA932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610761-27DA-5D7F-A72E-03EC8DD5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84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ABC10-DCAE-3EA5-9B62-E982FA39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B3CE13-292C-C63A-86DA-B62C68FA0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5F8A6-B9F4-6134-3C3F-3B42A7DB1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F8C8-AD83-442B-B306-C2E74F989BB3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49D320-0180-2E7B-CB63-6406A988D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DEF9D-4DBA-4D73-41B0-D03A4776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70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EA5634-B559-9843-AFE5-E5585D0EF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F5A501-6259-5E2A-4E7B-7823242DC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567E4-4880-C0C0-8932-6BF750727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90C41-AFF9-488A-8C02-EEA924D341C6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8955D-85B0-2FB5-B2D9-EFD9AE0F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28678-A0B9-C385-2F24-B9CE6337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033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8C9D72-72B9-1829-B00B-B4FFF7CBC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7C0B4-28E8-F572-9FD7-8D8C462D9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ED7AAD-7768-C084-52A6-0F737C0AE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9DF18-70C5-4E96-87E8-EA7D036EB1FB}" type="datetime1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DBE269-CA62-A3AD-C7CF-3E5EB581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8E5383-3E5C-18D7-E7DF-D4D229327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CED27-B7FD-4F82-BD12-1C1B2F10C0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76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30.xml"/><Relationship Id="rId6" Type="http://schemas.openxmlformats.org/officeDocument/2006/relationships/image" Target="../media/image2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20624"/>
            <a:ext cx="8549640" cy="566928"/>
          </a:xfrm>
        </p:spPr>
        <p:txBody>
          <a:bodyPr anchor="b">
            <a:normAutofit/>
          </a:bodyPr>
          <a:lstStyle/>
          <a:p>
            <a:r>
              <a:rPr lang="ko-KR" altLang="en-US" sz="2800" dirty="0"/>
              <a:t>LI-600 : 비조절 에너지 소산 양자수율 (Φ</a:t>
            </a:r>
            <a:r>
              <a:rPr lang="ko-KR" altLang="en-US" sz="2800" dirty="0" baseline="-25000"/>
              <a:t>NO</a:t>
            </a:r>
            <a:r>
              <a:rPr lang="ko-KR" altLang="en-US" sz="2800" dirty="0"/>
              <a:t>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  <a:t>25</a:t>
            </a:fld>
            <a:endParaRPr lang="ko-KR" altLang="en-US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59" y="1188720"/>
            <a:ext cx="6375000" cy="255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0000"/>
          <a:ext cx="6858000" cy="1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0.211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0.203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0.240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0.214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Drought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0.231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0.245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0.213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0.221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0.236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0.248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0.215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Combined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0.236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0.245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0.223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콩:  P1은 침수구가 대조구보다 높았고, P2는 건조·침수·복합구가 대조구보다 높았음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 P1·P2 모두 처리 간 차이 없음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콩은 P1 침수구와 P2 모든 처리구의 ΦNO가 대조구보다 높고, 로메인은 처리 간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NPQ=(Fm−Fm′)/Fm′, 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=1/(NPQ+1+qL(Fm/Fo−1)), Φ</a:t>
            </a:r>
            <a:r>
              <a:rPr sz="1000" baseline="-25000">
                <a:solidFill>
                  <a:srgbClr val="595959"/>
                </a:solidFill>
              </a:rPr>
              <a:t>NPQ</a:t>
            </a:r>
            <a:r>
              <a:rPr sz="1000">
                <a:solidFill>
                  <a:srgbClr val="595959"/>
                </a:solidFill>
              </a:rPr>
              <a:t>=1−Φ</a:t>
            </a:r>
            <a:r>
              <a:rPr sz="1000" baseline="-25000">
                <a:solidFill>
                  <a:srgbClr val="595959"/>
                </a:solidFill>
              </a:rPr>
              <a:t>PSII</a:t>
            </a:r>
            <a:r>
              <a:rPr sz="1000">
                <a:solidFill>
                  <a:srgbClr val="595959"/>
                </a:solidFill>
              </a:rPr>
              <a:t>−Φ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 (Kramer et al., 2004; Oxborough &amp; Baker, 1997). Fo·Fm: 가장 가까운 날짜의 암적응 처리별 평균. 표·그림: PAR·기온 공변량 보정 평균, 혼합모형(처리 고정, 측정일 임의효과; Ali et al., 2025; Gao et al., 2024), Tukey 문자.</a:t>
            </a:r>
          </a:p>
        </p:txBody>
      </p:sp>
      <p:sp>
        <p:nvSpPr>
          <p:cNvPr id="15" name="Nav 서론"/>
          <p:cNvSpPr txBox="1"/>
          <p:nvPr/>
        </p:nvSpPr>
        <p:spPr>
          <a:xfrm>
            <a:off x="841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서론</a:t>
            </a:r>
          </a:p>
        </p:txBody>
      </p:sp>
      <p:sp>
        <p:nvSpPr>
          <p:cNvPr id="16" name="Nav 재료 및 방법"/>
          <p:cNvSpPr txBox="1"/>
          <p:nvPr/>
        </p:nvSpPr>
        <p:spPr>
          <a:xfrm>
            <a:off x="22128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재료 및 방법</a:t>
            </a:r>
          </a:p>
        </p:txBody>
      </p:sp>
      <p:sp>
        <p:nvSpPr>
          <p:cNvPr id="17" name="Nav 결과"/>
          <p:cNvSpPr txBox="1"/>
          <p:nvPr/>
        </p:nvSpPr>
        <p:spPr>
          <a:xfrm>
            <a:off x="35844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결과</a:t>
            </a:r>
          </a:p>
        </p:txBody>
      </p:sp>
      <p:sp>
        <p:nvSpPr>
          <p:cNvPr id="18" name="Nav 고찰"/>
          <p:cNvSpPr txBox="1"/>
          <p:nvPr/>
        </p:nvSpPr>
        <p:spPr>
          <a:xfrm>
            <a:off x="49560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고찰</a:t>
            </a:r>
          </a:p>
        </p:txBody>
      </p:sp>
      <p:sp>
        <p:nvSpPr>
          <p:cNvPr id="19" name="Nav 결론"/>
          <p:cNvSpPr txBox="1"/>
          <p:nvPr/>
        </p:nvSpPr>
        <p:spPr>
          <a:xfrm>
            <a:off x="63276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결론</a:t>
            </a:r>
          </a:p>
        </p:txBody>
      </p:sp>
      <p:sp>
        <p:nvSpPr>
          <p:cNvPr id="20" name="Nav 부록"/>
          <p:cNvSpPr txBox="1"/>
          <p:nvPr/>
        </p:nvSpPr>
        <p:spPr>
          <a:xfrm>
            <a:off x="7699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 u="sng">
                <a:solidFill>
                  <a:srgbClr val="1A1A1A"/>
                </a:solidFill>
              </a:rPr>
              <a:t>부록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20624"/>
            <a:ext cx="8549640" cy="566928"/>
          </a:xfrm>
        </p:spPr>
        <p:txBody>
          <a:bodyPr anchor="b">
            <a:normAutofit/>
          </a:bodyPr>
          <a:lstStyle/>
          <a:p>
            <a:r>
              <a:rPr lang="ko-KR" altLang="en-US" sz="2800" dirty="0"/>
              <a:t>LI-600 : 조절 에너지 소산 양자수율 (Φ</a:t>
            </a:r>
            <a:r>
              <a:rPr lang="ko-KR" altLang="en-US" sz="2800" dirty="0" baseline="-25000"/>
              <a:t>NPQ</a:t>
            </a:r>
            <a:r>
              <a:rPr lang="ko-KR" altLang="en-US" sz="2800" dirty="0"/>
              <a:t>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  <a:t>25</a:t>
            </a:fld>
            <a:endParaRPr lang="ko-KR" altLang="en-US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59" y="1188720"/>
            <a:ext cx="6375000" cy="255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0000"/>
          <a:ext cx="6858000" cy="1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0.087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0.100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0.149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0.141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Drought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0.157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0.160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0.138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0.100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0.104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0.161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0.142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Combined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0.134 ab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0.170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0.120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콩:  P1은 침수구가 대조구보다 높았고, P2는 건조구가 대조구·침수구보다 높았음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 P1·P2 모두 처리 간 차이 없음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콩은 건조구에서 ΦNPQ가 높아 조절된 열소산이 증가, 로메인은 처리 간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NPQ=(Fm−Fm′)/Fm′, 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=1/(NPQ+1+qL(Fm/Fo−1)), Φ</a:t>
            </a:r>
            <a:r>
              <a:rPr sz="1000" baseline="-25000">
                <a:solidFill>
                  <a:srgbClr val="595959"/>
                </a:solidFill>
              </a:rPr>
              <a:t>NPQ</a:t>
            </a:r>
            <a:r>
              <a:rPr sz="1000">
                <a:solidFill>
                  <a:srgbClr val="595959"/>
                </a:solidFill>
              </a:rPr>
              <a:t>=1−Φ</a:t>
            </a:r>
            <a:r>
              <a:rPr sz="1000" baseline="-25000">
                <a:solidFill>
                  <a:srgbClr val="595959"/>
                </a:solidFill>
              </a:rPr>
              <a:t>PSII</a:t>
            </a:r>
            <a:r>
              <a:rPr sz="1000">
                <a:solidFill>
                  <a:srgbClr val="595959"/>
                </a:solidFill>
              </a:rPr>
              <a:t>−Φ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 (Kramer et al., 2004; Oxborough &amp; Baker, 1997). Fo·Fm: 가장 가까운 날짜의 암적응 처리별 평균. 표·그림: PAR·기온 공변량 보정 평균, 혼합모형(처리 고정, 측정일 임의효과; Ali et al., 2025; Gao et al., 2024), Tukey 문자.</a:t>
            </a:r>
          </a:p>
        </p:txBody>
      </p:sp>
      <p:sp>
        <p:nvSpPr>
          <p:cNvPr id="15" name="Nav 서론"/>
          <p:cNvSpPr txBox="1"/>
          <p:nvPr/>
        </p:nvSpPr>
        <p:spPr>
          <a:xfrm>
            <a:off x="841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서론</a:t>
            </a:r>
          </a:p>
        </p:txBody>
      </p:sp>
      <p:sp>
        <p:nvSpPr>
          <p:cNvPr id="16" name="Nav 재료 및 방법"/>
          <p:cNvSpPr txBox="1"/>
          <p:nvPr/>
        </p:nvSpPr>
        <p:spPr>
          <a:xfrm>
            <a:off x="22128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재료 및 방법</a:t>
            </a:r>
          </a:p>
        </p:txBody>
      </p:sp>
      <p:sp>
        <p:nvSpPr>
          <p:cNvPr id="17" name="Nav 결과"/>
          <p:cNvSpPr txBox="1"/>
          <p:nvPr/>
        </p:nvSpPr>
        <p:spPr>
          <a:xfrm>
            <a:off x="35844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결과</a:t>
            </a:r>
          </a:p>
        </p:txBody>
      </p:sp>
      <p:sp>
        <p:nvSpPr>
          <p:cNvPr id="18" name="Nav 고찰"/>
          <p:cNvSpPr txBox="1"/>
          <p:nvPr/>
        </p:nvSpPr>
        <p:spPr>
          <a:xfrm>
            <a:off x="49560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고찰</a:t>
            </a:r>
          </a:p>
        </p:txBody>
      </p:sp>
      <p:sp>
        <p:nvSpPr>
          <p:cNvPr id="19" name="Nav 결론"/>
          <p:cNvSpPr txBox="1"/>
          <p:nvPr/>
        </p:nvSpPr>
        <p:spPr>
          <a:xfrm>
            <a:off x="63276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결론</a:t>
            </a:r>
          </a:p>
        </p:txBody>
      </p:sp>
      <p:sp>
        <p:nvSpPr>
          <p:cNvPr id="20" name="Nav 부록"/>
          <p:cNvSpPr txBox="1"/>
          <p:nvPr/>
        </p:nvSpPr>
        <p:spPr>
          <a:xfrm>
            <a:off x="7699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 u="sng">
                <a:solidFill>
                  <a:srgbClr val="1A1A1A"/>
                </a:solidFill>
              </a:rPr>
              <a:t>부록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20624"/>
            <a:ext cx="8549640" cy="566928"/>
          </a:xfrm>
        </p:spPr>
        <p:txBody>
          <a:bodyPr anchor="b">
            <a:normAutofit/>
          </a:bodyPr>
          <a:lstStyle/>
          <a:p>
            <a:r>
              <a:rPr lang="ko-KR" altLang="en-US" sz="2800" dirty="0"/>
              <a:t>LI-600 : 비광화학적 소광 (NPQ)</a:t>
            </a:r>
          </a:p>
        </p:txBody>
      </p:sp>
      <p:pic>
        <p:nvPicPr>
          <p:cNvPr id="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058" y="129246"/>
            <a:ext cx="2242456" cy="729364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8FA03D2-03B7-0D84-2206-40CA69A8D76A}"/>
              </a:ext>
            </a:extLst>
          </p:cNvPr>
          <p:cNvCxnSpPr>
            <a:cxnSpLocks/>
          </p:cNvCxnSpPr>
          <p:nvPr/>
        </p:nvCxnSpPr>
        <p:spPr>
          <a:xfrm>
            <a:off x="783772" y="1002621"/>
            <a:ext cx="10624457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96D3AE-CC3D-A909-29AD-1EF41A97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/>
              <a:t>25</a:t>
            </a:fld>
            <a:endParaRPr lang="ko-KR" altLang="en-US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59" y="1188720"/>
            <a:ext cx="6375000" cy="2550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790000"/>
          <a:ext cx="6858000" cy="133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Treatment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Soybean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</a:rPr>
                        <a:t>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P1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000000"/>
                          </a:solidFill>
                        </a:rPr>
                        <a:t>Romaine P2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Control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0.401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0.490 ab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0.598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0.624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Drought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0.647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0.636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0.613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Waterlogging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0.441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0.424 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0.626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0.607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Combined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–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0.541 ab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0.690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>0.484 a</a:t>
                      </a:r>
                      <a:endParaRPr sz="800"/>
                    </a:p>
                  </a:txBody>
                  <a:tcPr marL="54864" marR="54864" marT="18288" marB="18288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ard 요점"/>
          <p:cNvSpPr/>
          <p:nvPr/>
        </p:nvSpPr>
        <p:spPr>
          <a:xfrm>
            <a:off x="7498079" y="1399032"/>
            <a:ext cx="4206240" cy="4133087"/>
          </a:xfrm>
          <a:prstGeom prst="roundRect">
            <a:avLst>
              <a:gd name="adj" fmla="val 3400"/>
            </a:avLst>
          </a:prstGeom>
          <a:solidFill>
            <a:srgbClr val="FBFBFB"/>
          </a:solidFill>
          <a:ln w="12700">
            <a:solidFill>
              <a:srgbClr val="AFA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ader 요점"/>
          <p:cNvSpPr/>
          <p:nvPr/>
        </p:nvSpPr>
        <p:spPr>
          <a:xfrm>
            <a:off x="7680959" y="1188720"/>
            <a:ext cx="3840479" cy="420624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27432" rIns="73152" bIns="27432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요점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783080"/>
            <a:ext cx="3886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Bef>
                <a:spcPts val="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콩:  P1은 처리 간 차이가 없었고, P2는 건조구가 침수구보다 높았음</a:t>
            </a:r>
          </a:p>
          <a:p>
            <a:pPr marL="201168" indent="-201168">
              <a:spcBef>
                <a:spcPts val="700"/>
              </a:spcBef>
              <a:buFont typeface="Arial"/>
              <a:buChar char="•"/>
            </a:pPr>
            <a:r>
              <a:rPr sz="1400">
                <a:solidFill>
                  <a:srgbClr val="000000"/>
                </a:solidFill>
              </a:rPr>
              <a:t>로메인:  P1·P2 모두 처리 간 차이 없음</a:t>
            </a:r>
          </a:p>
        </p:txBody>
      </p:sp>
      <p:sp>
        <p:nvSpPr>
          <p:cNvPr id="12" name="Conclusion Box"/>
          <p:cNvSpPr/>
          <p:nvPr/>
        </p:nvSpPr>
        <p:spPr>
          <a:xfrm>
            <a:off x="841248" y="5788152"/>
            <a:ext cx="10570464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600">
                <a:solidFill>
                  <a:srgbClr val="E97132"/>
                </a:solidFill>
              </a:rPr>
              <a:t>콩은 P2에서 건조구의 NPQ가 침수구보다 높고, 로메인은 처리 간 차이 없음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457200" y="6473952"/>
            <a:ext cx="8138160" cy="310896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NPQ=(Fm−Fm′)/Fm′, 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=1/(NPQ+1+qL(Fm/Fo−1)), Φ</a:t>
            </a:r>
            <a:r>
              <a:rPr sz="1000" baseline="-25000">
                <a:solidFill>
                  <a:srgbClr val="595959"/>
                </a:solidFill>
              </a:rPr>
              <a:t>NPQ</a:t>
            </a:r>
            <a:r>
              <a:rPr sz="1000">
                <a:solidFill>
                  <a:srgbClr val="595959"/>
                </a:solidFill>
              </a:rPr>
              <a:t>=1−Φ</a:t>
            </a:r>
            <a:r>
              <a:rPr sz="1000" baseline="-25000">
                <a:solidFill>
                  <a:srgbClr val="595959"/>
                </a:solidFill>
              </a:rPr>
              <a:t>PSII</a:t>
            </a:r>
            <a:r>
              <a:rPr sz="1000">
                <a:solidFill>
                  <a:srgbClr val="595959"/>
                </a:solidFill>
              </a:rPr>
              <a:t>−Φ</a:t>
            </a:r>
            <a:r>
              <a:rPr sz="1000" baseline="-25000">
                <a:solidFill>
                  <a:srgbClr val="595959"/>
                </a:solidFill>
              </a:rPr>
              <a:t>NO</a:t>
            </a:r>
            <a:r>
              <a:rPr sz="1000">
                <a:solidFill>
                  <a:srgbClr val="595959"/>
                </a:solidFill>
              </a:rPr>
              <a:t> (Kramer et al., 2004; Oxborough &amp; Baker, 1997). Fo·Fm: 가장 가까운 날짜의 암적응 처리별 평균. 표·그림: PAR·기온 공변량 보정 평균, 혼합모형(처리 고정, 측정일 임의효과; Ali et al., 2025; Gao et al., 2024), Tukey 문자.</a:t>
            </a:r>
          </a:p>
        </p:txBody>
      </p:sp>
      <p:sp>
        <p:nvSpPr>
          <p:cNvPr id="15" name="Nav 서론"/>
          <p:cNvSpPr txBox="1"/>
          <p:nvPr/>
        </p:nvSpPr>
        <p:spPr>
          <a:xfrm>
            <a:off x="841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서론</a:t>
            </a:r>
          </a:p>
        </p:txBody>
      </p:sp>
      <p:sp>
        <p:nvSpPr>
          <p:cNvPr id="16" name="Nav 재료 및 방법"/>
          <p:cNvSpPr txBox="1"/>
          <p:nvPr/>
        </p:nvSpPr>
        <p:spPr>
          <a:xfrm>
            <a:off x="22128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재료 및 방법</a:t>
            </a:r>
          </a:p>
        </p:txBody>
      </p:sp>
      <p:sp>
        <p:nvSpPr>
          <p:cNvPr id="17" name="Nav 결과"/>
          <p:cNvSpPr txBox="1"/>
          <p:nvPr/>
        </p:nvSpPr>
        <p:spPr>
          <a:xfrm>
            <a:off x="35844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결과</a:t>
            </a:r>
          </a:p>
        </p:txBody>
      </p:sp>
      <p:sp>
        <p:nvSpPr>
          <p:cNvPr id="18" name="Nav 고찰"/>
          <p:cNvSpPr txBox="1"/>
          <p:nvPr/>
        </p:nvSpPr>
        <p:spPr>
          <a:xfrm>
            <a:off x="49560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고찰</a:t>
            </a:r>
          </a:p>
        </p:txBody>
      </p:sp>
      <p:sp>
        <p:nvSpPr>
          <p:cNvPr id="19" name="Nav 결론"/>
          <p:cNvSpPr txBox="1"/>
          <p:nvPr/>
        </p:nvSpPr>
        <p:spPr>
          <a:xfrm>
            <a:off x="63276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u="none">
                <a:solidFill>
                  <a:srgbClr val="595959"/>
                </a:solidFill>
              </a:rPr>
              <a:t>결론</a:t>
            </a:r>
          </a:p>
        </p:txBody>
      </p:sp>
      <p:sp>
        <p:nvSpPr>
          <p:cNvPr id="20" name="Nav 부록"/>
          <p:cNvSpPr txBox="1"/>
          <p:nvPr/>
        </p:nvSpPr>
        <p:spPr>
          <a:xfrm>
            <a:off x="7699248" y="100584"/>
            <a:ext cx="1371600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50" b="1" u="sng">
                <a:solidFill>
                  <a:srgbClr val="1A1A1A"/>
                </a:solidFill>
              </a:rPr>
              <a:t>부록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47690B-9EC7-46B6-89C7-B4D0A48C43B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f520049-4b44-42da-a845-ab676c9aec6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19410</TotalTime>
  <Words>8721</Words>
  <Application>Microsoft Office PowerPoint</Application>
  <PresentationFormat>와이드스크린</PresentationFormat>
  <Paragraphs>1251</Paragraphs>
  <Slides>32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맑은 고딕</vt:lpstr>
      <vt:lpstr>맑은 고딕</vt:lpstr>
      <vt:lpstr>Arial</vt:lpstr>
      <vt:lpstr>Times New Roman</vt:lpstr>
      <vt:lpstr>Office 테마</vt:lpstr>
      <vt:lpstr>침수 및 건조 복합재해에 대한 생육 및 생리 반응 비교  Comparison of Growth and Physiological Responses to Flooding, Drought, and Combined Stress</vt:lpstr>
      <vt:lpstr>연구 배경: 한 생육기 안의 침수–건조 연속 재해</vt:lpstr>
      <vt:lpstr>연구 목적: 수분 재해별 생리적 제한 단계 규명</vt:lpstr>
      <vt:lpstr>공시 작물 및 수분 처리</vt:lpstr>
      <vt:lpstr>처리 일정과 측정 시기 (DAT 기준 정렬)</vt:lpstr>
      <vt:lpstr>측정 항목: 제한 단계별 지표</vt:lpstr>
      <vt:lpstr>처리 검증: 실제 수분 조건과 한계</vt:lpstr>
      <vt:lpstr>① 기공전도도 (gsw): 침수 직후 두 작물 모두 감소</vt:lpstr>
      <vt:lpstr>① 기공 회복 속도: 상추는 빠르게, 콩은 느리게</vt:lpstr>
      <vt:lpstr>① 상추 침수 직후(DAT 3): 기공만 닫힘</vt:lpstr>
      <vt:lpstr>② ΦPSII: 콩 건조 저하는 고광도에서만, 상추는 변화 없음</vt:lpstr>
      <vt:lpstr>③ 광계 II 손상과 형광 신호 크기</vt:lpstr>
      <vt:lpstr>④ 광합성 능력 (A-Ci, A-Q 파라미터)</vt:lpstr>
      <vt:lpstr>⑤ 생육: 상추는 침수로 −40%, 콩은 초기 생식생장 지연</vt:lpstr>
      <vt:lpstr>⑤ 상추 생육 감소는 잎 생리로 설명되지 않음</vt:lpstr>
      <vt:lpstr>제한 단계 종합: 작물 × 처리</vt:lpstr>
      <vt:lpstr>고찰: 상추 생육 감소 경로와 콩 결과의 한계</vt:lpstr>
      <vt:lpstr>결론 및 향후 계획</vt:lpstr>
      <vt:lpstr>PowerPoint 프레젠테이션</vt:lpstr>
      <vt:lpstr>보충 자료</vt:lpstr>
      <vt:lpstr>A1. LI-600 보정: 선형 PAR(Qamb) + 기온(Tair)</vt:lpstr>
      <vt:lpstr>A2. LI-6800 광도별 형광 반응 ① 처리별 Fo·Fm</vt:lpstr>
      <vt:lpstr>A3. LI-6800 광도별 형광 반응 ② 통합 Fo·Fm</vt:lpstr>
      <vt:lpstr>A4. 광포화점 (LSP): NRH 모델 Q80</vt:lpstr>
      <vt:lpstr>A5. 정상 상태 형광 (Fs): 실제 값 비교</vt:lpstr>
      <vt:lpstr>A6. 전자전달속도 (ETR): 실제 값 비교</vt:lpstr>
      <vt:lpstr>A7. 측정 당시 일사 조건: 흐린 날 표시</vt:lpstr>
      <vt:lpstr>A8. LI-600 에너지 분배 (NPQ·ΦNO)</vt:lpstr>
      <vt:lpstr>A9. 원자료 전체 포함 분석: 제외·선별 자료</vt:lpstr>
      <vt:lpstr>A10. A-Ci·A-Q 파라미터: 전체 곡선 포함</vt:lpstr>
      <vt:lpstr>A11. gsw 전체 측정값 포함 (삭제 11개 복원)</vt:lpstr>
      <vt:lpstr>A12. 콩 생육: 원자료 전체 vs 이상값제거 시트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윤정민</dc:creator>
  <cp:lastModifiedBy>윤정민</cp:lastModifiedBy>
  <cp:revision>2</cp:revision>
  <dcterms:created xsi:type="dcterms:W3CDTF">2026-04-06T01:45:26Z</dcterms:created>
  <dcterms:modified xsi:type="dcterms:W3CDTF">2026-10-30T01:34:10Z</dcterms:modified>
</cp:coreProperties>
</file>