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390" r:id="rId3"/>
    <p:sldId id="391" r:id="rId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9ED5"/>
    <a:srgbClr val="136331"/>
    <a:srgbClr val="1E3A8A"/>
    <a:srgbClr val="991B1B"/>
    <a:srgbClr val="8D711D"/>
    <a:srgbClr val="7A5B00"/>
    <a:srgbClr val="595959"/>
    <a:srgbClr val="CC2E27"/>
    <a:srgbClr val="FFF4CC"/>
    <a:srgbClr val="1350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1273" autoAdjust="0"/>
  </p:normalViewPr>
  <p:slideViewPr>
    <p:cSldViewPr snapToGrid="0">
      <p:cViewPr varScale="1">
        <p:scale>
          <a:sx n="110" d="100"/>
          <a:sy n="110" d="100"/>
        </p:scale>
        <p:origin x="630" y="114"/>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4" Type="http://schemas.openxmlformats.org/officeDocument/2006/relationships/slide" Target="slides/slide3.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윤정민" userId="6b15c765-da21-42d7-95fe-61eaef7495af" providerId="ADAL" clId="{5C7C66C6-67D0-439D-9B00-412197ADBF19}"/>
    <pc:docChg chg="undo custSel addSld delSld modSld sldOrd">
      <pc:chgData name="윤정민" userId="6b15c765-da21-42d7-95fe-61eaef7495af" providerId="ADAL" clId="{5C7C66C6-67D0-439D-9B00-412197ADBF19}" dt="2026-10-30T01:34:00.518" v="2957" actId="14100"/>
      <pc:docMkLst>
        <pc:docMk/>
      </pc:docMkLst>
      <pc:sldChg chg="modSp mod">
        <pc:chgData name="윤정민" userId="6b15c765-da21-42d7-95fe-61eaef7495af" providerId="ADAL" clId="{5C7C66C6-67D0-439D-9B00-412197ADBF19}" dt="2026-10-30T01:33:35.113" v="2956" actId="14100"/>
        <pc:sldMkLst>
          <pc:docMk/>
          <pc:sldMk cId="0" sldId="377"/>
        </pc:sldMkLst>
        <pc:spChg chg="mod">
          <ac:chgData name="윤정민" userId="6b15c765-da21-42d7-95fe-61eaef7495af" providerId="ADAL" clId="{5C7C66C6-67D0-439D-9B00-412197ADBF19}" dt="2026-10-30T01:33:35.113" v="2956" actId="14100"/>
          <ac:spMkLst>
            <pc:docMk/>
            <pc:sldMk cId="0" sldId="377"/>
            <ac:spMk id="2" creationId="{00000000-0000-0000-0000-000000000000}"/>
          </ac:spMkLst>
        </pc:spChg>
      </pc:sldChg>
      <pc:sldChg chg="modSp mod">
        <pc:chgData name="윤정민" userId="6b15c765-da21-42d7-95fe-61eaef7495af" providerId="ADAL" clId="{5C7C66C6-67D0-439D-9B00-412197ADBF19}" dt="2026-10-30T01:34:00.518" v="2957" actId="14100"/>
        <pc:sldMkLst>
          <pc:docMk/>
          <pc:sldMk cId="0" sldId="397"/>
        </pc:sldMkLst>
        <pc:spChg chg="mod">
          <ac:chgData name="윤정민" userId="6b15c765-da21-42d7-95fe-61eaef7495af" providerId="ADAL" clId="{5C7C66C6-67D0-439D-9B00-412197ADBF19}" dt="2026-10-30T01:34:00.518" v="2957" actId="14100"/>
          <ac:spMkLst>
            <pc:docMk/>
            <pc:sldMk cId="0" sldId="39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C7B71-203A-44A4-BF64-F0E05ABB4A10}" type="datetimeFigureOut">
              <a:rPr lang="ko-KR" altLang="en-US" smtClean="0"/>
              <a:t>2026-10-30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34595A-DD79-43DB-8171-24D3E6EC3B6F}" type="slidenum">
              <a:rPr lang="ko-KR" altLang="en-US" smtClean="0"/>
              <a:t>‹#›</a:t>
            </a:fld>
            <a:endParaRPr lang="ko-KR" altLang="en-US"/>
          </a:p>
        </p:txBody>
      </p:sp>
    </p:spTree>
    <p:extLst>
      <p:ext uri="{BB962C8B-B14F-4D97-AF65-F5344CB8AC3E}">
        <p14:creationId xmlns:p14="http://schemas.microsoft.com/office/powerpoint/2010/main" val="43043718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35초) 최근에는 집중호우와 폭염·가뭄이 짧은 간격으로 반복되면서 한 작물이 한 생육기 안에서 침수와 건조를 연이어 겪는 복합재해가 늘고 있습니다. 2025년 7월 중순에도 남부지방에 집중호우가 내린 뒤 폭염이 이어졌습니다. 왼쪽 그림처럼 침수는 뿌리의 산소 결핍으로 기공을 닫게 하고 배수 후에도 회복에 시간이 걸립니다. 가운데 그림처럼 건조는 토양 수분 부족으로 엽의 수분 상태를 떨어뜨려 증산과 광합성을 줄입니다. 오른쪽 그림처럼 두 재해가 이어지면 피해가 누적될 수도, 앞선 스트레스가 순화 효과를 줄 수도 있는데, 작물과 생육 단계별로 어떻게 다른지 비교한 연구는 충분하지 않습니다.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(약 30초) 이 연구는 수분 재해의 영향을 단계별로 나누어 보았습니다. 잎에서는 수분 스트레스에 가장 먼저 기공이 닫혀 이산화탄소 공급이 줄고, 그 뒤 두 경로가 병렬로 영향을 받습니다. 하나는 틸라코이드 막의 PSII 전자전달, 즉 명반응이고, 다른 하나는 루비스코 카르복실화와 재생 능력, 즉 광합성 능력입니다. 이 세 단계의 영향이 누적되어 생육과 수량 감소로 이어지는지를 콩과 로메인 상추에 침수, 건조, 복합 처리를 적용하여 비교했습니다.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8072F4-2873-FA64-1793-1B59A9006EA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5C725AA-7A3D-1E01-136A-BA5E31AAFA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33D4592-A7B5-1B8E-7084-C40EC53F029F}"/>
              </a:ext>
            </a:extLst>
          </p:cNvPr>
          <p:cNvSpPr>
            <a:spLocks noGrp="1"/>
          </p:cNvSpPr>
          <p:nvPr>
            <p:ph type="dt" sz="half" idx="10"/>
          </p:nvPr>
        </p:nvSpPr>
        <p:spPr/>
        <p:txBody>
          <a:bodyPr/>
          <a:lstStyle/>
          <a:p>
            <a:fld id="{23B7423D-07B6-40C2-A3B1-DE84ED9F922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5648F786-E4C0-F7C0-32CD-34E91CEF7B7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5BECFB-E902-EC85-FEC1-E4AB644B19F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710430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50C47BA-E2E9-69D7-F6E0-02DC3B986C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A97C6CC-8DA3-FD4D-87B4-868FAA53564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702C51B-FB8D-E7C1-6733-5EC2ECA1CBAC}"/>
              </a:ext>
            </a:extLst>
          </p:cNvPr>
          <p:cNvSpPr>
            <a:spLocks noGrp="1"/>
          </p:cNvSpPr>
          <p:nvPr>
            <p:ph type="dt" sz="half" idx="10"/>
          </p:nvPr>
        </p:nvSpPr>
        <p:spPr/>
        <p:txBody>
          <a:bodyPr/>
          <a:lstStyle/>
          <a:p>
            <a:fld id="{9D045C9A-BDB9-48A9-9066-A45ABF71364F}"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A98E2A7E-4A0C-FD9F-1ED0-7811F3E13D7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C65C28-2F83-31A3-5148-349E65E68D7E}"/>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437119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9FBAAD-2832-D2E6-9201-28DBD75909FF}"/>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A763489E-C9A3-CFD5-E26E-C4F2F9B407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DB9888C3-0185-B4BB-FE7C-08442FC7E7ED}"/>
              </a:ext>
            </a:extLst>
          </p:cNvPr>
          <p:cNvSpPr>
            <a:spLocks noGrp="1"/>
          </p:cNvSpPr>
          <p:nvPr>
            <p:ph type="dt" sz="half" idx="10"/>
          </p:nvPr>
        </p:nvSpPr>
        <p:spPr/>
        <p:txBody>
          <a:bodyPr/>
          <a:lstStyle/>
          <a:p>
            <a:fld id="{8DF124EE-B7C9-47F6-AC19-1FC82632F435}"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370C6D9C-5A42-E114-6EA7-D4D918C2ED4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B716F0-7AC5-35C9-215B-75DBDDF026EB}"/>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16143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48125F4-6D71-334C-84D5-A1ACC974BC7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A27950-5013-95BA-AFC7-A8A163281073}"/>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8FFBEAB-A7F2-2965-ACDF-C78C8B76643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87428652-A26B-FC7B-C0DE-C56897C8B859}"/>
              </a:ext>
            </a:extLst>
          </p:cNvPr>
          <p:cNvSpPr>
            <a:spLocks noGrp="1"/>
          </p:cNvSpPr>
          <p:nvPr>
            <p:ph type="dt" sz="half" idx="10"/>
          </p:nvPr>
        </p:nvSpPr>
        <p:spPr/>
        <p:txBody>
          <a:bodyPr/>
          <a:lstStyle/>
          <a:p>
            <a:fld id="{36F2CE93-FFF2-48C5-876B-C29D334070AC}"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2854ECFA-AB42-AC1C-4117-09D00A9DBF2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1583EDE-A663-AC4C-23CA-8E1840BC53A0}"/>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8233861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D429BE-5249-9056-163C-74FA9783FB1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B23B763C-22D9-C80F-CCDE-0707C6AC9A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B574F77-2209-A440-F7AB-3060E96F4A81}"/>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D1B2901-98D7-6D8A-F650-669806F465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1FDDB69-9C13-7002-F81F-1C1EFD7B74A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01F8E8-08B1-62D8-B503-4283DFACB61C}"/>
              </a:ext>
            </a:extLst>
          </p:cNvPr>
          <p:cNvSpPr>
            <a:spLocks noGrp="1"/>
          </p:cNvSpPr>
          <p:nvPr>
            <p:ph type="dt" sz="half" idx="10"/>
          </p:nvPr>
        </p:nvSpPr>
        <p:spPr/>
        <p:txBody>
          <a:bodyPr/>
          <a:lstStyle/>
          <a:p>
            <a:fld id="{F1614133-4840-4F08-BA32-D57CA94E303C}" type="datetime1">
              <a:rPr lang="ko-KR" altLang="en-US" smtClean="0"/>
              <a:t>2026-10-30</a:t>
            </a:fld>
            <a:endParaRPr lang="ko-KR" altLang="en-US"/>
          </a:p>
        </p:txBody>
      </p:sp>
      <p:sp>
        <p:nvSpPr>
          <p:cNvPr id="8" name="바닥글 개체 틀 7">
            <a:extLst>
              <a:ext uri="{FF2B5EF4-FFF2-40B4-BE49-F238E27FC236}">
                <a16:creationId xmlns:a16="http://schemas.microsoft.com/office/drawing/2014/main" id="{BF9B74BF-BE22-63C7-48D7-C09BC9875D3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AE248C76-A4AD-26F0-801B-E0C228FD7DD7}"/>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959302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262E28-2DBA-605A-BECA-20063F14785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38E0772-E95D-EF89-1540-90BAF501D61D}"/>
              </a:ext>
            </a:extLst>
          </p:cNvPr>
          <p:cNvSpPr>
            <a:spLocks noGrp="1"/>
          </p:cNvSpPr>
          <p:nvPr>
            <p:ph type="dt" sz="half" idx="10"/>
          </p:nvPr>
        </p:nvSpPr>
        <p:spPr/>
        <p:txBody>
          <a:bodyPr/>
          <a:lstStyle/>
          <a:p>
            <a:fld id="{2A691F09-6923-414B-A1FA-93B7B6B05A06}" type="datetime1">
              <a:rPr lang="ko-KR" altLang="en-US" smtClean="0"/>
              <a:t>2026-10-30</a:t>
            </a:fld>
            <a:endParaRPr lang="ko-KR" altLang="en-US"/>
          </a:p>
        </p:txBody>
      </p:sp>
      <p:sp>
        <p:nvSpPr>
          <p:cNvPr id="4" name="바닥글 개체 틀 3">
            <a:extLst>
              <a:ext uri="{FF2B5EF4-FFF2-40B4-BE49-F238E27FC236}">
                <a16:creationId xmlns:a16="http://schemas.microsoft.com/office/drawing/2014/main" id="{AA18BA7F-B0B9-9AEB-CFFF-E6BB717243A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D9C7F523-2E13-CF6D-4554-8D965EA1A8C2}"/>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987163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FBE8BF9-A354-4992-F8C2-90BF87854A8F}"/>
              </a:ext>
            </a:extLst>
          </p:cNvPr>
          <p:cNvSpPr>
            <a:spLocks noGrp="1"/>
          </p:cNvSpPr>
          <p:nvPr>
            <p:ph type="dt" sz="half" idx="10"/>
          </p:nvPr>
        </p:nvSpPr>
        <p:spPr/>
        <p:txBody>
          <a:bodyPr/>
          <a:lstStyle/>
          <a:p>
            <a:fld id="{F061528D-0A4B-4725-BECB-0A804A98733B}" type="datetime1">
              <a:rPr lang="ko-KR" altLang="en-US" smtClean="0"/>
              <a:t>2026-10-30</a:t>
            </a:fld>
            <a:endParaRPr lang="ko-KR" altLang="en-US"/>
          </a:p>
        </p:txBody>
      </p:sp>
      <p:sp>
        <p:nvSpPr>
          <p:cNvPr id="3" name="바닥글 개체 틀 2">
            <a:extLst>
              <a:ext uri="{FF2B5EF4-FFF2-40B4-BE49-F238E27FC236}">
                <a16:creationId xmlns:a16="http://schemas.microsoft.com/office/drawing/2014/main" id="{300C3AA4-8FE3-F53A-0F4F-13CDD6F77C2D}"/>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79ECA705-4832-583C-C769-782684C72C2A}"/>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971228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334CB40-F222-33F8-2930-F8C8F170FB7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F683CDC-0D06-E8FF-5CB6-AD0E41A04E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345D3C8C-90E8-FE3F-941F-50AF76CE21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84B14FF-82AA-1021-E783-8543CC459F1B}"/>
              </a:ext>
            </a:extLst>
          </p:cNvPr>
          <p:cNvSpPr>
            <a:spLocks noGrp="1"/>
          </p:cNvSpPr>
          <p:nvPr>
            <p:ph type="dt" sz="half" idx="10"/>
          </p:nvPr>
        </p:nvSpPr>
        <p:spPr/>
        <p:txBody>
          <a:bodyPr/>
          <a:lstStyle/>
          <a:p>
            <a:fld id="{D9BA0492-4290-4283-8041-C72F2A3FD572}"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D71E3FCC-569A-6CE6-D4EF-75FFC816590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A45CEF7-23C1-61E3-0CB0-E857E9E82381}"/>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2252816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8FDFA6-91D5-3744-B2AE-8AD520F1E02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E68EC9AF-67D0-C116-F5BD-AFF40AB49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E4B042C-7642-FF7C-B5B2-E432270BB5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518D809-019A-150B-309F-5E84A5321D96}"/>
              </a:ext>
            </a:extLst>
          </p:cNvPr>
          <p:cNvSpPr>
            <a:spLocks noGrp="1"/>
          </p:cNvSpPr>
          <p:nvPr>
            <p:ph type="dt" sz="half" idx="10"/>
          </p:nvPr>
        </p:nvSpPr>
        <p:spPr/>
        <p:txBody>
          <a:bodyPr/>
          <a:lstStyle/>
          <a:p>
            <a:fld id="{3933010E-CE60-4360-8079-7BED3621D0DA}" type="datetime1">
              <a:rPr lang="ko-KR" altLang="en-US" smtClean="0"/>
              <a:t>2026-10-30</a:t>
            </a:fld>
            <a:endParaRPr lang="ko-KR" altLang="en-US"/>
          </a:p>
        </p:txBody>
      </p:sp>
      <p:sp>
        <p:nvSpPr>
          <p:cNvPr id="6" name="바닥글 개체 틀 5">
            <a:extLst>
              <a:ext uri="{FF2B5EF4-FFF2-40B4-BE49-F238E27FC236}">
                <a16:creationId xmlns:a16="http://schemas.microsoft.com/office/drawing/2014/main" id="{138F648C-2B44-F25B-BA65-0F0EA93209C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C610761-27DA-5D7F-A72E-03EC8DD59948}"/>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02584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6FABC10-DCAE-3EA5-9B62-E982FA39E5A7}"/>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DB3CE13-292C-C63A-86DA-B62C68FA039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A5F8A6-B9F4-6134-3C3F-3B42A7DB1090}"/>
              </a:ext>
            </a:extLst>
          </p:cNvPr>
          <p:cNvSpPr>
            <a:spLocks noGrp="1"/>
          </p:cNvSpPr>
          <p:nvPr>
            <p:ph type="dt" sz="half" idx="10"/>
          </p:nvPr>
        </p:nvSpPr>
        <p:spPr/>
        <p:txBody>
          <a:bodyPr/>
          <a:lstStyle/>
          <a:p>
            <a:fld id="{F199F8C8-AD83-442B-B306-C2E74F989BB3}"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8749D320-0180-2E7B-CB63-6406A988DB7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32DEF9D-4DBA-4D73-41B0-D03A47769FBC}"/>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506709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91EA5634-B559-9843-AFE5-E5585D0EF465}"/>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41F5A501-6259-5E2A-4E7B-7823242DCDE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C7567E4-4880-C0C0-8932-6BF750727C4E}"/>
              </a:ext>
            </a:extLst>
          </p:cNvPr>
          <p:cNvSpPr>
            <a:spLocks noGrp="1"/>
          </p:cNvSpPr>
          <p:nvPr>
            <p:ph type="dt" sz="half" idx="10"/>
          </p:nvPr>
        </p:nvSpPr>
        <p:spPr/>
        <p:txBody>
          <a:bodyPr/>
          <a:lstStyle/>
          <a:p>
            <a:fld id="{26090C41-AFF9-488A-8C02-EEA924D341C6}"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6148955D-85B0-2FB5-B2D9-EFD9AE0F0D0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2F28678-A0B9-C385-2F24-B9CE6337BEF3}"/>
              </a:ext>
            </a:extLst>
          </p:cNvPr>
          <p:cNvSpPr>
            <a:spLocks noGrp="1"/>
          </p:cNvSpPr>
          <p:nvPr>
            <p:ph type="sldNum" sz="quarter" idx="12"/>
          </p:nvPr>
        </p:nvSpPr>
        <p:spPr/>
        <p:txBody>
          <a:body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320203379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28C9D72-72B9-1829-B00B-B4FFF7CBCD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DC67C0B4-28E8-F572-9FD7-8D8C462D97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9ED7AAD-7768-C084-52A6-0F737C0AE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19DF18-70C5-4E96-87E8-EA7D036EB1FB}" type="datetime1">
              <a:rPr lang="ko-KR" altLang="en-US" smtClean="0"/>
              <a:t>2026-10-30</a:t>
            </a:fld>
            <a:endParaRPr lang="ko-KR" altLang="en-US"/>
          </a:p>
        </p:txBody>
      </p:sp>
      <p:sp>
        <p:nvSpPr>
          <p:cNvPr id="5" name="바닥글 개체 틀 4">
            <a:extLst>
              <a:ext uri="{FF2B5EF4-FFF2-40B4-BE49-F238E27FC236}">
                <a16:creationId xmlns:a16="http://schemas.microsoft.com/office/drawing/2014/main" id="{13DBE269-CA62-A3AD-C7CF-3E5EB58183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98E5383-3E5C-18D7-E7DF-D4D2293271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BCED27-B7FD-4F82-BD12-1C1B2F10C096}" type="slidenum">
              <a:rPr lang="ko-KR" altLang="en-US" smtClean="0"/>
              <a:t>‹#›</a:t>
            </a:fld>
            <a:endParaRPr lang="ko-KR" altLang="en-US"/>
          </a:p>
        </p:txBody>
      </p:sp>
    </p:spTree>
    <p:extLst>
      <p:ext uri="{BB962C8B-B14F-4D97-AF65-F5344CB8AC3E}">
        <p14:creationId xmlns:p14="http://schemas.microsoft.com/office/powerpoint/2010/main" val="1603762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3.png"/></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배경: 한 생육기 안의 침수–건조 연속 재해</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2</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b="0">
                <a:solidFill>
                  <a:srgbClr val="E97132"/>
                </a:solidFill>
              </a:rPr>
              <a:t>수분 재해 유형에 따라 </a:t>
            </a:r>
            <a:r>
              <a:rPr sz="1600" b="1">
                <a:solidFill>
                  <a:srgbClr val="E97132"/>
                </a:solidFill>
              </a:rPr>
              <a:t>생리 반응이 어느 단계에서 제한되는지</a:t>
            </a:r>
            <a:r>
              <a:rPr sz="1600" b="0">
                <a:solidFill>
                  <a:srgbClr val="E97132"/>
                </a:solidFill>
              </a:rPr>
              <a:t> 비교한 연구는 충분하지 않음</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b="0">
                <a:solidFill>
                  <a:srgbClr val="595959"/>
                </a:solidFill>
              </a:rPr>
              <a:t>극한기상의 빈도·강도 증가와 복합재해 증가 (기상청, 2025; 김용준 등, 2025). 2025년 7월 중순 남부지방 집중호우(5일 누적 강수량 500 mm 이상) 후 폭염이 지속됨 (KREI, 2025). 이미지: 생성형 AI로 제작한 개념도.</a:t>
            </a:r>
          </a:p>
        </p:txBody>
      </p:sp>
      <p:sp>
        <p:nvSpPr>
          <p:cNvPr id="27" name="Flow 1"/>
          <p:cNvSpPr/>
          <p:nvPr/>
        </p:nvSpPr>
        <p:spPr>
          <a:xfrm>
            <a:off x="1123614" y="1188720"/>
            <a:ext cx="3017520" cy="713232"/>
          </a:xfrm>
          <a:prstGeom prst="roundRect">
            <a:avLst>
              <a:gd name="adj" fmla="val 20000"/>
            </a:avLst>
          </a:prstGeom>
          <a:solidFill>
            <a:srgbClr val="DCEBF7"/>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0B76A0"/>
                </a:solidFill>
              </a:rPr>
              <a:t>집중호우</a:t>
            </a:r>
          </a:p>
          <a:p>
            <a:pPr marL="0" indent="0" algn="ctr">
              <a:spcBef>
                <a:spcPts val="0"/>
              </a:spcBef>
              <a:buNone/>
            </a:pPr>
            <a:r>
              <a:rPr lang="ko-KR" altLang="en-US" sz="1250" b="0" dirty="0">
                <a:solidFill>
                  <a:srgbClr val="000000"/>
                </a:solidFill>
              </a:rPr>
              <a:t>→ 침수 (근권 산소 결핍)</a:t>
            </a:r>
          </a:p>
        </p:txBody>
      </p:sp>
      <p:sp>
        <p:nvSpPr>
          <p:cNvPr id="28" name="Arrow 1"/>
          <p:cNvSpPr/>
          <p:nvPr/>
        </p:nvSpPr>
        <p:spPr>
          <a:xfrm>
            <a:off x="4177710" y="1408176"/>
            <a:ext cx="36576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29" name="Flow 2"/>
          <p:cNvSpPr/>
          <p:nvPr/>
        </p:nvSpPr>
        <p:spPr>
          <a:xfrm>
            <a:off x="4580046" y="1188720"/>
            <a:ext cx="3017520" cy="713232"/>
          </a:xfrm>
          <a:prstGeom prst="roundRect">
            <a:avLst>
              <a:gd name="adj" fmla="val 20000"/>
            </a:avLst>
          </a:prstGeom>
          <a:solidFill>
            <a:srgbClr val="F8E1D3"/>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AF5524"/>
                </a:solidFill>
              </a:rPr>
              <a:t>폭염·가뭄</a:t>
            </a:r>
          </a:p>
          <a:p>
            <a:pPr marL="0" indent="0" algn="ctr">
              <a:spcBef>
                <a:spcPts val="0"/>
              </a:spcBef>
              <a:buNone/>
            </a:pPr>
            <a:r>
              <a:rPr lang="ko-KR" altLang="en-US" sz="1250" b="0" dirty="0">
                <a:solidFill>
                  <a:srgbClr val="000000"/>
                </a:solidFill>
              </a:rPr>
              <a:t>→ 건조 (토양 수분 부족)</a:t>
            </a:r>
          </a:p>
        </p:txBody>
      </p:sp>
      <p:sp>
        <p:nvSpPr>
          <p:cNvPr id="30" name="Arrow 2"/>
          <p:cNvSpPr/>
          <p:nvPr/>
        </p:nvSpPr>
        <p:spPr>
          <a:xfrm>
            <a:off x="7641823" y="1408176"/>
            <a:ext cx="365760" cy="274320"/>
          </a:xfrm>
          <a:prstGeom prst="rightArrow">
            <a:avLst/>
          </a:prstGeom>
          <a:solidFill>
            <a:srgbClr val="BFBFBF"/>
          </a:solidFill>
          <a:ln>
            <a:noFill/>
          </a:ln>
        </p:spPr>
        <p:txBody>
          <a:bodyPr wrap="square" lIns="73152" tIns="36576" rIns="73152" bIns="36576" rtlCol="0" anchor="ctr">
            <a:noAutofit/>
          </a:bodyPr>
          <a:lstStyle/>
          <a:p>
            <a:endParaRPr lang="ko-KR"/>
          </a:p>
        </p:txBody>
      </p:sp>
      <p:sp>
        <p:nvSpPr>
          <p:cNvPr id="31" name="Flow 3"/>
          <p:cNvSpPr/>
          <p:nvPr/>
        </p:nvSpPr>
        <p:spPr>
          <a:xfrm>
            <a:off x="8051840" y="1188720"/>
            <a:ext cx="3017520" cy="713232"/>
          </a:xfrm>
          <a:prstGeom prst="roundRect">
            <a:avLst>
              <a:gd name="adj" fmla="val 20000"/>
            </a:avLst>
          </a:prstGeom>
          <a:solidFill>
            <a:srgbClr val="E3E9F1"/>
          </a:solidFill>
          <a:ln>
            <a:noFill/>
          </a:ln>
        </p:spPr>
        <p:txBody>
          <a:bodyPr wrap="square" lIns="73152" tIns="36576" rIns="73152" bIns="36576" rtlCol="0" anchor="ctr">
            <a:noAutofit/>
          </a:bodyPr>
          <a:lstStyle/>
          <a:p>
            <a:pPr marL="0" indent="0" algn="ctr">
              <a:spcBef>
                <a:spcPts val="0"/>
              </a:spcBef>
              <a:buNone/>
            </a:pPr>
            <a:r>
              <a:rPr lang="ko-KR" altLang="en-US" sz="1600" b="1" dirty="0">
                <a:solidFill>
                  <a:srgbClr val="156082"/>
                </a:solidFill>
              </a:rPr>
              <a:t>짧은 간격으로 반복</a:t>
            </a:r>
          </a:p>
          <a:p>
            <a:pPr marL="0" indent="0" algn="ctr">
              <a:spcBef>
                <a:spcPts val="0"/>
              </a:spcBef>
              <a:buNone/>
            </a:pPr>
            <a:r>
              <a:rPr lang="ko-KR" altLang="en-US" sz="1250" b="0" dirty="0">
                <a:solidFill>
                  <a:srgbClr val="000000"/>
                </a:solidFill>
              </a:rPr>
              <a:t>→ 한 생육기 내 복합재해</a:t>
            </a:r>
          </a:p>
        </p:txBody>
      </p:sp>
      <p:sp>
        <p:nvSpPr>
          <p:cNvPr id="58"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59"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60"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61"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62"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63" name="Picture 62" descr="triptych.png"/>
          <p:cNvPicPr>
            <a:picLocks noChangeAspect="1"/>
          </p:cNvPicPr>
          <p:nvPr/>
        </p:nvPicPr>
        <p:blipFill>
          <a:blip r:embed="rId4"/>
          <a:stretch>
            <a:fillRect/>
          </a:stretch>
        </p:blipFill>
        <p:spPr>
          <a:xfrm>
            <a:off x="978408" y="1965960"/>
            <a:ext cx="10241280" cy="3071794"/>
          </a:xfrm>
          <a:prstGeom prst="rect">
            <a:avLst/>
          </a:prstGeom>
        </p:spPr>
      </p:pic>
      <p:sp>
        <p:nvSpPr>
          <p:cNvPr id="64" name="TextBox 63"/>
          <p:cNvSpPr txBox="1"/>
          <p:nvPr/>
        </p:nvSpPr>
        <p:spPr>
          <a:xfrm>
            <a:off x="1032174" y="5105010"/>
            <a:ext cx="3200400" cy="640080"/>
          </a:xfrm>
          <a:prstGeom prst="rect">
            <a:avLst/>
          </a:prstGeom>
          <a:noFill/>
        </p:spPr>
        <p:txBody>
          <a:bodyPr wrap="square">
            <a:spAutoFit/>
          </a:bodyPr>
          <a:lstStyle/>
          <a:p>
            <a:pPr algn="ctr"/>
            <a:r>
              <a:rPr sz="1200" b="1">
                <a:solidFill>
                  <a:srgbClr val="333333"/>
                </a:solidFill>
              </a:rPr>
              <a:t>근권 산소 결핍 → 기공 닫힘</a:t>
            </a:r>
          </a:p>
          <a:p>
            <a:pPr algn="ctr"/>
            <a:r>
              <a:rPr sz="1200">
                <a:solidFill>
                  <a:srgbClr val="333333"/>
                </a:solidFill>
              </a:rPr>
              <a:t>엽 내 CO</a:t>
            </a:r>
            <a:r>
              <a:rPr sz="1200" baseline="-25000">
                <a:solidFill>
                  <a:srgbClr val="333333"/>
                </a:solidFill>
              </a:rPr>
              <a:t>2</a:t>
            </a:r>
            <a:r>
              <a:rPr sz="1200">
                <a:solidFill>
                  <a:srgbClr val="333333"/>
                </a:solidFill>
              </a:rPr>
              <a:t> 공급 감소, 회복 지연</a:t>
            </a:r>
          </a:p>
        </p:txBody>
      </p:sp>
      <p:sp>
        <p:nvSpPr>
          <p:cNvPr id="65" name="TextBox 64"/>
          <p:cNvSpPr txBox="1"/>
          <p:nvPr/>
        </p:nvSpPr>
        <p:spPr>
          <a:xfrm>
            <a:off x="4488606" y="5105010"/>
            <a:ext cx="3200400" cy="640080"/>
          </a:xfrm>
          <a:prstGeom prst="rect">
            <a:avLst/>
          </a:prstGeom>
          <a:noFill/>
        </p:spPr>
        <p:txBody>
          <a:bodyPr wrap="square">
            <a:spAutoFit/>
          </a:bodyPr>
          <a:lstStyle/>
          <a:p>
            <a:pPr algn="ctr"/>
            <a:r>
              <a:rPr sz="1200" b="1">
                <a:solidFill>
                  <a:srgbClr val="333333"/>
                </a:solidFill>
              </a:rPr>
              <a:t>토양 수분 부족 → 엽 수분 저하</a:t>
            </a:r>
          </a:p>
          <a:p>
            <a:pPr algn="ctr"/>
            <a:r>
              <a:rPr sz="1200">
                <a:solidFill>
                  <a:srgbClr val="333333"/>
                </a:solidFill>
              </a:rPr>
              <a:t>증산·광합성 감소</a:t>
            </a:r>
          </a:p>
        </p:txBody>
      </p:sp>
      <p:sp>
        <p:nvSpPr>
          <p:cNvPr id="66" name="TextBox 65"/>
          <p:cNvSpPr txBox="1"/>
          <p:nvPr/>
        </p:nvSpPr>
        <p:spPr>
          <a:xfrm>
            <a:off x="7960400" y="5105010"/>
            <a:ext cx="3200400" cy="640080"/>
          </a:xfrm>
          <a:prstGeom prst="rect">
            <a:avLst/>
          </a:prstGeom>
          <a:noFill/>
        </p:spPr>
        <p:txBody>
          <a:bodyPr wrap="square">
            <a:spAutoFit/>
          </a:bodyPr>
          <a:lstStyle/>
          <a:p>
            <a:pPr algn="ctr"/>
            <a:r>
              <a:rPr sz="1200" b="1">
                <a:solidFill>
                  <a:srgbClr val="333333"/>
                </a:solidFill>
              </a:rPr>
              <a:t>침수 회복 전 건조 노출</a:t>
            </a:r>
          </a:p>
          <a:p>
            <a:pPr algn="ctr"/>
            <a:r>
              <a:rPr sz="1200">
                <a:solidFill>
                  <a:srgbClr val="333333"/>
                </a:solidFill>
              </a:rPr>
              <a:t>피해 누적 또는 순화 가능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0" grpId="0" animBg="1"/>
      <p:bldP spid="3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420624"/>
            <a:ext cx="8549640" cy="566928"/>
          </a:xfrm>
        </p:spPr>
        <p:txBody>
          <a:bodyPr anchor="b">
            <a:normAutofit/>
          </a:bodyPr>
          <a:lstStyle/>
          <a:p>
            <a:r>
              <a:rPr lang="ko-KR" altLang="en-US" sz="2800" dirty="0"/>
              <a:t>연구 목적: 수분 재해별 생리적 제한 단계 규명</a:t>
            </a:r>
          </a:p>
        </p:txBody>
      </p:sp>
      <p:pic>
        <p:nvPicPr>
          <p:cNvPr id="3" name="Logo" descr="image.png"/>
          <p:cNvPicPr>
            <a:picLocks noChangeAspect="1"/>
          </p:cNvPicPr>
          <p:nvPr/>
        </p:nvPicPr>
        <p:blipFill>
          <a:blip r:embed="rId3"/>
          <a:stretch>
            <a:fillRect/>
          </a:stretch>
        </p:blipFill>
        <p:spPr>
          <a:xfrm>
            <a:off x="9329058" y="129246"/>
            <a:ext cx="2242456" cy="729364"/>
          </a:xfrm>
          <a:prstGeom prst="rect">
            <a:avLst/>
          </a:prstGeom>
        </p:spPr>
      </p:pic>
      <p:cxnSp>
        <p:nvCxnSpPr>
          <p:cNvPr id="6" name="직선 연결선 5">
            <a:extLst>
              <a:ext uri="{FF2B5EF4-FFF2-40B4-BE49-F238E27FC236}">
                <a16:creationId xmlns:a16="http://schemas.microsoft.com/office/drawing/2014/main" id="{98FA03D2-03B7-0D84-2206-40CA69A8D76A}"/>
              </a:ext>
            </a:extLst>
          </p:cNvPr>
          <p:cNvCxnSpPr>
            <a:cxnSpLocks/>
          </p:cNvCxnSpPr>
          <p:nvPr/>
        </p:nvCxnSpPr>
        <p:spPr>
          <a:xfrm>
            <a:off x="783772" y="1002621"/>
            <a:ext cx="10624457"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4" name="슬라이드 번호 개체 틀 3">
            <a:extLst>
              <a:ext uri="{FF2B5EF4-FFF2-40B4-BE49-F238E27FC236}">
                <a16:creationId xmlns:a16="http://schemas.microsoft.com/office/drawing/2014/main" id="{ED96D3AE-CC3D-A909-29AD-1EF41A97CFCC}"/>
              </a:ext>
            </a:extLst>
          </p:cNvPr>
          <p:cNvSpPr>
            <a:spLocks noGrp="1"/>
          </p:cNvSpPr>
          <p:nvPr>
            <p:ph type="sldNum" sz="quarter" idx="12"/>
          </p:nvPr>
        </p:nvSpPr>
        <p:spPr/>
        <p:txBody>
          <a:bodyPr/>
          <a:lstStyle/>
          <a:p>
            <a:fld id="{B6F15528-21DE-4FAA-801E-634DDDAF4B2B}" type="slidenum">
              <a:rPr/>
              <a:t>3</a:t>
            </a:fld>
            <a:endParaRPr lang="ko-KR" altLang="en-US"/>
          </a:p>
        </p:txBody>
      </p:sp>
      <p:sp>
        <p:nvSpPr>
          <p:cNvPr id="25" name="Conclusion Box"/>
          <p:cNvSpPr/>
          <p:nvPr/>
        </p:nvSpPr>
        <p:spPr>
          <a:xfrm>
            <a:off x="841248" y="5788152"/>
            <a:ext cx="10570464" cy="566928"/>
          </a:xfrm>
          <a:prstGeom prst="roundRect">
            <a:avLst>
              <a:gd name="adj" fmla="val 20000"/>
            </a:avLst>
          </a:prstGeom>
          <a:solidFill>
            <a:srgbClr val="FFFFFF"/>
          </a:solidFill>
          <a:ln w="28575">
            <a:solidFill>
              <a:srgbClr val="E97132"/>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ctr"/>
            <a:r>
              <a:rPr sz="1600">
                <a:solidFill>
                  <a:srgbClr val="E97132"/>
                </a:solidFill>
              </a:rPr>
              <a:t>핵심 질문: 같은 침수·건조 재해에 콩과 로메인 상추의 생리·생육 반응은 어떻게 다른가?</a:t>
            </a:r>
          </a:p>
        </p:txBody>
      </p:sp>
      <p:sp>
        <p:nvSpPr>
          <p:cNvPr id="26" name="Footnote"/>
          <p:cNvSpPr txBox="1"/>
          <p:nvPr/>
        </p:nvSpPr>
        <p:spPr>
          <a:xfrm>
            <a:off x="457200" y="6473952"/>
            <a:ext cx="8138160" cy="310896"/>
          </a:xfrm>
          <a:prstGeom prst="rect">
            <a:avLst/>
          </a:prstGeom>
          <a:noFill/>
        </p:spPr>
        <p:txBody>
          <a:bodyPr wrap="square" lIns="45720" tIns="0" rIns="45720" bIns="0" anchor="t">
            <a:spAutoFit/>
          </a:bodyPr>
          <a:lstStyle/>
          <a:p>
            <a:r>
              <a:rPr sz="1000">
                <a:solidFill>
                  <a:srgbClr val="595959"/>
                </a:solidFill>
              </a:rPr>
              <a:t>본 발표의 결과는 ①→④ 순서로 제시함.</a:t>
            </a:r>
          </a:p>
        </p:txBody>
      </p:sp>
      <p:sp>
        <p:nvSpPr>
          <p:cNvPr id="27" name="Step 1"/>
          <p:cNvSpPr/>
          <p:nvPr/>
        </p:nvSpPr>
        <p:spPr>
          <a:xfrm>
            <a:off x="7406640" y="1188720"/>
            <a:ext cx="1691640" cy="786384"/>
          </a:xfrm>
          <a:prstGeom prst="roundRect">
            <a:avLst>
              <a:gd name="adj" fmla="val 14000"/>
            </a:avLst>
          </a:prstGeom>
          <a:solidFill>
            <a:srgbClr val="E8F1F8"/>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① 기공</a:t>
            </a:r>
          </a:p>
          <a:p>
            <a:pPr marL="0" indent="0" algn="ctr">
              <a:spcBef>
                <a:spcPts val="0"/>
              </a:spcBef>
              <a:buNone/>
            </a:pPr>
            <a:r>
              <a:rPr lang="ko-KR" altLang="en-US" sz="1100" b="0" dirty="0">
                <a:solidFill>
                  <a:srgbClr val="000000"/>
                </a:solidFill>
              </a:rPr>
              <a:t>g</a:t>
            </a:r>
            <a:r>
              <a:rPr lang="ko-KR" altLang="en-US" sz="1100" b="0" dirty="0" baseline="-25000">
                <a:solidFill>
                  <a:srgbClr val="000000"/>
                </a:solidFill>
              </a:rPr>
              <a:t>sw</a:t>
            </a:r>
          </a:p>
        </p:txBody>
      </p:sp>
      <p:sp>
        <p:nvSpPr>
          <p:cNvPr id="28" name="Step 2"/>
          <p:cNvSpPr/>
          <p:nvPr/>
        </p:nvSpPr>
        <p:spPr>
          <a:xfrm>
            <a:off x="7406640" y="2084832"/>
            <a:ext cx="1691640" cy="786384"/>
          </a:xfrm>
          <a:prstGeom prst="roundRect">
            <a:avLst>
              <a:gd name="adj" fmla="val 14000"/>
            </a:avLst>
          </a:prstGeom>
          <a:solidFill>
            <a:srgbClr val="C9DFEE"/>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000000"/>
                </a:solidFill>
              </a:rPr>
              <a:t>② 명반응</a:t>
            </a:r>
          </a:p>
          <a:p>
            <a:pPr marL="0" indent="0" algn="ctr">
              <a:spcBef>
                <a:spcPts val="0"/>
              </a:spcBef>
              <a:buNone/>
            </a:pPr>
            <a:r>
              <a:rPr lang="ko-KR" altLang="en-US" sz="1100" b="0" dirty="0">
                <a:solidFill>
                  <a:srgbClr val="000000"/>
                </a:solidFill>
              </a:rPr>
              <a:t>Φ</a:t>
            </a:r>
            <a:r>
              <a:rPr lang="ko-KR" altLang="en-US" sz="1100" b="0" dirty="0" baseline="-25000">
                <a:solidFill>
                  <a:srgbClr val="000000"/>
                </a:solidFill>
              </a:rPr>
              <a:t>PSII</a:t>
            </a:r>
          </a:p>
        </p:txBody>
      </p:sp>
      <p:sp>
        <p:nvSpPr>
          <p:cNvPr id="30" name="Step 4"/>
          <p:cNvSpPr/>
          <p:nvPr/>
        </p:nvSpPr>
        <p:spPr>
          <a:xfrm>
            <a:off x="7406640" y="2980944"/>
            <a:ext cx="1691640" cy="786384"/>
          </a:xfrm>
          <a:prstGeom prst="roundRect">
            <a:avLst>
              <a:gd name="adj" fmla="val 14000"/>
            </a:avLst>
          </a:prstGeom>
          <a:solidFill>
            <a:srgbClr val="5E9CC6"/>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③ 광합성 능력</a:t>
            </a:r>
          </a:p>
          <a:p>
            <a:pPr marL="0" indent="0" algn="ctr">
              <a:spcBef>
                <a:spcPts val="0"/>
              </a:spcBef>
              <a:buNone/>
            </a:pPr>
            <a:r>
              <a:rPr lang="ko-KR" altLang="en-US" sz="1100" b="0" dirty="0">
                <a:solidFill>
                  <a:srgbClr val="FFFFFF"/>
                </a:solidFill>
              </a:rPr>
              <a:t>V</a:t>
            </a:r>
            <a:r>
              <a:rPr lang="ko-KR" altLang="en-US" sz="1100" b="0" dirty="0" baseline="-25000">
                <a:solidFill>
                  <a:srgbClr val="FFFFFF"/>
                </a:solidFill>
              </a:rPr>
              <a:t>cmax</a:t>
            </a:r>
            <a:r>
              <a:rPr lang="ko-KR" altLang="en-US" sz="1100" b="0" dirty="0">
                <a:solidFill>
                  <a:srgbClr val="FFFFFF"/>
                </a:solidFill>
              </a:rPr>
              <a:t> · J</a:t>
            </a:r>
            <a:r>
              <a:rPr lang="ko-KR" altLang="en-US" sz="1100" b="0" dirty="0" baseline="-25000">
                <a:solidFill>
                  <a:srgbClr val="FFFFFF"/>
                </a:solidFill>
              </a:rPr>
              <a:t>max</a:t>
            </a:r>
            <a:r>
              <a:rPr lang="ko-KR" altLang="en-US" sz="1100" b="0" dirty="0">
                <a:solidFill>
                  <a:srgbClr val="FFFFFF"/>
                </a:solidFill>
              </a:rPr>
              <a:t> · A</a:t>
            </a:r>
            <a:r>
              <a:rPr lang="ko-KR" altLang="en-US" sz="1100" b="0" dirty="0" baseline="-25000">
                <a:solidFill>
                  <a:srgbClr val="FFFFFF"/>
                </a:solidFill>
              </a:rPr>
              <a:t>max</a:t>
            </a:r>
          </a:p>
        </p:txBody>
      </p:sp>
      <p:sp>
        <p:nvSpPr>
          <p:cNvPr id="31" name="Step 5"/>
          <p:cNvSpPr/>
          <p:nvPr/>
        </p:nvSpPr>
        <p:spPr>
          <a:xfrm>
            <a:off x="7406640" y="3877056"/>
            <a:ext cx="1691640" cy="786384"/>
          </a:xfrm>
          <a:prstGeom prst="roundRect">
            <a:avLst>
              <a:gd name="adj" fmla="val 14000"/>
            </a:avLst>
          </a:prstGeom>
          <a:solidFill>
            <a:srgbClr val="156082"/>
          </a:solidFill>
          <a:ln>
            <a:noFill/>
          </a:ln>
        </p:spPr>
        <p:txBody>
          <a:bodyPr wrap="square" lIns="73152" tIns="36576" rIns="73152" bIns="36576" rtlCol="0" anchor="ctr">
            <a:noAutofit/>
          </a:bodyPr>
          <a:lstStyle/>
          <a:p>
            <a:pPr marL="0" indent="0" algn="ctr">
              <a:spcBef>
                <a:spcPts val="0"/>
              </a:spcBef>
              <a:buNone/>
            </a:pPr>
            <a:r>
              <a:rPr lang="ko-KR" altLang="en-US" sz="1500" b="1" dirty="0">
                <a:solidFill>
                  <a:srgbClr val="FFFFFF"/>
                </a:solidFill>
              </a:rPr>
              <a:t>④ 생육·수량</a:t>
            </a:r>
          </a:p>
          <a:p>
            <a:pPr marL="0" indent="0" algn="ctr">
              <a:spcBef>
                <a:spcPts val="0"/>
              </a:spcBef>
              <a:buNone/>
            </a:pPr>
            <a:r>
              <a:rPr lang="ko-KR" altLang="en-US" sz="1100" b="0" dirty="0">
                <a:solidFill>
                  <a:srgbClr val="FFFFFF"/>
                </a:solidFill>
              </a:rPr>
              <a:t>수량 · 지상부 건물중</a:t>
            </a:r>
          </a:p>
        </p:txBody>
      </p:sp>
      <p:sp>
        <p:nvSpPr>
          <p:cNvPr id="33" name="Objective"/>
          <p:cNvSpPr/>
          <p:nvPr/>
        </p:nvSpPr>
        <p:spPr>
          <a:xfrm>
            <a:off x="841248" y="4846320"/>
            <a:ext cx="10515600" cy="868680"/>
          </a:xfrm>
          <a:prstGeom prst="roundRect">
            <a:avLst>
              <a:gd name="adj" fmla="val 10000"/>
            </a:avLst>
          </a:prstGeom>
          <a:solidFill>
            <a:srgbClr val="F2F6F9"/>
          </a:solidFill>
          <a:ln w="15875">
            <a:solidFill>
              <a:srgbClr val="156082"/>
            </a:solidFill>
          </a:ln>
        </p:spPr>
        <p:txBody>
          <a:bodyPr wrap="square" lIns="228600" tIns="73152" rIns="228600" bIns="73152" rtlCol="0" anchor="ctr">
            <a:noAutofit/>
          </a:bodyPr>
          <a:lstStyle/>
          <a:p>
            <a:pPr marL="0" indent="0" algn="l">
              <a:spcBef>
                <a:spcPts val="0"/>
              </a:spcBef>
              <a:buNone/>
            </a:pPr>
            <a:r>
              <a:rPr lang="ko-KR" altLang="en-US" sz="1400" b="1" dirty="0">
                <a:solidFill>
                  <a:srgbClr val="000000"/>
                </a:solidFill>
              </a:rPr>
              <a:t>연구 목적</a:t>
            </a:r>
            <a:r>
              <a:rPr lang="ko-KR" altLang="en-US" sz="1400" dirty="0">
                <a:solidFill>
                  <a:srgbClr val="000000"/>
                </a:solidFill>
              </a:rPr>
              <a:t>  콩과 로메인 상추에 침수·건조·복합 처리를 적용하여</a:t>
            </a:r>
          </a:p>
          <a:p>
            <a:pPr marL="0" indent="0" algn="l">
              <a:spcBef>
                <a:spcPts val="400"/>
              </a:spcBef>
              <a:buNone/>
            </a:pPr>
            <a:r>
              <a:rPr lang="ko-KR" altLang="en-US" sz="1400" dirty="0">
                <a:solidFill>
                  <a:srgbClr val="000000"/>
                </a:solidFill>
              </a:rPr>
              <a:t>잎 생리 반응이 </a:t>
            </a:r>
            <a:r>
              <a:rPr lang="ko-KR" altLang="en-US" sz="1400" b="1" dirty="0">
                <a:solidFill>
                  <a:srgbClr val="000000"/>
                </a:solidFill>
              </a:rPr>
              <a:t>어느 단계까지 확대되는지</a:t>
            </a:r>
            <a:r>
              <a:rPr lang="ko-KR" altLang="en-US" sz="1400" dirty="0">
                <a:solidFill>
                  <a:srgbClr val="000000"/>
                </a:solidFill>
              </a:rPr>
              <a:t>, 기공이 </a:t>
            </a:r>
            <a:r>
              <a:rPr lang="ko-KR" altLang="en-US" sz="1400" b="1" dirty="0">
                <a:solidFill>
                  <a:srgbClr val="000000"/>
                </a:solidFill>
              </a:rPr>
              <a:t>얼마나 빨리 회복되는지</a:t>
            </a:r>
            <a:r>
              <a:rPr lang="ko-KR" altLang="en-US" sz="1400" dirty="0">
                <a:solidFill>
                  <a:srgbClr val="000000"/>
                </a:solidFill>
              </a:rPr>
              <a:t>, </a:t>
            </a:r>
            <a:r>
              <a:rPr lang="ko-KR" altLang="en-US" sz="1400" b="1" dirty="0">
                <a:solidFill>
                  <a:srgbClr val="000000"/>
                </a:solidFill>
              </a:rPr>
              <a:t>생육·수량 감소로 이어지는지</a:t>
            </a:r>
            <a:r>
              <a:rPr lang="ko-KR" altLang="en-US" sz="1400" dirty="0">
                <a:solidFill>
                  <a:srgbClr val="000000"/>
                </a:solidFill>
              </a:rPr>
              <a:t> 비교</a:t>
            </a:r>
          </a:p>
        </p:txBody>
      </p:sp>
      <p:sp>
        <p:nvSpPr>
          <p:cNvPr id="41" name="Nav 서론"/>
          <p:cNvSpPr txBox="1"/>
          <p:nvPr/>
        </p:nvSpPr>
        <p:spPr>
          <a:xfrm>
            <a:off x="841248" y="100584"/>
            <a:ext cx="1371600" cy="329184"/>
          </a:xfrm>
          <a:prstGeom prst="rect">
            <a:avLst/>
          </a:prstGeom>
          <a:noFill/>
        </p:spPr>
        <p:txBody>
          <a:bodyPr wrap="none" lIns="0" tIns="0" rIns="0" bIns="0" anchor="ctr">
            <a:spAutoFit/>
          </a:bodyPr>
          <a:lstStyle/>
          <a:p>
            <a:pPr algn="ctr"/>
            <a:r>
              <a:rPr sz="1450" b="1" u="sng">
                <a:solidFill>
                  <a:srgbClr val="1A1A1A"/>
                </a:solidFill>
              </a:rPr>
              <a:t>서론</a:t>
            </a:r>
          </a:p>
        </p:txBody>
      </p:sp>
      <p:sp>
        <p:nvSpPr>
          <p:cNvPr id="42" name="Nav 재료 및 방법"/>
          <p:cNvSpPr txBox="1"/>
          <p:nvPr/>
        </p:nvSpPr>
        <p:spPr>
          <a:xfrm>
            <a:off x="2212848" y="100584"/>
            <a:ext cx="1371600" cy="329184"/>
          </a:xfrm>
          <a:prstGeom prst="rect">
            <a:avLst/>
          </a:prstGeom>
          <a:noFill/>
        </p:spPr>
        <p:txBody>
          <a:bodyPr wrap="none" lIns="0" tIns="0" rIns="0" bIns="0" anchor="ctr">
            <a:spAutoFit/>
          </a:bodyPr>
          <a:lstStyle/>
          <a:p>
            <a:pPr algn="ctr"/>
            <a:r>
              <a:rPr sz="1200" b="0" u="none">
                <a:solidFill>
                  <a:srgbClr val="595959"/>
                </a:solidFill>
              </a:rPr>
              <a:t>재료 및 방법</a:t>
            </a:r>
          </a:p>
        </p:txBody>
      </p:sp>
      <p:sp>
        <p:nvSpPr>
          <p:cNvPr id="43" name="Nav 결과"/>
          <p:cNvSpPr txBox="1"/>
          <p:nvPr/>
        </p:nvSpPr>
        <p:spPr>
          <a:xfrm>
            <a:off x="3584448" y="100584"/>
            <a:ext cx="1371600" cy="329184"/>
          </a:xfrm>
          <a:prstGeom prst="rect">
            <a:avLst/>
          </a:prstGeom>
          <a:noFill/>
        </p:spPr>
        <p:txBody>
          <a:bodyPr wrap="none" lIns="0" tIns="0" rIns="0" bIns="0" anchor="ctr">
            <a:spAutoFit/>
          </a:bodyPr>
          <a:lstStyle/>
          <a:p>
            <a:pPr algn="ctr"/>
            <a:r>
              <a:rPr sz="1200" b="0" u="none">
                <a:solidFill>
                  <a:srgbClr val="595959"/>
                </a:solidFill>
              </a:rPr>
              <a:t>결과</a:t>
            </a:r>
          </a:p>
        </p:txBody>
      </p:sp>
      <p:sp>
        <p:nvSpPr>
          <p:cNvPr id="44" name="Nav 고찰"/>
          <p:cNvSpPr txBox="1"/>
          <p:nvPr/>
        </p:nvSpPr>
        <p:spPr>
          <a:xfrm>
            <a:off x="4956048" y="100584"/>
            <a:ext cx="1371600" cy="329184"/>
          </a:xfrm>
          <a:prstGeom prst="rect">
            <a:avLst/>
          </a:prstGeom>
          <a:noFill/>
        </p:spPr>
        <p:txBody>
          <a:bodyPr wrap="none" lIns="0" tIns="0" rIns="0" bIns="0" anchor="ctr">
            <a:spAutoFit/>
          </a:bodyPr>
          <a:lstStyle/>
          <a:p>
            <a:pPr algn="ctr"/>
            <a:r>
              <a:rPr sz="1200" b="0" u="none">
                <a:solidFill>
                  <a:srgbClr val="595959"/>
                </a:solidFill>
              </a:rPr>
              <a:t>고찰</a:t>
            </a:r>
          </a:p>
        </p:txBody>
      </p:sp>
      <p:sp>
        <p:nvSpPr>
          <p:cNvPr id="45" name="Nav 결론"/>
          <p:cNvSpPr txBox="1"/>
          <p:nvPr/>
        </p:nvSpPr>
        <p:spPr>
          <a:xfrm>
            <a:off x="6327648" y="100584"/>
            <a:ext cx="1371600" cy="329184"/>
          </a:xfrm>
          <a:prstGeom prst="rect">
            <a:avLst/>
          </a:prstGeom>
          <a:noFill/>
        </p:spPr>
        <p:txBody>
          <a:bodyPr wrap="none" lIns="0" tIns="0" rIns="0" bIns="0" anchor="ctr">
            <a:spAutoFit/>
          </a:bodyPr>
          <a:lstStyle/>
          <a:p>
            <a:pPr algn="ctr"/>
            <a:r>
              <a:rPr sz="1200" b="0" u="none">
                <a:solidFill>
                  <a:srgbClr val="595959"/>
                </a:solidFill>
              </a:rPr>
              <a:t>결론</a:t>
            </a:r>
          </a:p>
        </p:txBody>
      </p:sp>
      <p:pic>
        <p:nvPicPr>
          <p:cNvPr id="46" name="Picture 45" descr="mechanism.png"/>
          <p:cNvPicPr>
            <a:picLocks noChangeAspect="1"/>
          </p:cNvPicPr>
          <p:nvPr/>
        </p:nvPicPr>
        <p:blipFill>
          <a:blip r:embed="rId4"/>
          <a:stretch>
            <a:fillRect/>
          </a:stretch>
        </p:blipFill>
        <p:spPr>
          <a:xfrm>
            <a:off x="841248" y="1188720"/>
            <a:ext cx="6400800" cy="3575898"/>
          </a:xfrm>
          <a:prstGeom prst="rect">
            <a:avLst/>
          </a:prstGeom>
        </p:spPr>
      </p:pic>
      <p:sp>
        <p:nvSpPr>
          <p:cNvPr id="47" name="TextBox 46"/>
          <p:cNvSpPr txBox="1"/>
          <p:nvPr/>
        </p:nvSpPr>
        <p:spPr>
          <a:xfrm>
            <a:off x="9189720" y="1188720"/>
            <a:ext cx="2240280" cy="786384"/>
          </a:xfrm>
          <a:prstGeom prst="rect">
            <a:avLst/>
          </a:prstGeom>
          <a:noFill/>
        </p:spPr>
        <p:txBody>
          <a:bodyPr wrap="square" anchor="ctr" lIns="45720" rIns="45720" tIns="18288" bIns="18288">
            <a:spAutoFit/>
          </a:bodyPr>
          <a:lstStyle/>
          <a:p>
            <a:pPr algn="l"/>
            <a:r>
              <a:rPr sz="1050">
                <a:solidFill>
                  <a:srgbClr val="333333"/>
                </a:solidFill>
              </a:rPr>
              <a:t>수분 스트레스에 가장 먼저 반응해 닫히고, 엽 내 CO</a:t>
            </a:r>
            <a:r>
              <a:rPr sz="1050" baseline="-25000">
                <a:solidFill>
                  <a:srgbClr val="333333"/>
                </a:solidFill>
              </a:rPr>
              <a:t>2</a:t>
            </a:r>
            <a:r>
              <a:rPr sz="1050">
                <a:solidFill>
                  <a:srgbClr val="333333"/>
                </a:solidFill>
              </a:rPr>
              <a:t> 공급이 감소</a:t>
            </a:r>
          </a:p>
        </p:txBody>
      </p:sp>
      <p:sp>
        <p:nvSpPr>
          <p:cNvPr id="48" name="TextBox 47"/>
          <p:cNvSpPr txBox="1"/>
          <p:nvPr/>
        </p:nvSpPr>
        <p:spPr>
          <a:xfrm>
            <a:off x="9189720" y="2084832"/>
            <a:ext cx="2240280" cy="786384"/>
          </a:xfrm>
          <a:prstGeom prst="rect">
            <a:avLst/>
          </a:prstGeom>
          <a:noFill/>
        </p:spPr>
        <p:txBody>
          <a:bodyPr wrap="square" anchor="ctr" lIns="45720" rIns="45720" tIns="18288" bIns="18288">
            <a:spAutoFit/>
          </a:bodyPr>
          <a:lstStyle/>
          <a:p>
            <a:pPr algn="l"/>
            <a:r>
              <a:rPr sz="1050" b="0">
                <a:solidFill>
                  <a:srgbClr val="333333"/>
                </a:solidFill>
              </a:rPr>
              <a:t>틸라코이드 막 PSII 전자전달이 저해되어 광화학 효율 저하</a:t>
            </a:r>
          </a:p>
        </p:txBody>
      </p:sp>
      <p:sp>
        <p:nvSpPr>
          <p:cNvPr id="49" name="TextBox 48"/>
          <p:cNvSpPr txBox="1"/>
          <p:nvPr/>
        </p:nvSpPr>
        <p:spPr>
          <a:xfrm>
            <a:off x="9189720" y="2980944"/>
            <a:ext cx="2240280" cy="786384"/>
          </a:xfrm>
          <a:prstGeom prst="rect">
            <a:avLst/>
          </a:prstGeom>
          <a:noFill/>
        </p:spPr>
        <p:txBody>
          <a:bodyPr wrap="square" anchor="ctr" lIns="45720" rIns="45720" tIns="18288" bIns="18288">
            <a:spAutoFit/>
          </a:bodyPr>
          <a:lstStyle/>
          <a:p>
            <a:pPr algn="l"/>
            <a:r>
              <a:rPr sz="1050" b="0">
                <a:solidFill>
                  <a:srgbClr val="333333"/>
                </a:solidFill>
              </a:rPr>
              <a:t>루비스코 카르복실화와 RuBP 재생 능력 저하 (②와 병렬로 평가)</a:t>
            </a:r>
          </a:p>
        </p:txBody>
      </p:sp>
      <p:sp>
        <p:nvSpPr>
          <p:cNvPr id="50" name="TextBox 49"/>
          <p:cNvSpPr txBox="1"/>
          <p:nvPr/>
        </p:nvSpPr>
        <p:spPr>
          <a:xfrm>
            <a:off x="9189720" y="3877056"/>
            <a:ext cx="2240280" cy="786384"/>
          </a:xfrm>
          <a:prstGeom prst="rect">
            <a:avLst/>
          </a:prstGeom>
          <a:noFill/>
        </p:spPr>
        <p:txBody>
          <a:bodyPr wrap="square" anchor="ctr" lIns="45720" rIns="45720" tIns="18288" bIns="18288">
            <a:spAutoFit/>
          </a:bodyPr>
          <a:lstStyle/>
          <a:p>
            <a:pPr algn="l"/>
            <a:r>
              <a:rPr sz="1050" b="0">
                <a:solidFill>
                  <a:srgbClr val="333333"/>
                </a:solidFill>
              </a:rPr>
              <a:t>①~③의 영향이 누적되어 생육·수량 감소로 이어지는지 평가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5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500"/>
                                        <p:tgtEl>
                                          <p:spTgt spid="3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30" grpId="0" animBg="1"/>
      <p:bldP spid="31" grpId="0" animBg="1"/>
      <p:bldP spid="33" grpId="0" animBg="1"/>
    </p:bld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847690B-9EC7-46B6-89C7-B4D0A48C43BA}">
  <we:reference id="wa200010001" version="1.0.0.1" store="en-US" storeType="OMEX"/>
  <we:alternateReferences>
    <we:reference id="wa200010001" version="1.0.0.1" store="en-US" storeType="OMEX"/>
  </we:alternateReferences>
  <we:properties>
    <we:property name="claude.fileId" value="&quot;4f520049-4b44-42da-a845-ab676c9aec6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19410</TotalTime>
  <Words>8721</Words>
  <Application>Microsoft Office PowerPoint</Application>
  <PresentationFormat>와이드스크린</PresentationFormat>
  <Paragraphs>1251</Paragraphs>
  <Slides>32</Slides>
  <Notes>25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32</vt:i4>
      </vt:variant>
    </vt:vector>
  </HeadingPairs>
  <TitlesOfParts>
    <vt:vector size="37" baseType="lpstr">
      <vt:lpstr>맑은 고딕</vt:lpstr>
      <vt:lpstr>맑은 고딕</vt:lpstr>
      <vt:lpstr>Arial</vt:lpstr>
      <vt:lpstr>Times New Roman</vt:lpstr>
      <vt:lpstr>Office 테마</vt:lpstr>
      <vt:lpstr>침수 및 건조 복합재해에 대한 생육 및 생리 반응 비교  Comparison of Growth and Physiological Responses to Flooding, Drought, and Combined Stress</vt:lpstr>
      <vt:lpstr>연구 배경: 한 생육기 안의 침수–건조 연속 재해</vt:lpstr>
      <vt:lpstr>연구 목적: 수분 재해별 생리적 제한 단계 규명</vt:lpstr>
      <vt:lpstr>공시 작물 및 수분 처리</vt:lpstr>
      <vt:lpstr>처리 일정과 측정 시기 (DAT 기준 정렬)</vt:lpstr>
      <vt:lpstr>측정 항목: 제한 단계별 지표</vt:lpstr>
      <vt:lpstr>처리 검증: 실제 수분 조건과 한계</vt:lpstr>
      <vt:lpstr>① 기공전도도 (gsw): 침수 직후 두 작물 모두 감소</vt:lpstr>
      <vt:lpstr>① 기공 회복 속도: 상추는 빠르게, 콩은 느리게</vt:lpstr>
      <vt:lpstr>① 상추 침수 직후(DAT 3): 기공만 닫힘</vt:lpstr>
      <vt:lpstr>② ΦPSII: 콩 건조 저하는 고광도에서만, 상추는 변화 없음</vt:lpstr>
      <vt:lpstr>③ 광계 II 손상과 형광 신호 크기</vt:lpstr>
      <vt:lpstr>④ 광합성 능력 (A-Ci, A-Q 파라미터)</vt:lpstr>
      <vt:lpstr>⑤ 생육: 상추는 침수로 −40%, 콩은 초기 생식생장 지연</vt:lpstr>
      <vt:lpstr>⑤ 상추 생육 감소는 잎 생리로 설명되지 않음</vt:lpstr>
      <vt:lpstr>제한 단계 종합: 작물 × 처리</vt:lpstr>
      <vt:lpstr>고찰: 상추 생육 감소 경로와 콩 결과의 한계</vt:lpstr>
      <vt:lpstr>결론 및 향후 계획</vt:lpstr>
      <vt:lpstr>PowerPoint 프레젠테이션</vt:lpstr>
      <vt:lpstr>보충 자료</vt:lpstr>
      <vt:lpstr>A1. LI-600 보정: 선형 PAR(Qamb) + 기온(Tair)</vt:lpstr>
      <vt:lpstr>A2. LI-6800 광도별 형광 반응 ① 처리별 Fo·Fm</vt:lpstr>
      <vt:lpstr>A3. LI-6800 광도별 형광 반응 ② 통합 Fo·Fm</vt:lpstr>
      <vt:lpstr>A4. 광포화점 (LSP): NRH 모델 Q80</vt:lpstr>
      <vt:lpstr>A5. 정상 상태 형광 (Fs): 실제 값 비교</vt:lpstr>
      <vt:lpstr>A6. 전자전달속도 (ETR): 실제 값 비교</vt:lpstr>
      <vt:lpstr>A7. 측정 당시 일사 조건: 흐린 날 표시</vt:lpstr>
      <vt:lpstr>A8. LI-600 에너지 분배 (NPQ·ΦNO)</vt:lpstr>
      <vt:lpstr>A9. 원자료 전체 포함 분석: 제외·선별 자료</vt:lpstr>
      <vt:lpstr>A10. A-Ci·A-Q 파라미터: 전체 곡선 포함</vt:lpstr>
      <vt:lpstr>A11. gsw 전체 측정값 포함 (삭제 11개 복원)</vt:lpstr>
      <vt:lpstr>A12. 콩 생육: 원자료 전체 vs 이상값제거 시트</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윤정민</dc:creator>
  <cp:lastModifiedBy>윤정민</cp:lastModifiedBy>
  <cp:revision>2</cp:revision>
  <dcterms:created xsi:type="dcterms:W3CDTF">2026-04-06T01:45:26Z</dcterms:created>
  <dcterms:modified xsi:type="dcterms:W3CDTF">2026-10-30T01:34:10Z</dcterms:modified>
</cp:coreProperties>
</file>