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8"/>
  </p:notesMasterIdLst>
  <p:sldIdLst>
    <p:sldId id="256" r:id="rId2"/>
    <p:sldId id="312" r:id="rId3"/>
    <p:sldId id="372" r:id="rId4"/>
    <p:sldId id="373" r:id="rId5"/>
    <p:sldId id="374" r:id="rId6"/>
    <p:sldId id="375" r:id="rId7"/>
    <p:sldId id="404" r:id="rId8"/>
    <p:sldId id="395" r:id="rId9"/>
    <p:sldId id="376" r:id="rId10"/>
    <p:sldId id="393" r:id="rId11"/>
    <p:sldId id="403" r:id="rId12"/>
    <p:sldId id="377" r:id="rId13"/>
    <p:sldId id="378" r:id="rId14"/>
    <p:sldId id="379" r:id="rId15"/>
    <p:sldId id="380" r:id="rId16"/>
    <p:sldId id="381" r:id="rId17"/>
    <p:sldId id="400" r:id="rId18"/>
    <p:sldId id="392" r:id="rId19"/>
    <p:sldId id="382" r:id="rId20"/>
    <p:sldId id="383" r:id="rId21"/>
    <p:sldId id="384" r:id="rId22"/>
    <p:sldId id="394" r:id="rId23"/>
    <p:sldId id="391" r:id="rId24"/>
    <p:sldId id="385" r:id="rId25"/>
    <p:sldId id="386" r:id="rId26"/>
    <p:sldId id="388" r:id="rId28"/>
    <p:sldId id="389" r:id="rId29"/>
    <p:sldId id="396" r:id="rId30"/>
    <p:sldId id="390" r:id="rId31"/>
    <p:sldId id="397" r:id="rId32"/>
    <p:sldId id="398" r:id="rId33"/>
    <p:sldId id="399" r:id="rId34"/>
    <p:sldId id="401" r:id="rId35"/>
    <p:sldId id="402" r:id="rId36"/>
    <p:sldId id="301" r:id="rId3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F9ED5"/>
    <a:srgbClr val="136331"/>
    <a:srgbClr val="1E3A8A"/>
    <a:srgbClr val="991B1B"/>
    <a:srgbClr val="8D711D"/>
    <a:srgbClr val="7A5B00"/>
    <a:srgbClr val="595959"/>
    <a:srgbClr val="CC2E27"/>
    <a:srgbClr val="FFF4CC"/>
    <a:srgbClr val="13501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CF9948B-81CF-445F-864E-46C76BE4EC44}" v="10" dt="2026-10-29T14:23:23.74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47" autoAdjust="0"/>
    <p:restoredTop sz="91273" autoAdjust="0"/>
  </p:normalViewPr>
  <p:slideViewPr>
    <p:cSldViewPr snapToGrid="0">
      <p:cViewPr varScale="1">
        <p:scale>
          <a:sx n="110" d="100"/>
          <a:sy n="110" d="100"/>
        </p:scale>
        <p:origin x="630" y="114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notesMaster" Target="notesMasters/notesMaster1.xml"/><Relationship Id="rId39" Type="http://schemas.openxmlformats.org/officeDocument/2006/relationships/presProps" Target="presProps.xml"/><Relationship Id="rId40" Type="http://schemas.openxmlformats.org/officeDocument/2006/relationships/viewProps" Target="viewProps.xml"/><Relationship Id="rId41" Type="http://schemas.openxmlformats.org/officeDocument/2006/relationships/theme" Target="theme/theme1.xml"/><Relationship Id="rId42" Type="http://schemas.openxmlformats.org/officeDocument/2006/relationships/tableStyles" Target="tableStyles.xml"/><Relationship Id="rId43" Type="http://schemas.microsoft.com/office/2016/11/relationships/changesInfo" Target="changesInfos/changesInfo1.xml"/><Relationship Id="rId4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윤정민" userId="6b15c765-da21-42d7-95fe-61eaef7495af" providerId="ADAL" clId="{5C7C66C6-67D0-439D-9B00-412197ADBF19}"/>
    <pc:docChg chg="undo custSel addSld delSld modSld sldOrd">
      <pc:chgData name="윤정민" userId="6b15c765-da21-42d7-95fe-61eaef7495af" providerId="ADAL" clId="{5C7C66C6-67D0-439D-9B00-412197ADBF19}" dt="2026-10-30T01:42:25.843" v="3035" actId="1036"/>
      <pc:docMkLst>
        <pc:docMk/>
      </pc:docMkLst>
      <pc:sldChg chg="modSp mod">
        <pc:chgData name="윤정민" userId="6b15c765-da21-42d7-95fe-61eaef7495af" providerId="ADAL" clId="{5C7C66C6-67D0-439D-9B00-412197ADBF19}" dt="2026-10-30T01:42:25.843" v="3035" actId="1036"/>
        <pc:sldMkLst>
          <pc:docMk/>
          <pc:sldMk cId="2396855445" sldId="256"/>
        </pc:sldMkLst>
        <pc:spChg chg="mod">
          <ac:chgData name="윤정민" userId="6b15c765-da21-42d7-95fe-61eaef7495af" providerId="ADAL" clId="{5C7C66C6-67D0-439D-9B00-412197ADBF19}" dt="2026-10-29T14:14:16.711" v="3024"/>
          <ac:spMkLst>
            <pc:docMk/>
            <pc:sldMk cId="2396855445" sldId="256"/>
            <ac:spMk id="2" creationId="{5E2CE28E-68F2-8698-8327-B6D337810C4C}"/>
          </ac:spMkLst>
        </pc:spChg>
        <pc:spChg chg="mod">
          <ac:chgData name="윤정민" userId="6b15c765-da21-42d7-95fe-61eaef7495af" providerId="ADAL" clId="{5C7C66C6-67D0-439D-9B00-412197ADBF19}" dt="2026-10-29T14:23:52.937" v="3031" actId="20577"/>
          <ac:spMkLst>
            <pc:docMk/>
            <pc:sldMk cId="2396855445" sldId="256"/>
            <ac:spMk id="3" creationId="{1CE9F5BD-D28B-5F96-2E69-88270E8FFD15}"/>
          </ac:spMkLst>
        </pc:spChg>
        <pc:cxnChg chg="mod">
          <ac:chgData name="윤정민" userId="6b15c765-da21-42d7-95fe-61eaef7495af" providerId="ADAL" clId="{5C7C66C6-67D0-439D-9B00-412197ADBF19}" dt="2026-10-30T01:42:25.843" v="3035" actId="1036"/>
          <ac:cxnSpMkLst>
            <pc:docMk/>
            <pc:sldMk cId="2396855445" sldId="256"/>
            <ac:cxnSpMk id="11" creationId="{F25E478C-FA31-1F67-05B3-34C5962519CF}"/>
          </ac:cxnSpMkLst>
        </pc:cxnChg>
      </pc:sldChg>
      <pc:sldChg chg="delSp mod">
        <pc:chgData name="윤정민" userId="6b15c765-da21-42d7-95fe-61eaef7495af" providerId="ADAL" clId="{5C7C66C6-67D0-439D-9B00-412197ADBF19}" dt="2026-10-29T11:43:29.780" v="2966" actId="478"/>
        <pc:sldMkLst>
          <pc:docMk/>
          <pc:sldMk cId="0" sldId="373"/>
        </pc:sldMkLst>
        <pc:spChg chg="del">
          <ac:chgData name="윤정민" userId="6b15c765-da21-42d7-95fe-61eaef7495af" providerId="ADAL" clId="{5C7C66C6-67D0-439D-9B00-412197ADBF19}" dt="2026-10-29T11:43:29.780" v="2966" actId="478"/>
          <ac:spMkLst>
            <pc:docMk/>
            <pc:sldMk cId="0" sldId="373"/>
            <ac:spMk id="88" creationId="{00000000-0000-0000-0000-000000000000}"/>
          </ac:spMkLst>
        </pc:spChg>
      </pc:sldChg>
      <pc:sldChg chg="modSp">
        <pc:chgData name="윤정민" userId="6b15c765-da21-42d7-95fe-61eaef7495af" providerId="ADAL" clId="{5C7C66C6-67D0-439D-9B00-412197ADBF19}" dt="2026-10-29T14:14:16.711" v="3024"/>
        <pc:sldMkLst>
          <pc:docMk/>
          <pc:sldMk cId="0" sldId="376"/>
        </pc:sldMkLst>
        <pc:graphicFrameChg chg="mod">
          <ac:chgData name="윤정민" userId="6b15c765-da21-42d7-95fe-61eaef7495af" providerId="ADAL" clId="{5C7C66C6-67D0-439D-9B00-412197ADBF19}" dt="2026-10-29T14:14:16.711" v="3024"/>
          <ac:graphicFrameMkLst>
            <pc:docMk/>
            <pc:sldMk cId="0" sldId="376"/>
            <ac:graphicFrameMk id="8" creationId="{00000000-0000-0000-0000-000000000000}"/>
          </ac:graphicFrameMkLst>
        </pc:graphicFrameChg>
      </pc:sldChg>
      <pc:sldChg chg="modSp">
        <pc:chgData name="윤정민" userId="6b15c765-da21-42d7-95fe-61eaef7495af" providerId="ADAL" clId="{5C7C66C6-67D0-439D-9B00-412197ADBF19}" dt="2026-10-29T14:14:16.711" v="3024"/>
        <pc:sldMkLst>
          <pc:docMk/>
          <pc:sldMk cId="0" sldId="377"/>
        </pc:sldMkLst>
        <pc:graphicFrameChg chg="mod">
          <ac:chgData name="윤정민" userId="6b15c765-da21-42d7-95fe-61eaef7495af" providerId="ADAL" clId="{5C7C66C6-67D0-439D-9B00-412197ADBF19}" dt="2026-10-29T14:14:16.711" v="3024"/>
          <ac:graphicFrameMkLst>
            <pc:docMk/>
            <pc:sldMk cId="0" sldId="377"/>
            <ac:graphicFrameMk id="8" creationId="{00000000-0000-0000-0000-000000000000}"/>
          </ac:graphicFrameMkLst>
        </pc:graphicFrameChg>
      </pc:sldChg>
      <pc:sldChg chg="modSp">
        <pc:chgData name="윤정민" userId="6b15c765-da21-42d7-95fe-61eaef7495af" providerId="ADAL" clId="{5C7C66C6-67D0-439D-9B00-412197ADBF19}" dt="2026-10-29T14:14:16.711" v="3024"/>
        <pc:sldMkLst>
          <pc:docMk/>
          <pc:sldMk cId="0" sldId="378"/>
        </pc:sldMkLst>
        <pc:graphicFrameChg chg="mod">
          <ac:chgData name="윤정민" userId="6b15c765-da21-42d7-95fe-61eaef7495af" providerId="ADAL" clId="{5C7C66C6-67D0-439D-9B00-412197ADBF19}" dt="2026-10-29T14:14:16.711" v="3024"/>
          <ac:graphicFrameMkLst>
            <pc:docMk/>
            <pc:sldMk cId="0" sldId="378"/>
            <ac:graphicFrameMk id="8" creationId="{00000000-0000-0000-0000-000000000000}"/>
          </ac:graphicFrameMkLst>
        </pc:graphicFrameChg>
      </pc:sldChg>
      <pc:sldChg chg="modSp">
        <pc:chgData name="윤정민" userId="6b15c765-da21-42d7-95fe-61eaef7495af" providerId="ADAL" clId="{5C7C66C6-67D0-439D-9B00-412197ADBF19}" dt="2026-10-29T14:14:16.711" v="3024"/>
        <pc:sldMkLst>
          <pc:docMk/>
          <pc:sldMk cId="0" sldId="379"/>
        </pc:sldMkLst>
        <pc:graphicFrameChg chg="mod">
          <ac:chgData name="윤정민" userId="6b15c765-da21-42d7-95fe-61eaef7495af" providerId="ADAL" clId="{5C7C66C6-67D0-439D-9B00-412197ADBF19}" dt="2026-10-29T14:14:16.711" v="3024"/>
          <ac:graphicFrameMkLst>
            <pc:docMk/>
            <pc:sldMk cId="0" sldId="379"/>
            <ac:graphicFrameMk id="8" creationId="{00000000-0000-0000-0000-000000000000}"/>
          </ac:graphicFrameMkLst>
        </pc:graphicFrameChg>
      </pc:sldChg>
      <pc:sldChg chg="modSp mod">
        <pc:chgData name="윤정민" userId="6b15c765-da21-42d7-95fe-61eaef7495af" providerId="ADAL" clId="{5C7C66C6-67D0-439D-9B00-412197ADBF19}" dt="2026-10-29T14:14:45.062" v="3027" actId="14734"/>
        <pc:sldMkLst>
          <pc:docMk/>
          <pc:sldMk cId="0" sldId="380"/>
        </pc:sldMkLst>
        <pc:graphicFrameChg chg="mod modGraphic">
          <ac:chgData name="윤정민" userId="6b15c765-da21-42d7-95fe-61eaef7495af" providerId="ADAL" clId="{5C7C66C6-67D0-439D-9B00-412197ADBF19}" dt="2026-10-29T14:14:45.062" v="3027" actId="14734"/>
          <ac:graphicFrameMkLst>
            <pc:docMk/>
            <pc:sldMk cId="0" sldId="380"/>
            <ac:graphicFrameMk id="8" creationId="{00000000-0000-0000-0000-000000000000}"/>
          </ac:graphicFrameMkLst>
        </pc:graphicFrameChg>
      </pc:sldChg>
      <pc:sldChg chg="modSp mod">
        <pc:chgData name="윤정민" userId="6b15c765-da21-42d7-95fe-61eaef7495af" providerId="ADAL" clId="{5C7C66C6-67D0-439D-9B00-412197ADBF19}" dt="2026-10-29T14:23:22.065" v="3029"/>
        <pc:sldMkLst>
          <pc:docMk/>
          <pc:sldMk cId="0" sldId="381"/>
        </pc:sldMkLst>
        <pc:spChg chg="mod">
          <ac:chgData name="윤정민" userId="6b15c765-da21-42d7-95fe-61eaef7495af" providerId="ADAL" clId="{5C7C66C6-67D0-439D-9B00-412197ADBF19}" dt="2026-10-29T11:08:01.866" v="2959" actId="20577"/>
          <ac:spMkLst>
            <pc:docMk/>
            <pc:sldMk cId="0" sldId="381"/>
            <ac:spMk id="2" creationId="{00000000-0000-0000-0000-000000000000}"/>
          </ac:spMkLst>
        </pc:spChg>
        <pc:graphicFrameChg chg="mod">
          <ac:chgData name="윤정민" userId="6b15c765-da21-42d7-95fe-61eaef7495af" providerId="ADAL" clId="{5C7C66C6-67D0-439D-9B00-412197ADBF19}" dt="2026-10-29T14:23:22.065" v="3029"/>
          <ac:graphicFrameMkLst>
            <pc:docMk/>
            <pc:sldMk cId="0" sldId="381"/>
            <ac:graphicFrameMk id="8" creationId="{00000000-0000-0000-0000-000000000000}"/>
          </ac:graphicFrameMkLst>
        </pc:graphicFrameChg>
      </pc:sldChg>
      <pc:sldChg chg="modSp mod">
        <pc:chgData name="윤정민" userId="6b15c765-da21-42d7-95fe-61eaef7495af" providerId="ADAL" clId="{5C7C66C6-67D0-439D-9B00-412197ADBF19}" dt="2026-10-29T12:11:57.602" v="2987"/>
        <pc:sldMkLst>
          <pc:docMk/>
          <pc:sldMk cId="0" sldId="382"/>
        </pc:sldMkLst>
        <pc:graphicFrameChg chg="mod modGraphic">
          <ac:chgData name="윤정민" userId="6b15c765-da21-42d7-95fe-61eaef7495af" providerId="ADAL" clId="{5C7C66C6-67D0-439D-9B00-412197ADBF19}" dt="2026-10-29T12:11:57.602" v="2987"/>
          <ac:graphicFrameMkLst>
            <pc:docMk/>
            <pc:sldMk cId="0" sldId="382"/>
            <ac:graphicFrameMk id="8" creationId="{00000000-0000-0000-0000-000000000000}"/>
          </ac:graphicFrameMkLst>
        </pc:graphicFrameChg>
      </pc:sldChg>
      <pc:sldChg chg="modSp">
        <pc:chgData name="윤정민" userId="6b15c765-da21-42d7-95fe-61eaef7495af" providerId="ADAL" clId="{5C7C66C6-67D0-439D-9B00-412197ADBF19}" dt="2026-10-29T11:32:50.538" v="2965"/>
        <pc:sldMkLst>
          <pc:docMk/>
          <pc:sldMk cId="0" sldId="383"/>
        </pc:sldMkLst>
        <pc:graphicFrameChg chg="mod">
          <ac:chgData name="윤정민" userId="6b15c765-da21-42d7-95fe-61eaef7495af" providerId="ADAL" clId="{5C7C66C6-67D0-439D-9B00-412197ADBF19}" dt="2026-10-29T11:32:50.538" v="2965"/>
          <ac:graphicFrameMkLst>
            <pc:docMk/>
            <pc:sldMk cId="0" sldId="383"/>
            <ac:graphicFrameMk id="10" creationId="{00000000-0000-0000-0000-000000000000}"/>
          </ac:graphicFrameMkLst>
        </pc:graphicFrameChg>
      </pc:sldChg>
      <pc:sldChg chg="modSp mod">
        <pc:chgData name="윤정민" userId="6b15c765-da21-42d7-95fe-61eaef7495af" providerId="ADAL" clId="{5C7C66C6-67D0-439D-9B00-412197ADBF19}" dt="2026-10-29T12:16:13.330" v="3020"/>
        <pc:sldMkLst>
          <pc:docMk/>
          <pc:sldMk cId="0" sldId="384"/>
        </pc:sldMkLst>
        <pc:graphicFrameChg chg="mod modGraphic">
          <ac:chgData name="윤정민" userId="6b15c765-da21-42d7-95fe-61eaef7495af" providerId="ADAL" clId="{5C7C66C6-67D0-439D-9B00-412197ADBF19}" dt="2026-10-29T12:16:13.330" v="3020"/>
          <ac:graphicFrameMkLst>
            <pc:docMk/>
            <pc:sldMk cId="0" sldId="384"/>
            <ac:graphicFrameMk id="8" creationId="{00000000-0000-0000-0000-000000000000}"/>
          </ac:graphicFrameMkLst>
        </pc:graphicFrameChg>
      </pc:sldChg>
      <pc:sldChg chg="modSp mod">
        <pc:chgData name="윤정민" userId="6b15c765-da21-42d7-95fe-61eaef7495af" providerId="ADAL" clId="{5C7C66C6-67D0-439D-9B00-412197ADBF19}" dt="2026-10-29T14:14:16.711" v="3024"/>
        <pc:sldMkLst>
          <pc:docMk/>
          <pc:sldMk cId="0" sldId="385"/>
        </pc:sldMkLst>
        <pc:spChg chg="mod">
          <ac:chgData name="윤정민" userId="6b15c765-da21-42d7-95fe-61eaef7495af" providerId="ADAL" clId="{5C7C66C6-67D0-439D-9B00-412197ADBF19}" dt="2026-10-29T12:26:27.272" v="3022" actId="20577"/>
          <ac:spMkLst>
            <pc:docMk/>
            <pc:sldMk cId="0" sldId="385"/>
            <ac:spMk id="11" creationId="{00000000-0000-0000-0000-000000000000}"/>
          </ac:spMkLst>
        </pc:spChg>
        <pc:graphicFrameChg chg="mod">
          <ac:chgData name="윤정민" userId="6b15c765-da21-42d7-95fe-61eaef7495af" providerId="ADAL" clId="{5C7C66C6-67D0-439D-9B00-412197ADBF19}" dt="2026-10-29T14:14:16.711" v="3024"/>
          <ac:graphicFrameMkLst>
            <pc:docMk/>
            <pc:sldMk cId="0" sldId="385"/>
            <ac:graphicFrameMk id="8" creationId="{00000000-0000-0000-0000-000000000000}"/>
          </ac:graphicFrameMkLst>
        </pc:graphicFrameChg>
      </pc:sldChg>
      <pc:sldChg chg="modSp">
        <pc:chgData name="윤정민" userId="6b15c765-da21-42d7-95fe-61eaef7495af" providerId="ADAL" clId="{5C7C66C6-67D0-439D-9B00-412197ADBF19}" dt="2026-10-29T14:14:16.711" v="3024"/>
        <pc:sldMkLst>
          <pc:docMk/>
          <pc:sldMk cId="0" sldId="386"/>
        </pc:sldMkLst>
        <pc:graphicFrameChg chg="mod">
          <ac:chgData name="윤정민" userId="6b15c765-da21-42d7-95fe-61eaef7495af" providerId="ADAL" clId="{5C7C66C6-67D0-439D-9B00-412197ADBF19}" dt="2026-10-29T14:14:16.711" v="3024"/>
          <ac:graphicFrameMkLst>
            <pc:docMk/>
            <pc:sldMk cId="0" sldId="386"/>
            <ac:graphicFrameMk id="8" creationId="{00000000-0000-0000-0000-000000000000}"/>
          </ac:graphicFrameMkLst>
        </pc:graphicFrameChg>
      </pc:sldChg>
      <pc:sldChg chg="modSp">
        <pc:chgData name="윤정민" userId="6b15c765-da21-42d7-95fe-61eaef7495af" providerId="ADAL" clId="{5C7C66C6-67D0-439D-9B00-412197ADBF19}" dt="2026-10-29T14:14:16.711" v="3024"/>
        <pc:sldMkLst>
          <pc:docMk/>
          <pc:sldMk cId="0" sldId="387"/>
        </pc:sldMkLst>
        <pc:graphicFrameChg chg="mod">
          <ac:chgData name="윤정민" userId="6b15c765-da21-42d7-95fe-61eaef7495af" providerId="ADAL" clId="{5C7C66C6-67D0-439D-9B00-412197ADBF19}" dt="2026-10-29T14:14:16.711" v="3024"/>
          <ac:graphicFrameMkLst>
            <pc:docMk/>
            <pc:sldMk cId="0" sldId="387"/>
            <ac:graphicFrameMk id="8" creationId="{00000000-0000-0000-0000-000000000000}"/>
          </ac:graphicFrameMkLst>
        </pc:graphicFrameChg>
      </pc:sldChg>
      <pc:sldChg chg="modSp">
        <pc:chgData name="윤정민" userId="6b15c765-da21-42d7-95fe-61eaef7495af" providerId="ADAL" clId="{5C7C66C6-67D0-439D-9B00-412197ADBF19}" dt="2026-10-29T14:14:16.711" v="3024"/>
        <pc:sldMkLst>
          <pc:docMk/>
          <pc:sldMk cId="0" sldId="388"/>
        </pc:sldMkLst>
        <pc:graphicFrameChg chg="mod">
          <ac:chgData name="윤정민" userId="6b15c765-da21-42d7-95fe-61eaef7495af" providerId="ADAL" clId="{5C7C66C6-67D0-439D-9B00-412197ADBF19}" dt="2026-10-29T14:14:16.711" v="3024"/>
          <ac:graphicFrameMkLst>
            <pc:docMk/>
            <pc:sldMk cId="0" sldId="388"/>
            <ac:graphicFrameMk id="8" creationId="{00000000-0000-0000-0000-000000000000}"/>
          </ac:graphicFrameMkLst>
        </pc:graphicFrameChg>
      </pc:sldChg>
      <pc:sldChg chg="modSp">
        <pc:chgData name="윤정민" userId="6b15c765-da21-42d7-95fe-61eaef7495af" providerId="ADAL" clId="{5C7C66C6-67D0-439D-9B00-412197ADBF19}" dt="2026-10-29T11:32:50.538" v="2965"/>
        <pc:sldMkLst>
          <pc:docMk/>
          <pc:sldMk cId="0" sldId="389"/>
        </pc:sldMkLst>
        <pc:graphicFrameChg chg="mod">
          <ac:chgData name="윤정민" userId="6b15c765-da21-42d7-95fe-61eaef7495af" providerId="ADAL" clId="{5C7C66C6-67D0-439D-9B00-412197ADBF19}" dt="2026-10-29T11:32:50.538" v="2965"/>
          <ac:graphicFrameMkLst>
            <pc:docMk/>
            <pc:sldMk cId="0" sldId="389"/>
            <ac:graphicFrameMk id="8" creationId="{00000000-0000-0000-0000-000000000000}"/>
          </ac:graphicFrameMkLst>
        </pc:graphicFrameChg>
      </pc:sldChg>
      <pc:sldChg chg="modSp">
        <pc:chgData name="윤정민" userId="6b15c765-da21-42d7-95fe-61eaef7495af" providerId="ADAL" clId="{5C7C66C6-67D0-439D-9B00-412197ADBF19}" dt="2026-10-29T12:21:37.609" v="3021"/>
        <pc:sldMkLst>
          <pc:docMk/>
          <pc:sldMk cId="0" sldId="391"/>
        </pc:sldMkLst>
        <pc:graphicFrameChg chg="mod">
          <ac:chgData name="윤정민" userId="6b15c765-da21-42d7-95fe-61eaef7495af" providerId="ADAL" clId="{5C7C66C6-67D0-439D-9B00-412197ADBF19}" dt="2026-10-29T12:21:37.609" v="3021"/>
          <ac:graphicFrameMkLst>
            <pc:docMk/>
            <pc:sldMk cId="0" sldId="391"/>
            <ac:graphicFrameMk id="14" creationId="{00000000-0000-0000-0000-000000000000}"/>
          </ac:graphicFrameMkLst>
        </pc:graphicFrameChg>
      </pc:sldChg>
      <pc:sldChg chg="modSp mod">
        <pc:chgData name="윤정민" userId="6b15c765-da21-42d7-95fe-61eaef7495af" providerId="ADAL" clId="{5C7C66C6-67D0-439D-9B00-412197ADBF19}" dt="2026-10-29T11:31:56.423" v="2964" actId="20577"/>
        <pc:sldMkLst>
          <pc:docMk/>
          <pc:sldMk cId="0" sldId="395"/>
        </pc:sldMkLst>
        <pc:spChg chg="mod">
          <ac:chgData name="윤정민" userId="6b15c765-da21-42d7-95fe-61eaef7495af" providerId="ADAL" clId="{5C7C66C6-67D0-439D-9B00-412197ADBF19}" dt="2026-10-29T11:31:56.423" v="2964" actId="20577"/>
          <ac:spMkLst>
            <pc:docMk/>
            <pc:sldMk cId="0" sldId="395"/>
            <ac:spMk id="11" creationId="{00000000-0000-0000-0000-000000000000}"/>
          </ac:spMkLst>
        </pc:spChg>
      </pc:sldChg>
      <pc:sldChg chg="modSp">
        <pc:chgData name="윤정민" userId="6b15c765-da21-42d7-95fe-61eaef7495af" providerId="ADAL" clId="{5C7C66C6-67D0-439D-9B00-412197ADBF19}" dt="2026-10-29T14:14:16.711" v="3024"/>
        <pc:sldMkLst>
          <pc:docMk/>
          <pc:sldMk cId="0" sldId="398"/>
        </pc:sldMkLst>
        <pc:graphicFrameChg chg="mod">
          <ac:chgData name="윤정민" userId="6b15c765-da21-42d7-95fe-61eaef7495af" providerId="ADAL" clId="{5C7C66C6-67D0-439D-9B00-412197ADBF19}" dt="2026-10-29T14:14:16.711" v="3024"/>
          <ac:graphicFrameMkLst>
            <pc:docMk/>
            <pc:sldMk cId="0" sldId="398"/>
            <ac:graphicFrameMk id="8" creationId="{00000000-0000-0000-0000-000000000000}"/>
          </ac:graphicFrameMkLst>
        </pc:graphicFrameChg>
      </pc:sldChg>
      <pc:sldChg chg="del">
        <pc:chgData name="윤정민" userId="6b15c765-da21-42d7-95fe-61eaef7495af" providerId="ADAL" clId="{5C7C66C6-67D0-439D-9B00-412197ADBF19}" dt="2026-10-29T12:07:58.056" v="2967" actId="2696"/>
        <pc:sldMkLst>
          <pc:docMk/>
          <pc:sldMk cId="0" sldId="400"/>
        </pc:sldMkLst>
      </pc:sldChg>
      <pc:sldChg chg="add">
        <pc:chgData name="윤정민" userId="6b15c765-da21-42d7-95fe-61eaef7495af" providerId="ADAL" clId="{5C7C66C6-67D0-439D-9B00-412197ADBF19}" dt="2026-10-29T12:08:03.279" v="2968"/>
        <pc:sldMkLst>
          <pc:docMk/>
          <pc:sldMk cId="4244796549" sldId="400"/>
        </pc:sldMkLst>
      </pc:sldChg>
      <pc:sldChg chg="modSp">
        <pc:chgData name="윤정민" userId="6b15c765-da21-42d7-95fe-61eaef7495af" providerId="ADAL" clId="{5C7C66C6-67D0-439D-9B00-412197ADBF19}" dt="2026-10-29T14:14:16.711" v="3024"/>
        <pc:sldMkLst>
          <pc:docMk/>
          <pc:sldMk cId="0" sldId="401"/>
        </pc:sldMkLst>
        <pc:graphicFrameChg chg="mod">
          <ac:chgData name="윤정민" userId="6b15c765-da21-42d7-95fe-61eaef7495af" providerId="ADAL" clId="{5C7C66C6-67D0-439D-9B00-412197ADBF19}" dt="2026-10-29T14:14:16.711" v="3024"/>
          <ac:graphicFrameMkLst>
            <pc:docMk/>
            <pc:sldMk cId="0" sldId="401"/>
            <ac:graphicFrameMk id="8" creationId="{00000000-0000-0000-0000-000000000000}"/>
          </ac:graphicFrameMkLst>
        </pc:graphicFrameChg>
      </pc:sldChg>
      <pc:sldChg chg="modSp">
        <pc:chgData name="윤정민" userId="6b15c765-da21-42d7-95fe-61eaef7495af" providerId="ADAL" clId="{5C7C66C6-67D0-439D-9B00-412197ADBF19}" dt="2026-10-29T12:30:05.420" v="3023"/>
        <pc:sldMkLst>
          <pc:docMk/>
          <pc:sldMk cId="0" sldId="402"/>
        </pc:sldMkLst>
        <pc:graphicFrameChg chg="mod">
          <ac:chgData name="윤정민" userId="6b15c765-da21-42d7-95fe-61eaef7495af" providerId="ADAL" clId="{5C7C66C6-67D0-439D-9B00-412197ADBF19}" dt="2026-10-29T12:30:05.420" v="3023"/>
          <ac:graphicFrameMkLst>
            <pc:docMk/>
            <pc:sldMk cId="0" sldId="402"/>
            <ac:graphicFrameMk id="8" creationId="{00000000-0000-0000-0000-000000000000}"/>
          </ac:graphicFrameMkLst>
        </pc:graphicFrame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FC7B71-203A-44A4-BF64-F0E05ABB4A10}" type="datetimeFigureOut">
              <a:rPr lang="ko-KR" altLang="en-US" smtClean="0"/>
              <a:t>2026-10-30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334595A-DD79-43DB-8171-24D3E6EC3B6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304371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안녕하십니까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‘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다중 광합성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광반응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곡선 분석 방법론 비교 분석을 통한 상추의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광포화점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추정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’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을 주제로 발표할 전북대학교 스마트농업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AI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융합학과 석사과정 윤정민입니다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ko-KR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34595A-DD79-43DB-8171-24D3E6EC3B6F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6918032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목차는 다음과 같습니다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서론에서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광포화점에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대한 전반적인 배경에 대해 설명하고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재료 및 측정 장비에 대한 방법론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그리고 결과를 말씀드리며 발표를 마치겠습니다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ko-KR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34595A-DD79-43DB-8171-24D3E6EC3B6F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6570540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수확량을 비교했습니다. 로메인은 10월 23일 수확 시 지상부 생체중이 수확량인데, 건조구 −29%, 침수구 −26%, 복합구 −38%로 모두 유의하게 감소했고 두 스트레스의 효과가 더해졌습니다. 콩은 10월 6일, 종실 비대기인 R6~R7에 파괴 조사한 값으로, 종실 건물중, 종실 수, 꼬투리 수, 100립중 모두 처리 간 차이가 없었습니다. DAT 20에 침수로 늦어졌던 꼬투리와 종실 발달이 이 시점에는 대조구 수준까지 따라잡았습니다. 다만 성숙기 최종 수확 전 값이라는 점을 고려해야 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이상으로 발표를 마치겠습니다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감사합니다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34595A-DD79-43DB-8171-24D3E6EC3B6F}" type="slidenum">
              <a:rPr lang="ko-KR" altLang="en-US" smtClean="0"/>
              <a:t>36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95583499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B8072F4-2873-FA64-1793-1B59A9006E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5C725AA-7A3D-1E01-136A-BA5E31AAFAE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33D4592-A7B5-1B8E-7084-C40EC53F02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B7423D-07B6-40C2-A3B1-DE84ED9F9226}" type="datetime1">
              <a:rPr lang="ko-KR" altLang="en-US" smtClean="0"/>
              <a:t>2026-10-30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648F786-E4C0-F7C0-32CD-34E91CEF7B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E5BECFB-E902-EC85-FEC1-E4AB644B19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BCED27-B7FD-4F82-BD12-1C1B2F10C09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04303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50C47BA-E2E9-69D7-F6E0-02DC3B986C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A97C6CC-8DA3-FD4D-87B4-868FAA5356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702C51B-FB8D-E7C1-6733-5EC2ECA1CB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045C9A-BDB9-48A9-9066-A45ABF71364F}" type="datetime1">
              <a:rPr lang="ko-KR" altLang="en-US" smtClean="0"/>
              <a:t>2026-10-30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98E2A7E-4A0C-FD9F-1ED0-7811F3E13D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FC65C28-2F83-31A3-5148-349E65E68D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BCED27-B7FD-4F82-BD12-1C1B2F10C09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3711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19FBAAD-2832-D2E6-9201-28DBD75909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763489E-C9A3-CFD5-E26E-C4F2F9B407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B9888C3-0185-B4BB-FE7C-08442FC7E7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124EE-B7C9-47F6-AC19-1FC82632F435}" type="datetime1">
              <a:rPr lang="ko-KR" altLang="en-US" smtClean="0"/>
              <a:t>2026-10-30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70C6D9C-5A42-E114-6EA7-D4D918C2ED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AB716F0-7AC5-35C9-215B-75DBDDF026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BCED27-B7FD-4F82-BD12-1C1B2F10C09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61435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48125F4-6D71-334C-84D5-A1ACC974BC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CA27950-5013-95BA-AFC7-A8A16328107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8FFBEAB-A7F2-2965-ACDF-C78C8B7664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7428652-A26B-FC7B-C0DE-C56897C8B8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F2CE93-FFF2-48C5-876B-C29D334070AC}" type="datetime1">
              <a:rPr lang="ko-KR" altLang="en-US" smtClean="0"/>
              <a:t>2026-10-30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854ECFA-AB42-AC1C-4117-09D00A9DBF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1583EDE-A663-AC4C-23CA-8E1840BC53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BCED27-B7FD-4F82-BD12-1C1B2F10C09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233861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9D429BE-5249-9056-163C-74FA9783FB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23B763C-22D9-C80F-CCDE-0707C6AC9A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B574F77-2209-A440-F7AB-3060E96F4A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D1B2901-98D7-6D8A-F650-669806F4650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71FDDB69-9C13-7002-F81F-1C1EFD7B74A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7A01F8E8-08B1-62D8-B503-4283DFACB6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614133-4840-4F08-BA32-D57CA94E303C}" type="datetime1">
              <a:rPr lang="ko-KR" altLang="en-US" smtClean="0"/>
              <a:t>2026-10-30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BF9B74BF-BE22-63C7-48D7-C09BC9875D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AE248C76-A4AD-26F0-801B-E0C228FD7D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BCED27-B7FD-4F82-BD12-1C1B2F10C09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593023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0262E28-2DBA-605A-BECA-20063F1478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738E0772-E95D-EF89-1540-90BAF501D6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691F09-6923-414B-A1FA-93B7B6B05A06}" type="datetime1">
              <a:rPr lang="ko-KR" altLang="en-US" smtClean="0"/>
              <a:t>2026-10-30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AA18BA7F-B0B9-9AEB-CFFF-E6BB717243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9C7F523-2E13-CF6D-4554-8D965EA1A8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BCED27-B7FD-4F82-BD12-1C1B2F10C09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871634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1FBE8BF9-A354-4992-F8C2-90BF87854A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1528D-0A4B-4725-BECB-0A804A98733B}" type="datetime1">
              <a:rPr lang="ko-KR" altLang="en-US" smtClean="0"/>
              <a:t>2026-10-30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300C3AA4-8FE3-F53A-0F4F-13CDD6F77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9ECA705-4832-583C-C769-782684C72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BCED27-B7FD-4F82-BD12-1C1B2F10C09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712289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334CB40-F222-33F8-2930-F8C8F170FB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F683CDC-0D06-E8FF-5CB6-AD0E41A04E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45D3C8C-90E8-FE3F-941F-50AF76CE21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84B14FF-82AA-1021-E783-8543CC459F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BA0492-4290-4283-8041-C72F2A3FD572}" type="datetime1">
              <a:rPr lang="ko-KR" altLang="en-US" smtClean="0"/>
              <a:t>2026-10-30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71E3FCC-569A-6CE6-D4EF-75FFC8165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A45CEF7-23C1-61E3-0CB0-E857E9E823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BCED27-B7FD-4F82-BD12-1C1B2F10C09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528165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18FDFA6-91D5-3744-B2AE-8AD520F1E0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E68EC9AF-67D0-C116-F5BD-AFF40AB496C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E4B042C-7642-FF7C-B5B2-E432270BB5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518D809-019A-150B-309F-5E84A5321D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33010E-CE60-4360-8079-7BED3621D0DA}" type="datetime1">
              <a:rPr lang="ko-KR" altLang="en-US" smtClean="0"/>
              <a:t>2026-10-30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38F648C-2B44-F25B-BA65-0F0EA93209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C610761-27DA-5D7F-A72E-03EC8DD599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BCED27-B7FD-4F82-BD12-1C1B2F10C09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58447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6FABC10-DCAE-3EA5-9B62-E982FA39E5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DB3CE13-292C-C63A-86DA-B62C68FA03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8A5F8A6-B9F4-6134-3C3F-3B42A7DB10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99F8C8-AD83-442B-B306-C2E74F989BB3}" type="datetime1">
              <a:rPr lang="ko-KR" altLang="en-US" smtClean="0"/>
              <a:t>2026-10-30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749D320-0180-2E7B-CB63-6406A988DB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32DEF9D-4DBA-4D73-41B0-D03A47769F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BCED27-B7FD-4F82-BD12-1C1B2F10C09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067091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91EA5634-B559-9843-AFE5-E5585D0EF46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1F5A501-6259-5E2A-4E7B-7823242DCD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C7567E4-4880-C0C0-8932-6BF750727C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090C41-AFF9-488A-8C02-EEA924D341C6}" type="datetime1">
              <a:rPr lang="ko-KR" altLang="en-US" smtClean="0"/>
              <a:t>2026-10-30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148955D-85B0-2FB5-B2D9-EFD9AE0F0D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2F28678-A0B9-C385-2F24-B9CE6337BE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BCED27-B7FD-4F82-BD12-1C1B2F10C09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0203379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B28C9D72-72B9-1829-B00B-B4FFF7CBCD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C67C0B4-28E8-F572-9FD7-8D8C462D97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9ED7AAD-7768-C084-52A6-0F737C0AE9C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219DF18-70C5-4E96-87E8-EA7D036EB1FB}" type="datetime1">
              <a:rPr lang="ko-KR" altLang="en-US" smtClean="0"/>
              <a:t>2026-10-30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3DBE269-CA62-A3AD-C7CF-3E5EB581839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98E5383-3E5C-18D7-E7DF-D4D2293271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CBCED27-B7FD-4F82-BD12-1C1B2F10C09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037627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3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3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image" Target="../media/image3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8.png"/><Relationship Id="rId4" Type="http://schemas.openxmlformats.org/officeDocument/2006/relationships/image" Target="../media/image3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9.png"/><Relationship Id="rId4" Type="http://schemas.openxmlformats.org/officeDocument/2006/relationships/image" Target="../media/image3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image" Target="../media/image3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11.png"/><Relationship Id="rId4" Type="http://schemas.openxmlformats.org/officeDocument/2006/relationships/image" Target="../media/image37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12.png"/><Relationship Id="rId4" Type="http://schemas.openxmlformats.org/officeDocument/2006/relationships/image" Target="../media/image38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13.png"/><Relationship Id="rId4" Type="http://schemas.openxmlformats.org/officeDocument/2006/relationships/image" Target="../media/image39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14.png"/><Relationship Id="rId4" Type="http://schemas.openxmlformats.org/officeDocument/2006/relationships/image" Target="../media/image40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15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16.png"/><Relationship Id="rId4" Type="http://schemas.openxmlformats.org/officeDocument/2006/relationships/image" Target="../media/image4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17.png"/><Relationship Id="rId4" Type="http://schemas.openxmlformats.org/officeDocument/2006/relationships/image" Target="../media/image42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18.png"/><Relationship Id="rId4" Type="http://schemas.openxmlformats.org/officeDocument/2006/relationships/image" Target="../media/image29.png"/><Relationship Id="rId5" Type="http://schemas.openxmlformats.org/officeDocument/2006/relationships/image" Target="../media/image43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19.png"/><Relationship Id="rId4" Type="http://schemas.openxmlformats.org/officeDocument/2006/relationships/image" Target="../media/image44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20.png"/><Relationship Id="rId5" Type="http://schemas.openxmlformats.org/officeDocument/2006/relationships/image" Target="../media/image30.png"/><Relationship Id="rId6" Type="http://schemas.openxmlformats.org/officeDocument/2006/relationships/image" Target="../media/image45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1.png"/><Relationship Id="rId4" Type="http://schemas.openxmlformats.org/officeDocument/2006/relationships/image" Target="../media/image46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2.png"/><Relationship Id="rId4" Type="http://schemas.openxmlformats.org/officeDocument/2006/relationships/image" Target="../media/image47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4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5.png"/><Relationship Id="rId4" Type="http://schemas.openxmlformats.org/officeDocument/2006/relationships/image" Target="../media/image48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6.png"/><Relationship Id="rId4" Type="http://schemas.openxmlformats.org/officeDocument/2006/relationships/image" Target="../media/image49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7.png"/><Relationship Id="rId4" Type="http://schemas.openxmlformats.org/officeDocument/2006/relationships/image" Target="../media/image50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8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E2CE28E-68F2-8698-8327-B6D337810C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80457" y="1367249"/>
            <a:ext cx="9231086" cy="2475807"/>
          </a:xfrm>
        </p:spPr>
        <p:txBody>
          <a:bodyPr>
            <a:normAutofit/>
          </a:bodyPr>
          <a:lstStyle/>
          <a:p>
            <a:r>
              <a:rPr lang="ko-KR" altLang="en-US" sz="4000" b="1" dirty="0"/>
              <a:t>밭콩 vs 로메인 상추</a:t>
            </a:r>
            <a:br>
              <a:rPr lang="en-US" altLang="ko-KR" sz="4000" b="1" dirty="0"/>
            </a:br>
            <a:r>
              <a:rPr lang="ko-KR" altLang="en-US" sz="4000" b="1" dirty="0"/>
              <a:t>건조·침수에 따른 생리·생육 반응 비교</a:t>
            </a:r>
            <a:br>
              <a:rPr lang="en-US" altLang="ko-KR" sz="4000" b="1" dirty="0"/>
            </a:br>
            <a:br>
              <a:rPr lang="en-US" altLang="ko-KR" sz="1600" b="1" dirty="0"/>
            </a:br>
            <a:r>
              <a:rPr lang="en-US" altLang="ko-K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Comparison of Physiological and Growth Responses of Upland Soybean and Romaine Lettuce to Drought and Waterlogging</a:t>
            </a:r>
            <a:endParaRPr lang="ko-KR" altLang="en-US" sz="27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1CE9F5BD-D28B-5F96-2E69-88270E8FFD1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255580"/>
            <a:ext cx="9144000" cy="2344850"/>
          </a:xfrm>
        </p:spPr>
        <p:txBody>
          <a:bodyPr>
            <a:normAutofit/>
          </a:bodyPr>
          <a:lstStyle/>
          <a:p>
            <a:pPr>
              <a:lnSpc>
                <a:spcPct val="80000"/>
              </a:lnSpc>
            </a:pPr>
            <a:r>
              <a:rPr lang="ko-KR" altLang="en-US" sz="2000" dirty="0"/>
              <a:t>전북대학교</a:t>
            </a:r>
            <a:r>
              <a:rPr lang="en-US" altLang="ko-KR" sz="2000" dirty="0"/>
              <a:t> </a:t>
            </a:r>
            <a:r>
              <a:rPr lang="ko-KR" altLang="en-US" sz="2000" dirty="0" err="1"/>
              <a:t>스마트농업AI융합학과</a:t>
            </a:r>
            <a:endParaRPr lang="en-US" altLang="ko-KR" sz="2000" dirty="0"/>
          </a:p>
          <a:p>
            <a:pPr>
              <a:lnSpc>
                <a:spcPct val="80000"/>
              </a:lnSpc>
            </a:pPr>
            <a:r>
              <a:rPr lang="ko-KR" altLang="en-US" sz="1800" dirty="0"/>
              <a:t>석사과정 윤정민</a:t>
            </a:r>
            <a:endParaRPr lang="en-US" altLang="ko-KR" sz="1800" dirty="0"/>
          </a:p>
          <a:p>
            <a:endParaRPr lang="en-US" altLang="ko-KR" sz="1800" dirty="0"/>
          </a:p>
          <a:p>
            <a:r>
              <a:rPr lang="en-US" altLang="ko-KR" sz="1800" dirty="0"/>
              <a:t>2026. 10. 29.</a:t>
            </a:r>
            <a:endParaRPr lang="ko-KR" altLang="en-US" sz="1800" dirty="0"/>
          </a:p>
        </p:txBody>
      </p:sp>
      <p:pic>
        <p:nvPicPr>
          <p:cNvPr id="1026" name="Picture 2" descr="폰트, 그래픽, 로고, 텍스트이(가) 표시된 사진&#10;&#10;자동 생성된 설명">
            <a:extLst>
              <a:ext uri="{FF2B5EF4-FFF2-40B4-BE49-F238E27FC236}">
                <a16:creationId xmlns:a16="http://schemas.microsoft.com/office/drawing/2014/main" id="{1F5D21A4-5CE8-CA11-3AC9-D4DA2CEEAE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21381" y="5753613"/>
            <a:ext cx="2213666" cy="7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98A2E225-EF8F-F661-C3B4-5EE926C3C211}"/>
              </a:ext>
            </a:extLst>
          </p:cNvPr>
          <p:cNvCxnSpPr>
            <a:cxnSpLocks/>
          </p:cNvCxnSpPr>
          <p:nvPr/>
        </p:nvCxnSpPr>
        <p:spPr>
          <a:xfrm>
            <a:off x="783772" y="893761"/>
            <a:ext cx="10624457" cy="0"/>
          </a:xfrm>
          <a:prstGeom prst="line">
            <a:avLst/>
          </a:prstGeom>
          <a:ln w="571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F25E478C-FA31-1F67-05B3-34C5962519CF}"/>
              </a:ext>
            </a:extLst>
          </p:cNvPr>
          <p:cNvCxnSpPr>
            <a:cxnSpLocks/>
          </p:cNvCxnSpPr>
          <p:nvPr/>
        </p:nvCxnSpPr>
        <p:spPr>
          <a:xfrm>
            <a:off x="1506584" y="4023121"/>
            <a:ext cx="9231086" cy="0"/>
          </a:xfrm>
          <a:prstGeom prst="line">
            <a:avLst/>
          </a:prstGeom>
          <a:ln w="285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2" descr="사)한국원예학회">
            <a:extLst>
              <a:ext uri="{FF2B5EF4-FFF2-40B4-BE49-F238E27FC236}">
                <a16:creationId xmlns:a16="http://schemas.microsoft.com/office/drawing/2014/main" id="{4869A5E8-6B1D-FCB7-158B-34C00508FE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3772" y="88083"/>
            <a:ext cx="3170000" cy="7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전북대학교 로고 브랜드 시그니처 마크 상징물 다운로드 LOGO UI MI CI AI BI JPG">
            <a:extLst>
              <a:ext uri="{FF2B5EF4-FFF2-40B4-BE49-F238E27FC236}">
                <a16:creationId xmlns:a16="http://schemas.microsoft.com/office/drawing/2014/main" id="{6B76D25D-FBEA-3892-9D2A-4667E65B44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59410" y="5753613"/>
            <a:ext cx="2936590" cy="7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968554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53CF00F-82D0-0DBA-75D5-1D01B4526C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A533E84A-8D44-D9BE-62F1-8D0DDD7327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945037" cy="1133856"/>
          </a:xfrm>
        </p:spPr>
        <p:txBody>
          <a:bodyPr anchor="t">
            <a:normAutofit/>
          </a:bodyPr>
          <a:lstStyle/>
          <a:p>
            <a:r>
              <a:rPr lang="ko-KR" altLang="en-US" dirty="0"/>
              <a:t>목차</a:t>
            </a:r>
          </a:p>
        </p:txBody>
      </p:sp>
      <p:graphicFrame>
        <p:nvGraphicFramePr>
          <p:cNvPr id="5" name="내용 개체 틀 4">
            <a:extLst>
              <a:ext uri="{FF2B5EF4-FFF2-40B4-BE49-F238E27FC236}">
                <a16:creationId xmlns:a16="http://schemas.microsoft.com/office/drawing/2014/main" id="{D6B51F85-8E06-4A49-CB6E-300B96CFE34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26449045"/>
              </p:ext>
              <p:ext uri="{E7BDC344-281C-4309-B0C6-D0EE65EED2A8}">
                <p202:designPr xmlns:p202="http://schemas.microsoft.com/office/powerpoint/2020/02/main">
                  <p202:designTagLst>
                    <p202:designTag name="ARCH:1:CLS" val="StackedSequentialRowTable"/>
                  </p202:designTagLst>
                </p202:designPr>
              </p:ext>
            </p:extLst>
          </p:nvPr>
        </p:nvGraphicFramePr>
        <p:xfrm>
          <a:off x="1106691" y="1296466"/>
          <a:ext cx="9978617" cy="4754880"/>
        </p:xfrm>
        <a:graphic>
          <a:graphicData uri="http://schemas.openxmlformats.org/drawingml/2006/table">
            <a:tbl>
              <a:tblPr bandRow="1">
                <a:noFill/>
                <a:tableStyleId>{5C22544A-7EE6-4342-B048-85BDC9FD1C3A}</a:tableStyleId>
              </a:tblPr>
              <a:tblGrid>
                <a:gridCol w="2474126">
                  <a:extLst>
                    <a:ext uri="{9D8B030D-6E8A-4147-A177-3AD203B41FA5}">
                      <a16:colId xmlns:a16="http://schemas.microsoft.com/office/drawing/2014/main" val="2607330397"/>
                    </a:ext>
                  </a:extLst>
                </a:gridCol>
                <a:gridCol w="7504491">
                  <a:extLst>
                    <a:ext uri="{9D8B030D-6E8A-4147-A177-3AD203B41FA5}">
                      <a16:colId xmlns:a16="http://schemas.microsoft.com/office/drawing/2014/main" val="3068141479"/>
                    </a:ext>
                  </a:extLst>
                </a:gridCol>
              </a:tblGrid>
              <a:tr h="9509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3300" b="1" cap="none" spc="0" dirty="0">
                          <a:solidFill>
                            <a:schemeClr val="accent1"/>
                          </a:solidFill>
                        </a:rPr>
                        <a:t>01</a:t>
                      </a:r>
                    </a:p>
                  </a:txBody>
                  <a:tcPr marL="141446" marR="141446" marT="141446" marB="14144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noFill/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2100" b="1" cap="none" spc="0" dirty="0">
                          <a:solidFill>
                            <a:schemeClr val="tx1"/>
                          </a:solidFill>
                        </a:rPr>
                        <a:t>실험 개요 및 비교 방법</a:t>
                      </a:r>
                      <a:endParaRPr lang="ko-KR" altLang="en-US" sz="2000" b="1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141446" marR="141446" marT="141446" marB="14144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noFill/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10952398"/>
                  </a:ext>
                </a:extLst>
              </a:tr>
              <a:tr h="9509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3300" b="1" cap="none" spc="0" dirty="0">
                          <a:solidFill>
                            <a:schemeClr val="accent1"/>
                          </a:solidFill>
                        </a:rPr>
                        <a:t>02</a:t>
                      </a:r>
                    </a:p>
                  </a:txBody>
                  <a:tcPr marL="141446" marR="141446" marT="141446" marB="14144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2100" b="1" cap="none" spc="0" dirty="0">
                          <a:solidFill>
                            <a:schemeClr val="tx1"/>
                          </a:solidFill>
                        </a:rPr>
                        <a:t>광합성·엽록소 형광 반응</a:t>
                      </a:r>
                    </a:p>
                  </a:txBody>
                  <a:tcPr marL="141446" marR="141446" marT="141446" marB="14144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76183355"/>
                  </a:ext>
                </a:extLst>
              </a:tr>
              <a:tr h="9509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3300" b="1" cap="none" spc="0" dirty="0">
                          <a:solidFill>
                            <a:schemeClr val="accent1"/>
                          </a:solidFill>
                        </a:rPr>
                        <a:t>03</a:t>
                      </a:r>
                    </a:p>
                  </a:txBody>
                  <a:tcPr marL="141446" marR="141446" marT="141446" marB="14144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2100" b="1" cap="none" spc="0" dirty="0">
                          <a:solidFill>
                            <a:schemeClr val="tx1"/>
                          </a:solidFill>
                        </a:rPr>
                        <a:t>생육 반응 및 수확량</a:t>
                      </a:r>
                    </a:p>
                  </a:txBody>
                  <a:tcPr marL="141446" marR="141446" marT="141446" marB="14144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26027065"/>
                  </a:ext>
                </a:extLst>
              </a:tr>
              <a:tr h="9509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3300" b="1" cap="none" spc="0" dirty="0">
                          <a:solidFill>
                            <a:schemeClr val="accent1"/>
                          </a:solidFill>
                        </a:rPr>
                        <a:t>04</a:t>
                      </a:r>
                    </a:p>
                  </a:txBody>
                  <a:tcPr marL="141446" marR="141446" marT="141446" marB="14144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2100" b="1" cap="none" spc="0" dirty="0">
                          <a:solidFill>
                            <a:schemeClr val="tx1"/>
                          </a:solidFill>
                        </a:rPr>
                        <a:t>관수량 및 환경 조건</a:t>
                      </a:r>
                    </a:p>
                  </a:txBody>
                  <a:tcPr marL="141446" marR="141446" marT="141446" marB="14144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62292001"/>
                  </a:ext>
                </a:extLst>
              </a:tr>
              <a:tr h="9509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3300" b="1" cap="none" spc="0" dirty="0">
                          <a:solidFill>
                            <a:schemeClr val="accent1"/>
                          </a:solidFill>
                        </a:rPr>
                        <a:t>05</a:t>
                      </a:r>
                    </a:p>
                  </a:txBody>
                  <a:tcPr marL="141446" marR="141446" marT="141446" marB="14144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2100" b="1" cap="none" spc="0" dirty="0">
                          <a:solidFill>
                            <a:schemeClr val="tx1"/>
                          </a:solidFill>
                        </a:rPr>
                        <a:t>종합 결론</a:t>
                      </a:r>
                    </a:p>
                  </a:txBody>
                  <a:tcPr marL="141446" marR="141446" marT="141446" marB="14144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07476133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E1F24537-D7E0-62F0-A604-63DFAE406170}"/>
              </a:ext>
            </a:extLst>
          </p:cNvPr>
          <p:cNvSpPr txBox="1"/>
          <p:nvPr/>
        </p:nvSpPr>
        <p:spPr>
          <a:xfrm>
            <a:off x="9946433" y="1618065"/>
            <a:ext cx="87707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3 p.</a:t>
            </a:r>
            <a:endParaRPr lang="ko-KR" altLang="en-US" sz="14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88E9CD7-4B15-B5ED-C315-41E9B7946509}"/>
              </a:ext>
            </a:extLst>
          </p:cNvPr>
          <p:cNvSpPr txBox="1"/>
          <p:nvPr/>
        </p:nvSpPr>
        <p:spPr>
          <a:xfrm>
            <a:off x="9946432" y="3520017"/>
            <a:ext cx="87707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20 p.</a:t>
            </a:r>
            <a:endParaRPr lang="ko-KR" altLang="en-US" sz="1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CF974CD-0839-256C-B9D8-B3E5B53BAD0C}"/>
              </a:ext>
            </a:extLst>
          </p:cNvPr>
          <p:cNvSpPr txBox="1"/>
          <p:nvPr/>
        </p:nvSpPr>
        <p:spPr>
          <a:xfrm>
            <a:off x="9946431" y="4470993"/>
            <a:ext cx="87707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23 p.</a:t>
            </a:r>
            <a:endParaRPr lang="ko-KR" altLang="en-US" sz="14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89CAF57-3756-D457-BDAB-CF1D97C413D1}"/>
              </a:ext>
            </a:extLst>
          </p:cNvPr>
          <p:cNvSpPr txBox="1"/>
          <p:nvPr/>
        </p:nvSpPr>
        <p:spPr>
          <a:xfrm>
            <a:off x="9946431" y="5421969"/>
            <a:ext cx="87707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28 p.</a:t>
            </a:r>
            <a:endParaRPr lang="ko-KR" altLang="en-US" sz="1400" dirty="0"/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E1F24537-D7E0-62F0-A604-63DFAE406170}"/>
              </a:ext>
            </a:extLst>
          </p:cNvPr>
          <p:cNvSpPr txBox="1"/>
          <p:nvPr/>
        </p:nvSpPr>
        <p:spPr>
          <a:xfrm>
            <a:off x="9946433" y="2569041"/>
            <a:ext cx="87707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6 p.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32504093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50686"/>
            <a:ext cx="10515600" cy="950797"/>
          </a:xfrm>
        </p:spPr>
        <p:txBody>
          <a:bodyPr>
            <a:normAutofit/>
          </a:bodyPr>
          <a:lstStyle/>
          <a:p>
            <a:r>
              <a:rPr lang="en-US" altLang="ko-KR" sz="2400" dirty="0">
                <a:latin typeface="Times New Roman"/>
                <a:cs typeface="Times New Roman"/>
              </a:rPr>
              <a:t>Materials and Methods</a:t>
            </a:r>
            <a:br>
              <a:rPr lang="en-US" altLang="ko-KR" sz="2800" dirty="0"/>
            </a:br>
            <a:r>
              <a:rPr lang="ko-KR" altLang="en-US" sz="3200" dirty="0"/>
              <a:t>실험 개요: 밭콩 vs 로메인 상추</a:t>
            </a:r>
          </a:p>
        </p:txBody>
      </p:sp>
      <p:pic>
        <p:nvPicPr>
          <p:cNvPr id="3" name="Logo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9058" y="129246"/>
            <a:ext cx="2242456" cy="729364"/>
          </a:xfrm>
          <a:prstGeom prst="rect">
            <a:avLst/>
          </a:prstGeom>
        </p:spPr>
      </p:pic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98FA03D2-03B7-0D84-2206-40CA69A8D76A}"/>
              </a:ext>
            </a:extLst>
          </p:cNvPr>
          <p:cNvCxnSpPr>
            <a:cxnSpLocks/>
          </p:cNvCxnSpPr>
          <p:nvPr/>
        </p:nvCxnSpPr>
        <p:spPr>
          <a:xfrm>
            <a:off x="783772" y="1002621"/>
            <a:ext cx="10624457" cy="0"/>
          </a:xfrm>
          <a:prstGeom prst="line">
            <a:avLst/>
          </a:prstGeom>
          <a:ln w="571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D96D3AE-CC3D-A909-29AD-1EF41A97CF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BCED27-B7FD-4F82-BD12-1C1B2F10C096}" type="slidenum">
              <a:rPr lang="ko-KR" altLang="en-US" smtClean="0"/>
              <a:t>3</a:t>
            </a:fld>
            <a:endParaRPr lang="ko-KR" altLang="en-US"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49263905"/>
              </p:ext>
            </p:extLst>
          </p:nvPr>
        </p:nvGraphicFramePr>
        <p:xfrm>
          <a:off x="548640" y="1280160"/>
          <a:ext cx="10881360" cy="41148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468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97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000000"/>
                          </a:solidFill>
                        </a:rPr>
                        <a:t>항목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000000"/>
                          </a:solidFill>
                        </a:rPr>
                        <a:t>밭콩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000000"/>
                          </a:solidFill>
                        </a:rPr>
                        <a:t>로메인 상추 (크라디우스)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</a:rPr>
                        <a:t>자료 기간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00000"/>
                          </a:solidFill>
                        </a:rPr>
                        <a:t>6/26 ~ 10/6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00000"/>
                          </a:solidFill>
                        </a:rPr>
                        <a:t>10/4 ~ 10/23 (파종 8/22, 정식 9/15)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1270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</a:rPr>
                        <a:t>침수 처리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00000"/>
                          </a:solidFill>
                        </a:rPr>
                        <a:t>8/12 ~ 8/14 (3일)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dirty="0">
                          <a:solidFill>
                            <a:srgbClr val="000000"/>
                          </a:solidFill>
                        </a:rPr>
                        <a:t>10/7 11시 ~ 10/10 11시 (3일)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</a:rPr>
                        <a:t>건조 처리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dirty="0">
                          <a:solidFill>
                            <a:srgbClr val="000000"/>
                          </a:solidFill>
                        </a:rPr>
                        <a:t>8/15 ~ (</a:t>
                      </a:r>
                      <a:r>
                        <a:rPr sz="1300" b="0" dirty="0" err="1">
                          <a:solidFill>
                            <a:srgbClr val="000000"/>
                          </a:solidFill>
                        </a:rPr>
                        <a:t>대조구의</a:t>
                      </a:r>
                      <a:r>
                        <a:rPr sz="1300" b="0" dirty="0">
                          <a:solidFill>
                            <a:srgbClr val="000000"/>
                          </a:solidFill>
                        </a:rPr>
                        <a:t> 50%)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dirty="0">
                          <a:solidFill>
                            <a:srgbClr val="000000"/>
                          </a:solidFill>
                        </a:rPr>
                        <a:t>10/12 ~</a:t>
                      </a:r>
                      <a:r>
                        <a:rPr lang="en-US" altLang="ko-KR" sz="1300" b="0" dirty="0">
                          <a:solidFill>
                            <a:srgbClr val="000000"/>
                          </a:solidFill>
                        </a:rPr>
                        <a:t> (대조구 ETc의 50%)</a:t>
                      </a:r>
                      <a:endParaRPr sz="1300" b="0" dirty="0">
                        <a:solidFill>
                          <a:srgbClr val="000000"/>
                        </a:solidFill>
                      </a:endParaRP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</a:rPr>
                        <a:t>처리구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dirty="0" err="1">
                          <a:solidFill>
                            <a:srgbClr val="000000"/>
                          </a:solidFill>
                        </a:rPr>
                        <a:t>대조구·건조·침수·복합</a:t>
                      </a:r>
                      <a:endParaRPr sz="1300" b="0" dirty="0">
                        <a:solidFill>
                          <a:srgbClr val="000000"/>
                        </a:solidFill>
                      </a:endParaRP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00000"/>
                          </a:solidFill>
                        </a:rPr>
                        <a:t>대조구·건조·침수·복합 (동일)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</a:rPr>
                        <a:t>LI-600</a:t>
                      </a:r>
                      <a:r>
                        <a:rPr sz="1300" b="0">
                          <a:solidFill>
                            <a:srgbClr val="000000"/>
                          </a:solidFill>
                        </a:rPr>
                        <a:t> (gsw·형광)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00000"/>
                          </a:solidFill>
                        </a:rPr>
                        <a:t>8/13 ~ 10/2, 14일 중 흐린 날 3일 제외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dirty="0">
                          <a:solidFill>
                            <a:srgbClr val="000000"/>
                          </a:solidFill>
                        </a:rPr>
                        <a:t>10/6 ~ 10/23, 14일</a:t>
                      </a:r>
                      <a:r>
                        <a:rPr sz="1300" b="0" dirty="0" err="1">
                          <a:solidFill>
                            <a:srgbClr val="000000"/>
                          </a:solidFill>
                        </a:rPr>
                        <a:t> (흐린 날 5일 포함, 처리당 8~12잎)</a:t>
                      </a:r>
                      <a:endParaRPr sz="1300" b="0" dirty="0">
                        <a:solidFill>
                          <a:srgbClr val="000000"/>
                        </a:solidFill>
                      </a:endParaRP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</a:rPr>
                        <a:t>LI-6800 (A-Ci, A-Q, 형광)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00000"/>
                          </a:solidFill>
                        </a:rPr>
                        <a:t>처리 전(7/22~23) + 처리 후 광도 곡선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00000"/>
                          </a:solidFill>
                        </a:rPr>
                        <a:t>처리 전(10/4) + 10/10 대조·침수 + 처리 후(10/16~19) 광도 곡선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</a:rPr>
                        <a:t>생육 조사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00000"/>
                          </a:solidFill>
                        </a:rPr>
                        <a:t>파괴 9/1, 10/6 (처리당 6~9주)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dirty="0">
                          <a:solidFill>
                            <a:srgbClr val="000000"/>
                          </a:solidFill>
                        </a:rPr>
                        <a:t>파괴 10/7</a:t>
                      </a:r>
                      <a:r>
                        <a:rPr sz="1300" b="0" dirty="0">
                          <a:solidFill>
                            <a:srgbClr val="000000"/>
                          </a:solidFill>
                        </a:rPr>
                        <a:t> (대조구 8주)·10/23 (처리당 8주), 캐노피 사진 4회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</a:rPr>
                        <a:t>관수·환경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00000"/>
                          </a:solidFill>
                        </a:rPr>
                        <a:t>EC5 자동 관수, 로드셀, 기상 센서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dirty="0" err="1">
                          <a:solidFill>
                            <a:srgbClr val="000000"/>
                          </a:solidFill>
                        </a:rPr>
                        <a:t>로드셀 관수, 화분 증산량, 26번 온실 환경</a:t>
                      </a:r>
                      <a:endParaRPr sz="1300" b="0" dirty="0">
                        <a:solidFill>
                          <a:srgbClr val="000000"/>
                        </a:solidFill>
                      </a:endParaRP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8" name="Conclusion Box"/>
          <p:cNvSpPr/>
          <p:nvPr/>
        </p:nvSpPr>
        <p:spPr>
          <a:xfrm>
            <a:off x="841248" y="5623560"/>
            <a:ext cx="10570464" cy="566928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8575">
            <a:solidFill>
              <a:srgbClr val="AA57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36576" rIns="137160" bIns="36576" rtlCol="0" anchor="ctr"/>
          <a:lstStyle/>
          <a:p>
            <a:pPr algn="ctr"/>
            <a:r>
              <a:rPr sz="1600" b="0">
                <a:solidFill>
                  <a:srgbClr val="AA572C"/>
                </a:solidFill>
              </a:rPr>
              <a:t>두 작물의 처리 설계는 같으나 </a:t>
            </a:r>
            <a:r>
              <a:rPr sz="1600" b="1">
                <a:solidFill>
                  <a:srgbClr val="AA572C"/>
                </a:solidFill>
              </a:rPr>
              <a:t>시기·온실·기간이 달라</a:t>
            </a:r>
            <a:r>
              <a:rPr sz="1600" b="0">
                <a:solidFill>
                  <a:srgbClr val="AA572C"/>
                </a:solidFill>
              </a:rPr>
              <a:t> 처리 후 일수(DAT) 기준으로 대조구 포함 실제 값을 비교</a:t>
            </a:r>
          </a:p>
        </p:txBody>
      </p:sp>
      <p:sp>
        <p:nvSpPr>
          <p:cNvPr id="9" name="Footnote"/>
          <p:cNvSpPr txBox="1"/>
          <p:nvPr/>
        </p:nvSpPr>
        <p:spPr>
          <a:xfrm>
            <a:off x="457200" y="6473952"/>
            <a:ext cx="8138160" cy="310896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r>
              <a:rPr sz="1000" b="0">
                <a:solidFill>
                  <a:srgbClr val="595959"/>
                </a:solidFill>
              </a:rPr>
              <a:t>DAT: 침수 처리 시작일 기준 경과 일수 (밭콩 8/12, 로메인 상추 10/7). 로메인 10/7 이전은 대조구만 측정.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50686"/>
            <a:ext cx="10515600" cy="950797"/>
          </a:xfrm>
        </p:spPr>
        <p:txBody>
          <a:bodyPr>
            <a:normAutofit/>
          </a:bodyPr>
          <a:lstStyle/>
          <a:p>
            <a:r>
              <a:rPr lang="en-US" altLang="ko-KR" sz="2400" dirty="0">
                <a:latin typeface="Times New Roman"/>
                <a:cs typeface="Times New Roman"/>
              </a:rPr>
              <a:t>Materials and Methods</a:t>
            </a:r>
            <a:br>
              <a:rPr lang="en-US" altLang="ko-KR" sz="2800" dirty="0"/>
            </a:br>
            <a:r>
              <a:rPr lang="ko-KR" altLang="en-US" sz="3200" dirty="0"/>
              <a:t>처리 일정과 측정 시기 (DAT 기준 정렬)</a:t>
            </a:r>
          </a:p>
        </p:txBody>
      </p:sp>
      <p:pic>
        <p:nvPicPr>
          <p:cNvPr id="3" name="Logo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9058" y="129246"/>
            <a:ext cx="2242456" cy="729364"/>
          </a:xfrm>
          <a:prstGeom prst="rect">
            <a:avLst/>
          </a:prstGeom>
        </p:spPr>
      </p:pic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98FA03D2-03B7-0D84-2206-40CA69A8D76A}"/>
              </a:ext>
            </a:extLst>
          </p:cNvPr>
          <p:cNvCxnSpPr>
            <a:cxnSpLocks/>
          </p:cNvCxnSpPr>
          <p:nvPr/>
        </p:nvCxnSpPr>
        <p:spPr>
          <a:xfrm>
            <a:off x="783772" y="1002621"/>
            <a:ext cx="10624457" cy="0"/>
          </a:xfrm>
          <a:prstGeom prst="line">
            <a:avLst/>
          </a:prstGeom>
          <a:ln w="571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D96D3AE-CC3D-A909-29AD-1EF41A97CF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BCED27-B7FD-4F82-BD12-1C1B2F10C096}" type="slidenum">
              <a:rPr lang="ko-KR" altLang="en-US" smtClean="0"/>
              <a:t>4</a:t>
            </a:fld>
            <a:endParaRPr lang="ko-KR" altLang="en-US"/>
          </a:p>
        </p:txBody>
      </p:sp>
      <p:sp>
        <p:nvSpPr>
          <p:cNvPr id="7" name="TextBox 6"/>
          <p:cNvSpPr txBox="1"/>
          <p:nvPr/>
        </p:nvSpPr>
        <p:spPr>
          <a:xfrm>
            <a:off x="457200" y="1371600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0">
                <a:solidFill>
                  <a:srgbClr val="595959"/>
                </a:solidFill>
              </a:rPr>
              <a:t>DAT (일)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91640" y="137160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0">
                <a:solidFill>
                  <a:srgbClr val="595959"/>
                </a:solidFill>
              </a:rPr>
              <a:t>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60320" y="137160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0">
                <a:solidFill>
                  <a:srgbClr val="595959"/>
                </a:solidFill>
              </a:rPr>
              <a:t>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29000" y="137160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0">
                <a:solidFill>
                  <a:srgbClr val="595959"/>
                </a:solidFill>
              </a:rPr>
              <a:t>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0" y="137160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0">
                <a:solidFill>
                  <a:srgbClr val="595959"/>
                </a:solidFill>
              </a:rPr>
              <a:t>15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66360" y="137160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0">
                <a:solidFill>
                  <a:srgbClr val="595959"/>
                </a:solidFill>
              </a:rPr>
              <a:t>20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35040" y="137160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0">
                <a:solidFill>
                  <a:srgbClr val="595959"/>
                </a:solidFill>
              </a:rPr>
              <a:t>25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03720" y="137160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0">
                <a:solidFill>
                  <a:srgbClr val="595959"/>
                </a:solidFill>
              </a:rPr>
              <a:t>30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0" y="137160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0">
                <a:solidFill>
                  <a:srgbClr val="595959"/>
                </a:solidFill>
              </a:rPr>
              <a:t>35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41080" y="137160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0">
                <a:solidFill>
                  <a:srgbClr val="595959"/>
                </a:solidFill>
              </a:rPr>
              <a:t>40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09760" y="137160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0">
                <a:solidFill>
                  <a:srgbClr val="595959"/>
                </a:solidFill>
              </a:rPr>
              <a:t>45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78440" y="137160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0">
                <a:solidFill>
                  <a:srgbClr val="595959"/>
                </a:solidFill>
              </a:rPr>
              <a:t>50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47119" y="137160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0">
                <a:solidFill>
                  <a:srgbClr val="595959"/>
                </a:solidFill>
              </a:rPr>
              <a:t>55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920240" y="1691640"/>
            <a:ext cx="9555479" cy="0"/>
          </a:xfrm>
          <a:prstGeom prst="line">
            <a:avLst/>
          </a:prstGeom>
          <a:ln>
            <a:solidFill>
              <a:srgbClr val="7F7F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457200" y="2103120"/>
            <a:ext cx="13716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800" b="1">
                <a:solidFill>
                  <a:srgbClr val="6B4226"/>
                </a:solidFill>
              </a:rPr>
              <a:t>밭콩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920240" y="2011680"/>
            <a:ext cx="521207" cy="457200"/>
          </a:xfrm>
          <a:prstGeom prst="roundRect">
            <a:avLst>
              <a:gd name="adj" fmla="val 20000"/>
            </a:avLst>
          </a:prstGeom>
          <a:solidFill>
            <a:srgbClr val="2E6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rIns="18288"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침수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441448" y="2011680"/>
            <a:ext cx="9034272" cy="457200"/>
          </a:xfrm>
          <a:prstGeom prst="roundRect">
            <a:avLst>
              <a:gd name="adj" fmla="val 20000"/>
            </a:avLst>
          </a:prstGeom>
          <a:solidFill>
            <a:srgbClr val="AA57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rIns="18288"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건조·복합 50% 관수</a:t>
            </a:r>
          </a:p>
        </p:txBody>
      </p:sp>
      <p:sp>
        <p:nvSpPr>
          <p:cNvPr id="24" name="Oval 23"/>
          <p:cNvSpPr/>
          <p:nvPr/>
        </p:nvSpPr>
        <p:spPr>
          <a:xfrm>
            <a:off x="2039112" y="2578608"/>
            <a:ext cx="109728" cy="109728"/>
          </a:xfrm>
          <a:prstGeom prst="ellipse">
            <a:avLst/>
          </a:prstGeom>
          <a:solidFill>
            <a:srgbClr val="6B42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2212848" y="2578608"/>
            <a:ext cx="109728" cy="109728"/>
          </a:xfrm>
          <a:prstGeom prst="ellipse">
            <a:avLst/>
          </a:prstGeom>
          <a:solidFill>
            <a:srgbClr val="6B42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2386584" y="2578608"/>
            <a:ext cx="109728" cy="109728"/>
          </a:xfrm>
          <a:prstGeom prst="ellipse">
            <a:avLst/>
          </a:prstGeom>
          <a:solidFill>
            <a:srgbClr val="6B42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2560320" y="2578608"/>
            <a:ext cx="109728" cy="109728"/>
          </a:xfrm>
          <a:prstGeom prst="ellipse">
            <a:avLst/>
          </a:prstGeom>
          <a:solidFill>
            <a:srgbClr val="6B42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2734056" y="2578608"/>
            <a:ext cx="109728" cy="109728"/>
          </a:xfrm>
          <a:prstGeom prst="ellipse">
            <a:avLst/>
          </a:prstGeom>
          <a:solidFill>
            <a:srgbClr val="6B42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2907792" y="2578608"/>
            <a:ext cx="109728" cy="109728"/>
          </a:xfrm>
          <a:prstGeom prst="ellipse">
            <a:avLst/>
          </a:prstGeom>
          <a:solidFill>
            <a:srgbClr val="6B42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3081528" y="2578608"/>
            <a:ext cx="109728" cy="109728"/>
          </a:xfrm>
          <a:prstGeom prst="ellipse">
            <a:avLst/>
          </a:prstGeom>
          <a:solidFill>
            <a:srgbClr val="6B42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3255264" y="2578608"/>
            <a:ext cx="109728" cy="109728"/>
          </a:xfrm>
          <a:prstGeom prst="ellipse">
            <a:avLst/>
          </a:prstGeom>
          <a:solidFill>
            <a:srgbClr val="6B42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3429000" y="2578608"/>
            <a:ext cx="109728" cy="109728"/>
          </a:xfrm>
          <a:prstGeom prst="ellipse">
            <a:avLst/>
          </a:prstGeom>
          <a:solidFill>
            <a:srgbClr val="6B42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4818888" y="2578608"/>
            <a:ext cx="109728" cy="109728"/>
          </a:xfrm>
          <a:prstGeom prst="ellipse">
            <a:avLst/>
          </a:prstGeom>
          <a:solidFill>
            <a:srgbClr val="6B42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5861304" y="2578608"/>
            <a:ext cx="109728" cy="109728"/>
          </a:xfrm>
          <a:prstGeom prst="ellipse">
            <a:avLst/>
          </a:prstGeom>
          <a:solidFill>
            <a:srgbClr val="6B42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7077456" y="2578608"/>
            <a:ext cx="109728" cy="109728"/>
          </a:xfrm>
          <a:prstGeom prst="ellipse">
            <a:avLst/>
          </a:prstGeom>
          <a:solidFill>
            <a:srgbClr val="6B42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9509759" y="2578608"/>
            <a:ext cx="109728" cy="109728"/>
          </a:xfrm>
          <a:prstGeom prst="ellipse">
            <a:avLst/>
          </a:prstGeom>
          <a:solidFill>
            <a:srgbClr val="6B42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10725911" y="2578608"/>
            <a:ext cx="109728" cy="109728"/>
          </a:xfrm>
          <a:prstGeom prst="ellipse">
            <a:avLst/>
          </a:prstGeom>
          <a:solidFill>
            <a:srgbClr val="6B42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57200" y="2542032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0">
                <a:solidFill>
                  <a:srgbClr val="595959"/>
                </a:solidFill>
              </a:rPr>
              <a:t>LI-600 측정일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3657600"/>
            <a:ext cx="13716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800" b="1">
                <a:solidFill>
                  <a:srgbClr val="2E6B3F"/>
                </a:solidFill>
              </a:rPr>
              <a:t>로메인 상추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920240" y="3566160"/>
            <a:ext cx="521207" cy="457200"/>
          </a:xfrm>
          <a:prstGeom prst="roundRect">
            <a:avLst>
              <a:gd name="adj" fmla="val 20000"/>
            </a:avLst>
          </a:prstGeom>
          <a:solidFill>
            <a:srgbClr val="2E6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rIns="18288"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침수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2441447" y="3566160"/>
            <a:ext cx="2258569" cy="457200"/>
          </a:xfrm>
          <a:prstGeom prst="roundRect">
            <a:avLst>
              <a:gd name="adj" fmla="val 20000"/>
            </a:avLst>
          </a:prstGeom>
          <a:solidFill>
            <a:srgbClr val="AA57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rIns="18288"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50% 관수</a:t>
            </a:r>
          </a:p>
        </p:txBody>
      </p:sp>
      <p:sp>
        <p:nvSpPr>
          <p:cNvPr id="43" name="Oval 42"/>
          <p:cNvSpPr/>
          <p:nvPr/>
        </p:nvSpPr>
        <p:spPr>
          <a:xfrm>
            <a:off x="2039112" y="4133087"/>
            <a:ext cx="109728" cy="109728"/>
          </a:xfrm>
          <a:prstGeom prst="ellipse">
            <a:avLst/>
          </a:prstGeom>
          <a:solidFill>
            <a:srgbClr val="2E6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Oval 43"/>
          <p:cNvSpPr/>
          <p:nvPr/>
        </p:nvSpPr>
        <p:spPr>
          <a:xfrm>
            <a:off x="2212848" y="4133087"/>
            <a:ext cx="109728" cy="109728"/>
          </a:xfrm>
          <a:prstGeom prst="ellipse">
            <a:avLst/>
          </a:prstGeom>
          <a:solidFill>
            <a:srgbClr val="2E6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Oval 44"/>
          <p:cNvSpPr/>
          <p:nvPr/>
        </p:nvSpPr>
        <p:spPr>
          <a:xfrm>
            <a:off x="2386584" y="4133087"/>
            <a:ext cx="109728" cy="109728"/>
          </a:xfrm>
          <a:prstGeom prst="ellipse">
            <a:avLst/>
          </a:prstGeom>
          <a:solidFill>
            <a:srgbClr val="2E6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Oval 45"/>
          <p:cNvSpPr/>
          <p:nvPr/>
        </p:nvSpPr>
        <p:spPr>
          <a:xfrm>
            <a:off x="2560320" y="4133087"/>
            <a:ext cx="109728" cy="109728"/>
          </a:xfrm>
          <a:prstGeom prst="ellipse">
            <a:avLst/>
          </a:prstGeom>
          <a:solidFill>
            <a:srgbClr val="2E6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Oval 46"/>
          <p:cNvSpPr/>
          <p:nvPr/>
        </p:nvSpPr>
        <p:spPr>
          <a:xfrm>
            <a:off x="2734056" y="4133087"/>
            <a:ext cx="109728" cy="109728"/>
          </a:xfrm>
          <a:prstGeom prst="ellipse">
            <a:avLst/>
          </a:prstGeom>
          <a:solidFill>
            <a:srgbClr val="2E6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Oval 47"/>
          <p:cNvSpPr/>
          <p:nvPr/>
        </p:nvSpPr>
        <p:spPr>
          <a:xfrm>
            <a:off x="2907792" y="4133087"/>
            <a:ext cx="109728" cy="109728"/>
          </a:xfrm>
          <a:prstGeom prst="ellipse">
            <a:avLst/>
          </a:prstGeom>
          <a:solidFill>
            <a:srgbClr val="2E6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Oval 48"/>
          <p:cNvSpPr/>
          <p:nvPr/>
        </p:nvSpPr>
        <p:spPr>
          <a:xfrm>
            <a:off x="3081528" y="4133087"/>
            <a:ext cx="109728" cy="109728"/>
          </a:xfrm>
          <a:prstGeom prst="ellipse">
            <a:avLst/>
          </a:prstGeom>
          <a:solidFill>
            <a:srgbClr val="2E6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Oval 49"/>
          <p:cNvSpPr/>
          <p:nvPr/>
        </p:nvSpPr>
        <p:spPr>
          <a:xfrm>
            <a:off x="3255264" y="4133087"/>
            <a:ext cx="109728" cy="109728"/>
          </a:xfrm>
          <a:prstGeom prst="ellipse">
            <a:avLst/>
          </a:prstGeom>
          <a:solidFill>
            <a:srgbClr val="2E6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Oval 50"/>
          <p:cNvSpPr/>
          <p:nvPr/>
        </p:nvSpPr>
        <p:spPr>
          <a:xfrm>
            <a:off x="3429000" y="4133087"/>
            <a:ext cx="109728" cy="109728"/>
          </a:xfrm>
          <a:prstGeom prst="ellipse">
            <a:avLst/>
          </a:prstGeom>
          <a:solidFill>
            <a:srgbClr val="2E6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Oval 51"/>
          <p:cNvSpPr/>
          <p:nvPr/>
        </p:nvSpPr>
        <p:spPr>
          <a:xfrm>
            <a:off x="3602736" y="4133087"/>
            <a:ext cx="109728" cy="109728"/>
          </a:xfrm>
          <a:prstGeom prst="ellipse">
            <a:avLst/>
          </a:prstGeom>
          <a:solidFill>
            <a:srgbClr val="2E6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Oval 52"/>
          <p:cNvSpPr/>
          <p:nvPr/>
        </p:nvSpPr>
        <p:spPr>
          <a:xfrm>
            <a:off x="3950208" y="4133087"/>
            <a:ext cx="109728" cy="109728"/>
          </a:xfrm>
          <a:prstGeom prst="ellipse">
            <a:avLst/>
          </a:prstGeom>
          <a:solidFill>
            <a:srgbClr val="2E6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Oval 53"/>
          <p:cNvSpPr/>
          <p:nvPr/>
        </p:nvSpPr>
        <p:spPr>
          <a:xfrm>
            <a:off x="4297680" y="4133087"/>
            <a:ext cx="109728" cy="109728"/>
          </a:xfrm>
          <a:prstGeom prst="ellipse">
            <a:avLst/>
          </a:prstGeom>
          <a:solidFill>
            <a:srgbClr val="2E6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Oval 54"/>
          <p:cNvSpPr/>
          <p:nvPr/>
        </p:nvSpPr>
        <p:spPr>
          <a:xfrm>
            <a:off x="4645152" y="4133087"/>
            <a:ext cx="109728" cy="109728"/>
          </a:xfrm>
          <a:prstGeom prst="ellipse">
            <a:avLst/>
          </a:prstGeom>
          <a:solidFill>
            <a:srgbClr val="2E6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457200" y="4096511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0">
                <a:solidFill>
                  <a:srgbClr val="595959"/>
                </a:solidFill>
              </a:rPr>
              <a:t>LI-600 측정일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920240" y="4919472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0">
                <a:solidFill>
                  <a:srgbClr val="595959"/>
                </a:solidFill>
              </a:rPr>
              <a:t>밭콩 DAT 55 (10/6), 로메인 DAT 16 (10/23) 종료. ●LI-600 ▲LI-6800 ■파괴 ◇비파괴(로메인 캐노피 사진 DAT 5·8·12·16) 생육조사.</a:t>
            </a:r>
          </a:p>
        </p:txBody>
      </p:sp>
      <p:sp>
        <p:nvSpPr>
          <p:cNvPr id="58" name="Conclusion Box"/>
          <p:cNvSpPr/>
          <p:nvPr/>
        </p:nvSpPr>
        <p:spPr>
          <a:xfrm>
            <a:off x="841248" y="5212080"/>
            <a:ext cx="10570464" cy="566928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8575">
            <a:solidFill>
              <a:srgbClr val="AA57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36576" rIns="137160" bIns="36576" rtlCol="0" anchor="ctr"/>
          <a:lstStyle/>
          <a:p>
            <a:pPr algn="ctr"/>
            <a:r>
              <a:rPr sz="1600" b="0">
                <a:solidFill>
                  <a:srgbClr val="AA572C"/>
                </a:solidFill>
              </a:rPr>
              <a:t>로메인 상추는 </a:t>
            </a:r>
            <a:r>
              <a:rPr sz="1600" b="1">
                <a:solidFill>
                  <a:srgbClr val="AA572C"/>
                </a:solidFill>
              </a:rPr>
              <a:t>DAT 16까지만</a:t>
            </a:r>
            <a:r>
              <a:rPr sz="1600" b="0">
                <a:solidFill>
                  <a:srgbClr val="AA572C"/>
                </a:solidFill>
              </a:rPr>
              <a:t> 관찰되어, 밭콩의 </a:t>
            </a:r>
            <a:r>
              <a:rPr sz="1600" b="1">
                <a:solidFill>
                  <a:srgbClr val="AA572C"/>
                </a:solidFill>
              </a:rPr>
              <a:t>처리 초기(DAT 0~16) 구간</a:t>
            </a:r>
            <a:r>
              <a:rPr sz="1600" b="0">
                <a:solidFill>
                  <a:srgbClr val="AA572C"/>
                </a:solidFill>
              </a:rPr>
              <a:t>과 직접 비교</a:t>
            </a:r>
          </a:p>
        </p:txBody>
      </p:sp>
      <p:sp>
        <p:nvSpPr>
          <p:cNvPr id="59" name="Footnote"/>
          <p:cNvSpPr txBox="1"/>
          <p:nvPr/>
        </p:nvSpPr>
        <p:spPr>
          <a:xfrm>
            <a:off x="457200" y="6473952"/>
            <a:ext cx="8138160" cy="310896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r>
              <a:rPr sz="1000" b="0">
                <a:solidFill>
                  <a:srgbClr val="595959"/>
                </a:solidFill>
              </a:rPr>
              <a:t>밭콩 침수 8/12~14, 관수 50%는 8/15부터. 로메인 상추 침수 10/7~10/10 오전, 건조 10/10, 50% 관수 10/12부터.</a:t>
            </a:r>
          </a:p>
        </p:txBody>
      </p:sp>
      <p:sp>
        <p:nvSpPr>
          <p:cNvPr id="60" name="Marker 60"/>
          <p:cNvSpPr/>
          <p:nvPr/>
        </p:nvSpPr>
        <p:spPr>
          <a:xfrm>
            <a:off x="3076956" y="2830068"/>
            <a:ext cx="118872" cy="118872"/>
          </a:xfrm>
          <a:prstGeom prst="triangle">
            <a:avLst/>
          </a:prstGeom>
          <a:solidFill>
            <a:srgbClr val="6B4226"/>
          </a:solidFill>
          <a:ln w="15875">
            <a:solidFill>
              <a:srgbClr val="6B42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Marker 61"/>
          <p:cNvSpPr/>
          <p:nvPr/>
        </p:nvSpPr>
        <p:spPr>
          <a:xfrm>
            <a:off x="3250692" y="2830068"/>
            <a:ext cx="118872" cy="118872"/>
          </a:xfrm>
          <a:prstGeom prst="triangle">
            <a:avLst/>
          </a:prstGeom>
          <a:solidFill>
            <a:srgbClr val="6B4226"/>
          </a:solidFill>
          <a:ln w="15875">
            <a:solidFill>
              <a:srgbClr val="6B42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Marker 62"/>
          <p:cNvSpPr/>
          <p:nvPr/>
        </p:nvSpPr>
        <p:spPr>
          <a:xfrm>
            <a:off x="3424428" y="2830068"/>
            <a:ext cx="118872" cy="118872"/>
          </a:xfrm>
          <a:prstGeom prst="triangle">
            <a:avLst/>
          </a:prstGeom>
          <a:solidFill>
            <a:srgbClr val="6B4226"/>
          </a:solidFill>
          <a:ln w="15875">
            <a:solidFill>
              <a:srgbClr val="6B42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Marker 63"/>
          <p:cNvSpPr/>
          <p:nvPr/>
        </p:nvSpPr>
        <p:spPr>
          <a:xfrm>
            <a:off x="5509259" y="2830068"/>
            <a:ext cx="118872" cy="118872"/>
          </a:xfrm>
          <a:prstGeom prst="triangle">
            <a:avLst/>
          </a:prstGeom>
          <a:solidFill>
            <a:srgbClr val="6B4226"/>
          </a:solidFill>
          <a:ln w="15875">
            <a:solidFill>
              <a:srgbClr val="6B42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Marker 64"/>
          <p:cNvSpPr/>
          <p:nvPr/>
        </p:nvSpPr>
        <p:spPr>
          <a:xfrm>
            <a:off x="5682995" y="2830068"/>
            <a:ext cx="118872" cy="118872"/>
          </a:xfrm>
          <a:prstGeom prst="triangle">
            <a:avLst/>
          </a:prstGeom>
          <a:solidFill>
            <a:srgbClr val="6B4226"/>
          </a:solidFill>
          <a:ln w="15875">
            <a:solidFill>
              <a:srgbClr val="6B42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Marker 65"/>
          <p:cNvSpPr/>
          <p:nvPr/>
        </p:nvSpPr>
        <p:spPr>
          <a:xfrm>
            <a:off x="6377940" y="2830068"/>
            <a:ext cx="118872" cy="118872"/>
          </a:xfrm>
          <a:prstGeom prst="triangle">
            <a:avLst/>
          </a:prstGeom>
          <a:solidFill>
            <a:srgbClr val="6B4226"/>
          </a:solidFill>
          <a:ln w="15875">
            <a:solidFill>
              <a:srgbClr val="6B42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Marker 66"/>
          <p:cNvSpPr/>
          <p:nvPr/>
        </p:nvSpPr>
        <p:spPr>
          <a:xfrm>
            <a:off x="6551676" y="2830068"/>
            <a:ext cx="118872" cy="118872"/>
          </a:xfrm>
          <a:prstGeom prst="triangle">
            <a:avLst/>
          </a:prstGeom>
          <a:solidFill>
            <a:srgbClr val="6B4226"/>
          </a:solidFill>
          <a:ln w="15875">
            <a:solidFill>
              <a:srgbClr val="6B42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Marker 67"/>
          <p:cNvSpPr/>
          <p:nvPr/>
        </p:nvSpPr>
        <p:spPr>
          <a:xfrm>
            <a:off x="6725412" y="2830068"/>
            <a:ext cx="118872" cy="118872"/>
          </a:xfrm>
          <a:prstGeom prst="triangle">
            <a:avLst/>
          </a:prstGeom>
          <a:solidFill>
            <a:srgbClr val="6B4226"/>
          </a:solidFill>
          <a:ln w="15875">
            <a:solidFill>
              <a:srgbClr val="6B42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Marker 68"/>
          <p:cNvSpPr/>
          <p:nvPr/>
        </p:nvSpPr>
        <p:spPr>
          <a:xfrm>
            <a:off x="6899147" y="2830068"/>
            <a:ext cx="118872" cy="118872"/>
          </a:xfrm>
          <a:prstGeom prst="triangle">
            <a:avLst/>
          </a:prstGeom>
          <a:solidFill>
            <a:srgbClr val="6B4226"/>
          </a:solidFill>
          <a:ln w="15875">
            <a:solidFill>
              <a:srgbClr val="6B42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Marker 69"/>
          <p:cNvSpPr/>
          <p:nvPr/>
        </p:nvSpPr>
        <p:spPr>
          <a:xfrm>
            <a:off x="7072884" y="2830068"/>
            <a:ext cx="118872" cy="118872"/>
          </a:xfrm>
          <a:prstGeom prst="triangle">
            <a:avLst/>
          </a:prstGeom>
          <a:solidFill>
            <a:srgbClr val="6B4226"/>
          </a:solidFill>
          <a:ln w="15875">
            <a:solidFill>
              <a:srgbClr val="6B42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Marker 70"/>
          <p:cNvSpPr/>
          <p:nvPr/>
        </p:nvSpPr>
        <p:spPr>
          <a:xfrm>
            <a:off x="7594092" y="2830068"/>
            <a:ext cx="118872" cy="118872"/>
          </a:xfrm>
          <a:prstGeom prst="triangle">
            <a:avLst/>
          </a:prstGeom>
          <a:solidFill>
            <a:srgbClr val="6B4226"/>
          </a:solidFill>
          <a:ln w="15875">
            <a:solidFill>
              <a:srgbClr val="6B42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Marker 71"/>
          <p:cNvSpPr/>
          <p:nvPr/>
        </p:nvSpPr>
        <p:spPr>
          <a:xfrm>
            <a:off x="7767828" y="2830068"/>
            <a:ext cx="118872" cy="118872"/>
          </a:xfrm>
          <a:prstGeom prst="triangle">
            <a:avLst/>
          </a:prstGeom>
          <a:solidFill>
            <a:srgbClr val="6B4226"/>
          </a:solidFill>
          <a:ln w="15875">
            <a:solidFill>
              <a:srgbClr val="6B42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Marker 72"/>
          <p:cNvSpPr/>
          <p:nvPr/>
        </p:nvSpPr>
        <p:spPr>
          <a:xfrm>
            <a:off x="8115300" y="2830068"/>
            <a:ext cx="118872" cy="118872"/>
          </a:xfrm>
          <a:prstGeom prst="triangle">
            <a:avLst/>
          </a:prstGeom>
          <a:solidFill>
            <a:srgbClr val="6B4226"/>
          </a:solidFill>
          <a:ln w="15875">
            <a:solidFill>
              <a:srgbClr val="6B42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Marker 73"/>
          <p:cNvSpPr/>
          <p:nvPr/>
        </p:nvSpPr>
        <p:spPr>
          <a:xfrm>
            <a:off x="10026396" y="2830068"/>
            <a:ext cx="118872" cy="118872"/>
          </a:xfrm>
          <a:prstGeom prst="triangle">
            <a:avLst/>
          </a:prstGeom>
          <a:solidFill>
            <a:srgbClr val="6B4226"/>
          </a:solidFill>
          <a:ln w="15875">
            <a:solidFill>
              <a:srgbClr val="6B42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Marker 74"/>
          <p:cNvSpPr/>
          <p:nvPr/>
        </p:nvSpPr>
        <p:spPr>
          <a:xfrm>
            <a:off x="5404104" y="3090672"/>
            <a:ext cx="109728" cy="109728"/>
          </a:xfrm>
          <a:prstGeom prst="rect">
            <a:avLst/>
          </a:prstGeom>
          <a:solidFill>
            <a:srgbClr val="6B4226"/>
          </a:solidFill>
          <a:ln w="15875">
            <a:solidFill>
              <a:srgbClr val="6B42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Marker 74"/>
          <p:cNvSpPr/>
          <p:nvPr/>
        </p:nvSpPr>
        <p:spPr>
          <a:xfrm>
            <a:off x="3950208" y="4645152"/>
            <a:ext cx="109728" cy="109728"/>
          </a:xfrm>
          <a:prstGeom prst="rect">
            <a:avLst/>
          </a:prstGeom>
          <a:solidFill>
            <a:srgbClr val="6B4226"/>
          </a:solidFill>
          <a:ln w="15875">
            <a:solidFill>
              <a:srgbClr val="6B42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Marker 74"/>
          <p:cNvSpPr/>
          <p:nvPr/>
        </p:nvSpPr>
        <p:spPr>
          <a:xfrm>
            <a:off x="3255264" y="4645152"/>
            <a:ext cx="109728" cy="109728"/>
          </a:xfrm>
          <a:prstGeom prst="rect">
            <a:avLst/>
          </a:prstGeom>
          <a:solidFill>
            <a:srgbClr val="6B4226"/>
          </a:solidFill>
          <a:ln w="15875">
            <a:solidFill>
              <a:srgbClr val="6B42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Marker 74"/>
          <p:cNvSpPr/>
          <p:nvPr/>
        </p:nvSpPr>
        <p:spPr>
          <a:xfrm>
            <a:off x="2734056" y="4645152"/>
            <a:ext cx="109728" cy="109728"/>
          </a:xfrm>
          <a:prstGeom prst="rect">
            <a:avLst/>
          </a:prstGeom>
          <a:solidFill>
            <a:srgbClr val="6B4226"/>
          </a:solidFill>
          <a:ln w="15875">
            <a:solidFill>
              <a:srgbClr val="6B42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Marker 75"/>
          <p:cNvSpPr/>
          <p:nvPr/>
        </p:nvSpPr>
        <p:spPr>
          <a:xfrm>
            <a:off x="11420855" y="3090672"/>
            <a:ext cx="109728" cy="109728"/>
          </a:xfrm>
          <a:prstGeom prst="rect">
            <a:avLst/>
          </a:prstGeom>
          <a:solidFill>
            <a:srgbClr val="6B4226"/>
          </a:solidFill>
          <a:ln w="15875">
            <a:solidFill>
              <a:srgbClr val="6B42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Marker 76"/>
          <p:cNvSpPr/>
          <p:nvPr/>
        </p:nvSpPr>
        <p:spPr>
          <a:xfrm>
            <a:off x="2894076" y="3076956"/>
            <a:ext cx="137160" cy="137160"/>
          </a:xfrm>
          <a:prstGeom prst="diamond">
            <a:avLst/>
          </a:prstGeom>
          <a:solidFill>
            <a:srgbClr val="FFFFFF"/>
          </a:solidFill>
          <a:ln w="15875">
            <a:solidFill>
              <a:srgbClr val="6B42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Marker 77"/>
          <p:cNvSpPr/>
          <p:nvPr/>
        </p:nvSpPr>
        <p:spPr>
          <a:xfrm>
            <a:off x="4457700" y="3076956"/>
            <a:ext cx="137160" cy="137160"/>
          </a:xfrm>
          <a:prstGeom prst="diamond">
            <a:avLst/>
          </a:prstGeom>
          <a:solidFill>
            <a:srgbClr val="FFFFFF"/>
          </a:solidFill>
          <a:ln w="15875">
            <a:solidFill>
              <a:srgbClr val="6B42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Marker 78"/>
          <p:cNvSpPr/>
          <p:nvPr/>
        </p:nvSpPr>
        <p:spPr>
          <a:xfrm>
            <a:off x="5262372" y="3076956"/>
            <a:ext cx="137160" cy="137160"/>
          </a:xfrm>
          <a:prstGeom prst="diamond">
            <a:avLst/>
          </a:prstGeom>
          <a:solidFill>
            <a:srgbClr val="FFFFFF"/>
          </a:solidFill>
          <a:ln w="15875">
            <a:solidFill>
              <a:srgbClr val="6B42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Marker 79"/>
          <p:cNvSpPr/>
          <p:nvPr/>
        </p:nvSpPr>
        <p:spPr>
          <a:xfrm>
            <a:off x="6542532" y="3076956"/>
            <a:ext cx="137160" cy="137160"/>
          </a:xfrm>
          <a:prstGeom prst="diamond">
            <a:avLst/>
          </a:prstGeom>
          <a:solidFill>
            <a:srgbClr val="FFFFFF"/>
          </a:solidFill>
          <a:ln w="15875">
            <a:solidFill>
              <a:srgbClr val="6B42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Marker 80"/>
          <p:cNvSpPr/>
          <p:nvPr/>
        </p:nvSpPr>
        <p:spPr>
          <a:xfrm>
            <a:off x="7758684" y="3076956"/>
            <a:ext cx="137160" cy="137160"/>
          </a:xfrm>
          <a:prstGeom prst="diamond">
            <a:avLst/>
          </a:prstGeom>
          <a:solidFill>
            <a:srgbClr val="FFFFFF"/>
          </a:solidFill>
          <a:ln w="15875">
            <a:solidFill>
              <a:srgbClr val="6B42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Marker 81"/>
          <p:cNvSpPr/>
          <p:nvPr/>
        </p:nvSpPr>
        <p:spPr>
          <a:xfrm>
            <a:off x="8974836" y="3076956"/>
            <a:ext cx="137160" cy="137160"/>
          </a:xfrm>
          <a:prstGeom prst="diamond">
            <a:avLst/>
          </a:prstGeom>
          <a:solidFill>
            <a:srgbClr val="FFFFFF"/>
          </a:solidFill>
          <a:ln w="15875">
            <a:solidFill>
              <a:srgbClr val="6B42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Marker 82"/>
          <p:cNvSpPr/>
          <p:nvPr/>
        </p:nvSpPr>
        <p:spPr>
          <a:xfrm>
            <a:off x="10190988" y="3076956"/>
            <a:ext cx="137160" cy="137160"/>
          </a:xfrm>
          <a:prstGeom prst="diamond">
            <a:avLst/>
          </a:prstGeom>
          <a:solidFill>
            <a:srgbClr val="FFFFFF"/>
          </a:solidFill>
          <a:ln w="15875">
            <a:solidFill>
              <a:srgbClr val="6B42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Marker 83"/>
          <p:cNvSpPr/>
          <p:nvPr/>
        </p:nvSpPr>
        <p:spPr>
          <a:xfrm>
            <a:off x="2382012" y="4384547"/>
            <a:ext cx="118872" cy="118872"/>
          </a:xfrm>
          <a:prstGeom prst="triangle">
            <a:avLst/>
          </a:prstGeom>
          <a:solidFill>
            <a:srgbClr val="2E6B3F"/>
          </a:solidFill>
          <a:ln w="15875">
            <a:solidFill>
              <a:srgbClr val="2E6B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Marker 84"/>
          <p:cNvSpPr/>
          <p:nvPr/>
        </p:nvSpPr>
        <p:spPr>
          <a:xfrm>
            <a:off x="3424428" y="4384547"/>
            <a:ext cx="118872" cy="118872"/>
          </a:xfrm>
          <a:prstGeom prst="triangle">
            <a:avLst/>
          </a:prstGeom>
          <a:solidFill>
            <a:srgbClr val="2E6B3F"/>
          </a:solidFill>
          <a:ln w="15875">
            <a:solidFill>
              <a:srgbClr val="2E6B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Marker 85"/>
          <p:cNvSpPr/>
          <p:nvPr/>
        </p:nvSpPr>
        <p:spPr>
          <a:xfrm>
            <a:off x="3598164" y="4384547"/>
            <a:ext cx="118872" cy="118872"/>
          </a:xfrm>
          <a:prstGeom prst="triangle">
            <a:avLst/>
          </a:prstGeom>
          <a:solidFill>
            <a:srgbClr val="2E6B3F"/>
          </a:solidFill>
          <a:ln w="15875">
            <a:solidFill>
              <a:srgbClr val="2E6B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Marker 86"/>
          <p:cNvSpPr/>
          <p:nvPr/>
        </p:nvSpPr>
        <p:spPr>
          <a:xfrm>
            <a:off x="3771899" y="4384547"/>
            <a:ext cx="118872" cy="118872"/>
          </a:xfrm>
          <a:prstGeom prst="triangle">
            <a:avLst/>
          </a:prstGeom>
          <a:solidFill>
            <a:srgbClr val="2E6B3F"/>
          </a:solidFill>
          <a:ln w="15875">
            <a:solidFill>
              <a:srgbClr val="2E6B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Marker 87"/>
          <p:cNvSpPr/>
          <p:nvPr/>
        </p:nvSpPr>
        <p:spPr>
          <a:xfrm>
            <a:off x="3945636" y="4384547"/>
            <a:ext cx="118872" cy="118872"/>
          </a:xfrm>
          <a:prstGeom prst="triangle">
            <a:avLst/>
          </a:prstGeom>
          <a:solidFill>
            <a:srgbClr val="2E6B3F"/>
          </a:solidFill>
          <a:ln w="15875">
            <a:solidFill>
              <a:srgbClr val="2E6B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Marker 89"/>
          <p:cNvSpPr/>
          <p:nvPr/>
        </p:nvSpPr>
        <p:spPr>
          <a:xfrm>
            <a:off x="1865376" y="4645152"/>
            <a:ext cx="109728" cy="109728"/>
          </a:xfrm>
          <a:prstGeom prst="rect">
            <a:avLst/>
          </a:prstGeom>
          <a:solidFill>
            <a:srgbClr val="2E6B3F"/>
          </a:solidFill>
          <a:ln w="15875">
            <a:solidFill>
              <a:srgbClr val="2E6B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Marker 90"/>
          <p:cNvSpPr/>
          <p:nvPr/>
        </p:nvSpPr>
        <p:spPr>
          <a:xfrm>
            <a:off x="4645152" y="4645152"/>
            <a:ext cx="109728" cy="109728"/>
          </a:xfrm>
          <a:prstGeom prst="rect">
            <a:avLst/>
          </a:prstGeom>
          <a:solidFill>
            <a:srgbClr val="2E6B3F"/>
          </a:solidFill>
          <a:ln w="15875">
            <a:solidFill>
              <a:srgbClr val="2E6B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TextBox 37"/>
          <p:cNvSpPr txBox="1"/>
          <p:nvPr/>
        </p:nvSpPr>
        <p:spPr>
          <a:xfrm>
            <a:off x="457200" y="2798064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0">
                <a:solidFill>
                  <a:srgbClr val="595959"/>
                </a:solidFill>
              </a:rPr>
              <a:t>LI-6800 측정일</a:t>
            </a:r>
          </a:p>
        </p:txBody>
      </p:sp>
      <p:sp>
        <p:nvSpPr>
          <p:cNvPr id="92" name="TextBox 37"/>
          <p:cNvSpPr txBox="1"/>
          <p:nvPr/>
        </p:nvSpPr>
        <p:spPr>
          <a:xfrm>
            <a:off x="457200" y="3054096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0">
                <a:solidFill>
                  <a:srgbClr val="595959"/>
                </a:solidFill>
              </a:rPr>
              <a:t>생육조사일</a:t>
            </a:r>
          </a:p>
        </p:txBody>
      </p:sp>
      <p:sp>
        <p:nvSpPr>
          <p:cNvPr id="93" name="TextBox 37"/>
          <p:cNvSpPr txBox="1"/>
          <p:nvPr/>
        </p:nvSpPr>
        <p:spPr>
          <a:xfrm>
            <a:off x="457200" y="4352544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0">
                <a:solidFill>
                  <a:srgbClr val="595959"/>
                </a:solidFill>
              </a:rPr>
              <a:t>LI-6800 측정일</a:t>
            </a:r>
          </a:p>
        </p:txBody>
      </p:sp>
      <p:sp>
        <p:nvSpPr>
          <p:cNvPr id="94" name="TextBox 37"/>
          <p:cNvSpPr txBox="1"/>
          <p:nvPr/>
        </p:nvSpPr>
        <p:spPr>
          <a:xfrm>
            <a:off x="457200" y="4608576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0">
                <a:solidFill>
                  <a:srgbClr val="595959"/>
                </a:solidFill>
              </a:rPr>
              <a:t>생육조사일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50686"/>
            <a:ext cx="10515600" cy="950797"/>
          </a:xfrm>
        </p:spPr>
        <p:txBody>
          <a:bodyPr>
            <a:normAutofit/>
          </a:bodyPr>
          <a:lstStyle/>
          <a:p>
            <a:r>
              <a:rPr lang="en-US" altLang="ko-KR" sz="2400" dirty="0">
                <a:latin typeface="Times New Roman"/>
                <a:cs typeface="Times New Roman"/>
              </a:rPr>
              <a:t>Materials and Methods</a:t>
            </a:r>
            <a:br>
              <a:rPr lang="en-US" altLang="ko-KR" sz="2800" dirty="0"/>
            </a:br>
            <a:r>
              <a:rPr lang="ko-KR" altLang="en-US" sz="3200" dirty="0"/>
              <a:t>비교 분석 방법</a:t>
            </a:r>
          </a:p>
        </p:txBody>
      </p:sp>
      <p:pic>
        <p:nvPicPr>
          <p:cNvPr id="3" name="Logo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9058" y="129246"/>
            <a:ext cx="2242456" cy="729364"/>
          </a:xfrm>
          <a:prstGeom prst="rect">
            <a:avLst/>
          </a:prstGeom>
        </p:spPr>
      </p:pic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98FA03D2-03B7-0D84-2206-40CA69A8D76A}"/>
              </a:ext>
            </a:extLst>
          </p:cNvPr>
          <p:cNvCxnSpPr>
            <a:cxnSpLocks/>
          </p:cNvCxnSpPr>
          <p:nvPr/>
        </p:nvCxnSpPr>
        <p:spPr>
          <a:xfrm>
            <a:off x="783772" y="1002621"/>
            <a:ext cx="10624457" cy="0"/>
          </a:xfrm>
          <a:prstGeom prst="line">
            <a:avLst/>
          </a:prstGeom>
          <a:ln w="571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D96D3AE-CC3D-A909-29AD-1EF41A97CF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BCED27-B7FD-4F82-BD12-1C1B2F10C096}" type="slidenum">
              <a:rPr lang="ko-KR" altLang="en-US" smtClean="0"/>
              <a:t>5</a:t>
            </a:fld>
            <a:endParaRPr lang="ko-KR" altLang="en-US"/>
          </a:p>
        </p:txBody>
      </p:sp>
      <p:sp>
        <p:nvSpPr>
          <p:cNvPr id="7" name="Card 표시 방식"/>
          <p:cNvSpPr/>
          <p:nvPr/>
        </p:nvSpPr>
        <p:spPr>
          <a:xfrm>
            <a:off x="841248" y="1399032"/>
            <a:ext cx="3383280" cy="3721607"/>
          </a:xfrm>
          <a:prstGeom prst="roundRect">
            <a:avLst>
              <a:gd name="adj" fmla="val 3400"/>
            </a:avLst>
          </a:prstGeom>
          <a:solidFill>
            <a:srgbClr val="FBFBFB"/>
          </a:solidFill>
          <a:ln w="12700">
            <a:solidFill>
              <a:srgbClr val="AFAF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Header 표시 방식"/>
          <p:cNvSpPr/>
          <p:nvPr/>
        </p:nvSpPr>
        <p:spPr>
          <a:xfrm>
            <a:off x="1024128" y="1188720"/>
            <a:ext cx="3017520" cy="420624"/>
          </a:xfrm>
          <a:prstGeom prst="roundRect">
            <a:avLst>
              <a:gd name="adj" fmla="val 25000"/>
            </a:avLst>
          </a:prstGeom>
          <a:solidFill>
            <a:srgbClr val="6B42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27432" rIns="73152" bIns="27432"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표시 방식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" y="1828800"/>
            <a:ext cx="31089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01168" indent="-201168">
              <a:spcBef>
                <a:spcPts val="0"/>
              </a:spcBef>
              <a:buFont typeface="Arial"/>
              <a:buChar char="•"/>
            </a:pPr>
            <a:r>
              <a:rPr sz="1600">
                <a:solidFill>
                  <a:srgbClr val="000000"/>
                </a:solidFill>
              </a:rPr>
              <a:t>대조구(ETc 100%) 포함 실제 측정값(평균 ± SE)으로 표시</a:t>
            </a:r>
          </a:p>
          <a:p>
            <a:pPr marL="201168" indent="-201168">
              <a:spcBef>
                <a:spcPts val="1400"/>
              </a:spcBef>
              <a:buFont typeface="Arial"/>
              <a:buChar char="•"/>
            </a:pPr>
            <a:r>
              <a:rPr sz="1600">
                <a:solidFill>
                  <a:srgbClr val="000000"/>
                </a:solidFill>
              </a:rPr>
              <a:t>처리 전(Pre-treatment) 값은 그림에 회색 X로만 참고 표시, 표에서는 제외</a:t>
            </a:r>
          </a:p>
          <a:p>
            <a:pPr marL="201168" indent="-201168">
              <a:spcBef>
                <a:spcPts val="1400"/>
              </a:spcBef>
              <a:buFont typeface="Arial"/>
              <a:buChar char="•"/>
            </a:pPr>
            <a:r>
              <a:rPr sz="1600">
                <a:solidFill>
                  <a:srgbClr val="000000"/>
                </a:solidFill>
              </a:rPr>
              <a:t>* : 측정일별 ANOVA Holm 보정 P&lt;0.05</a:t>
            </a:r>
          </a:p>
        </p:txBody>
      </p:sp>
      <p:sp>
        <p:nvSpPr>
          <p:cNvPr id="10" name="Card 시간 축 · 선별"/>
          <p:cNvSpPr/>
          <p:nvPr/>
        </p:nvSpPr>
        <p:spPr>
          <a:xfrm>
            <a:off x="4407408" y="1399032"/>
            <a:ext cx="3383280" cy="3721607"/>
          </a:xfrm>
          <a:prstGeom prst="roundRect">
            <a:avLst>
              <a:gd name="adj" fmla="val 3400"/>
            </a:avLst>
          </a:prstGeom>
          <a:solidFill>
            <a:srgbClr val="FBFBFB"/>
          </a:solidFill>
          <a:ln w="12700">
            <a:solidFill>
              <a:srgbClr val="AFAF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Header 시간 축 · 선별"/>
          <p:cNvSpPr/>
          <p:nvPr/>
        </p:nvSpPr>
        <p:spPr>
          <a:xfrm>
            <a:off x="4590288" y="1188720"/>
            <a:ext cx="3017520" cy="420624"/>
          </a:xfrm>
          <a:prstGeom prst="roundRect">
            <a:avLst>
              <a:gd name="adj" fmla="val 25000"/>
            </a:avLst>
          </a:prstGeom>
          <a:solidFill>
            <a:srgbClr val="2E6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27432" rIns="73152" bIns="27432"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시간 축 · 선별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0288" y="1828800"/>
            <a:ext cx="31089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01168" indent="-201168">
              <a:spcBef>
                <a:spcPts val="0"/>
              </a:spcBef>
              <a:buFont typeface="Arial"/>
              <a:buChar char="•"/>
            </a:pPr>
            <a:r>
              <a:rPr sz="1600">
                <a:solidFill>
                  <a:srgbClr val="000000"/>
                </a:solidFill>
              </a:rPr>
              <a:t>침수 시작일 기준 DAT로 정렬</a:t>
            </a:r>
          </a:p>
          <a:p>
            <a:pPr marL="201168" indent="-201168">
              <a:spcBef>
                <a:spcPts val="1400"/>
              </a:spcBef>
              <a:buFont typeface="Arial"/>
              <a:buChar char="•"/>
            </a:pPr>
            <a:r>
              <a:rPr sz="1600">
                <a:solidFill>
                  <a:srgbClr val="000000"/>
                </a:solidFill>
              </a:rPr>
              <a:t>LI-600: 흐린 날(CI&lt;0.5)을 포함한 모든 측정일 사용, 구간 비교는 측정일·선형 PAR(Q</a:t>
            </a:r>
            <a:r>
              <a:rPr sz="1600" baseline="-25000">
                <a:solidFill>
                  <a:srgbClr val="000000"/>
                </a:solidFill>
              </a:rPr>
              <a:t>amb</a:t>
            </a:r>
            <a:r>
              <a:rPr sz="1600">
                <a:solidFill>
                  <a:srgbClr val="000000"/>
                </a:solidFill>
              </a:rPr>
              <a:t>)와 기온(T</a:t>
            </a:r>
            <a:r>
              <a:rPr sz="1600" baseline="-25000">
                <a:solidFill>
                  <a:srgbClr val="000000"/>
                </a:solidFill>
              </a:rPr>
              <a:t>air</a:t>
            </a:r>
            <a:r>
              <a:rPr sz="1600">
                <a:solidFill>
                  <a:srgbClr val="000000"/>
                </a:solidFill>
              </a:rPr>
              <a:t>)로 보정, 흐린 날은 회색 띠로 표시</a:t>
            </a:r>
          </a:p>
          <a:p>
            <a:pPr marL="201168" indent="-201168">
              <a:spcBef>
                <a:spcPts val="1400"/>
              </a:spcBef>
              <a:buFont typeface="Arial"/>
              <a:buChar char="•"/>
            </a:pPr>
            <a:r>
              <a:rPr sz="1600">
                <a:solidFill>
                  <a:srgbClr val="000000"/>
                </a:solidFill>
              </a:rPr>
              <a:t>암적응 F</a:t>
            </a:r>
            <a:r>
              <a:rPr sz="1600" baseline="-25000">
                <a:solidFill>
                  <a:srgbClr val="000000"/>
                </a:solidFill>
              </a:rPr>
              <a:t>v</a:t>
            </a:r>
            <a:r>
              <a:rPr sz="1600">
                <a:solidFill>
                  <a:srgbClr val="000000"/>
                </a:solidFill>
              </a:rPr>
              <a:t>/F</a:t>
            </a:r>
            <a:r>
              <a:rPr sz="1600" baseline="-25000">
                <a:solidFill>
                  <a:srgbClr val="000000"/>
                </a:solidFill>
              </a:rPr>
              <a:t>m</a:t>
            </a:r>
            <a:r>
              <a:rPr sz="1600">
                <a:solidFill>
                  <a:srgbClr val="000000"/>
                </a:solidFill>
              </a:rPr>
              <a:t>은 야간 측정이라 해당 없음, 콩 9/28 값은 LI-6800 측정이라 제외</a:t>
            </a:r>
          </a:p>
        </p:txBody>
      </p:sp>
      <p:sp>
        <p:nvSpPr>
          <p:cNvPr id="13" name="Card 통계 검정"/>
          <p:cNvSpPr/>
          <p:nvPr/>
        </p:nvSpPr>
        <p:spPr>
          <a:xfrm>
            <a:off x="7973568" y="1399032"/>
            <a:ext cx="3383280" cy="3721607"/>
          </a:xfrm>
          <a:prstGeom prst="roundRect">
            <a:avLst>
              <a:gd name="adj" fmla="val 3400"/>
            </a:avLst>
          </a:prstGeom>
          <a:solidFill>
            <a:srgbClr val="FBFBFB"/>
          </a:solidFill>
          <a:ln w="12700">
            <a:solidFill>
              <a:srgbClr val="AFAF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Header 통계 검정"/>
          <p:cNvSpPr/>
          <p:nvPr/>
        </p:nvSpPr>
        <p:spPr>
          <a:xfrm>
            <a:off x="8156448" y="1188720"/>
            <a:ext cx="3017520" cy="420624"/>
          </a:xfrm>
          <a:prstGeom prst="roundRect">
            <a:avLst>
              <a:gd name="adj" fmla="val 25000"/>
            </a:avLst>
          </a:prstGeom>
          <a:solidFill>
            <a:srgbClr val="AA57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27432" rIns="73152" bIns="27432"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통계 검정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56448" y="1828800"/>
            <a:ext cx="31089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01168" indent="-201168">
              <a:spcBef>
                <a:spcPts val="0"/>
              </a:spcBef>
              <a:buFont typeface="Arial"/>
              <a:buChar char="•"/>
            </a:pPr>
            <a:r>
              <a:rPr sz="1600">
                <a:solidFill>
                  <a:srgbClr val="000000"/>
                </a:solidFill>
              </a:rPr>
              <a:t>측정일별 비교(Holm 보정) + 측정일 반복 검정 병기</a:t>
            </a:r>
          </a:p>
          <a:p>
            <a:pPr marL="201168" indent="-201168">
              <a:spcBef>
                <a:spcPts val="1400"/>
              </a:spcBef>
              <a:buFont typeface="Arial"/>
              <a:buChar char="•"/>
            </a:pPr>
            <a:r>
              <a:rPr sz="1600">
                <a:solidFill>
                  <a:srgbClr val="000000"/>
                </a:solidFill>
              </a:rPr>
              <a:t>구간: 침수 × 관수 이원 ANOVA + Tukey, 광도 의존 지표는 처리 × 선형 PAR(Q</a:t>
            </a:r>
            <a:r>
              <a:rPr sz="1600" baseline="-25000">
                <a:solidFill>
                  <a:srgbClr val="000000"/>
                </a:solidFill>
              </a:rPr>
              <a:t>amb</a:t>
            </a:r>
            <a:r>
              <a:rPr sz="1600">
                <a:solidFill>
                  <a:srgbClr val="000000"/>
                </a:solidFill>
              </a:rPr>
              <a:t>) + 기온(T</a:t>
            </a:r>
            <a:r>
              <a:rPr sz="1600" baseline="-25000">
                <a:solidFill>
                  <a:srgbClr val="000000"/>
                </a:solidFill>
              </a:rPr>
              <a:t>air</a:t>
            </a:r>
            <a:r>
              <a:rPr sz="1600">
                <a:solidFill>
                  <a:srgbClr val="000000"/>
                </a:solidFill>
              </a:rPr>
              <a:t>) 모형</a:t>
            </a:r>
          </a:p>
          <a:p>
            <a:pPr marL="201168" indent="-201168">
              <a:spcBef>
                <a:spcPts val="1400"/>
              </a:spcBef>
              <a:buFont typeface="Arial"/>
              <a:buChar char="•"/>
            </a:pPr>
            <a:r>
              <a:rPr sz="1600">
                <a:solidFill>
                  <a:srgbClr val="000000"/>
                </a:solidFill>
              </a:rPr>
              <a:t>P1: 침수 시작~종료 후 7일 (콩 DAT 1~9, 로메인 DAT 5~10 공통 측정일)</a:t>
            </a:r>
          </a:p>
          <a:p>
            <a:pPr marL="201168" indent="-201168">
              <a:spcBef>
                <a:spcPts val="1400"/>
              </a:spcBef>
              <a:buFont typeface="Arial"/>
              <a:buChar char="•"/>
            </a:pPr>
            <a:r>
              <a:rPr sz="1600">
                <a:solidFill>
                  <a:srgbClr val="000000"/>
                </a:solidFill>
              </a:rPr>
              <a:t>P2: 그 이후. 생육은 전 개체 사용(이상치 제거 없음)</a:t>
            </a:r>
          </a:p>
        </p:txBody>
      </p:sp>
      <p:sp>
        <p:nvSpPr>
          <p:cNvPr id="16" name="Conclusion Box"/>
          <p:cNvSpPr/>
          <p:nvPr/>
        </p:nvSpPr>
        <p:spPr>
          <a:xfrm>
            <a:off x="841248" y="5394960"/>
            <a:ext cx="10570464" cy="566928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8575">
            <a:solidFill>
              <a:srgbClr val="AA57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36576" rIns="137160" bIns="36576" rtlCol="0" anchor="ctr"/>
          <a:lstStyle/>
          <a:p>
            <a:pPr algn="ctr"/>
            <a:r>
              <a:rPr sz="1600">
                <a:solidFill>
                  <a:srgbClr val="AA572C"/>
                </a:solidFill>
              </a:rPr>
              <a:t>구간 평균은 처리 효과가 측정일 간 일관될 때만 해석, 두 작물은 병렬 사례로 비교</a:t>
            </a:r>
          </a:p>
        </p:txBody>
      </p:sp>
      <p:sp>
        <p:nvSpPr>
          <p:cNvPr id="17" name="Footnote"/>
          <p:cNvSpPr txBox="1"/>
          <p:nvPr/>
        </p:nvSpPr>
        <p:spPr>
          <a:xfrm>
            <a:off x="457200" y="6473952"/>
            <a:ext cx="8138160" cy="310896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r>
              <a:rPr sz="1000">
                <a:solidFill>
                  <a:srgbClr val="595959"/>
                </a:solidFill>
              </a:rPr>
              <a:t>처리 전: 밭콩 LI-600 8/7·LI-6800 7/22~23, 로메인 상추 LI-600 10/6·LI-6800 10/4(참고용). 건조·복합 측정은 밭콩 DAT 17, 로메인 상추 DAT 5부터. 콩 뿌리 이탈과 로메인 포트 과습은 처리 강도 검증 슬라이드 참조.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50686"/>
            <a:ext cx="10515600" cy="950797"/>
          </a:xfrm>
        </p:spPr>
        <p:txBody>
          <a:bodyPr>
            <a:normAutofit/>
          </a:bodyPr>
          <a:lstStyle/>
          <a:p>
            <a:r>
              <a:rPr lang="en-US" altLang="ko-KR" sz="2400" dirty="0">
                <a:latin typeface="Times New Roman"/>
                <a:cs typeface="Times New Roman"/>
              </a:rPr>
              <a:t>Measurement conditions</a:t>
            </a:r>
            <a:br>
              <a:rPr lang="en-US" altLang="ko-KR" sz="2800" dirty="0"/>
            </a:br>
            <a:r>
              <a:rPr lang="ko-KR" altLang="en-US" sz="3200" dirty="0"/>
              <a:t>측정 당시 일사 조건: 흐린 날 판정</a:t>
            </a:r>
          </a:p>
        </p:txBody>
      </p:sp>
      <p:pic>
        <p:nvPicPr>
          <p:cNvPr id="3" name="Logo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9058" y="129246"/>
            <a:ext cx="2242456" cy="729364"/>
          </a:xfrm>
          <a:prstGeom prst="rect">
            <a:avLst/>
          </a:prstGeom>
        </p:spPr>
      </p:pic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98FA03D2-03B7-0D84-2206-40CA69A8D76A}"/>
              </a:ext>
            </a:extLst>
          </p:cNvPr>
          <p:cNvCxnSpPr>
            <a:cxnSpLocks/>
          </p:cNvCxnSpPr>
          <p:nvPr/>
        </p:nvCxnSpPr>
        <p:spPr>
          <a:xfrm>
            <a:off x="783772" y="1002621"/>
            <a:ext cx="10624457" cy="0"/>
          </a:xfrm>
          <a:prstGeom prst="line">
            <a:avLst/>
          </a:prstGeom>
          <a:ln w="571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D96D3AE-CC3D-A909-29AD-1EF41A97CF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BCED27-B7FD-4F82-BD12-1C1B2F10C096}" type="slidenum">
              <a:rPr lang="ko-KR" altLang="en-US" smtClean="0"/>
              <a:t>6</a:t>
            </a:fld>
            <a:endParaRPr lang="ko-KR" altLang="en-US"/>
          </a:p>
        </p:txBody>
      </p:sp>
      <p:sp>
        <p:nvSpPr>
          <p:cNvPr id="7" name="Rounded Rectangle 6"/>
          <p:cNvSpPr/>
          <p:nvPr/>
        </p:nvSpPr>
        <p:spPr>
          <a:xfrm>
            <a:off x="457200" y="1188720"/>
            <a:ext cx="5394960" cy="274320"/>
          </a:xfrm>
          <a:prstGeom prst="roundRect">
            <a:avLst>
              <a:gd name="adj" fmla="val 20000"/>
            </a:avLst>
          </a:prstGeom>
          <a:solidFill>
            <a:srgbClr val="6B42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밭콩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1508760"/>
          <a:ext cx="5394960" cy="363474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731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42316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000000"/>
                          </a:solidFill>
                        </a:rPr>
                        <a:t>Date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000000"/>
                          </a:solidFill>
                        </a:rPr>
                        <a:t>Time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000000"/>
                          </a:solidFill>
                        </a:rPr>
                        <a:t>SW (W·m</a:t>
                      </a:r>
                      <a:r>
                        <a:rPr sz="950" b="1" baseline="30000">
                          <a:solidFill>
                            <a:srgbClr val="000000"/>
                          </a:solidFill>
                        </a:rPr>
                        <a:t>−2</a:t>
                      </a:r>
                      <a:r>
                        <a:rPr sz="950" b="1">
                          <a:solidFill>
                            <a:srgbClr val="000000"/>
                          </a:solidFill>
                        </a:rPr>
                        <a:t>)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000000"/>
                          </a:solidFill>
                        </a:rPr>
                        <a:t>CI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000000"/>
                          </a:solidFill>
                        </a:rPr>
                        <a:t>Use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2316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</a:rPr>
                        <a:t>08/13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</a:rPr>
                        <a:t>10:31–11:01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</a:rPr>
                        <a:t>348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</a:rPr>
                        <a:t>0.61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</a:rPr>
                        <a:t>사용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1270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2316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</a:rPr>
                        <a:t>08/14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</a:rPr>
                        <a:t>10:19–10:36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</a:rPr>
                        <a:t>312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</a:rPr>
                        <a:t>0.66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</a:rPr>
                        <a:t>사용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2316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</a:rPr>
                        <a:t>08/15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</a:rPr>
                        <a:t>08:31–08:40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</a:rPr>
                        <a:t>138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</a:rPr>
                        <a:t>0.54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</a:rPr>
                        <a:t>사용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2316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</a:rPr>
                        <a:t>08/16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</a:rPr>
                        <a:t>08:43–08:57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</a:rPr>
                        <a:t>51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</a:rPr>
                        <a:t>0.20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</a:rPr>
                        <a:t>사용 (흐림)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2316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</a:rPr>
                        <a:t>08/17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</a:rPr>
                        <a:t>08:37–08:51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</a:rPr>
                        <a:t>178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</a:rPr>
                        <a:t>0.69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</a:rPr>
                        <a:t>사용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2316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</a:rPr>
                        <a:t>08/18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</a:rPr>
                        <a:t>08:54–09:05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</a:rPr>
                        <a:t>243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</a:rPr>
                        <a:t>0.93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</a:rPr>
                        <a:t>사용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2316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</a:rPr>
                        <a:t>08/19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</a:rPr>
                        <a:t>09:42–10:01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</a:rPr>
                        <a:t>104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</a:rPr>
                        <a:t>0.35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</a:rPr>
                        <a:t>사용 (흐림)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2316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</a:rPr>
                        <a:t>08/20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</a:rPr>
                        <a:t>09:32–09:45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</a:rPr>
                        <a:t>162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</a:rPr>
                        <a:t>0.60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</a:rPr>
                        <a:t>사용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2316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</a:rPr>
                        <a:t>08/21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</a:rPr>
                        <a:t>08:18–08:25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</a:rPr>
                        <a:t>52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</a:rPr>
                        <a:t>0.18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</a:rPr>
                        <a:t>사용 (흐림)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42316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</a:rPr>
                        <a:t>08/29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</a:rPr>
                        <a:t>11:39–12:32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</a:rPr>
                        <a:t>76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</a:rPr>
                        <a:t>0.12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</a:rPr>
                        <a:t>사용 (흐림)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42316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</a:rPr>
                        <a:t>09/04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</a:rPr>
                        <a:t>10:25–11:02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</a:rPr>
                        <a:t>330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</a:rPr>
                        <a:t>0.90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</a:rPr>
                        <a:t>사용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42316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</a:rPr>
                        <a:t>09/11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</a:rPr>
                        <a:t>10:16–10:43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</a:rPr>
                        <a:t>340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</a:rPr>
                        <a:t>1.04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</a:rPr>
                        <a:t>사용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42316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</a:rPr>
                        <a:t>09/25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</a:rPr>
                        <a:t>09:19–09:59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</a:rPr>
                        <a:t>129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</a:rPr>
                        <a:t>0.34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</a:rPr>
                        <a:t>사용 (흐림)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42316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</a:rPr>
                        <a:t>10/02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</a:rPr>
                        <a:t>10:25–11:06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</a:rPr>
                        <a:t>338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</a:rPr>
                        <a:t>0.92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</a:rPr>
                        <a:t>사용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6309360" y="1188720"/>
            <a:ext cx="5394960" cy="274320"/>
          </a:xfrm>
          <a:prstGeom prst="roundRect">
            <a:avLst>
              <a:gd name="adj" fmla="val 20000"/>
            </a:avLst>
          </a:prstGeom>
          <a:solidFill>
            <a:srgbClr val="2E6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로메인 상추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09360" y="1508760"/>
          <a:ext cx="5394960" cy="363474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731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42316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000000"/>
                          </a:solidFill>
                        </a:rPr>
                        <a:t>Date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000000"/>
                          </a:solidFill>
                        </a:rPr>
                        <a:t>Time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000000"/>
                          </a:solidFill>
                        </a:rPr>
                        <a:t>SW (W·m</a:t>
                      </a:r>
                      <a:r>
                        <a:rPr sz="950" b="1" baseline="30000">
                          <a:solidFill>
                            <a:srgbClr val="000000"/>
                          </a:solidFill>
                        </a:rPr>
                        <a:t>−2</a:t>
                      </a:r>
                      <a:r>
                        <a:rPr sz="950" b="1">
                          <a:solidFill>
                            <a:srgbClr val="000000"/>
                          </a:solidFill>
                        </a:rPr>
                        <a:t>)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000000"/>
                          </a:solidFill>
                        </a:rPr>
                        <a:t>CI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000000"/>
                          </a:solidFill>
                        </a:rPr>
                        <a:t>Use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2316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</a:rPr>
                        <a:t>10/06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</a:rPr>
                        <a:t>10:20–10:22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</a:rPr>
                        <a:t>214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</a:rPr>
                        <a:t>0.50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</a:rPr>
                        <a:t>사용 (흐림)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1270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2316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</a:rPr>
                        <a:t>10/08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</a:rPr>
                        <a:t>09:29–09:36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</a:rPr>
                        <a:t>133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</a:rPr>
                        <a:t>0.42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</a:rPr>
                        <a:t>사용 (흐림)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2316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</a:rPr>
                        <a:t>10/09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</a:rPr>
                        <a:t>10:53–10:59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</a:rPr>
                        <a:t>228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</a:rPr>
                        <a:t>0.45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</a:rPr>
                        <a:t>사용 (흐림)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2316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</a:rPr>
                        <a:t>10/10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</a:rPr>
                        <a:t>09:44–09:53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</a:rPr>
                        <a:t>354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</a:rPr>
                        <a:t>0.96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</a:rPr>
                        <a:t>사용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2316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</a:rPr>
                        <a:t>10/11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</a:rPr>
                        <a:t>11:17–11:28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</a:rPr>
                        <a:t>366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</a:rPr>
                        <a:t>0.74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</a:rPr>
                        <a:t>사용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2316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</a:rPr>
                        <a:t>10/12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</a:rPr>
                        <a:t>10:36–10:57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</a:rPr>
                        <a:t>484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</a:rPr>
                        <a:t>0.97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</a:rPr>
                        <a:t>사용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2316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</a:rPr>
                        <a:t>10/13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</a:rPr>
                        <a:t>09:33–10:06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</a:rPr>
                        <a:t>14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</a:rPr>
                        <a:t>0.04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</a:rPr>
                        <a:t>사용 (흐림)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2316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</a:rPr>
                        <a:t>10/14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</a:rPr>
                        <a:t>09:28–09:53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</a:rPr>
                        <a:t>378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</a:rPr>
                        <a:t>1.10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</a:rPr>
                        <a:t>사용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2316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</a:rPr>
                        <a:t>10/15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</a:rPr>
                        <a:t>09:31–09:51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</a:rPr>
                        <a:t>342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</a:rPr>
                        <a:t>0.98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</a:rPr>
                        <a:t>사용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42316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</a:rPr>
                        <a:t>10/16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</a:rPr>
                        <a:t>09:40–09:56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</a:rPr>
                        <a:t>334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</a:rPr>
                        <a:t>0.90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</a:rPr>
                        <a:t>사용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42316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</a:rPr>
                        <a:t>10/17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</a:rPr>
                        <a:t>08:59–09:33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</a:rPr>
                        <a:t>260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</a:rPr>
                        <a:t>0.97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</a:rPr>
                        <a:t>사용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42316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</a:rPr>
                        <a:t>10/19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</a:rPr>
                        <a:t>08:28–09:27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</a:rPr>
                        <a:t>134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</a:rPr>
                        <a:t>0.60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</a:rPr>
                        <a:t>사용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42316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</a:rPr>
                        <a:t>10/21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</a:rPr>
                        <a:t>09:47–10:04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</a:rPr>
                        <a:t>21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</a:rPr>
                        <a:t>0.05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</a:rPr>
                        <a:t>사용 (흐림)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42316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</a:rPr>
                        <a:t>10/23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</a:rPr>
                        <a:t>09:33–09:55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</a:rPr>
                        <a:t>340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</a:rPr>
                        <a:t>0.95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</a:rPr>
                        <a:t>사용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sp>
        <p:nvSpPr>
          <p:cNvPr id="11" name="Conclusion Box"/>
          <p:cNvSpPr/>
          <p:nvPr/>
        </p:nvSpPr>
        <p:spPr>
          <a:xfrm>
            <a:off x="841248" y="5715000"/>
            <a:ext cx="10570464" cy="566928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8575">
            <a:solidFill>
              <a:srgbClr val="AA57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36576" rIns="137160" bIns="36576" rtlCol="0" anchor="ctr"/>
          <a:lstStyle/>
          <a:p>
            <a:pPr algn="ctr"/>
            <a:r>
              <a:rPr sz="1600">
                <a:solidFill>
                  <a:srgbClr val="E97132"/>
                </a:solidFill>
              </a:rPr>
              <a:t>모든 측정일을 포함하고 측정 광도(선형 PAR Q</a:t>
            </a:r>
            <a:r>
              <a:rPr sz="1600" baseline="-25000">
                <a:solidFill>
                  <a:srgbClr val="E97132"/>
                </a:solidFill>
              </a:rPr>
              <a:t>amb</a:t>
            </a:r>
            <a:r>
              <a:rPr sz="1600">
                <a:solidFill>
                  <a:srgbClr val="E97132"/>
                </a:solidFill>
              </a:rPr>
              <a:t>)와 기온(T</a:t>
            </a:r>
            <a:r>
              <a:rPr sz="1600" baseline="-25000">
                <a:solidFill>
                  <a:srgbClr val="E97132"/>
                </a:solidFill>
              </a:rPr>
              <a:t>air</a:t>
            </a:r>
            <a:r>
              <a:rPr sz="1600">
                <a:solidFill>
                  <a:srgbClr val="E97132"/>
                </a:solidFill>
              </a:rPr>
              <a:t>)로 보정 — CI &lt; 0.5인 날은 회색 띠로 표시</a:t>
            </a:r>
          </a:p>
        </p:txBody>
      </p:sp>
      <p:sp>
        <p:nvSpPr>
          <p:cNvPr id="12" name="Footnote"/>
          <p:cNvSpPr txBox="1"/>
          <p:nvPr/>
        </p:nvSpPr>
        <p:spPr>
          <a:xfrm>
            <a:off x="457200" y="6355080"/>
            <a:ext cx="8138160" cy="310896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r>
              <a:rPr sz="1000">
                <a:solidFill>
                  <a:srgbClr val="595959"/>
                </a:solidFill>
              </a:rPr>
              <a:t>CI = 측정 구간 평균 SW / 같은 시각대 ±10일 90분위수 SW(맑은 날 기준). 날짜별 예외 없이 한 규칙으로 통일. 로메인 10/13은 SW 자료가 4분뿐(결측).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50686"/>
            <a:ext cx="10515600" cy="950797"/>
          </a:xfrm>
        </p:spPr>
        <p:txBody>
          <a:bodyPr>
            <a:normAutofit/>
          </a:bodyPr>
          <a:lstStyle/>
          <a:p>
            <a:r>
              <a:rPr lang="en-US" altLang="ko-KR" sz="2400" dirty="0">
                <a:latin typeface="Times New Roman"/>
                <a:cs typeface="Times New Roman"/>
              </a:rPr>
              <a:t>Materials and Methods</a:t>
            </a:r>
            <a:br>
              <a:rPr lang="en-US" altLang="ko-KR" sz="2800" dirty="0"/>
            </a:br>
            <a:r>
              <a:rPr lang="ko-KR" altLang="en-US" sz="3200" dirty="0"/>
              <a:t>LI-600 보정: 선형 PAR(Q</a:t>
            </a:r>
            <a:r>
              <a:rPr lang="ko-KR" altLang="en-US" sz="3200" baseline="-25000" dirty="0"/>
              <a:t>amb</a:t>
            </a:r>
            <a:r>
              <a:rPr lang="ko-KR" altLang="en-US" sz="3200" dirty="0"/>
              <a:t>) + 기온(T</a:t>
            </a:r>
            <a:r>
              <a:rPr lang="ko-KR" altLang="en-US" sz="3200" baseline="-25000" dirty="0"/>
              <a:t>air</a:t>
            </a:r>
            <a:r>
              <a:rPr lang="ko-KR" altLang="en-US" sz="3200" dirty="0"/>
              <a:t>)</a:t>
            </a:r>
          </a:p>
        </p:txBody>
      </p:sp>
      <p:pic>
        <p:nvPicPr>
          <p:cNvPr id="3" name="Logo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9058" y="129246"/>
            <a:ext cx="2242456" cy="729364"/>
          </a:xfrm>
          <a:prstGeom prst="rect">
            <a:avLst/>
          </a:prstGeom>
        </p:spPr>
      </p:pic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98FA03D2-03B7-0D84-2206-40CA69A8D76A}"/>
              </a:ext>
            </a:extLst>
          </p:cNvPr>
          <p:cNvCxnSpPr>
            <a:cxnSpLocks/>
          </p:cNvCxnSpPr>
          <p:nvPr/>
        </p:nvCxnSpPr>
        <p:spPr>
          <a:xfrm>
            <a:off x="783772" y="1002621"/>
            <a:ext cx="10624457" cy="0"/>
          </a:xfrm>
          <a:prstGeom prst="line">
            <a:avLst/>
          </a:prstGeom>
          <a:ln w="571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D96D3AE-CC3D-A909-29AD-1EF41A97CF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BCED27-B7FD-4F82-BD12-1C1B2F10C096}" type="slidenum">
              <a:rPr lang="ko-KR" altLang="en-US" smtClean="0"/>
              <a:t>7</a:t>
            </a:fld>
            <a:endParaRPr lang="ko-KR" altLang="en-US"/>
          </a:p>
        </p:txBody>
      </p:sp>
      <p:pic>
        <p:nvPicPr>
          <p:cNvPr id="7" name="Picture 6" descr="a_f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188720"/>
            <a:ext cx="6903720" cy="2083018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3931920"/>
          <a:ext cx="6858000" cy="1728216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1000" b="1" dirty="0">
                          <a:solidFill>
                            <a:srgbClr val="000000"/>
                          </a:solidFill>
                        </a:rPr>
                        <a:t>콩 P1 (대조구 vs 침수)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solidFill>
                            <a:srgbClr val="000000"/>
                          </a:solidFill>
                        </a:rPr>
                        <a:t>선형 PAR P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00000"/>
                          </a:solidFill>
                        </a:rPr>
                        <a:t>+ 기온 P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00000"/>
                          </a:solidFill>
                        </a:rPr>
                        <a:t>결론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</a:rPr>
                        <a:t>Φ</a:t>
                      </a:r>
                      <a:r>
                        <a:rPr sz="1000" b="0" baseline="-25000">
                          <a:solidFill>
                            <a:srgbClr val="000000"/>
                          </a:solidFill>
                        </a:rPr>
                        <a:t>PSII</a:t>
                      </a:r>
                      <a:r>
                        <a:rPr sz="1000" b="0" baseline="-25000">
                          <a:solidFill>
                            <a:srgbClr val="000000"/>
                          </a:solidFill>
                        </a:rPr>
                        <a:t/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&lt;0.001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&lt;0.001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모두 차이 있음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1270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</a:rPr>
                        <a:t>ETR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0.081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0.021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차이 없음 → 있음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</a:rPr>
                        <a:t>F</a:t>
                      </a:r>
                      <a:r>
                        <a:rPr sz="1000" b="0" baseline="-25000">
                          <a:solidFill>
                            <a:srgbClr val="000000"/>
                          </a:solidFill>
                        </a:rPr>
                        <a:t>s</a:t>
                      </a:r>
                      <a:r>
                        <a:rPr sz="1000" b="0" baseline="-25000">
                          <a:solidFill>
                            <a:srgbClr val="000000"/>
                          </a:solidFill>
                        </a:rPr>
                        <a:t/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&lt;0.001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0.002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모두 차이 있음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</a:rPr>
                        <a:t>g</a:t>
                      </a:r>
                      <a:r>
                        <a:rPr sz="1000" b="0" baseline="-25000">
                          <a:solidFill>
                            <a:srgbClr val="000000"/>
                          </a:solidFill>
                        </a:rPr>
                        <a:t>sw</a:t>
                      </a:r>
                      <a:r>
                        <a:rPr sz="1000" b="0" baseline="-25000">
                          <a:solidFill>
                            <a:srgbClr val="000000"/>
                          </a:solidFill>
                        </a:rPr>
                        <a:t/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&lt;0.001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&lt;0.001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모두 차이 있음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</a:rPr>
                        <a:t>Φ</a:t>
                      </a:r>
                      <a:r>
                        <a:rPr sz="1000" b="0" baseline="-25000">
                          <a:solidFill>
                            <a:srgbClr val="000000"/>
                          </a:solidFill>
                        </a:rPr>
                        <a:t>PSII</a:t>
                      </a:r>
                      <a:r>
                        <a:rPr sz="1000" b="0">
                          <a:solidFill>
                            <a:srgbClr val="000000"/>
                          </a:solidFill>
                        </a:rPr>
                        <a:t> 콩 P2 (4처리)</a:t>
                      </a:r>
                      <a:r>
                        <a:rPr sz="1000" b="0" baseline="-25000">
                          <a:solidFill>
                            <a:srgbClr val="000000"/>
                          </a:solidFill>
                        </a:rPr>
                        <a:t/>
                      </a:r>
                      <a:r>
                        <a:rPr sz="1000" b="0">
                          <a:solidFill>
                            <a:srgbClr val="000000"/>
                          </a:solidFill>
                        </a:rPr>
                        <a:t/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&lt;0.001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&lt;0.001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모두 차이 있음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</a:rPr>
                        <a:t>ETR 콩 P2 (4처리)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&lt;0.001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&lt;0.001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모두 차이 있음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9" name="Card 요점"/>
          <p:cNvSpPr/>
          <p:nvPr/>
        </p:nvSpPr>
        <p:spPr>
          <a:xfrm>
            <a:off x="7498079" y="1399032"/>
            <a:ext cx="4206240" cy="4133087"/>
          </a:xfrm>
          <a:prstGeom prst="roundRect">
            <a:avLst>
              <a:gd name="adj" fmla="val 3400"/>
            </a:avLst>
          </a:prstGeom>
          <a:solidFill>
            <a:srgbClr val="FBFBFB"/>
          </a:solidFill>
          <a:ln w="12700">
            <a:solidFill>
              <a:srgbClr val="AFAF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Header 요점"/>
          <p:cNvSpPr/>
          <p:nvPr/>
        </p:nvSpPr>
        <p:spPr>
          <a:xfrm>
            <a:off x="7680959" y="1188720"/>
            <a:ext cx="3840479" cy="420624"/>
          </a:xfrm>
          <a:prstGeom prst="roundRect">
            <a:avLst>
              <a:gd name="adj" fmla="val 25000"/>
            </a:avLst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27432" rIns="73152" bIns="27432"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요점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59" y="1783080"/>
            <a:ext cx="3886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01168" indent="-201168">
              <a:spcBef>
                <a:spcPts val="0"/>
              </a:spcBef>
              <a:buFont typeface="Arial"/>
              <a:buChar char="•"/>
            </a:pPr>
            <a:r>
              <a:rPr sz="1400">
                <a:solidFill>
                  <a:srgbClr val="000000"/>
                </a:solidFill>
              </a:rPr>
              <a:t>이유: 같은 날에도 처리 간 PAR·기온이 달랐음 (8/13 PAR 970 vs 632 µmol m</a:t>
            </a:r>
            <a:r>
              <a:rPr sz="1400" baseline="30000">
                <a:solidFill>
                  <a:srgbClr val="000000"/>
                </a:solidFill>
              </a:rPr>
              <a:t>-2</a:t>
            </a:r>
            <a:r>
              <a:rPr sz="1400">
                <a:solidFill>
                  <a:srgbClr val="000000"/>
                </a:solidFill>
              </a:rPr>
              <a:t> s</a:t>
            </a:r>
            <a:r>
              <a:rPr sz="1400" baseline="30000">
                <a:solidFill>
                  <a:srgbClr val="000000"/>
                </a:solidFill>
              </a:rPr>
              <a:t>-1</a:t>
            </a:r>
            <a:r>
              <a:rPr sz="1400">
                <a:solidFill>
                  <a:srgbClr val="000000"/>
                </a:solidFill>
              </a:rPr>
              <a:t>, 기온 33.3 vs 34.0 °C)</a:t>
            </a:r>
          </a:p>
          <a:p>
            <a:pPr marL="201168" indent="-201168">
              <a:spcBef>
                <a:spcPts val="700"/>
              </a:spcBef>
              <a:buFont typeface="Arial"/>
              <a:buChar char="•"/>
            </a:pPr>
            <a:r>
              <a:rPr sz="1400">
                <a:solidFill>
                  <a:srgbClr val="000000"/>
                </a:solidFill>
              </a:rPr>
              <a:t>모형: y = μ + 처리 + 측정일 + β</a:t>
            </a:r>
            <a:r>
              <a:rPr sz="1400" baseline="-25000">
                <a:solidFill>
                  <a:srgbClr val="000000"/>
                </a:solidFill>
              </a:rPr>
              <a:t>1</a:t>
            </a:r>
            <a:r>
              <a:rPr sz="1400">
                <a:solidFill>
                  <a:srgbClr val="000000"/>
                </a:solidFill>
              </a:rPr>
              <a:t>·Q</a:t>
            </a:r>
            <a:r>
              <a:rPr sz="1400" baseline="-25000">
                <a:solidFill>
                  <a:srgbClr val="000000"/>
                </a:solidFill>
              </a:rPr>
              <a:t>amb</a:t>
            </a:r>
            <a:r>
              <a:rPr sz="1400">
                <a:solidFill>
                  <a:srgbClr val="000000"/>
                </a:solidFill>
              </a:rPr>
              <a:t> + β</a:t>
            </a:r>
            <a:r>
              <a:rPr sz="1400" baseline="-25000">
                <a:solidFill>
                  <a:srgbClr val="000000"/>
                </a:solidFill>
              </a:rPr>
              <a:t>2</a:t>
            </a:r>
            <a:r>
              <a:rPr sz="1400">
                <a:solidFill>
                  <a:srgbClr val="000000"/>
                </a:solidFill>
              </a:rPr>
              <a:t>·T</a:t>
            </a:r>
            <a:r>
              <a:rPr sz="1400" baseline="-25000">
                <a:solidFill>
                  <a:srgbClr val="000000"/>
                </a:solidFill>
              </a:rPr>
              <a:t>air</a:t>
            </a:r>
            <a:r>
              <a:rPr sz="1400">
                <a:solidFill>
                  <a:srgbClr val="000000"/>
                </a:solidFill>
              </a:rPr>
              <a:t> + ε. Ali 2025, Gao 2024도 광도·온도를 공변량으로 보정</a:t>
            </a:r>
          </a:p>
          <a:p>
            <a:pPr marL="201168" indent="-201168">
              <a:spcBef>
                <a:spcPts val="700"/>
              </a:spcBef>
              <a:buFont typeface="Arial"/>
              <a:buChar char="•"/>
            </a:pPr>
            <a:r>
              <a:rPr sz="1400">
                <a:solidFill>
                  <a:srgbClr val="000000"/>
                </a:solidFill>
              </a:rPr>
              <a:t>보정 평균: 균등 가중 LS mean, Wald F, Tukey-Kramer</a:t>
            </a:r>
          </a:p>
          <a:p>
            <a:pPr marL="201168" indent="-201168">
              <a:spcBef>
                <a:spcPts val="700"/>
              </a:spcBef>
              <a:buFont typeface="Arial"/>
              <a:buChar char="•"/>
            </a:pPr>
            <a:r>
              <a:rPr sz="1400">
                <a:solidFill>
                  <a:srgbClr val="000000"/>
                </a:solidFill>
              </a:rPr>
              <a:t>콩 P2 Φ</a:t>
            </a:r>
            <a:r>
              <a:rPr sz="1400" baseline="-25000">
                <a:solidFill>
                  <a:srgbClr val="000000"/>
                </a:solidFill>
              </a:rPr>
              <a:t>PSII</a:t>
            </a:r>
            <a:r>
              <a:rPr sz="1400">
                <a:solidFill>
                  <a:srgbClr val="000000"/>
                </a:solidFill>
              </a:rPr>
              <a:t>: PAR 100당 −0.022, 기온 효과 없음 (P=0.68)</a:t>
            </a:r>
          </a:p>
          <a:p>
            <a:pPr marL="201168" indent="-201168">
              <a:spcBef>
                <a:spcPts val="700"/>
              </a:spcBef>
              <a:buFont typeface="Arial"/>
              <a:buChar char="•"/>
            </a:pPr>
            <a:r>
              <a:rPr sz="1400">
                <a:solidFill>
                  <a:srgbClr val="000000"/>
                </a:solidFill>
              </a:rPr>
              <a:t>로메인: gsw·ΦPSII·Fs·ETR 모두 PAR만 보정과 PAR+기온 보정의 판정이 같음</a:t>
            </a:r>
          </a:p>
          <a:p>
            <a:pPr marL="201168" indent="-201168">
              <a:spcBef>
                <a:spcPts val="700"/>
              </a:spcBef>
              <a:buFont typeface="Arial"/>
              <a:buChar char="•"/>
            </a:pPr>
            <a:r>
              <a:rPr sz="1400">
                <a:solidFill>
                  <a:srgbClr val="000000"/>
                </a:solidFill>
              </a:rPr>
              <a:t>한계: 선형 근사(PAR 약 100~1,900), PAR·기온 r=0.29, T</a:t>
            </a:r>
            <a:r>
              <a:rPr sz="1400" baseline="-25000">
                <a:solidFill>
                  <a:srgbClr val="000000"/>
                </a:solidFill>
              </a:rPr>
              <a:t>air</a:t>
            </a:r>
            <a:r>
              <a:rPr sz="1400">
                <a:solidFill>
                  <a:srgbClr val="000000"/>
                </a:solidFill>
              </a:rPr>
              <a:t> = LI-600 챔버 기온(Tref), 잎 온도는 처리 영향을 받아 제외</a:t>
            </a:r>
          </a:p>
        </p:txBody>
      </p:sp>
      <p:sp>
        <p:nvSpPr>
          <p:cNvPr id="12" name="Conclusion Box"/>
          <p:cNvSpPr/>
          <p:nvPr/>
        </p:nvSpPr>
        <p:spPr>
          <a:xfrm>
            <a:off x="841248" y="5788152"/>
            <a:ext cx="10570464" cy="566928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8575">
            <a:solidFill>
              <a:srgbClr val="AA57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36576" rIns="137160" bIns="36576" rtlCol="0" anchor="ctr"/>
          <a:lstStyle/>
          <a:p>
            <a:pPr algn="ctr"/>
            <a:r>
              <a:rPr sz="1600">
                <a:solidFill>
                  <a:srgbClr val="E97132"/>
                </a:solidFill>
              </a:rPr>
              <a:t>큰 차이(g</a:t>
            </a:r>
            <a:r>
              <a:rPr sz="1600" baseline="-25000">
                <a:solidFill>
                  <a:srgbClr val="E97132"/>
                </a:solidFill>
              </a:rPr>
              <a:t>sw</a:t>
            </a:r>
            <a:r>
              <a:rPr sz="1600">
                <a:solidFill>
                  <a:srgbClr val="E97132"/>
                </a:solidFill>
              </a:rPr>
              <a:t>, F</a:t>
            </a:r>
            <a:r>
              <a:rPr sz="1600" baseline="-25000">
                <a:solidFill>
                  <a:srgbClr val="E97132"/>
                </a:solidFill>
              </a:rPr>
              <a:t>s</a:t>
            </a:r>
            <a:r>
              <a:rPr sz="1600">
                <a:solidFill>
                  <a:srgbClr val="E97132"/>
                </a:solidFill>
              </a:rPr>
              <a:t>, 콩 P2)는 기온 포함 여부와 무관 — 작은 차이(콩 P1 ETR)는 기온 공변량에 민감</a:t>
            </a:r>
          </a:p>
        </p:txBody>
      </p:sp>
      <p:sp>
        <p:nvSpPr>
          <p:cNvPr id="13" name="Footnote"/>
          <p:cNvSpPr txBox="1"/>
          <p:nvPr/>
        </p:nvSpPr>
        <p:spPr>
          <a:xfrm>
            <a:off x="457200" y="6473952"/>
            <a:ext cx="8138160" cy="310896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r>
              <a:rPr sz="1000" dirty="0" err="1">
                <a:solidFill>
                  <a:srgbClr val="595959"/>
                </a:solidFill>
              </a:rPr>
              <a:t>그림 A: 콩 P2 개별 잎, 선 = 보정 후 PAR 기울기. B·C: 측정일별 평균 ± SE. 표: 콩 P1(P2는 4처리). 적용: 9·11~15쪽 표·그림, 10쪽 비율은 PAR+기온 보정(표 괄호 = PAR만; 원 평균), 처리 전(X)·F</a:t>
            </a:r>
            <a:r>
              <a:rPr sz="1000" dirty="0" err="1" baseline="-25000">
                <a:solidFill>
                  <a:srgbClr val="595959"/>
                </a:solidFill>
              </a:rPr>
              <a:t>m</a:t>
            </a:r>
            <a:r>
              <a:rPr sz="1000" dirty="0" err="1">
                <a:solidFill>
                  <a:srgbClr val="595959"/>
                </a:solidFill>
              </a:rPr>
              <a:t>·F</a:t>
            </a:r>
            <a:r>
              <a:rPr sz="1000" dirty="0" err="1" baseline="-25000">
                <a:solidFill>
                  <a:srgbClr val="595959"/>
                </a:solidFill>
              </a:rPr>
              <a:t>v</a:t>
            </a:r>
            <a:r>
              <a:rPr sz="1000" dirty="0" err="1">
                <a:solidFill>
                  <a:srgbClr val="595959"/>
                </a:solidFill>
              </a:rPr>
              <a:t>/F</a:t>
            </a:r>
            <a:r>
              <a:rPr sz="1000" dirty="0" err="1" baseline="-25000">
                <a:solidFill>
                  <a:srgbClr val="595959"/>
                </a:solidFill>
              </a:rPr>
              <a:t>m</a:t>
            </a:r>
            <a:r>
              <a:rPr sz="1000" dirty="0" err="1">
                <a:solidFill>
                  <a:srgbClr val="595959"/>
                </a:solidFill>
              </a:rPr>
              <a:t>은 보정 없음. Ali et al. (2025) JXB 76:4141; Gao et al. (2024) JXB 75:4904.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50686"/>
            <a:ext cx="10515600" cy="950797"/>
          </a:xfrm>
        </p:spPr>
        <p:txBody>
          <a:bodyPr>
            <a:normAutofit/>
          </a:bodyPr>
          <a:lstStyle/>
          <a:p>
            <a:r>
              <a:rPr lang="en-US" altLang="ko-KR" sz="2400" dirty="0">
                <a:latin typeface="Times New Roman"/>
                <a:cs typeface="Times New Roman"/>
              </a:rPr>
              <a:t>Limitations</a:t>
            </a:r>
            <a:br>
              <a:rPr lang="en-US" altLang="ko-KR" sz="2800" dirty="0"/>
            </a:br>
            <a:r>
              <a:rPr lang="ko-KR" altLang="en-US" sz="3200" dirty="0"/>
              <a:t>한계점: 처리 강도와 비교의 한계</a:t>
            </a:r>
          </a:p>
        </p:txBody>
      </p:sp>
      <p:pic>
        <p:nvPicPr>
          <p:cNvPr id="3" name="Logo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9058" y="129246"/>
            <a:ext cx="2242456" cy="729364"/>
          </a:xfrm>
          <a:prstGeom prst="rect">
            <a:avLst/>
          </a:prstGeom>
        </p:spPr>
      </p:pic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98FA03D2-03B7-0D84-2206-40CA69A8D76A}"/>
              </a:ext>
            </a:extLst>
          </p:cNvPr>
          <p:cNvCxnSpPr>
            <a:cxnSpLocks/>
          </p:cNvCxnSpPr>
          <p:nvPr/>
        </p:nvCxnSpPr>
        <p:spPr>
          <a:xfrm>
            <a:off x="783772" y="1002621"/>
            <a:ext cx="10624457" cy="0"/>
          </a:xfrm>
          <a:prstGeom prst="line">
            <a:avLst/>
          </a:prstGeom>
          <a:ln w="571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D96D3AE-CC3D-A909-29AD-1EF41A97CF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BCED27-B7FD-4F82-BD12-1C1B2F10C096}" type="slidenum">
              <a:rPr lang="ko-KR" altLang="en-US" smtClean="0"/>
              <a:t>8</a:t>
            </a:fld>
            <a:endParaRPr lang="ko-KR" altLang="en-US"/>
          </a:p>
        </p:txBody>
      </p:sp>
      <p:pic>
        <p:nvPicPr>
          <p:cNvPr id="14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188720"/>
            <a:ext cx="6903720" cy="2689761"/>
          </a:xfrm>
          <a:prstGeom prst="rect">
            <a:avLst/>
          </a:prstGeom>
        </p:spPr>
      </p:pic>
      <p:sp>
        <p:nvSpPr>
          <p:cNvPr id="9" name="Card 요점"/>
          <p:cNvSpPr/>
          <p:nvPr/>
        </p:nvSpPr>
        <p:spPr>
          <a:xfrm>
            <a:off x="7498079" y="1399032"/>
            <a:ext cx="4206240" cy="4133087"/>
          </a:xfrm>
          <a:prstGeom prst="roundRect">
            <a:avLst>
              <a:gd name="adj" fmla="val 3400"/>
            </a:avLst>
          </a:prstGeom>
          <a:solidFill>
            <a:srgbClr val="FBFBFB"/>
          </a:solidFill>
          <a:ln w="12700">
            <a:solidFill>
              <a:srgbClr val="AFAF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Header 요점"/>
          <p:cNvSpPr/>
          <p:nvPr/>
        </p:nvSpPr>
        <p:spPr>
          <a:xfrm>
            <a:off x="7680959" y="1188720"/>
            <a:ext cx="3840479" cy="420624"/>
          </a:xfrm>
          <a:prstGeom prst="roundRect">
            <a:avLst>
              <a:gd name="adj" fmla="val 25000"/>
            </a:avLst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27432" rIns="73152" bIns="27432"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요점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59" y="1783080"/>
            <a:ext cx="3886200" cy="31906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01168" indent="-201168" algn="l">
              <a:spcBef>
                <a:spcPts val="0"/>
              </a:spcBef>
              <a:buFont typeface="Arial"/>
              <a:buChar char="•"/>
            </a:pPr>
            <a:r>
              <a:rPr lang="ko-KR" altLang="en-US" sz="1400" dirty="0">
                <a:solidFill>
                  <a:srgbClr val="000000"/>
                </a:solidFill>
              </a:rPr>
              <a:t>로메인 침수 = 3일 침지 후 과습 유지 (배수 후 처리 전보다 1.1~1.6 kg 무거움, 종료까지 유지)</a:t>
            </a:r>
          </a:p>
          <a:p>
            <a:pPr marL="201168" indent="-201168" algn="l">
              <a:spcBef>
                <a:spcPts val="1000"/>
              </a:spcBef>
              <a:buFont typeface="Arial"/>
              <a:buChar char="•"/>
            </a:pPr>
            <a:r>
              <a:rPr lang="ko-KR" altLang="en-US" sz="1400" dirty="0">
                <a:solidFill>
                  <a:srgbClr val="000000"/>
                </a:solidFill>
              </a:rPr>
              <a:t>복합구는 +1.7 → +0.3 kg(DAT 16), 건조구는 −1.2 kg(DAT 16): 건조 영향은 후반에 나타남 (관수: 건조 43%, 복합 37%)</a:t>
            </a:r>
          </a:p>
          <a:p>
            <a:pPr marL="201168" indent="-201168" algn="l">
              <a:spcBef>
                <a:spcPts val="1000"/>
              </a:spcBef>
              <a:buFont typeface="Arial"/>
              <a:buChar char="•"/>
            </a:pPr>
            <a:r>
              <a:rPr lang="ko-KR" altLang="en-US" sz="1400" dirty="0">
                <a:solidFill>
                  <a:srgbClr val="000000"/>
                </a:solidFill>
              </a:rPr>
              <a:t>콩: 뿌리가 배수구로 이탈(지면 접촉), 침수 시 이탈 뿌리 절단 → 건조 강도 희석 가능</a:t>
            </a:r>
          </a:p>
          <a:p>
            <a:pPr marL="201168" indent="-201168" algn="l">
              <a:spcBef>
                <a:spcPts val="1000"/>
              </a:spcBef>
              <a:buFont typeface="Arial"/>
              <a:buChar char="•"/>
            </a:pPr>
            <a:r>
              <a:rPr lang="ko-KR" altLang="en-US" sz="1400" dirty="0">
                <a:solidFill>
                  <a:srgbClr val="000000"/>
                </a:solidFill>
              </a:rPr>
              <a:t>콩 DAT 55 '차이 없음'은 검출 한계 약 40~50%, 계절·온실·기온(18 vs 28 °C)·생육단계가 달라 작물 차이는 가설 수준</a:t>
            </a:r>
          </a:p>
        </p:txBody>
      </p:sp>
      <p:sp>
        <p:nvSpPr>
          <p:cNvPr id="12" name="Conclusion Box"/>
          <p:cNvSpPr/>
          <p:nvPr/>
        </p:nvSpPr>
        <p:spPr>
          <a:xfrm>
            <a:off x="841248" y="5788152"/>
            <a:ext cx="10570464" cy="566928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8575">
            <a:solidFill>
              <a:srgbClr val="AA57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36576" rIns="137160" bIns="36576" rtlCol="0" anchor="ctr"/>
          <a:lstStyle/>
          <a:p>
            <a:pPr algn="ctr"/>
            <a:r>
              <a:rPr sz="1600">
                <a:solidFill>
                  <a:srgbClr val="E97132"/>
                </a:solidFill>
              </a:rPr>
              <a:t>로메인 침수 = 3일 침지 후 과습 유지, 콩은 포트 밖 뿌리로 건조 강도가 희석됐을 수 있음</a:t>
            </a:r>
          </a:p>
        </p:txBody>
      </p:sp>
      <p:sp>
        <p:nvSpPr>
          <p:cNvPr id="13" name="Footnote"/>
          <p:cNvSpPr txBox="1"/>
          <p:nvPr/>
        </p:nvSpPr>
        <p:spPr>
          <a:xfrm>
            <a:off x="457200" y="6473952"/>
            <a:ext cx="8138160" cy="310896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r>
              <a:rPr sz="1000">
                <a:solidFill>
                  <a:srgbClr val="595959"/>
                </a:solidFill>
              </a:rPr>
              <a:t>관수: 포트에 들어간 누적 관수량(대조구 대비), 콩 8/16~10/6, 로메인 10/12~10/22. 로메인 화분 무게: 로드셀 4포트 합, 매일 05:00, DAT 0(10/7) 대비, 대조구 DAT 11~14는 로드셀 이상값 제외. 50% 처리는 간헐 관수.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50686"/>
            <a:ext cx="10515600" cy="950797"/>
          </a:xfrm>
        </p:spPr>
        <p:txBody>
          <a:bodyPr>
            <a:normAutofit/>
          </a:bodyPr>
          <a:lstStyle/>
          <a:p>
            <a:r>
              <a:rPr lang="en-US" altLang="ko-KR" sz="2400" dirty="0">
                <a:latin typeface="Times New Roman"/>
                <a:cs typeface="Times New Roman"/>
              </a:rPr>
              <a:t>Photosynthesis</a:t>
            </a:r>
            <a:br>
              <a:rPr lang="en-US" altLang="ko-KR" sz="2800" dirty="0"/>
            </a:br>
            <a:r>
              <a:rPr lang="ko-KR" altLang="en-US" sz="3200" dirty="0"/>
              <a:t>기공전도도 (g</a:t>
            </a:r>
            <a:r>
              <a:rPr lang="ko-KR" altLang="en-US" sz="3200" baseline="-25000" dirty="0"/>
              <a:t>sw</a:t>
            </a:r>
            <a:r>
              <a:rPr lang="ko-KR" altLang="en-US" sz="3200" dirty="0"/>
              <a:t>): 실제 값 비교</a:t>
            </a:r>
          </a:p>
        </p:txBody>
      </p:sp>
      <p:pic>
        <p:nvPicPr>
          <p:cNvPr id="3" name="Logo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9058" y="129246"/>
            <a:ext cx="2242456" cy="729364"/>
          </a:xfrm>
          <a:prstGeom prst="rect">
            <a:avLst/>
          </a:prstGeom>
        </p:spPr>
      </p:pic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98FA03D2-03B7-0D84-2206-40CA69A8D76A}"/>
              </a:ext>
            </a:extLst>
          </p:cNvPr>
          <p:cNvCxnSpPr>
            <a:cxnSpLocks/>
          </p:cNvCxnSpPr>
          <p:nvPr/>
        </p:nvCxnSpPr>
        <p:spPr>
          <a:xfrm>
            <a:off x="783772" y="1002621"/>
            <a:ext cx="10624457" cy="0"/>
          </a:xfrm>
          <a:prstGeom prst="line">
            <a:avLst/>
          </a:prstGeom>
          <a:ln w="571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D96D3AE-CC3D-A909-29AD-1EF41A97CF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BCED27-B7FD-4F82-BD12-1C1B2F10C096}" type="slidenum">
              <a:rPr lang="ko-KR" altLang="en-US" smtClean="0"/>
              <a:t>9</a:t>
            </a:fld>
            <a:endParaRPr lang="ko-KR" altLang="en-US"/>
          </a:p>
        </p:txBody>
      </p:sp>
      <p:pic>
        <p:nvPicPr>
          <p:cNvPr id="14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188720"/>
            <a:ext cx="6903720" cy="2577388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14231821"/>
              </p:ext>
            </p:extLst>
          </p:nvPr>
        </p:nvGraphicFramePr>
        <p:xfrm>
          <a:off x="457200" y="3767328"/>
          <a:ext cx="6858000" cy="1792224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1000" b="1" dirty="0">
                          <a:solidFill>
                            <a:srgbClr val="000000"/>
                          </a:solidFill>
                        </a:rPr>
                        <a:t>Treatment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solidFill>
                            <a:srgbClr val="000000"/>
                          </a:solidFill>
                        </a:rPr>
                        <a:t>Soybean</a:t>
                      </a:r>
                      <a:r>
                        <a:rPr sz="1000" b="1" dirty="0">
                          <a:solidFill>
                            <a:srgbClr val="000000"/>
                          </a:solidFill>
                        </a:rPr>
                        <a:t> P1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solidFill>
                            <a:srgbClr val="000000"/>
                          </a:solidFill>
                        </a:rPr>
                        <a:t>Soybean</a:t>
                      </a:r>
                      <a:r>
                        <a:rPr sz="1000" b="1" dirty="0">
                          <a:solidFill>
                            <a:srgbClr val="000000"/>
                          </a:solidFill>
                        </a:rPr>
                        <a:t> P2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00000"/>
                          </a:solidFill>
                        </a:rPr>
                        <a:t>Romaine P1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00000"/>
                          </a:solidFill>
                        </a:rPr>
                        <a:t>Romaine P2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</a:rPr>
                        <a:t>ETc 100%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0.353 a</a:t>
                      </a:r>
                      <a:r>
                        <a:rPr sz="800" b="0">
                          <a:solidFill>
                            <a:srgbClr val="000000"/>
                          </a:solidFill>
                        </a:rPr>
                        <a:t> (0.358; 0.363)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0.355 a</a:t>
                      </a:r>
                      <a:r>
                        <a:rPr sz="800" b="0">
                          <a:solidFill>
                            <a:srgbClr val="000000"/>
                          </a:solidFill>
                        </a:rPr>
                        <a:t> (0.351; 0.347)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0.264 a</a:t>
                      </a:r>
                      <a:r>
                        <a:rPr sz="800" b="0">
                          <a:solidFill>
                            <a:srgbClr val="000000"/>
                          </a:solidFill>
                        </a:rPr>
                        <a:t> (0.264;0.264)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0.155 ab</a:t>
                      </a:r>
                      <a:r>
                        <a:rPr sz="800" b="0">
                          <a:solidFill>
                            <a:srgbClr val="000000"/>
                          </a:solidFill>
                        </a:rPr>
                        <a:t> (0.153;0.155)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1270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</a:rPr>
                        <a:t>ETc 50%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–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0.215 b</a:t>
                      </a:r>
                      <a:r>
                        <a:rPr sz="800" b="0">
                          <a:solidFill>
                            <a:srgbClr val="000000"/>
                          </a:solidFill>
                        </a:rPr>
                        <a:t> (0.212; 0.224)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0.249 a</a:t>
                      </a:r>
                      <a:r>
                        <a:rPr sz="800" b="0">
                          <a:solidFill>
                            <a:srgbClr val="000000"/>
                          </a:solidFill>
                        </a:rPr>
                        <a:t> (0.249;0.248)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0.113 b</a:t>
                      </a:r>
                      <a:r>
                        <a:rPr sz="800" b="0">
                          <a:solidFill>
                            <a:srgbClr val="000000"/>
                          </a:solidFill>
                        </a:rPr>
                        <a:t> (0.112;0.113)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lang="en-US" sz="1000" b="0" dirty="0">
                          <a:solidFill>
                            <a:srgbClr val="000000"/>
                          </a:solidFill>
                        </a:rPr>
                        <a:t>Waterlogging-ETc 100%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0.264 b</a:t>
                      </a:r>
                      <a:r>
                        <a:rPr sz="800" b="0">
                          <a:solidFill>
                            <a:srgbClr val="000000"/>
                          </a:solidFill>
                        </a:rPr>
                        <a:t> (0.261; 0.273)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0.346 a</a:t>
                      </a:r>
                      <a:r>
                        <a:rPr sz="800" b="0">
                          <a:solidFill>
                            <a:srgbClr val="000000"/>
                          </a:solidFill>
                        </a:rPr>
                        <a:t> (0.348; 0.353)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0.255 a</a:t>
                      </a:r>
                      <a:r>
                        <a:rPr sz="800" b="0">
                          <a:solidFill>
                            <a:srgbClr val="000000"/>
                          </a:solidFill>
                        </a:rPr>
                        <a:t> (0.255;0.254)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0.161 a</a:t>
                      </a:r>
                      <a:r>
                        <a:rPr sz="800" b="0">
                          <a:solidFill>
                            <a:srgbClr val="000000"/>
                          </a:solidFill>
                        </a:rPr>
                        <a:t> (0.160;0.162)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lang="en-US" sz="1000" b="0" dirty="0">
                          <a:solidFill>
                            <a:srgbClr val="000000"/>
                          </a:solidFill>
                        </a:rPr>
                        <a:t>Waterlogging-ETc 50%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–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0.226 b</a:t>
                      </a:r>
                      <a:r>
                        <a:rPr sz="800" b="0">
                          <a:solidFill>
                            <a:srgbClr val="000000"/>
                          </a:solidFill>
                        </a:rPr>
                        <a:t> (0.229; 0.233)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0.237 a</a:t>
                      </a:r>
                      <a:r>
                        <a:rPr sz="800" b="0">
                          <a:solidFill>
                            <a:srgbClr val="000000"/>
                          </a:solidFill>
                        </a:rPr>
                        <a:t> (0.237;0.237)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0.144 ab</a:t>
                      </a:r>
                      <a:r>
                        <a:rPr sz="800" b="0">
                          <a:solidFill>
                            <a:srgbClr val="000000"/>
                          </a:solidFill>
                        </a:rPr>
                        <a:t> (0.143;0.145)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</a:rPr>
                        <a:t>P (측정일 반복)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W 0.006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I 0.001; W×I 0.99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n.s.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I n.s. (0.11)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</a:rPr>
                        <a:t>처리 × 측정일 P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&lt;0.001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&lt;0.001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0.085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dirty="0">
                          <a:solidFill>
                            <a:srgbClr val="000000"/>
                          </a:solidFill>
                        </a:rPr>
                        <a:t>0.067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9" name="Card 요점"/>
          <p:cNvSpPr/>
          <p:nvPr/>
        </p:nvSpPr>
        <p:spPr>
          <a:xfrm>
            <a:off x="7498079" y="1399032"/>
            <a:ext cx="4206240" cy="4133087"/>
          </a:xfrm>
          <a:prstGeom prst="roundRect">
            <a:avLst>
              <a:gd name="adj" fmla="val 3400"/>
            </a:avLst>
          </a:prstGeom>
          <a:solidFill>
            <a:srgbClr val="FBFBFB"/>
          </a:solidFill>
          <a:ln w="12700">
            <a:solidFill>
              <a:srgbClr val="AFAF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Header 요점"/>
          <p:cNvSpPr/>
          <p:nvPr/>
        </p:nvSpPr>
        <p:spPr>
          <a:xfrm>
            <a:off x="7680959" y="1188720"/>
            <a:ext cx="3840479" cy="420624"/>
          </a:xfrm>
          <a:prstGeom prst="roundRect">
            <a:avLst>
              <a:gd name="adj" fmla="val 25000"/>
            </a:avLst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27432" rIns="73152" bIns="27432"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요점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59" y="1783080"/>
            <a:ext cx="3886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01168" indent="-201168">
              <a:spcBef>
                <a:spcPts val="0"/>
              </a:spcBef>
              <a:buFont typeface="Arial"/>
              <a:buChar char="•"/>
            </a:pPr>
            <a:r>
              <a:rPr sz="1400" b="1">
                <a:solidFill>
                  <a:srgbClr val="000000"/>
                </a:solidFill>
              </a:rPr>
              <a:t>콩 P1:</a:t>
            </a:r>
            <a:r>
              <a:rPr sz="1400">
                <a:solidFill>
                  <a:srgbClr val="000000"/>
                </a:solidFill>
              </a:rPr>
              <a:t> 침수 0.26 vs 대조구 0.35 — 측정일을 반복으로 해도 유의 (P=0.006)</a:t>
            </a:r>
          </a:p>
          <a:p>
            <a:pPr marL="201168" indent="-201168">
              <a:spcBef>
                <a:spcPts val="0"/>
              </a:spcBef>
              <a:buFont typeface="Arial"/>
              <a:buChar char="•"/>
            </a:pPr>
            <a:r>
              <a:rPr sz="1400" b="1">
                <a:solidFill>
                  <a:srgbClr val="000000"/>
                </a:solidFill>
              </a:rPr>
              <a:t>콩 P2:</a:t>
            </a:r>
            <a:r>
              <a:rPr sz="1400">
                <a:solidFill>
                  <a:srgbClr val="000000"/>
                </a:solidFill>
              </a:rPr>
              <a:t> 건조·복합 0.22~0.23 &lt; 대조구·침수 0.35, 관수 효과만 유의 (P=0.001; W × I P=0.99)</a:t>
            </a:r>
          </a:p>
          <a:p>
            <a:pPr marL="201168" indent="-201168">
              <a:spcBef>
                <a:spcPts val="0"/>
              </a:spcBef>
              <a:buFont typeface="Arial"/>
              <a:buChar char="•"/>
            </a:pPr>
            <a:r>
              <a:rPr sz="1400" b="1">
                <a:solidFill>
                  <a:srgbClr val="000000"/>
                </a:solidFill>
              </a:rPr>
              <a:t>로메인 P1:</a:t>
            </a:r>
            <a:r>
              <a:rPr sz="1400">
                <a:solidFill>
                  <a:srgbClr val="000000"/>
                </a:solidFill>
              </a:rPr>
              <a:t> 4처리 차이 없음 (P=0.20) — 침수 중(DAT 2~4) 0.10→0.028→0.10 vs 대조구 0.24~0.29, DAT 5부터 대조구 수준</a:t>
            </a:r>
          </a:p>
          <a:p>
            <a:pPr marL="201168" indent="-201168">
              <a:spcBef>
                <a:spcPts val="0"/>
              </a:spcBef>
              <a:buFont typeface="Arial"/>
              <a:buChar char="•"/>
            </a:pPr>
            <a:r>
              <a:rPr sz="1400">
                <a:solidFill>
                  <a:srgbClr val="000000"/>
                </a:solidFill>
              </a:rPr>
              <a:t>로메인 P2:  건조 0.113 (b) &lt; 침수 0.161 (a), 관수 효과 P=0.015 (측정일 반복은 n.s., P=0.11); DAT 16 건조 0.055 vs 대조구 0.144</a:t>
            </a:r>
          </a:p>
          <a:p>
            <a:pPr marL="201168" indent="-201168">
              <a:spcBef>
                <a:spcPts val="0"/>
              </a:spcBef>
              <a:buFont typeface="Arial"/>
              <a:buChar char="•"/>
            </a:pPr>
            <a:r>
              <a:rPr sz="1400">
                <a:solidFill>
                  <a:srgbClr val="000000"/>
                </a:solidFill>
              </a:rPr>
              <a:t>로메인 최저값: DAT 3에 대조구의 10% (0.026 vs 0.256)</a:t>
            </a:r>
          </a:p>
        </p:txBody>
      </p:sp>
      <p:sp>
        <p:nvSpPr>
          <p:cNvPr id="12" name="Conclusion Box"/>
          <p:cNvSpPr/>
          <p:nvPr/>
        </p:nvSpPr>
        <p:spPr>
          <a:xfrm>
            <a:off x="841248" y="5788152"/>
            <a:ext cx="10570464" cy="566928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8575">
            <a:solidFill>
              <a:srgbClr val="AA57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36576" rIns="137160" bIns="36576" rtlCol="0" anchor="ctr"/>
          <a:lstStyle/>
          <a:p>
            <a:pPr algn="ctr"/>
            <a:r>
              <a:rPr sz="1600" b="0">
                <a:solidFill>
                  <a:srgbClr val="E97132"/>
                </a:solidFill>
              </a:rPr>
              <a:t>기공은 두 작물 모두 침수에 즉시 반응 — </a:t>
            </a:r>
            <a:r>
              <a:rPr sz="1600" b="1">
                <a:solidFill>
                  <a:srgbClr val="E97132"/>
                </a:solidFill>
              </a:rPr>
              <a:t>차이는 회복 속도에서 나타남</a:t>
            </a:r>
          </a:p>
        </p:txBody>
      </p:sp>
      <p:sp>
        <p:nvSpPr>
          <p:cNvPr id="13" name="Footnote"/>
          <p:cNvSpPr txBox="1"/>
          <p:nvPr/>
        </p:nvSpPr>
        <p:spPr>
          <a:xfrm>
            <a:off x="457200" y="6473952"/>
            <a:ext cx="8138160" cy="310896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r>
              <a:rPr sz="1000">
                <a:solidFill>
                  <a:srgbClr val="595959"/>
                </a:solidFill>
              </a:rPr>
              <a:t>표: 측정일·선형 PAR·기온 보정 평균, Tukey 문자. 괄호 = (PAR만 보정; 원 평균). P(측정일 반복) = 처리별 측정일 평균 ~ 침수 × 관수 + 측정일 (W 침수, I 관수). 그림(보정 일평균): 음영 ± SE, 회색 띠 흐린 날, * 당일 P&lt;0.05(Holm).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50686"/>
            <a:ext cx="10515600" cy="950797"/>
          </a:xfrm>
        </p:spPr>
        <p:txBody>
          <a:bodyPr>
            <a:normAutofit/>
          </a:bodyPr>
          <a:lstStyle/>
          <a:p>
            <a:r>
              <a:rPr lang="en-US" altLang="ko-KR" sz="2400" dirty="0">
                <a:latin typeface="Times New Roman"/>
                <a:cs typeface="Times New Roman"/>
              </a:rPr>
              <a:t>Photosynthesis</a:t>
            </a:r>
            <a:br>
              <a:rPr lang="en-US" altLang="ko-KR" sz="2800" dirty="0"/>
            </a:br>
            <a:r>
              <a:rPr lang="ko-KR" altLang="en-US" sz="3200" dirty="0"/>
              <a:t>기공 회복: 로메인은 빠르게, 콩은 느리게</a:t>
            </a:r>
          </a:p>
        </p:txBody>
      </p:sp>
      <p:pic>
        <p:nvPicPr>
          <p:cNvPr id="3" name="Logo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9058" y="129246"/>
            <a:ext cx="2242456" cy="729364"/>
          </a:xfrm>
          <a:prstGeom prst="rect">
            <a:avLst/>
          </a:prstGeom>
        </p:spPr>
      </p:pic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98FA03D2-03B7-0D84-2206-40CA69A8D76A}"/>
              </a:ext>
            </a:extLst>
          </p:cNvPr>
          <p:cNvCxnSpPr>
            <a:cxnSpLocks/>
          </p:cNvCxnSpPr>
          <p:nvPr/>
        </p:nvCxnSpPr>
        <p:spPr>
          <a:xfrm>
            <a:off x="783772" y="1002621"/>
            <a:ext cx="10624457" cy="0"/>
          </a:xfrm>
          <a:prstGeom prst="line">
            <a:avLst/>
          </a:prstGeom>
          <a:ln w="571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D96D3AE-CC3D-A909-29AD-1EF41A97CF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BCED27-B7FD-4F82-BD12-1C1B2F10C096}" type="slidenum">
              <a:rPr lang="ko-KR" altLang="en-US" smtClean="0"/>
              <a:t>10</a:t>
            </a:fld>
            <a:endParaRPr lang="ko-KR" altLang="en-US"/>
          </a:p>
        </p:txBody>
      </p:sp>
      <p:pic>
        <p:nvPicPr>
          <p:cNvPr id="18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188720"/>
            <a:ext cx="6903720" cy="3138054"/>
          </a:xfrm>
          <a:prstGeom prst="rect">
            <a:avLst/>
          </a:prstGeom>
        </p:spPr>
      </p:pic>
      <p:sp>
        <p:nvSpPr>
          <p:cNvPr id="9" name="Card 요점"/>
          <p:cNvSpPr/>
          <p:nvPr/>
        </p:nvSpPr>
        <p:spPr>
          <a:xfrm>
            <a:off x="7498079" y="1399032"/>
            <a:ext cx="4206240" cy="4133087"/>
          </a:xfrm>
          <a:prstGeom prst="roundRect">
            <a:avLst>
              <a:gd name="adj" fmla="val 3400"/>
            </a:avLst>
          </a:prstGeom>
          <a:solidFill>
            <a:srgbClr val="FBFBFB"/>
          </a:solidFill>
          <a:ln w="12700">
            <a:solidFill>
              <a:srgbClr val="AFAF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Header 요점"/>
          <p:cNvSpPr/>
          <p:nvPr/>
        </p:nvSpPr>
        <p:spPr>
          <a:xfrm>
            <a:off x="7680959" y="1188720"/>
            <a:ext cx="3840479" cy="420624"/>
          </a:xfrm>
          <a:prstGeom prst="roundRect">
            <a:avLst>
              <a:gd name="adj" fmla="val 25000"/>
            </a:avLst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27432" rIns="73152" bIns="27432"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요점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59" y="1783080"/>
            <a:ext cx="3886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01168" indent="-201168" algn="l">
              <a:spcBef>
                <a:spcPts val="0"/>
              </a:spcBef>
              <a:buFont typeface="Arial"/>
              <a:buChar char="•"/>
            </a:pPr>
            <a:r>
              <a:rPr lang="ko-KR" altLang="en-US" sz="1250" b="1" dirty="0">
                <a:solidFill>
                  <a:srgbClr val="000000"/>
                </a:solidFill>
              </a:rPr>
              <a:t>로메인:</a:t>
            </a:r>
            <a:r>
              <a:rPr lang="ko-KR" altLang="en-US" sz="1250" dirty="0">
                <a:solidFill>
                  <a:srgbClr val="000000"/>
                </a:solidFill>
              </a:rPr>
              <a:t> DAT 3 최저(10%) → 침수 종료 후 DAT 5~6(87~98%)에 대조구 수준 회복 (DAT 4 36%)</a:t>
            </a:r>
          </a:p>
          <a:p>
            <a:pPr marL="201168" indent="-201168" algn="l">
              <a:spcBef>
                <a:spcPts val="600"/>
              </a:spcBef>
              <a:buFont typeface="Arial"/>
              <a:buChar char="•"/>
            </a:pPr>
            <a:r>
              <a:rPr lang="ko-KR" altLang="en-US" sz="1250" b="1" dirty="0">
                <a:solidFill>
                  <a:srgbClr val="000000"/>
                </a:solidFill>
              </a:rPr>
              <a:t>콩:</a:t>
            </a:r>
            <a:r>
              <a:rPr lang="ko-KR" altLang="en-US" sz="1250" dirty="0">
                <a:solidFill>
                  <a:srgbClr val="000000"/>
                </a:solidFill>
              </a:rPr>
              <a:t> DAT 2~9에 39~90%로 낮음(DAT 9 52%) → DAT 17 86%(흐림, 차이 없음), DAT 23 99%</a:t>
            </a:r>
          </a:p>
        </p:txBody>
      </p:sp>
      <p:sp>
        <p:nvSpPr>
          <p:cNvPr id="12" name="Conclusion Box"/>
          <p:cNvSpPr/>
          <p:nvPr/>
        </p:nvSpPr>
        <p:spPr>
          <a:xfrm>
            <a:off x="841248" y="5788152"/>
            <a:ext cx="10570464" cy="566928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8575">
            <a:solidFill>
              <a:srgbClr val="AA57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36576" rIns="137160" bIns="36576" rtlCol="0" anchor="ctr"/>
          <a:lstStyle/>
          <a:p>
            <a:pPr algn="ctr"/>
            <a:r>
              <a:rPr sz="1600">
                <a:solidFill>
                  <a:srgbClr val="E97132"/>
                </a:solidFill>
              </a:rPr>
              <a:t>같은 3일 침수에도 로메인은 배수 2~3일 만에 회복, 콩은 DAT 9까지 회복되지 않음</a:t>
            </a:r>
          </a:p>
        </p:txBody>
      </p:sp>
      <p:sp>
        <p:nvSpPr>
          <p:cNvPr id="13" name="Footnote"/>
          <p:cNvSpPr txBox="1"/>
          <p:nvPr/>
        </p:nvSpPr>
        <p:spPr>
          <a:xfrm>
            <a:off x="457200" y="6473952"/>
            <a:ext cx="8138160" cy="310896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r>
              <a:rPr sz="1000">
                <a:solidFill>
                  <a:srgbClr val="595959"/>
                </a:solidFill>
              </a:rPr>
              <a:t>침수구 g</a:t>
            </a:r>
            <a:r>
              <a:rPr sz="1000" baseline="-25000">
                <a:solidFill>
                  <a:srgbClr val="595959"/>
                </a:solidFill>
              </a:rPr>
              <a:t>sw</a:t>
            </a:r>
            <a:r>
              <a:rPr sz="1000">
                <a:solidFill>
                  <a:srgbClr val="595959"/>
                </a:solidFill>
              </a:rPr>
              <a:t> ÷ 같은 날 대조구 g</a:t>
            </a:r>
            <a:r>
              <a:rPr sz="1000" baseline="-25000">
                <a:solidFill>
                  <a:srgbClr val="595959"/>
                </a:solidFill>
              </a:rPr>
              <a:t>sw</a:t>
            </a:r>
            <a:r>
              <a:rPr sz="1000">
                <a:solidFill>
                  <a:srgbClr val="595959"/>
                </a:solidFill>
              </a:rPr>
              <a:t> × 100. * 대조 vs 침수 P&lt;0.05(Welch t, Holm 보정). 회색 띠 = 흐린 날(CI&lt;0.5). 콩 DAT 10~16은 측정 없음. 비율은 PAR·기온 보정 일평균 g</a:t>
            </a:r>
            <a:r>
              <a:rPr sz="1000" baseline="-25000">
                <a:solidFill>
                  <a:srgbClr val="595959"/>
                </a:solidFill>
              </a:rPr>
              <a:t>sw</a:t>
            </a:r>
            <a:r>
              <a:rPr sz="1000">
                <a:solidFill>
                  <a:srgbClr val="595959"/>
                </a:solidFill>
              </a:rPr>
              <a:t> 기준.</a:t>
            </a:r>
          </a:p>
        </p:txBody>
      </p:sp>
      <p:sp>
        <p:nvSpPr>
          <p:cNvPr id="5" name="Rounded Rectangle 9"/>
          <p:cNvSpPr/>
          <p:nvPr/>
        </p:nvSpPr>
        <p:spPr>
          <a:xfrm>
            <a:off x="822960" y="4434840"/>
            <a:ext cx="2926080" cy="1143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6B42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10"/>
          <p:cNvSpPr txBox="1"/>
          <p:nvPr/>
        </p:nvSpPr>
        <p:spPr>
          <a:xfrm>
            <a:off x="868680" y="4489704"/>
            <a:ext cx="283464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3000">
                <a:solidFill>
                  <a:srgbClr val="6B4226"/>
                </a:solidFill>
              </a:rPr>
              <a:t>2~3일</a:t>
            </a:r>
          </a:p>
        </p:txBody>
      </p:sp>
      <p:sp>
        <p:nvSpPr>
          <p:cNvPr id="14" name="TextBox 11"/>
          <p:cNvSpPr txBox="1"/>
          <p:nvPr/>
        </p:nvSpPr>
        <p:spPr>
          <a:xfrm>
            <a:off x="868680" y="5084064"/>
            <a:ext cx="28346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50">
                <a:solidFill>
                  <a:srgbClr val="595959"/>
                </a:solidFill>
              </a:rPr>
              <a:t>로메인: 침수 종료 후 대조구 수준까지 회복</a:t>
            </a:r>
          </a:p>
        </p:txBody>
      </p:sp>
      <p:sp>
        <p:nvSpPr>
          <p:cNvPr id="15" name="Rounded Rectangle 9"/>
          <p:cNvSpPr/>
          <p:nvPr/>
        </p:nvSpPr>
        <p:spPr>
          <a:xfrm>
            <a:off x="4069080" y="4434840"/>
            <a:ext cx="2926080" cy="1143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6B42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0"/>
          <p:cNvSpPr txBox="1"/>
          <p:nvPr/>
        </p:nvSpPr>
        <p:spPr>
          <a:xfrm>
            <a:off x="4114800" y="4489704"/>
            <a:ext cx="283464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3000">
                <a:solidFill>
                  <a:srgbClr val="6B4226"/>
                </a:solidFill>
              </a:rPr>
              <a:t>DAT 9: 52%</a:t>
            </a:r>
          </a:p>
        </p:txBody>
      </p:sp>
      <p:sp>
        <p:nvSpPr>
          <p:cNvPr id="17" name="TextBox 11"/>
          <p:cNvSpPr txBox="1"/>
          <p:nvPr/>
        </p:nvSpPr>
        <p:spPr>
          <a:xfrm>
            <a:off x="4114800" y="5084064"/>
            <a:ext cx="28346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50">
                <a:solidFill>
                  <a:srgbClr val="595959"/>
                </a:solidFill>
              </a:rPr>
              <a:t>콩: 침수 종료 6일 후에도 미회복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50686"/>
            <a:ext cx="10515600" cy="950797"/>
          </a:xfrm>
        </p:spPr>
        <p:txBody>
          <a:bodyPr>
            <a:normAutofit/>
          </a:bodyPr>
          <a:lstStyle/>
          <a:p>
            <a:r>
              <a:rPr lang="en-US" altLang="ko-KR" sz="2400" dirty="0">
                <a:latin typeface="Times New Roman"/>
                <a:cs typeface="Times New Roman"/>
              </a:rPr>
              <a:t>Photosynthesis</a:t>
            </a:r>
            <a:br>
              <a:rPr lang="en-US" altLang="ko-KR" sz="2800" dirty="0"/>
            </a:br>
            <a:r>
              <a:rPr lang="ko-KR" altLang="en-US" sz="3200" dirty="0"/>
              <a:t>로메인 침수 직후(10/10): 대조 vs 침수</a:t>
            </a:r>
          </a:p>
        </p:txBody>
      </p:sp>
      <p:pic>
        <p:nvPicPr>
          <p:cNvPr id="3" name="Logo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9058" y="129246"/>
            <a:ext cx="2242456" cy="729364"/>
          </a:xfrm>
          <a:prstGeom prst="rect">
            <a:avLst/>
          </a:prstGeom>
        </p:spPr>
      </p:pic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98FA03D2-03B7-0D84-2206-40CA69A8D76A}"/>
              </a:ext>
            </a:extLst>
          </p:cNvPr>
          <p:cNvCxnSpPr>
            <a:cxnSpLocks/>
          </p:cNvCxnSpPr>
          <p:nvPr/>
        </p:nvCxnSpPr>
        <p:spPr>
          <a:xfrm>
            <a:off x="783772" y="1002621"/>
            <a:ext cx="10624457" cy="0"/>
          </a:xfrm>
          <a:prstGeom prst="line">
            <a:avLst/>
          </a:prstGeom>
          <a:ln w="571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D96D3AE-CC3D-A909-29AD-1EF41A97CF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BCED27-B7FD-4F82-BD12-1C1B2F10C096}" type="slidenum">
              <a:rPr lang="ko-KR" altLang="en-US" smtClean="0"/>
              <a:t>11</a:t>
            </a:fld>
            <a:endParaRPr lang="ko-KR" altLang="en-US"/>
          </a:p>
        </p:txBody>
      </p:sp>
      <p:pic>
        <p:nvPicPr>
          <p:cNvPr id="14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2101" y="1188720"/>
            <a:ext cx="6633918" cy="1963989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3931920"/>
          <a:ext cx="6858000" cy="1822704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000000"/>
                          </a:solidFill>
                        </a:rPr>
                        <a:t>Romaine 10/10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00000"/>
                          </a:solidFill>
                        </a:rPr>
                        <a:t>Control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00000"/>
                          </a:solidFill>
                        </a:rPr>
                        <a:t>Waterlogging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00000"/>
                          </a:solidFill>
                        </a:rPr>
                        <a:t>Waterlog./Control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00000"/>
                          </a:solidFill>
                        </a:rPr>
                        <a:t>P (Welch t)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</a:rPr>
                        <a:t>Vcmax</a:t>
                      </a:r>
                      <a:r>
                        <a:rPr sz="1000" b="0">
                          <a:solidFill>
                            <a:srgbClr val="000000"/>
                          </a:solidFill>
                        </a:rPr>
                        <a:t> (A-Ci, n=3)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114.6 ± 8.0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89.4 ± 3.5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78%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0.070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1270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</a:rPr>
                        <a:t>Jmax</a:t>
                      </a:r>
                      <a:r>
                        <a:rPr sz="1000" b="0">
                          <a:solidFill>
                            <a:srgbClr val="000000"/>
                          </a:solidFill>
                        </a:rPr>
                        <a:t> (A-Ci, n=3)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195.6 ± 12.1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153.4 ± 10.2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78%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0.058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</a:rPr>
                        <a:t>Rd</a:t>
                      </a:r>
                      <a:r>
                        <a:rPr sz="1000" b="0">
                          <a:solidFill>
                            <a:srgbClr val="000000"/>
                          </a:solidFill>
                        </a:rPr>
                        <a:t> (A-Ci, n=3)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2.31 ± 0.20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1.98 ± 0.08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86%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0.24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</a:rPr>
                        <a:t>gsw</a:t>
                      </a:r>
                      <a:r>
                        <a:rPr sz="1000" b="0">
                          <a:solidFill>
                            <a:srgbClr val="000000"/>
                          </a:solidFill>
                        </a:rPr>
                        <a:t> (LI-600, n=12)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0.256 ± 0.009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0.026 ± 0.009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10%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&lt;0.001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</a:rPr>
                        <a:t>ΦPSII</a:t>
                      </a:r>
                      <a:r>
                        <a:rPr sz="1000" b="0">
                          <a:solidFill>
                            <a:srgbClr val="000000"/>
                          </a:solidFill>
                        </a:rPr>
                        <a:t> (LI-600, n=12)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0.552 ± 0.019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0.485 ± 0.019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88%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0.023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1337765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</a:rPr>
                        <a:t>Fv/Fm</a:t>
                      </a:r>
                      <a:r>
                        <a:rPr sz="1000" b="0">
                          <a:solidFill>
                            <a:srgbClr val="000000"/>
                          </a:solidFill>
                        </a:rPr>
                        <a:t> (암적응, n=9)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0.829 ± 0.002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0.820 ± 0.002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99%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0.011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Card 요점"/>
          <p:cNvSpPr/>
          <p:nvPr/>
        </p:nvSpPr>
        <p:spPr>
          <a:xfrm>
            <a:off x="7498079" y="1399032"/>
            <a:ext cx="4206240" cy="4133087"/>
          </a:xfrm>
          <a:prstGeom prst="roundRect">
            <a:avLst>
              <a:gd name="adj" fmla="val 3400"/>
            </a:avLst>
          </a:prstGeom>
          <a:solidFill>
            <a:srgbClr val="FBFBFB"/>
          </a:solidFill>
          <a:ln w="12700">
            <a:solidFill>
              <a:srgbClr val="AFAF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Header 요점"/>
          <p:cNvSpPr/>
          <p:nvPr/>
        </p:nvSpPr>
        <p:spPr>
          <a:xfrm>
            <a:off x="7680959" y="1188720"/>
            <a:ext cx="3840479" cy="420624"/>
          </a:xfrm>
          <a:prstGeom prst="roundRect">
            <a:avLst>
              <a:gd name="adj" fmla="val 25000"/>
            </a:avLst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27432" rIns="73152" bIns="27432"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요점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59" y="1783080"/>
            <a:ext cx="3886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01168" indent="-201168" algn="l">
              <a:spcBef>
                <a:spcPts val="0"/>
              </a:spcBef>
              <a:buFont typeface="Arial"/>
              <a:buChar char="•"/>
            </a:pPr>
            <a:r>
              <a:rPr lang="ko-KR" altLang="en-US" sz="1250" dirty="0">
                <a:solidFill>
                  <a:srgbClr val="000000"/>
                </a:solidFill>
              </a:rPr>
              <a:t>기공: g</a:t>
            </a:r>
            <a:r>
              <a:rPr lang="ko-KR" altLang="en-US" sz="1250" dirty="0" baseline="-25000">
                <a:solidFill>
                  <a:srgbClr val="000000"/>
                </a:solidFill>
              </a:rPr>
              <a:t>sw</a:t>
            </a:r>
            <a:r>
              <a:rPr lang="ko-KR" altLang="en-US" sz="1250" dirty="0">
                <a:solidFill>
                  <a:srgbClr val="000000"/>
                </a:solidFill>
              </a:rPr>
              <a:t> 0.026 vs 0.256 (대조구의 10%, P&lt;0.001)</a:t>
            </a:r>
          </a:p>
          <a:p>
            <a:pPr marL="201168" indent="-201168" algn="l">
              <a:spcBef>
                <a:spcPts val="600"/>
              </a:spcBef>
              <a:buFont typeface="Arial"/>
              <a:buChar char="•"/>
            </a:pPr>
            <a:r>
              <a:rPr lang="ko-KR" altLang="en-US" sz="1250" dirty="0">
                <a:solidFill>
                  <a:srgbClr val="000000"/>
                </a:solidFill>
              </a:rPr>
              <a:t>광계 II: Φ</a:t>
            </a:r>
            <a:r>
              <a:rPr lang="ko-KR" altLang="en-US" sz="1250" dirty="0" baseline="-25000">
                <a:solidFill>
                  <a:srgbClr val="000000"/>
                </a:solidFill>
              </a:rPr>
              <a:t>PSII</a:t>
            </a:r>
            <a:r>
              <a:rPr lang="ko-KR" altLang="en-US" sz="1250" dirty="0">
                <a:solidFill>
                  <a:srgbClr val="000000"/>
                </a:solidFill>
              </a:rPr>
              <a:t> 88% (P=0.023, 보정), F</a:t>
            </a:r>
            <a:r>
              <a:rPr lang="ko-KR" altLang="en-US" sz="1250" dirty="0" baseline="-25000">
                <a:solidFill>
                  <a:srgbClr val="000000"/>
                </a:solidFill>
              </a:rPr>
              <a:t>v</a:t>
            </a:r>
            <a:r>
              <a:rPr lang="ko-KR" altLang="en-US" sz="1250" dirty="0">
                <a:solidFill>
                  <a:srgbClr val="000000"/>
                </a:solidFill>
              </a:rPr>
              <a:t>/F</a:t>
            </a:r>
            <a:r>
              <a:rPr lang="ko-KR" altLang="en-US" sz="1250" dirty="0" baseline="-25000">
                <a:solidFill>
                  <a:srgbClr val="000000"/>
                </a:solidFill>
              </a:rPr>
              <a:t>m</a:t>
            </a:r>
            <a:r>
              <a:rPr lang="ko-KR" altLang="en-US" sz="1250" dirty="0">
                <a:solidFill>
                  <a:srgbClr val="000000"/>
                </a:solidFill>
              </a:rPr>
              <a:t> 0.820 vs 0.829 (P=0.011) — 작지만 유의한 감소</a:t>
            </a:r>
          </a:p>
          <a:p>
            <a:pPr marL="201168" indent="-201168" algn="l">
              <a:spcBef>
                <a:spcPts val="600"/>
              </a:spcBef>
              <a:buFont typeface="Arial"/>
              <a:buChar char="•"/>
            </a:pPr>
            <a:r>
              <a:rPr lang="ko-KR" altLang="en-US" sz="1250" dirty="0">
                <a:solidFill>
                  <a:srgbClr val="000000"/>
                </a:solidFill>
              </a:rPr>
              <a:t>생화학 능력: V</a:t>
            </a:r>
            <a:r>
              <a:rPr lang="ko-KR" altLang="en-US" sz="1250" dirty="0" baseline="-25000">
                <a:solidFill>
                  <a:srgbClr val="000000"/>
                </a:solidFill>
              </a:rPr>
              <a:t>cmax</a:t>
            </a:r>
            <a:r>
              <a:rPr lang="ko-KR" altLang="en-US" sz="1250" dirty="0">
                <a:solidFill>
                  <a:srgbClr val="000000"/>
                </a:solidFill>
              </a:rPr>
              <a:t> 78% (P=0.070), J</a:t>
            </a:r>
            <a:r>
              <a:rPr lang="ko-KR" altLang="en-US" sz="1250" dirty="0" baseline="-25000">
                <a:solidFill>
                  <a:srgbClr val="000000"/>
                </a:solidFill>
              </a:rPr>
              <a:t>max</a:t>
            </a:r>
            <a:r>
              <a:rPr lang="ko-KR" altLang="en-US" sz="1250" dirty="0">
                <a:solidFill>
                  <a:srgbClr val="000000"/>
                </a:solidFill>
              </a:rPr>
              <a:t> 78% (P=0.058) — 감소 경향이나 n=3이라 유의하지 않음</a:t>
            </a:r>
          </a:p>
          <a:p>
            <a:pPr marL="201168" indent="-201168" algn="l">
              <a:spcBef>
                <a:spcPts val="600"/>
              </a:spcBef>
              <a:buFont typeface="Arial"/>
              <a:buChar char="•"/>
            </a:pPr>
            <a:r>
              <a:rPr lang="ko-KR" altLang="en-US" sz="1250" dirty="0">
                <a:solidFill>
                  <a:srgbClr val="000000"/>
                </a:solidFill>
              </a:rPr>
              <a:t>→ 기공이 거의 닫혔고(10%) PSII·생화학 지표도 함께 낮아지는 경향</a:t>
            </a:r>
          </a:p>
          <a:p>
            <a:pPr marL="201168" indent="-201168" algn="l">
              <a:spcBef>
                <a:spcPts val="600"/>
              </a:spcBef>
              <a:buFont typeface="Arial"/>
              <a:buChar char="•"/>
            </a:pPr>
            <a:r>
              <a:rPr lang="ko-KR" altLang="en-US" sz="1250" dirty="0">
                <a:solidFill>
                  <a:srgbClr val="000000"/>
                </a:solidFill>
              </a:rPr>
              <a:t>Φ</a:t>
            </a:r>
            <a:r>
              <a:rPr lang="ko-KR" altLang="en-US" sz="1250" dirty="0" baseline="-25000">
                <a:solidFill>
                  <a:srgbClr val="000000"/>
                </a:solidFill>
              </a:rPr>
              <a:t>PSII</a:t>
            </a:r>
            <a:r>
              <a:rPr lang="ko-KR" altLang="en-US" sz="1250" dirty="0">
                <a:solidFill>
                  <a:srgbClr val="000000"/>
                </a:solidFill>
              </a:rPr>
              <a:t>는 원 평균으로는 P=0.26: 보정(대조 PAR 843 vs 침수 781) 후 유의</a:t>
            </a:r>
          </a:p>
        </p:txBody>
      </p:sp>
      <p:sp>
        <p:nvSpPr>
          <p:cNvPr id="12" name="Conclusion Box"/>
          <p:cNvSpPr/>
          <p:nvPr/>
        </p:nvSpPr>
        <p:spPr>
          <a:xfrm>
            <a:off x="841248" y="5788152"/>
            <a:ext cx="10570464" cy="566928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8575">
            <a:solidFill>
              <a:srgbClr val="AA57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36576" rIns="137160" bIns="36576" rtlCol="0" anchor="ctr"/>
          <a:lstStyle/>
          <a:p>
            <a:pPr algn="ctr"/>
            <a:r>
              <a:rPr sz="1600">
                <a:solidFill>
                  <a:srgbClr val="E97132"/>
                </a:solidFill>
              </a:rPr>
              <a:t>침수 3일째 g</a:t>
            </a:r>
            <a:r>
              <a:rPr sz="1600" baseline="-25000">
                <a:solidFill>
                  <a:srgbClr val="E97132"/>
                </a:solidFill>
              </a:rPr>
              <a:t>sw</a:t>
            </a:r>
            <a:r>
              <a:rPr sz="1600">
                <a:solidFill>
                  <a:srgbClr val="E97132"/>
                </a:solidFill>
              </a:rPr>
              <a:t>는 10%로 급감, F</a:t>
            </a:r>
            <a:r>
              <a:rPr sz="1600" baseline="-25000">
                <a:solidFill>
                  <a:srgbClr val="E97132"/>
                </a:solidFill>
              </a:rPr>
              <a:t>v</a:t>
            </a:r>
            <a:r>
              <a:rPr sz="1600">
                <a:solidFill>
                  <a:srgbClr val="E97132"/>
                </a:solidFill>
              </a:rPr>
              <a:t>/F</a:t>
            </a:r>
            <a:r>
              <a:rPr sz="1600" baseline="-25000">
                <a:solidFill>
                  <a:srgbClr val="E97132"/>
                </a:solidFill>
              </a:rPr>
              <a:t>m</a:t>
            </a:r>
            <a:r>
              <a:rPr sz="1600">
                <a:solidFill>
                  <a:srgbClr val="E97132"/>
                </a:solidFill>
              </a:rPr>
              <a:t>·Φ</a:t>
            </a:r>
            <a:r>
              <a:rPr sz="1600" baseline="-25000">
                <a:solidFill>
                  <a:srgbClr val="E97132"/>
                </a:solidFill>
              </a:rPr>
              <a:t>PSII</a:t>
            </a:r>
            <a:r>
              <a:rPr sz="1600">
                <a:solidFill>
                  <a:srgbClr val="E97132"/>
                </a:solidFill>
              </a:rPr>
              <a:t>도 작게 감소 — V</a:t>
            </a:r>
            <a:r>
              <a:rPr sz="1600" baseline="-25000">
                <a:solidFill>
                  <a:srgbClr val="E97132"/>
                </a:solidFill>
              </a:rPr>
              <a:t>cmax</a:t>
            </a:r>
            <a:r>
              <a:rPr sz="1600">
                <a:solidFill>
                  <a:srgbClr val="E97132"/>
                </a:solidFill>
              </a:rPr>
              <a:t>·J</a:t>
            </a:r>
            <a:r>
              <a:rPr sz="1600" baseline="-25000">
                <a:solidFill>
                  <a:srgbClr val="E97132"/>
                </a:solidFill>
              </a:rPr>
              <a:t>max</a:t>
            </a:r>
            <a:r>
              <a:rPr sz="1600">
                <a:solidFill>
                  <a:srgbClr val="E97132"/>
                </a:solidFill>
              </a:rPr>
              <a:t>는 ~78% (검출력 낮음)</a:t>
            </a:r>
          </a:p>
        </p:txBody>
      </p:sp>
      <p:sp>
        <p:nvSpPr>
          <p:cNvPr id="13" name="Footnote"/>
          <p:cNvSpPr txBox="1"/>
          <p:nvPr/>
        </p:nvSpPr>
        <p:spPr>
          <a:xfrm>
            <a:off x="457200" y="6473952"/>
            <a:ext cx="8138160" cy="310896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r>
              <a:rPr sz="1000">
                <a:solidFill>
                  <a:srgbClr val="595959"/>
                </a:solidFill>
              </a:rPr>
              <a:t>10/10 A-Ci 처리당 3곡선(Welch t), LI-600 처리당 12잎(당일 PAR·기온 보정, Wald F), 암적응 F</a:t>
            </a:r>
            <a:r>
              <a:rPr sz="1000" baseline="-25000">
                <a:solidFill>
                  <a:srgbClr val="595959"/>
                </a:solidFill>
              </a:rPr>
              <a:t>v</a:t>
            </a:r>
            <a:r>
              <a:rPr sz="1000">
                <a:solidFill>
                  <a:srgbClr val="595959"/>
                </a:solidFill>
              </a:rPr>
              <a:t>/F</a:t>
            </a:r>
            <a:r>
              <a:rPr sz="1000" baseline="-25000">
                <a:solidFill>
                  <a:srgbClr val="595959"/>
                </a:solidFill>
              </a:rPr>
              <a:t>m</a:t>
            </a:r>
            <a:r>
              <a:rPr sz="1000">
                <a:solidFill>
                  <a:srgbClr val="595959"/>
                </a:solidFill>
              </a:rPr>
              <a:t> 처리당 9잎(20~21시, Welch t). 상자: 사분위, 가로선: 평균 ± SE(n&lt;4).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50686"/>
            <a:ext cx="10515600" cy="950797"/>
          </a:xfrm>
        </p:spPr>
        <p:txBody>
          <a:bodyPr>
            <a:normAutofit/>
          </a:bodyPr>
          <a:lstStyle/>
          <a:p>
            <a:r>
              <a:rPr lang="en-US" altLang="ko-KR" sz="2400" dirty="0">
                <a:latin typeface="Times New Roman"/>
                <a:cs typeface="Times New Roman"/>
              </a:rPr>
              <a:t>Chlorophyll fluorescence</a:t>
            </a:r>
            <a:br>
              <a:rPr lang="en-US" altLang="ko-KR" sz="2800" dirty="0"/>
            </a:br>
            <a:r>
              <a:rPr lang="ko-KR" altLang="en-US" sz="3200" dirty="0"/>
              <a:t>Φ</a:t>
            </a:r>
            <a:r>
              <a:rPr lang="ko-KR" altLang="en-US" sz="3200" baseline="-25000" dirty="0"/>
              <a:t>PSII</a:t>
            </a:r>
            <a:r>
              <a:rPr lang="ko-KR" altLang="en-US" sz="3200" dirty="0"/>
              <a:t>: 콩 건조 저하는 고광도에서만</a:t>
            </a:r>
          </a:p>
        </p:txBody>
      </p:sp>
      <p:pic>
        <p:nvPicPr>
          <p:cNvPr id="3" name="Logo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9058" y="129246"/>
            <a:ext cx="2242456" cy="729364"/>
          </a:xfrm>
          <a:prstGeom prst="rect">
            <a:avLst/>
          </a:prstGeom>
        </p:spPr>
      </p:pic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98FA03D2-03B7-0D84-2206-40CA69A8D76A}"/>
              </a:ext>
            </a:extLst>
          </p:cNvPr>
          <p:cNvCxnSpPr>
            <a:cxnSpLocks/>
          </p:cNvCxnSpPr>
          <p:nvPr/>
        </p:nvCxnSpPr>
        <p:spPr>
          <a:xfrm>
            <a:off x="783772" y="1002621"/>
            <a:ext cx="10624457" cy="0"/>
          </a:xfrm>
          <a:prstGeom prst="line">
            <a:avLst/>
          </a:prstGeom>
          <a:ln w="571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D96D3AE-CC3D-A909-29AD-1EF41A97CF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BCED27-B7FD-4F82-BD12-1C1B2F10C096}" type="slidenum">
              <a:rPr lang="ko-KR" altLang="en-US" smtClean="0"/>
              <a:t>12</a:t>
            </a:fld>
            <a:endParaRPr lang="ko-KR" altLang="en-US"/>
          </a:p>
        </p:txBody>
      </p:sp>
      <p:pic>
        <p:nvPicPr>
          <p:cNvPr id="14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143000"/>
            <a:ext cx="6903720" cy="2510443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3703320"/>
          <a:ext cx="6720840" cy="2048256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417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1000" b="1" dirty="0">
                          <a:solidFill>
                            <a:srgbClr val="000000"/>
                          </a:solidFill>
                        </a:rPr>
                        <a:t>Treatment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solidFill>
                            <a:srgbClr val="000000"/>
                          </a:solidFill>
                        </a:rPr>
                        <a:t>Soybean</a:t>
                      </a:r>
                      <a:r>
                        <a:rPr sz="1000" b="1" dirty="0">
                          <a:solidFill>
                            <a:srgbClr val="000000"/>
                          </a:solidFill>
                        </a:rPr>
                        <a:t> P1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solidFill>
                            <a:srgbClr val="000000"/>
                          </a:solidFill>
                        </a:rPr>
                        <a:t>Soybean</a:t>
                      </a:r>
                      <a:r>
                        <a:rPr sz="1000" b="1" dirty="0">
                          <a:solidFill>
                            <a:srgbClr val="000000"/>
                          </a:solidFill>
                        </a:rPr>
                        <a:t> P2 (300)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solidFill>
                            <a:srgbClr val="000000"/>
                          </a:solidFill>
                        </a:rPr>
                        <a:t>Soybean</a:t>
                      </a:r>
                      <a:r>
                        <a:rPr sz="1000" b="1" dirty="0">
                          <a:solidFill>
                            <a:srgbClr val="000000"/>
                          </a:solidFill>
                        </a:rPr>
                        <a:t> P2 (1,200)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00000"/>
                          </a:solidFill>
                        </a:rPr>
                        <a:t>Romaine P1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00000"/>
                          </a:solidFill>
                        </a:rPr>
                        <a:t>Romaine P2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</a:rPr>
                        <a:t>ETc 100%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0.704 a</a:t>
                      </a:r>
                      <a:r>
                        <a:rPr sz="650" b="0">
                          <a:solidFill>
                            <a:srgbClr val="000000"/>
                          </a:solidFill>
                        </a:rPr>
                        <a:t> (0.701; 0.694)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0.75 a</a:t>
                      </a:r>
                      <a:r>
                        <a:rPr sz="650" b="0">
                          <a:solidFill>
                            <a:srgbClr val="000000"/>
                          </a:solidFill>
                        </a:rPr>
                        <a:t> (0.75)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0.68 a</a:t>
                      </a:r>
                      <a:r>
                        <a:rPr sz="650" b="0">
                          <a:solidFill>
                            <a:srgbClr val="000000"/>
                          </a:solidFill>
                        </a:rPr>
                        <a:t> (0.69)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0.611 a</a:t>
                      </a:r>
                      <a:r>
                        <a:rPr sz="650" b="0">
                          <a:solidFill>
                            <a:srgbClr val="000000"/>
                          </a:solidFill>
                        </a:rPr>
                        <a:t> (0.611;0.599)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0.645 a</a:t>
                      </a:r>
                      <a:r>
                        <a:rPr sz="650" b="0">
                          <a:solidFill>
                            <a:srgbClr val="000000"/>
                          </a:solidFill>
                        </a:rPr>
                        <a:t> (0.645;0.658)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1270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</a:rPr>
                        <a:t>ETc 50%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–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0.72 a</a:t>
                      </a:r>
                      <a:r>
                        <a:rPr sz="650" b="0">
                          <a:solidFill>
                            <a:srgbClr val="000000"/>
                          </a:solidFill>
                        </a:rPr>
                        <a:t> (0.72)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0.50 c</a:t>
                      </a:r>
                      <a:r>
                        <a:rPr sz="650" b="0">
                          <a:solidFill>
                            <a:srgbClr val="000000"/>
                          </a:solidFill>
                        </a:rPr>
                        <a:t> (0.50)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0.595 a</a:t>
                      </a:r>
                      <a:r>
                        <a:rPr sz="650" b="0">
                          <a:solidFill>
                            <a:srgbClr val="000000"/>
                          </a:solidFill>
                        </a:rPr>
                        <a:t> (0.595;0.612)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0.649 a</a:t>
                      </a:r>
                      <a:r>
                        <a:rPr sz="650" b="0">
                          <a:solidFill>
                            <a:srgbClr val="000000"/>
                          </a:solidFill>
                        </a:rPr>
                        <a:t> (0.649;0.661)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lang="en-US" sz="1000" b="0" dirty="0">
                          <a:solidFill>
                            <a:srgbClr val="000000"/>
                          </a:solidFill>
                        </a:rPr>
                        <a:t>Waterlogging</a:t>
                      </a:r>
                      <a:r>
                        <a:rPr sz="1000" b="0" dirty="0">
                          <a:solidFill>
                            <a:srgbClr val="000000"/>
                          </a:solidFill>
                        </a:rPr>
                        <a:t>-</a:t>
                      </a:r>
                      <a:r>
                        <a:rPr sz="1000" b="0" dirty="0" err="1">
                          <a:solidFill>
                            <a:srgbClr val="000000"/>
                          </a:solidFill>
                        </a:rPr>
                        <a:t>ETc</a:t>
                      </a:r>
                      <a:r>
                        <a:rPr sz="1000" b="0" dirty="0">
                          <a:solidFill>
                            <a:srgbClr val="000000"/>
                          </a:solidFill>
                        </a:rPr>
                        <a:t> 100%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0.679 b</a:t>
                      </a:r>
                      <a:r>
                        <a:rPr sz="650" b="0">
                          <a:solidFill>
                            <a:srgbClr val="000000"/>
                          </a:solidFill>
                        </a:rPr>
                        <a:t> (0.680; 0.687)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0.74 a</a:t>
                      </a:r>
                      <a:r>
                        <a:rPr sz="650" b="0">
                          <a:solidFill>
                            <a:srgbClr val="000000"/>
                          </a:solidFill>
                        </a:rPr>
                        <a:t> (0.74)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0.58 b</a:t>
                      </a:r>
                      <a:r>
                        <a:rPr sz="650" b="0">
                          <a:solidFill>
                            <a:srgbClr val="000000"/>
                          </a:solidFill>
                        </a:rPr>
                        <a:t> (0.59)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0.591 a</a:t>
                      </a:r>
                      <a:r>
                        <a:rPr sz="650" b="0">
                          <a:solidFill>
                            <a:srgbClr val="000000"/>
                          </a:solidFill>
                        </a:rPr>
                        <a:t> (0.591;0.595)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0.642 a</a:t>
                      </a:r>
                      <a:r>
                        <a:rPr sz="650" b="0">
                          <a:solidFill>
                            <a:srgbClr val="000000"/>
                          </a:solidFill>
                        </a:rPr>
                        <a:t> (0.642;0.637)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lang="en-US" sz="1000" b="0" dirty="0">
                          <a:solidFill>
                            <a:srgbClr val="000000"/>
                          </a:solidFill>
                        </a:rPr>
                        <a:t>Waterlogging</a:t>
                      </a:r>
                      <a:r>
                        <a:rPr sz="1000" b="0" dirty="0">
                          <a:solidFill>
                            <a:srgbClr val="000000"/>
                          </a:solidFill>
                        </a:rPr>
                        <a:t>-</a:t>
                      </a:r>
                      <a:r>
                        <a:rPr sz="1000" b="0" dirty="0" err="1">
                          <a:solidFill>
                            <a:srgbClr val="000000"/>
                          </a:solidFill>
                        </a:rPr>
                        <a:t>ETc</a:t>
                      </a:r>
                      <a:r>
                        <a:rPr sz="1000" b="0" dirty="0">
                          <a:solidFill>
                            <a:srgbClr val="000000"/>
                          </a:solidFill>
                        </a:rPr>
                        <a:t> 50%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–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0.73 a</a:t>
                      </a:r>
                      <a:r>
                        <a:rPr sz="650" b="0">
                          <a:solidFill>
                            <a:srgbClr val="000000"/>
                          </a:solidFill>
                        </a:rPr>
                        <a:t> (0.73)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0.54 bc</a:t>
                      </a:r>
                      <a:r>
                        <a:rPr sz="650" b="0">
                          <a:solidFill>
                            <a:srgbClr val="000000"/>
                          </a:solidFill>
                        </a:rPr>
                        <a:t> (0.54)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0.585 a</a:t>
                      </a:r>
                      <a:r>
                        <a:rPr sz="650" b="0">
                          <a:solidFill>
                            <a:srgbClr val="000000"/>
                          </a:solidFill>
                        </a:rPr>
                        <a:t> (0.585;0.576)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0.655 a</a:t>
                      </a:r>
                      <a:r>
                        <a:rPr sz="650" b="0">
                          <a:solidFill>
                            <a:srgbClr val="000000"/>
                          </a:solidFill>
                        </a:rPr>
                        <a:t> (0.655;0.642)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</a:rPr>
                        <a:t>P (측정일 반복)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W 0.44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I 0.011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W×I 0.027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W 0.24 (n.s.)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–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</a:rPr>
                        <a:t>처리 × PAR P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0.99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&lt;0.001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&lt;0.001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–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–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9" name="Card 요점"/>
          <p:cNvSpPr/>
          <p:nvPr/>
        </p:nvSpPr>
        <p:spPr>
          <a:xfrm>
            <a:off x="7498079" y="1399032"/>
            <a:ext cx="4206240" cy="4133087"/>
          </a:xfrm>
          <a:prstGeom prst="roundRect">
            <a:avLst>
              <a:gd name="adj" fmla="val 3400"/>
            </a:avLst>
          </a:prstGeom>
          <a:solidFill>
            <a:srgbClr val="FBFBFB"/>
          </a:solidFill>
          <a:ln w="12700">
            <a:solidFill>
              <a:srgbClr val="AFAF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Header 요점"/>
          <p:cNvSpPr/>
          <p:nvPr/>
        </p:nvSpPr>
        <p:spPr>
          <a:xfrm>
            <a:off x="7680959" y="1188720"/>
            <a:ext cx="3840479" cy="420624"/>
          </a:xfrm>
          <a:prstGeom prst="roundRect">
            <a:avLst>
              <a:gd name="adj" fmla="val 25000"/>
            </a:avLst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27432" rIns="73152" bIns="27432"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요점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59" y="1783080"/>
            <a:ext cx="3886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01168" indent="-201168">
              <a:spcBef>
                <a:spcPts val="0"/>
              </a:spcBef>
              <a:buFont typeface="Arial"/>
              <a:buChar char="•"/>
            </a:pPr>
            <a:r>
              <a:rPr sz="1400">
                <a:solidFill>
                  <a:srgbClr val="000000"/>
                </a:solidFill>
              </a:rPr>
              <a:t>P1: 측정일 반복 검정은 두 작물 모두 차이 없음 (콩 P=0.44, 로메인 P=0.24). 콩 광도·기온 보정 평균은 침수 0.679 &lt; 대조구 0.704 (P&lt;0.001)로 차이가 작고 보정 방식에 따라 달라짐</a:t>
            </a:r>
          </a:p>
          <a:p>
            <a:pPr marL="201168" indent="-201168">
              <a:spcBef>
                <a:spcPts val="0"/>
              </a:spcBef>
              <a:buFont typeface="Arial"/>
              <a:buChar char="•"/>
            </a:pPr>
            <a:r>
              <a:rPr sz="1400" b="1">
                <a:solidFill>
                  <a:srgbClr val="000000"/>
                </a:solidFill>
              </a:rPr>
              <a:t>콩 P2:</a:t>
            </a:r>
            <a:r>
              <a:rPr sz="1400">
                <a:solidFill>
                  <a:srgbClr val="000000"/>
                </a:solidFill>
              </a:rPr>
              <a:t> 저광(300)에서는 0.72~0.75로 차이 없음, 고광(1,200)에서 건조 0.50 &lt; 복합 0.54 &lt; 침수 0.58 &lt; 대조구 0.68</a:t>
            </a:r>
          </a:p>
          <a:p>
            <a:pPr marL="201168" indent="-201168">
              <a:spcBef>
                <a:spcPts val="0"/>
              </a:spcBef>
              <a:buFont typeface="Arial"/>
              <a:buChar char="•"/>
            </a:pPr>
            <a:r>
              <a:rPr sz="1400">
                <a:solidFill>
                  <a:srgbClr val="000000"/>
                </a:solidFill>
              </a:rPr>
              <a:t>처리 × 광도 상호작용 P&lt;0.001 — 건조의 명반응 저하는 과잉광에서만 (기공 제한의 2차 결과와 부합)</a:t>
            </a:r>
          </a:p>
          <a:p>
            <a:pPr marL="201168" indent="-201168">
              <a:spcBef>
                <a:spcPts val="0"/>
              </a:spcBef>
              <a:buFont typeface="Arial"/>
              <a:buChar char="•"/>
            </a:pPr>
            <a:r>
              <a:rPr sz="1400">
                <a:solidFill>
                  <a:srgbClr val="000000"/>
                </a:solidFill>
              </a:rPr>
              <a:t>침수 × 관수 상호작용은 측정일 반복 검정에서도 유지 (P=0.027)</a:t>
            </a:r>
          </a:p>
          <a:p>
            <a:pPr marL="201168" indent="-201168">
              <a:spcBef>
                <a:spcPts val="0"/>
              </a:spcBef>
              <a:buFont typeface="Arial"/>
              <a:buChar char="•"/>
            </a:pPr>
            <a:r>
              <a:rPr sz="1400">
                <a:solidFill>
                  <a:srgbClr val="000000"/>
                </a:solidFill>
              </a:rPr>
              <a:t>로메인은 P1 0.585~0.611 (침수 효과 P=0.049, 처리 P=0.10), P2 0.642~0.655 (P=0.75): 구간 차이 없음 — DAT 3·7 침수구가 낮았으나 당일 Holm 후 n.s.</a:t>
            </a:r>
          </a:p>
        </p:txBody>
      </p:sp>
      <p:sp>
        <p:nvSpPr>
          <p:cNvPr id="12" name="Conclusion Box"/>
          <p:cNvSpPr/>
          <p:nvPr/>
        </p:nvSpPr>
        <p:spPr>
          <a:xfrm>
            <a:off x="841248" y="5788152"/>
            <a:ext cx="10570464" cy="566928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8575">
            <a:solidFill>
              <a:srgbClr val="AA57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36576" rIns="137160" bIns="36576" rtlCol="0" anchor="ctr"/>
          <a:lstStyle/>
          <a:p>
            <a:pPr algn="ctr"/>
            <a:r>
              <a:rPr sz="1600">
                <a:solidFill>
                  <a:srgbClr val="E97132"/>
                </a:solidFill>
              </a:rPr>
              <a:t>콩 건조의 Φ</a:t>
            </a:r>
            <a:r>
              <a:rPr sz="1600" baseline="-25000">
                <a:solidFill>
                  <a:srgbClr val="E97132"/>
                </a:solidFill>
              </a:rPr>
              <a:t>PSII</a:t>
            </a:r>
            <a:r>
              <a:rPr sz="1600">
                <a:solidFill>
                  <a:srgbClr val="E97132"/>
                </a:solidFill>
              </a:rPr>
              <a:t> 저하는 고광도에서만 — 로메인은 잎 광화학 효율 변화 작음 (침수 후 약 3% 낮은 경향)</a:t>
            </a:r>
          </a:p>
        </p:txBody>
      </p:sp>
      <p:sp>
        <p:nvSpPr>
          <p:cNvPr id="13" name="Footnote"/>
          <p:cNvSpPr txBox="1"/>
          <p:nvPr/>
        </p:nvSpPr>
        <p:spPr>
          <a:xfrm>
            <a:off x="457200" y="6473952"/>
            <a:ext cx="8138160" cy="310896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r>
              <a:rPr sz="1000">
                <a:solidFill>
                  <a:srgbClr val="595959"/>
                </a:solidFill>
              </a:rPr>
              <a:t>표: 측정일·선형 PAR·기온 보정 평균(콩 P2는 처리 × PAR 모형의 PPFD 300·1,200 예측, 9/4 기준). 괄호 = (PAR만 보정; 원 평균), P2 예측은 PAR만 보정. P(측정일 반복) = 처리별 측정일 평균 ~ 침수 × 관수 + 측정일. 문자: Tukey(로메인은 n.s.라 모두 a).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50686"/>
            <a:ext cx="10515600" cy="950797"/>
          </a:xfrm>
        </p:spPr>
        <p:txBody>
          <a:bodyPr>
            <a:normAutofit/>
          </a:bodyPr>
          <a:lstStyle/>
          <a:p>
            <a:r>
              <a:rPr lang="en-US" altLang="ko-KR" sz="2400" dirty="0">
                <a:latin typeface="Times New Roman"/>
                <a:cs typeface="Times New Roman"/>
              </a:rPr>
              <a:t>Chlorophyll fluorescence</a:t>
            </a:r>
            <a:br>
              <a:rPr lang="en-US" altLang="ko-KR" sz="2800" dirty="0"/>
            </a:br>
            <a:r>
              <a:rPr lang="ko-KR" altLang="en-US" sz="3200" dirty="0"/>
              <a:t>정상 상태 형광 (F</a:t>
            </a:r>
            <a:r>
              <a:rPr lang="ko-KR" altLang="en-US" sz="3200" baseline="-25000" dirty="0"/>
              <a:t>s</a:t>
            </a:r>
            <a:r>
              <a:rPr lang="ko-KR" altLang="en-US" sz="3200" dirty="0"/>
              <a:t>): 실제 값 비교</a:t>
            </a:r>
          </a:p>
        </p:txBody>
      </p:sp>
      <p:pic>
        <p:nvPicPr>
          <p:cNvPr id="3" name="Logo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9058" y="129246"/>
            <a:ext cx="2242456" cy="729364"/>
          </a:xfrm>
          <a:prstGeom prst="rect">
            <a:avLst/>
          </a:prstGeom>
        </p:spPr>
      </p:pic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98FA03D2-03B7-0D84-2206-40CA69A8D76A}"/>
              </a:ext>
            </a:extLst>
          </p:cNvPr>
          <p:cNvCxnSpPr>
            <a:cxnSpLocks/>
          </p:cNvCxnSpPr>
          <p:nvPr/>
        </p:nvCxnSpPr>
        <p:spPr>
          <a:xfrm>
            <a:off x="783772" y="1002621"/>
            <a:ext cx="10624457" cy="0"/>
          </a:xfrm>
          <a:prstGeom prst="line">
            <a:avLst/>
          </a:prstGeom>
          <a:ln w="571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D96D3AE-CC3D-A909-29AD-1EF41A97CF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BCED27-B7FD-4F82-BD12-1C1B2F10C096}" type="slidenum">
              <a:rPr lang="ko-KR" altLang="en-US" smtClean="0"/>
              <a:t>13</a:t>
            </a:fld>
            <a:endParaRPr lang="ko-KR" altLang="en-US"/>
          </a:p>
        </p:txBody>
      </p:sp>
      <p:pic>
        <p:nvPicPr>
          <p:cNvPr id="14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188720"/>
            <a:ext cx="6903720" cy="2570534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3931920"/>
          <a:ext cx="6858000" cy="1792224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1000" b="1" dirty="0">
                          <a:solidFill>
                            <a:srgbClr val="000000"/>
                          </a:solidFill>
                        </a:rPr>
                        <a:t>Treatment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solidFill>
                            <a:srgbClr val="000000"/>
                          </a:solidFill>
                        </a:rPr>
                        <a:t>Soybean</a:t>
                      </a:r>
                      <a:r>
                        <a:rPr sz="1000" b="1" dirty="0">
                          <a:solidFill>
                            <a:srgbClr val="000000"/>
                          </a:solidFill>
                        </a:rPr>
                        <a:t> P1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solidFill>
                            <a:srgbClr val="000000"/>
                          </a:solidFill>
                        </a:rPr>
                        <a:t>Soybean</a:t>
                      </a:r>
                      <a:r>
                        <a:rPr sz="1000" b="1" dirty="0">
                          <a:solidFill>
                            <a:srgbClr val="000000"/>
                          </a:solidFill>
                        </a:rPr>
                        <a:t> P2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00000"/>
                          </a:solidFill>
                        </a:rPr>
                        <a:t>Romaine P1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00000"/>
                          </a:solidFill>
                        </a:rPr>
                        <a:t>Romaine P2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</a:rPr>
                        <a:t>ETc 100%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129 b</a:t>
                      </a:r>
                      <a:r>
                        <a:rPr sz="800" b="0">
                          <a:solidFill>
                            <a:srgbClr val="000000"/>
                          </a:solidFill>
                        </a:rPr>
                        <a:t> (130; 130)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113 b</a:t>
                      </a:r>
                      <a:r>
                        <a:rPr sz="800" b="0">
                          <a:solidFill>
                            <a:srgbClr val="000000"/>
                          </a:solidFill>
                        </a:rPr>
                        <a:t> (114; 110)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157.3 a</a:t>
                      </a:r>
                      <a:r>
                        <a:rPr sz="800" b="0">
                          <a:solidFill>
                            <a:srgbClr val="000000"/>
                          </a:solidFill>
                        </a:rPr>
                        <a:t> (157.1;158.3)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142.1 a</a:t>
                      </a:r>
                      <a:r>
                        <a:rPr sz="800" b="0">
                          <a:solidFill>
                            <a:srgbClr val="000000"/>
                          </a:solidFill>
                        </a:rPr>
                        <a:t> (142.8;143.2)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1270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</a:rPr>
                        <a:t>ETc 50%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–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132 a</a:t>
                      </a:r>
                      <a:r>
                        <a:rPr sz="800" b="0">
                          <a:solidFill>
                            <a:srgbClr val="000000"/>
                          </a:solidFill>
                        </a:rPr>
                        <a:t> (133; 134)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161.0 a</a:t>
                      </a:r>
                      <a:r>
                        <a:rPr sz="800" b="0">
                          <a:solidFill>
                            <a:srgbClr val="000000"/>
                          </a:solidFill>
                        </a:rPr>
                        <a:t> (161.0;159.3)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141.8 a</a:t>
                      </a:r>
                      <a:r>
                        <a:rPr sz="800" b="0">
                          <a:solidFill>
                            <a:srgbClr val="000000"/>
                          </a:solidFill>
                        </a:rPr>
                        <a:t> (142.5;142.7)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lang="en-US" sz="1000" b="0" dirty="0">
                          <a:solidFill>
                            <a:srgbClr val="000000"/>
                          </a:solidFill>
                        </a:rPr>
                        <a:t>Waterlogging</a:t>
                      </a:r>
                      <a:r>
                        <a:rPr sz="1000" b="0" dirty="0">
                          <a:solidFill>
                            <a:srgbClr val="000000"/>
                          </a:solidFill>
                        </a:rPr>
                        <a:t>-</a:t>
                      </a:r>
                      <a:r>
                        <a:rPr sz="1000" b="0" dirty="0" err="1">
                          <a:solidFill>
                            <a:srgbClr val="000000"/>
                          </a:solidFill>
                        </a:rPr>
                        <a:t>ETc</a:t>
                      </a:r>
                      <a:r>
                        <a:rPr sz="1000" b="0" dirty="0">
                          <a:solidFill>
                            <a:srgbClr val="000000"/>
                          </a:solidFill>
                        </a:rPr>
                        <a:t> 100%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139 a</a:t>
                      </a:r>
                      <a:r>
                        <a:rPr sz="800" b="0">
                          <a:solidFill>
                            <a:srgbClr val="000000"/>
                          </a:solidFill>
                        </a:rPr>
                        <a:t> (139; 138)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131 a</a:t>
                      </a:r>
                      <a:r>
                        <a:rPr sz="800" b="0">
                          <a:solidFill>
                            <a:srgbClr val="000000"/>
                          </a:solidFill>
                        </a:rPr>
                        <a:t> (131; 129)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158.0 a</a:t>
                      </a:r>
                      <a:r>
                        <a:rPr sz="800" b="0">
                          <a:solidFill>
                            <a:srgbClr val="000000"/>
                          </a:solidFill>
                        </a:rPr>
                        <a:t> (158.0;157.7)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141.6 a</a:t>
                      </a:r>
                      <a:r>
                        <a:rPr sz="800" b="0">
                          <a:solidFill>
                            <a:srgbClr val="000000"/>
                          </a:solidFill>
                        </a:rPr>
                        <a:t> (142.1;141.2)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lang="en-US" sz="1000" b="0" dirty="0">
                          <a:solidFill>
                            <a:srgbClr val="000000"/>
                          </a:solidFill>
                        </a:rPr>
                        <a:t>Waterlogging</a:t>
                      </a:r>
                      <a:r>
                        <a:rPr sz="1000" b="0" dirty="0">
                          <a:solidFill>
                            <a:srgbClr val="000000"/>
                          </a:solidFill>
                        </a:rPr>
                        <a:t>-</a:t>
                      </a:r>
                      <a:r>
                        <a:rPr sz="1000" b="0" dirty="0" err="1">
                          <a:solidFill>
                            <a:srgbClr val="000000"/>
                          </a:solidFill>
                        </a:rPr>
                        <a:t>ETc</a:t>
                      </a:r>
                      <a:r>
                        <a:rPr sz="1000" b="0" dirty="0">
                          <a:solidFill>
                            <a:srgbClr val="000000"/>
                          </a:solidFill>
                        </a:rPr>
                        <a:t> 50%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–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134 a</a:t>
                      </a:r>
                      <a:r>
                        <a:rPr sz="800" b="0">
                          <a:solidFill>
                            <a:srgbClr val="000000"/>
                          </a:solidFill>
                        </a:rPr>
                        <a:t> (133; 131)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161.6 a</a:t>
                      </a:r>
                      <a:r>
                        <a:rPr sz="800" b="0">
                          <a:solidFill>
                            <a:srgbClr val="000000"/>
                          </a:solidFill>
                        </a:rPr>
                        <a:t> (161.7;162.6)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144.5 a</a:t>
                      </a:r>
                      <a:r>
                        <a:rPr sz="800" b="0">
                          <a:solidFill>
                            <a:srgbClr val="000000"/>
                          </a:solidFill>
                        </a:rPr>
                        <a:t> (144.7;143.4)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</a:rPr>
                        <a:t>W × I P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–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0.059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0.99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0.63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</a:rPr>
                        <a:t>Treatment P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0.002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0.001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0.66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0.92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9" name="Card 요점"/>
          <p:cNvSpPr/>
          <p:nvPr/>
        </p:nvSpPr>
        <p:spPr>
          <a:xfrm>
            <a:off x="7498079" y="1399032"/>
            <a:ext cx="4206240" cy="4133087"/>
          </a:xfrm>
          <a:prstGeom prst="roundRect">
            <a:avLst>
              <a:gd name="adj" fmla="val 3400"/>
            </a:avLst>
          </a:prstGeom>
          <a:solidFill>
            <a:srgbClr val="FBFBFB"/>
          </a:solidFill>
          <a:ln w="12700">
            <a:solidFill>
              <a:srgbClr val="AFAF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Header 요점"/>
          <p:cNvSpPr/>
          <p:nvPr/>
        </p:nvSpPr>
        <p:spPr>
          <a:xfrm>
            <a:off x="7680959" y="1188720"/>
            <a:ext cx="3840479" cy="420624"/>
          </a:xfrm>
          <a:prstGeom prst="roundRect">
            <a:avLst>
              <a:gd name="adj" fmla="val 25000"/>
            </a:avLst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27432" rIns="73152" bIns="27432"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요점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59" y="1783080"/>
            <a:ext cx="3886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01168" indent="-201168">
              <a:spcBef>
                <a:spcPts val="0"/>
              </a:spcBef>
              <a:buFont typeface="Arial"/>
              <a:buChar char="•"/>
            </a:pPr>
            <a:r>
              <a:rPr sz="1400">
                <a:solidFill>
                  <a:srgbClr val="000000"/>
                </a:solidFill>
              </a:rPr>
              <a:t>처리 전 F</a:t>
            </a:r>
            <a:r>
              <a:rPr sz="1400" baseline="-25000">
                <a:solidFill>
                  <a:srgbClr val="000000"/>
                </a:solidFill>
              </a:rPr>
              <a:t>s</a:t>
            </a:r>
            <a:r>
              <a:rPr sz="1400">
                <a:solidFill>
                  <a:srgbClr val="000000"/>
                </a:solidFill>
              </a:rPr>
              <a:t>: 콩 118, 로메인 154</a:t>
            </a:r>
          </a:p>
          <a:p>
            <a:pPr marL="201168" indent="-201168">
              <a:spcBef>
                <a:spcPts val="700"/>
              </a:spcBef>
              <a:buFont typeface="Arial"/>
              <a:buChar char="•"/>
            </a:pPr>
            <a:r>
              <a:rPr sz="1400">
                <a:solidFill>
                  <a:srgbClr val="000000"/>
                </a:solidFill>
              </a:rPr>
              <a:t>콩 P1 침수 139 (a) &gt; 대조구 129 (b), P2 건조·침수·복합 131~134 (a) &gt; 대조구 113 (b)</a:t>
            </a:r>
          </a:p>
          <a:p>
            <a:pPr marL="201168" indent="-201168">
              <a:spcBef>
                <a:spcPts val="700"/>
              </a:spcBef>
              <a:buFont typeface="Arial"/>
              <a:buChar char="•"/>
            </a:pPr>
            <a:r>
              <a:rPr sz="1400">
                <a:solidFill>
                  <a:srgbClr val="000000"/>
                </a:solidFill>
              </a:rPr>
              <a:t>로메인 P1 155~162, P2 142~145: 처리 간 차이 없음 (P=0.66, 0.92) — P1 처리 × 측정일 P=0.046: 날짜마다 순위가 바뀜</a:t>
            </a:r>
          </a:p>
        </p:txBody>
      </p:sp>
      <p:sp>
        <p:nvSpPr>
          <p:cNvPr id="12" name="Conclusion Box"/>
          <p:cNvSpPr/>
          <p:nvPr/>
        </p:nvSpPr>
        <p:spPr>
          <a:xfrm>
            <a:off x="841248" y="5788152"/>
            <a:ext cx="10570464" cy="566928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8575">
            <a:solidFill>
              <a:srgbClr val="AA57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36576" rIns="137160" bIns="36576" rtlCol="0" anchor="ctr"/>
          <a:lstStyle/>
          <a:p>
            <a:pPr algn="ctr"/>
            <a:r>
              <a:rPr sz="1600">
                <a:solidFill>
                  <a:srgbClr val="E97132"/>
                </a:solidFill>
              </a:rPr>
              <a:t>F</a:t>
            </a:r>
            <a:r>
              <a:rPr sz="1600" baseline="-25000">
                <a:solidFill>
                  <a:srgbClr val="E97132"/>
                </a:solidFill>
              </a:rPr>
              <a:t>s</a:t>
            </a:r>
            <a:r>
              <a:rPr sz="1600">
                <a:solidFill>
                  <a:srgbClr val="E97132"/>
                </a:solidFill>
              </a:rPr>
              <a:t> 절대값 차이는 형광 신호 크기 변화를 포함 — 생리 해석은 비율 지표(Φ</a:t>
            </a:r>
            <a:r>
              <a:rPr sz="1600" baseline="-25000">
                <a:solidFill>
                  <a:srgbClr val="E97132"/>
                </a:solidFill>
              </a:rPr>
              <a:t>PSII</a:t>
            </a:r>
            <a:r>
              <a:rPr sz="1600">
                <a:solidFill>
                  <a:srgbClr val="E97132"/>
                </a:solidFill>
              </a:rPr>
              <a:t>, F</a:t>
            </a:r>
            <a:r>
              <a:rPr sz="1600" baseline="-25000">
                <a:solidFill>
                  <a:srgbClr val="E97132"/>
                </a:solidFill>
              </a:rPr>
              <a:t>v</a:t>
            </a:r>
            <a:r>
              <a:rPr sz="1600">
                <a:solidFill>
                  <a:srgbClr val="E97132"/>
                </a:solidFill>
              </a:rPr>
              <a:t>/F</a:t>
            </a:r>
            <a:r>
              <a:rPr sz="1600" baseline="-25000">
                <a:solidFill>
                  <a:srgbClr val="E97132"/>
                </a:solidFill>
              </a:rPr>
              <a:t>m</a:t>
            </a:r>
            <a:r>
              <a:rPr sz="1600">
                <a:solidFill>
                  <a:srgbClr val="E97132"/>
                </a:solidFill>
              </a:rPr>
              <a:t>)로</a:t>
            </a:r>
          </a:p>
        </p:txBody>
      </p:sp>
      <p:sp>
        <p:nvSpPr>
          <p:cNvPr id="13" name="Footnote"/>
          <p:cNvSpPr txBox="1"/>
          <p:nvPr/>
        </p:nvSpPr>
        <p:spPr>
          <a:xfrm>
            <a:off x="457200" y="6473952"/>
            <a:ext cx="8138160" cy="310896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r>
              <a:rPr sz="1000">
                <a:solidFill>
                  <a:srgbClr val="595959"/>
                </a:solidFill>
              </a:rPr>
              <a:t>표: 측정일·선형 PAR(Q</a:t>
            </a:r>
            <a:r>
              <a:rPr sz="1000" baseline="-25000">
                <a:solidFill>
                  <a:srgbClr val="595959"/>
                </a:solidFill>
              </a:rPr>
              <a:t>amb</a:t>
            </a:r>
            <a:r>
              <a:rPr sz="1000">
                <a:solidFill>
                  <a:srgbClr val="595959"/>
                </a:solidFill>
              </a:rPr>
              <a:t>)·기온(T</a:t>
            </a:r>
            <a:r>
              <a:rPr sz="1000" baseline="-25000">
                <a:solidFill>
                  <a:srgbClr val="595959"/>
                </a:solidFill>
              </a:rPr>
              <a:t>air</a:t>
            </a:r>
            <a:r>
              <a:rPr sz="1000">
                <a:solidFill>
                  <a:srgbClr val="595959"/>
                </a:solidFill>
              </a:rPr>
              <a:t>) 보정 평균, Tukey 문자, 괄호 = (PAR만 보정; 원 평균). 공통 측정일만 사용(로메인 P1 = DAT 5~10). W × I = 침수 × 관수 상호작용. 그림(보정 일평균): 음영 ± SE, 점선 P1/P2 경계, 회색 띠 흐린 날, * 당일 P&lt;0.05(Holm), X 처리 전.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50686"/>
            <a:ext cx="10515600" cy="950797"/>
          </a:xfrm>
        </p:spPr>
        <p:txBody>
          <a:bodyPr>
            <a:normAutofit/>
          </a:bodyPr>
          <a:lstStyle/>
          <a:p>
            <a:r>
              <a:rPr lang="en-US" altLang="ko-KR" sz="2400" dirty="0">
                <a:latin typeface="Times New Roman"/>
                <a:cs typeface="Times New Roman"/>
              </a:rPr>
              <a:t>Chlorophyll fluorescence</a:t>
            </a:r>
            <a:br>
              <a:rPr lang="en-US" altLang="ko-KR" sz="2800" dirty="0"/>
            </a:br>
            <a:r>
              <a:rPr lang="ko-KR" altLang="en-US" sz="3200" dirty="0"/>
              <a:t>전자전달속도 (ETR): 실제 값 비교</a:t>
            </a:r>
          </a:p>
        </p:txBody>
      </p:sp>
      <p:pic>
        <p:nvPicPr>
          <p:cNvPr id="3" name="Logo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9058" y="129246"/>
            <a:ext cx="2242456" cy="729364"/>
          </a:xfrm>
          <a:prstGeom prst="rect">
            <a:avLst/>
          </a:prstGeom>
        </p:spPr>
      </p:pic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98FA03D2-03B7-0D84-2206-40CA69A8D76A}"/>
              </a:ext>
            </a:extLst>
          </p:cNvPr>
          <p:cNvCxnSpPr>
            <a:cxnSpLocks/>
          </p:cNvCxnSpPr>
          <p:nvPr/>
        </p:nvCxnSpPr>
        <p:spPr>
          <a:xfrm>
            <a:off x="783772" y="1002621"/>
            <a:ext cx="10624457" cy="0"/>
          </a:xfrm>
          <a:prstGeom prst="line">
            <a:avLst/>
          </a:prstGeom>
          <a:ln w="571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D96D3AE-CC3D-A909-29AD-1EF41A97CF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BCED27-B7FD-4F82-BD12-1C1B2F10C096}" type="slidenum">
              <a:rPr lang="ko-KR" altLang="en-US" smtClean="0"/>
              <a:t>14</a:t>
            </a:fld>
            <a:endParaRPr lang="ko-KR" altLang="en-US"/>
          </a:p>
        </p:txBody>
      </p:sp>
      <p:pic>
        <p:nvPicPr>
          <p:cNvPr id="14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188720"/>
            <a:ext cx="6903720" cy="2570534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2298316"/>
              </p:ext>
            </p:extLst>
          </p:nvPr>
        </p:nvGraphicFramePr>
        <p:xfrm>
          <a:off x="457200" y="3931920"/>
          <a:ext cx="6858000" cy="1792224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1000" b="1" dirty="0">
                          <a:solidFill>
                            <a:srgbClr val="000000"/>
                          </a:solidFill>
                        </a:rPr>
                        <a:t>Treatment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solidFill>
                            <a:srgbClr val="000000"/>
                          </a:solidFill>
                        </a:rPr>
                        <a:t>Soybean</a:t>
                      </a:r>
                      <a:r>
                        <a:rPr sz="1000" b="1" dirty="0">
                          <a:solidFill>
                            <a:srgbClr val="000000"/>
                          </a:solidFill>
                        </a:rPr>
                        <a:t> P1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solidFill>
                            <a:srgbClr val="000000"/>
                          </a:solidFill>
                        </a:rPr>
                        <a:t>Soybean</a:t>
                      </a:r>
                      <a:r>
                        <a:rPr sz="1000" b="1" dirty="0">
                          <a:solidFill>
                            <a:srgbClr val="000000"/>
                          </a:solidFill>
                        </a:rPr>
                        <a:t> P2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00000"/>
                          </a:solidFill>
                        </a:rPr>
                        <a:t>Romaine P1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00000"/>
                          </a:solidFill>
                        </a:rPr>
                        <a:t>Romaine P2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</a:rPr>
                        <a:t>ETc 100%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119 a</a:t>
                      </a:r>
                      <a:r>
                        <a:rPr sz="800" b="0">
                          <a:solidFill>
                            <a:srgbClr val="000000"/>
                          </a:solidFill>
                        </a:rPr>
                        <a:t> (116; 121)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190 a</a:t>
                      </a:r>
                      <a:r>
                        <a:rPr sz="800" b="0">
                          <a:solidFill>
                            <a:srgbClr val="000000"/>
                          </a:solidFill>
                        </a:rPr>
                        <a:t> (189; 170)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141.7 a</a:t>
                      </a:r>
                      <a:r>
                        <a:rPr sz="800" b="0">
                          <a:solidFill>
                            <a:srgbClr val="000000"/>
                          </a:solidFill>
                        </a:rPr>
                        <a:t> (141.5;147.1)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75.6 a</a:t>
                      </a:r>
                      <a:r>
                        <a:rPr sz="800" b="0">
                          <a:solidFill>
                            <a:srgbClr val="000000"/>
                          </a:solidFill>
                        </a:rPr>
                        <a:t> (76.4;72.3)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1270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</a:rPr>
                        <a:t>ETc 50%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–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146 c</a:t>
                      </a:r>
                      <a:r>
                        <a:rPr sz="800" b="0">
                          <a:solidFill>
                            <a:srgbClr val="000000"/>
                          </a:solidFill>
                        </a:rPr>
                        <a:t> (146; 154)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137.8 a</a:t>
                      </a:r>
                      <a:r>
                        <a:rPr sz="800" b="0">
                          <a:solidFill>
                            <a:srgbClr val="000000"/>
                          </a:solidFill>
                        </a:rPr>
                        <a:t> (137.8;129.8)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78.3 a</a:t>
                      </a:r>
                      <a:r>
                        <a:rPr sz="800" b="0">
                          <a:solidFill>
                            <a:srgbClr val="000000"/>
                          </a:solidFill>
                        </a:rPr>
                        <a:t> (79.0;75.5)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lang="en-US" sz="1000" b="0" dirty="0">
                          <a:solidFill>
                            <a:srgbClr val="000000"/>
                          </a:solidFill>
                        </a:rPr>
                        <a:t>Waterlogging</a:t>
                      </a:r>
                      <a:r>
                        <a:rPr sz="1000" b="0" dirty="0">
                          <a:solidFill>
                            <a:srgbClr val="000000"/>
                          </a:solidFill>
                        </a:rPr>
                        <a:t>-</a:t>
                      </a:r>
                      <a:r>
                        <a:rPr sz="1000" b="0" dirty="0" err="1">
                          <a:solidFill>
                            <a:srgbClr val="000000"/>
                          </a:solidFill>
                        </a:rPr>
                        <a:t>ETc</a:t>
                      </a:r>
                      <a:r>
                        <a:rPr sz="1000" b="0" dirty="0">
                          <a:solidFill>
                            <a:srgbClr val="000000"/>
                          </a:solidFill>
                        </a:rPr>
                        <a:t> 100%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110 b</a:t>
                      </a:r>
                      <a:r>
                        <a:rPr sz="800" b="0">
                          <a:solidFill>
                            <a:srgbClr val="000000"/>
                          </a:solidFill>
                        </a:rPr>
                        <a:t> (111; 109)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180 ab</a:t>
                      </a:r>
                      <a:r>
                        <a:rPr sz="800" b="0">
                          <a:solidFill>
                            <a:srgbClr val="000000"/>
                          </a:solidFill>
                        </a:rPr>
                        <a:t> (180; 175)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132.7 a</a:t>
                      </a:r>
                      <a:r>
                        <a:rPr sz="800" b="0">
                          <a:solidFill>
                            <a:srgbClr val="000000"/>
                          </a:solidFill>
                        </a:rPr>
                        <a:t> (132.7;130.8)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72.7 a</a:t>
                      </a:r>
                      <a:r>
                        <a:rPr sz="800" b="0">
                          <a:solidFill>
                            <a:srgbClr val="000000"/>
                          </a:solidFill>
                        </a:rPr>
                        <a:t> (73.2;75.6)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lang="en-US" sz="1000" b="0" dirty="0">
                          <a:solidFill>
                            <a:srgbClr val="000000"/>
                          </a:solidFill>
                        </a:rPr>
                        <a:t>Waterlogging</a:t>
                      </a:r>
                      <a:r>
                        <a:rPr sz="1000" b="0" dirty="0">
                          <a:solidFill>
                            <a:srgbClr val="000000"/>
                          </a:solidFill>
                        </a:rPr>
                        <a:t>-</a:t>
                      </a:r>
                      <a:r>
                        <a:rPr sz="1000" b="0" dirty="0" err="1">
                          <a:solidFill>
                            <a:srgbClr val="000000"/>
                          </a:solidFill>
                        </a:rPr>
                        <a:t>ETc</a:t>
                      </a:r>
                      <a:r>
                        <a:rPr sz="1000" b="0" dirty="0">
                          <a:solidFill>
                            <a:srgbClr val="000000"/>
                          </a:solidFill>
                        </a:rPr>
                        <a:t> 50%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–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165 bc</a:t>
                      </a:r>
                      <a:r>
                        <a:rPr sz="800" b="0">
                          <a:solidFill>
                            <a:srgbClr val="000000"/>
                          </a:solidFill>
                        </a:rPr>
                        <a:t> (165; 152)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130.1 a</a:t>
                      </a:r>
                      <a:r>
                        <a:rPr sz="800" b="0">
                          <a:solidFill>
                            <a:srgbClr val="000000"/>
                          </a:solidFill>
                        </a:rPr>
                        <a:t> (130.2;134.5)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80.4 a</a:t>
                      </a:r>
                      <a:r>
                        <a:rPr sz="800" b="0">
                          <a:solidFill>
                            <a:srgbClr val="000000"/>
                          </a:solidFill>
                        </a:rPr>
                        <a:t> (80.5;85.6)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</a:rPr>
                        <a:t>W × I P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–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0.036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0.84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0.56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</a:rPr>
                        <a:t>Treatment P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0.021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&lt;0.001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0.060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0.61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9" name="Card 요점"/>
          <p:cNvSpPr/>
          <p:nvPr/>
        </p:nvSpPr>
        <p:spPr>
          <a:xfrm>
            <a:off x="7498079" y="1399032"/>
            <a:ext cx="4206240" cy="4133087"/>
          </a:xfrm>
          <a:prstGeom prst="roundRect">
            <a:avLst>
              <a:gd name="adj" fmla="val 3400"/>
            </a:avLst>
          </a:prstGeom>
          <a:solidFill>
            <a:srgbClr val="FBFBFB"/>
          </a:solidFill>
          <a:ln w="12700">
            <a:solidFill>
              <a:srgbClr val="AFAF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Header 요점"/>
          <p:cNvSpPr/>
          <p:nvPr/>
        </p:nvSpPr>
        <p:spPr>
          <a:xfrm>
            <a:off x="7680959" y="1188720"/>
            <a:ext cx="3840479" cy="420624"/>
          </a:xfrm>
          <a:prstGeom prst="roundRect">
            <a:avLst>
              <a:gd name="adj" fmla="val 25000"/>
            </a:avLst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27432" rIns="73152" bIns="27432"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요점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59" y="1783080"/>
            <a:ext cx="3886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01168" indent="-201168">
              <a:spcBef>
                <a:spcPts val="0"/>
              </a:spcBef>
              <a:buFont typeface="Arial"/>
              <a:buChar char="•"/>
            </a:pPr>
            <a:r>
              <a:rPr sz="1400">
                <a:solidFill>
                  <a:srgbClr val="000000"/>
                </a:solidFill>
              </a:rPr>
              <a:t>처리 전 ETR: 콩 187 (로메인은 그림의 × 참조)</a:t>
            </a:r>
          </a:p>
          <a:p>
            <a:pPr marL="201168" indent="-201168">
              <a:spcBef>
                <a:spcPts val="700"/>
              </a:spcBef>
              <a:buFont typeface="Arial"/>
              <a:buChar char="•"/>
            </a:pPr>
            <a:r>
              <a:rPr sz="1400">
                <a:solidFill>
                  <a:srgbClr val="000000"/>
                </a:solidFill>
              </a:rPr>
              <a:t>콩 P1 대조구 119 (a) vs 침수 110 (b) (P=0.021, 광도·기온 보정 방식에 따라 유의성이 달라짐), P2 대조구 190 (a) &gt; 복합 165 (bc) &gt; 건조 146 (c) (W × I P=0.036)</a:t>
            </a:r>
          </a:p>
          <a:p>
            <a:pPr marL="201168" indent="-201168">
              <a:spcBef>
                <a:spcPts val="700"/>
              </a:spcBef>
              <a:buFont typeface="Arial"/>
              <a:buChar char="•"/>
            </a:pPr>
            <a:r>
              <a:rPr sz="1400">
                <a:solidFill>
                  <a:srgbClr val="000000"/>
                </a:solidFill>
              </a:rPr>
              <a:t>로메인 P1 대조구 142 &gt; 침수 133·복합 130 (침수 효과 P=0.011, 처리 P=0.060; 측정일 반복 n.s., P=0.46), P2 차이 없음 (P=0.61)</a:t>
            </a:r>
          </a:p>
          <a:p>
            <a:pPr marL="201168" indent="-201168">
              <a:spcBef>
                <a:spcPts val="700"/>
              </a:spcBef>
              <a:buFont typeface="Arial"/>
              <a:buChar char="•"/>
            </a:pPr>
            <a:r>
              <a:rPr sz="1400">
                <a:solidFill>
                  <a:srgbClr val="000000"/>
                </a:solidFill>
              </a:rPr>
              <a:t>ETR은 측정 당시 광도(PPFD)에 의존 — 광도 보정 평균으로 비교</a:t>
            </a:r>
          </a:p>
        </p:txBody>
      </p:sp>
      <p:sp>
        <p:nvSpPr>
          <p:cNvPr id="12" name="Conclusion Box"/>
          <p:cNvSpPr/>
          <p:nvPr/>
        </p:nvSpPr>
        <p:spPr>
          <a:xfrm>
            <a:off x="841248" y="5788152"/>
            <a:ext cx="10570464" cy="566928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8575">
            <a:solidFill>
              <a:srgbClr val="AA57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36576" rIns="137160" bIns="36576" rtlCol="0" anchor="ctr"/>
          <a:lstStyle/>
          <a:p>
            <a:pPr algn="ctr"/>
            <a:r>
              <a:rPr sz="1600">
                <a:solidFill>
                  <a:srgbClr val="E97132"/>
                </a:solidFill>
              </a:rPr>
              <a:t>ETR은 광도에 비례 — 콩 P2 처리 차이는 Φ</a:t>
            </a:r>
            <a:r>
              <a:rPr sz="1600" baseline="-25000">
                <a:solidFill>
                  <a:srgbClr val="E97132"/>
                </a:solidFill>
              </a:rPr>
              <a:t>PSII</a:t>
            </a:r>
            <a:r>
              <a:rPr sz="1600">
                <a:solidFill>
                  <a:srgbClr val="E97132"/>
                </a:solidFill>
              </a:rPr>
              <a:t>와 같이 고광도에서 커짐 (보정 평균은 참고)</a:t>
            </a:r>
          </a:p>
        </p:txBody>
      </p:sp>
      <p:sp>
        <p:nvSpPr>
          <p:cNvPr id="13" name="Footnote"/>
          <p:cNvSpPr txBox="1"/>
          <p:nvPr/>
        </p:nvSpPr>
        <p:spPr>
          <a:xfrm>
            <a:off x="457200" y="6473952"/>
            <a:ext cx="8138160" cy="310896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r>
              <a:rPr sz="1000">
                <a:solidFill>
                  <a:srgbClr val="595959"/>
                </a:solidFill>
              </a:rPr>
              <a:t>표: 측정일·선형 PAR(Q</a:t>
            </a:r>
            <a:r>
              <a:rPr sz="1000" baseline="-25000">
                <a:solidFill>
                  <a:srgbClr val="595959"/>
                </a:solidFill>
              </a:rPr>
              <a:t>amb</a:t>
            </a:r>
            <a:r>
              <a:rPr sz="1000">
                <a:solidFill>
                  <a:srgbClr val="595959"/>
                </a:solidFill>
              </a:rPr>
              <a:t>)·기온(T</a:t>
            </a:r>
            <a:r>
              <a:rPr sz="1000" baseline="-25000">
                <a:solidFill>
                  <a:srgbClr val="595959"/>
                </a:solidFill>
              </a:rPr>
              <a:t>air</a:t>
            </a:r>
            <a:r>
              <a:rPr sz="1000">
                <a:solidFill>
                  <a:srgbClr val="595959"/>
                </a:solidFill>
              </a:rPr>
              <a:t>) 보정 평균, Tukey 문자, 괄호 = (PAR만 보정; 원 평균). 공통 측정일만 사용(로메인 P1 = DAT 5~10). W × I = 침수 × 관수 상호작용. 그림(보정 일평균): 음영 ± SE, 점선 P1/P2 경계, 회색 띠 흐린 날, * 당일 P&lt;0.05(Holm), X 처리 전.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50686"/>
            <a:ext cx="10515600" cy="950797"/>
          </a:xfrm>
        </p:spPr>
        <p:txBody>
          <a:bodyPr>
            <a:normAutofit/>
          </a:bodyPr>
          <a:lstStyle/>
          <a:p>
            <a:r>
              <a:rPr lang="en-US" altLang="ko-KR" sz="2400" dirty="0">
                <a:latin typeface="Times New Roman"/>
                <a:cs typeface="Times New Roman"/>
              </a:rPr>
              <a:t>Chlorophyll fluorescence</a:t>
            </a:r>
            <a:br>
              <a:rPr lang="en-US" altLang="ko-KR" sz="2800" dirty="0"/>
            </a:br>
            <a:r>
              <a:rPr lang="ko-KR" altLang="en-US" sz="3200" dirty="0"/>
              <a:t>광계 II 손상과 형광 신호 크기</a:t>
            </a:r>
          </a:p>
        </p:txBody>
      </p:sp>
      <p:pic>
        <p:nvPicPr>
          <p:cNvPr id="3" name="Logo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9058" y="129246"/>
            <a:ext cx="2242456" cy="729364"/>
          </a:xfrm>
          <a:prstGeom prst="rect">
            <a:avLst/>
          </a:prstGeom>
        </p:spPr>
      </p:pic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98FA03D2-03B7-0D84-2206-40CA69A8D76A}"/>
              </a:ext>
            </a:extLst>
          </p:cNvPr>
          <p:cNvCxnSpPr>
            <a:cxnSpLocks/>
          </p:cNvCxnSpPr>
          <p:nvPr/>
        </p:nvCxnSpPr>
        <p:spPr>
          <a:xfrm>
            <a:off x="783772" y="1002621"/>
            <a:ext cx="10624457" cy="0"/>
          </a:xfrm>
          <a:prstGeom prst="line">
            <a:avLst/>
          </a:prstGeom>
          <a:ln w="571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D96D3AE-CC3D-A909-29AD-1EF41A97CF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BCED27-B7FD-4F82-BD12-1C1B2F10C096}" type="slidenum">
              <a:rPr lang="ko-KR" altLang="en-US" smtClean="0"/>
              <a:t>15</a:t>
            </a:fld>
            <a:endParaRPr lang="ko-KR" altLang="en-US"/>
          </a:p>
        </p:txBody>
      </p:sp>
      <p:pic>
        <p:nvPicPr>
          <p:cNvPr id="14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188720"/>
            <a:ext cx="6903720" cy="2465614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9991450"/>
              </p:ext>
            </p:extLst>
          </p:nvPr>
        </p:nvGraphicFramePr>
        <p:xfrm>
          <a:off x="457200" y="3931920"/>
          <a:ext cx="7635240" cy="1536192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3803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9149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1000" b="1" dirty="0">
                          <a:solidFill>
                            <a:srgbClr val="000000"/>
                          </a:solidFill>
                        </a:rPr>
                        <a:t>Romaine P1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00000"/>
                          </a:solidFill>
                        </a:rPr>
                        <a:t>F</a:t>
                      </a:r>
                      <a:r>
                        <a:rPr sz="1000" b="1" baseline="-25000">
                          <a:solidFill>
                            <a:srgbClr val="000000"/>
                          </a:solidFill>
                        </a:rPr>
                        <a:t>s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00000"/>
                          </a:solidFill>
                        </a:rPr>
                        <a:t>F</a:t>
                      </a:r>
                      <a:r>
                        <a:rPr sz="1000" b="1" baseline="-25000">
                          <a:solidFill>
                            <a:srgbClr val="000000"/>
                          </a:solidFill>
                        </a:rPr>
                        <a:t>m</a:t>
                      </a:r>
                      <a:r>
                        <a:rPr sz="1000" b="1">
                          <a:solidFill>
                            <a:srgbClr val="000000"/>
                          </a:solidFill>
                        </a:rPr>
                        <a:t>′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00000"/>
                          </a:solidFill>
                        </a:rPr>
                        <a:t>F</a:t>
                      </a:r>
                      <a:r>
                        <a:rPr sz="1000" b="1" baseline="-25000">
                          <a:solidFill>
                            <a:srgbClr val="000000"/>
                          </a:solidFill>
                        </a:rPr>
                        <a:t>m</a:t>
                      </a:r>
                      <a:r>
                        <a:rPr sz="1000" b="1">
                          <a:solidFill>
                            <a:srgbClr val="000000"/>
                          </a:solidFill>
                        </a:rPr>
                        <a:t> (dark)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00000"/>
                          </a:solidFill>
                        </a:rPr>
                        <a:t>F</a:t>
                      </a:r>
                      <a:r>
                        <a:rPr sz="1000" b="1" baseline="-25000">
                          <a:solidFill>
                            <a:srgbClr val="000000"/>
                          </a:solidFill>
                        </a:rPr>
                        <a:t>m</a:t>
                      </a:r>
                      <a:r>
                        <a:rPr sz="1000" b="1">
                          <a:solidFill>
                            <a:srgbClr val="000000"/>
                          </a:solidFill>
                        </a:rPr>
                        <a:t>′/F</a:t>
                      </a:r>
                      <a:r>
                        <a:rPr sz="1000" b="1" baseline="-25000">
                          <a:solidFill>
                            <a:srgbClr val="000000"/>
                          </a:solidFill>
                        </a:rPr>
                        <a:t>s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</a:rPr>
                        <a:t>ETc 100%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155</a:t>
                      </a:r>
                      <a:r>
                        <a:rPr sz="800" b="0">
                          <a:solidFill>
                            <a:srgbClr val="000000"/>
                          </a:solidFill>
                        </a:rPr>
                        <a:t> (100%) a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458</a:t>
                      </a:r>
                      <a:r>
                        <a:rPr sz="800" b="0">
                          <a:solidFill>
                            <a:srgbClr val="000000"/>
                          </a:solidFill>
                        </a:rPr>
                        <a:t> (100%) a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655 (100%) a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3.06</a:t>
                      </a:r>
                      <a:r>
                        <a:rPr sz="800" b="0">
                          <a:solidFill>
                            <a:srgbClr val="000000"/>
                          </a:solidFill>
                        </a:rPr>
                        <a:t> (100%) a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1270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1000" b="0" dirty="0" err="1">
                          <a:solidFill>
                            <a:srgbClr val="000000"/>
                          </a:solidFill>
                        </a:rPr>
                        <a:t>ETc 50%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158</a:t>
                      </a:r>
                      <a:r>
                        <a:rPr sz="800" b="0">
                          <a:solidFill>
                            <a:srgbClr val="000000"/>
                          </a:solidFill>
                        </a:rPr>
                        <a:t> (102%) a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449</a:t>
                      </a:r>
                      <a:r>
                        <a:rPr sz="800" b="0">
                          <a:solidFill>
                            <a:srgbClr val="000000"/>
                          </a:solidFill>
                        </a:rPr>
                        <a:t> (98%) a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653 (100%) a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2.96</a:t>
                      </a:r>
                      <a:r>
                        <a:rPr sz="800" b="0">
                          <a:solidFill>
                            <a:srgbClr val="000000"/>
                          </a:solidFill>
                        </a:rPr>
                        <a:t> (97%) a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lang="en-US" sz="900" b="0" dirty="0">
                          <a:solidFill>
                            <a:srgbClr val="000000"/>
                          </a:solidFill>
                        </a:rPr>
                        <a:t>Waterlogging-ETc 100%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156</a:t>
                      </a:r>
                      <a:r>
                        <a:rPr sz="800" b="0">
                          <a:solidFill>
                            <a:srgbClr val="000000"/>
                          </a:solidFill>
                        </a:rPr>
                        <a:t> (100%) a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443</a:t>
                      </a:r>
                      <a:r>
                        <a:rPr sz="800" b="0">
                          <a:solidFill>
                            <a:srgbClr val="000000"/>
                          </a:solidFill>
                        </a:rPr>
                        <a:t> (97%) a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636 (97%) a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2.98</a:t>
                      </a:r>
                      <a:r>
                        <a:rPr sz="800" b="0">
                          <a:solidFill>
                            <a:srgbClr val="000000"/>
                          </a:solidFill>
                        </a:rPr>
                        <a:t> (98%) a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lang="en-US" sz="900" b="0" dirty="0">
                          <a:solidFill>
                            <a:srgbClr val="000000"/>
                          </a:solidFill>
                        </a:rPr>
                        <a:t>Waterlogging-ETc 50%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160</a:t>
                      </a:r>
                      <a:r>
                        <a:rPr sz="800" b="0">
                          <a:solidFill>
                            <a:srgbClr val="000000"/>
                          </a:solidFill>
                        </a:rPr>
                        <a:t> (103%) a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452</a:t>
                      </a:r>
                      <a:r>
                        <a:rPr sz="800" b="0">
                          <a:solidFill>
                            <a:srgbClr val="000000"/>
                          </a:solidFill>
                        </a:rPr>
                        <a:t> (99%) a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657 (100%) a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2.95</a:t>
                      </a:r>
                      <a:r>
                        <a:rPr sz="800" b="0">
                          <a:solidFill>
                            <a:srgbClr val="000000"/>
                          </a:solidFill>
                        </a:rPr>
                        <a:t> (97%) a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</a:rPr>
                        <a:t>P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0.77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0.73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0.11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dirty="0" err="1">
                          <a:solidFill>
                            <a:srgbClr val="000000"/>
                          </a:solidFill>
                        </a:rPr>
                        <a:t>0.78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Card 요점"/>
          <p:cNvSpPr/>
          <p:nvPr/>
        </p:nvSpPr>
        <p:spPr>
          <a:xfrm>
            <a:off x="8275320" y="1399032"/>
            <a:ext cx="3429000" cy="4133087"/>
          </a:xfrm>
          <a:prstGeom prst="roundRect">
            <a:avLst>
              <a:gd name="adj" fmla="val 3400"/>
            </a:avLst>
          </a:prstGeom>
          <a:solidFill>
            <a:srgbClr val="FBFBFB"/>
          </a:solidFill>
          <a:ln w="12700">
            <a:solidFill>
              <a:srgbClr val="AFAF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Header 요점"/>
          <p:cNvSpPr/>
          <p:nvPr/>
        </p:nvSpPr>
        <p:spPr>
          <a:xfrm>
            <a:off x="8458200" y="1188720"/>
            <a:ext cx="3063240" cy="420624"/>
          </a:xfrm>
          <a:prstGeom prst="roundRect">
            <a:avLst>
              <a:gd name="adj" fmla="val 25000"/>
            </a:avLst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27432" rIns="73152" bIns="27432"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요점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58200" y="1783080"/>
            <a:ext cx="31546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01168" indent="-201168" algn="l">
              <a:spcBef>
                <a:spcPts val="0"/>
              </a:spcBef>
              <a:buFont typeface="Arial"/>
              <a:buChar char="•"/>
            </a:pPr>
            <a:r>
              <a:rPr lang="ko-KR" altLang="en-US" sz="1100" dirty="0">
                <a:solidFill>
                  <a:srgbClr val="000000"/>
                </a:solidFill>
              </a:rPr>
              <a:t>콩 침수 F</a:t>
            </a:r>
            <a:r>
              <a:rPr lang="ko-KR" altLang="en-US" sz="1100" dirty="0" baseline="-25000">
                <a:solidFill>
                  <a:srgbClr val="000000"/>
                </a:solidFill>
              </a:rPr>
              <a:t>v</a:t>
            </a:r>
            <a:r>
              <a:rPr lang="ko-KR" altLang="en-US" sz="1100" dirty="0">
                <a:solidFill>
                  <a:srgbClr val="000000"/>
                </a:solidFill>
              </a:rPr>
              <a:t>/F</a:t>
            </a:r>
            <a:r>
              <a:rPr lang="ko-KR" altLang="en-US" sz="1100" dirty="0" baseline="-25000">
                <a:solidFill>
                  <a:srgbClr val="000000"/>
                </a:solidFill>
              </a:rPr>
              <a:t>m</a:t>
            </a:r>
            <a:r>
              <a:rPr lang="ko-KR" altLang="en-US" sz="1100" dirty="0">
                <a:solidFill>
                  <a:srgbClr val="000000"/>
                </a:solidFill>
              </a:rPr>
              <a:t>: DAT 5~8에 0.82~0.83 &lt; 대조구 0.84 — 경미·일시적</a:t>
            </a:r>
          </a:p>
          <a:p>
            <a:pPr marL="201168" indent="-201168" algn="l">
              <a:spcBef>
                <a:spcPts val="600"/>
              </a:spcBef>
              <a:buFont typeface="Arial"/>
              <a:buChar char="•"/>
            </a:pPr>
            <a:r>
              <a:rPr lang="ko-KR" altLang="en-US" sz="1100" dirty="0">
                <a:solidFill>
                  <a:srgbClr val="000000"/>
                </a:solidFill>
              </a:rPr>
              <a:t>로메인 침수 중 F</a:t>
            </a:r>
            <a:r>
              <a:rPr lang="ko-KR" altLang="en-US" sz="1100" dirty="0" baseline="-25000">
                <a:solidFill>
                  <a:srgbClr val="000000"/>
                </a:solidFill>
              </a:rPr>
              <a:t>v</a:t>
            </a:r>
            <a:r>
              <a:rPr lang="ko-KR" altLang="en-US" sz="1100" dirty="0">
                <a:solidFill>
                  <a:srgbClr val="000000"/>
                </a:solidFill>
              </a:rPr>
              <a:t>/F</a:t>
            </a:r>
            <a:r>
              <a:rPr lang="ko-KR" altLang="en-US" sz="1100" dirty="0" baseline="-25000">
                <a:solidFill>
                  <a:srgbClr val="000000"/>
                </a:solidFill>
              </a:rPr>
              <a:t>m</a:t>
            </a:r>
            <a:r>
              <a:rPr lang="ko-KR" altLang="en-US" sz="1100" dirty="0">
                <a:solidFill>
                  <a:srgbClr val="000000"/>
                </a:solidFill>
              </a:rPr>
              <a:t> 0.820~0.822 &lt; 대조구 0.827~0.831 (DAT 2~4, Holm 후 n.s.), DAT 6 침수 0.812 &lt; 대조 0.828 (Holm P=0.047)</a:t>
            </a:r>
          </a:p>
          <a:p>
            <a:pPr marL="201168" indent="-201168" algn="l">
              <a:spcBef>
                <a:spcPts val="600"/>
              </a:spcBef>
              <a:buFont typeface="Arial"/>
              <a:buChar char="•"/>
            </a:pPr>
            <a:r>
              <a:rPr lang="ko-KR" altLang="en-US" sz="1100" dirty="0">
                <a:solidFill>
                  <a:srgbClr val="000000"/>
                </a:solidFill>
              </a:rPr>
              <a:t>로메인 P1 신호 크기(F</a:t>
            </a:r>
            <a:r>
              <a:rPr lang="ko-KR" altLang="en-US" sz="1100" dirty="0" baseline="-25000">
                <a:solidFill>
                  <a:srgbClr val="000000"/>
                </a:solidFill>
              </a:rPr>
              <a:t>s</a:t>
            </a:r>
            <a:r>
              <a:rPr lang="ko-KR" altLang="en-US" sz="1100" dirty="0">
                <a:solidFill>
                  <a:srgbClr val="000000"/>
                </a:solidFill>
              </a:rPr>
              <a:t>·F</a:t>
            </a:r>
            <a:r>
              <a:rPr lang="ko-KR" altLang="en-US" sz="1100" dirty="0" baseline="-25000">
                <a:solidFill>
                  <a:srgbClr val="000000"/>
                </a:solidFill>
              </a:rPr>
              <a:t>m</a:t>
            </a:r>
            <a:r>
              <a:rPr lang="ko-KR" altLang="en-US" sz="1100" dirty="0">
                <a:solidFill>
                  <a:srgbClr val="000000"/>
                </a:solidFill>
              </a:rPr>
              <a:t>′·F</a:t>
            </a:r>
            <a:r>
              <a:rPr lang="ko-KR" altLang="en-US" sz="1100" dirty="0" baseline="-25000">
                <a:solidFill>
                  <a:srgbClr val="000000"/>
                </a:solidFill>
              </a:rPr>
              <a:t>m</a:t>
            </a:r>
            <a:r>
              <a:rPr lang="ko-KR" altLang="en-US" sz="1100" dirty="0">
                <a:solidFill>
                  <a:srgbClr val="000000"/>
                </a:solidFill>
              </a:rPr>
              <a:t>·F</a:t>
            </a:r>
            <a:r>
              <a:rPr lang="ko-KR" altLang="en-US" sz="1100" dirty="0" baseline="-25000">
                <a:solidFill>
                  <a:srgbClr val="000000"/>
                </a:solidFill>
              </a:rPr>
              <a:t>m</a:t>
            </a:r>
            <a:r>
              <a:rPr lang="ko-KR" altLang="en-US" sz="1100" dirty="0">
                <a:solidFill>
                  <a:srgbClr val="000000"/>
                </a:solidFill>
              </a:rPr>
              <a:t>′/F</a:t>
            </a:r>
            <a:r>
              <a:rPr lang="ko-KR" altLang="en-US" sz="1100" dirty="0" baseline="-25000">
                <a:solidFill>
                  <a:srgbClr val="000000"/>
                </a:solidFill>
              </a:rPr>
              <a:t>s</a:t>
            </a:r>
            <a:r>
              <a:rPr lang="ko-KR" altLang="en-US" sz="1100" dirty="0">
                <a:solidFill>
                  <a:srgbClr val="000000"/>
                </a:solidFill>
              </a:rPr>
              <a:t>) 차이 없음 (P≥0.11), F</a:t>
            </a:r>
            <a:r>
              <a:rPr lang="ko-KR" altLang="en-US" sz="1100" dirty="0" baseline="-25000">
                <a:solidFill>
                  <a:srgbClr val="000000"/>
                </a:solidFill>
              </a:rPr>
              <a:t>v</a:t>
            </a:r>
            <a:r>
              <a:rPr lang="ko-KR" altLang="en-US" sz="1100" dirty="0">
                <a:solidFill>
                  <a:srgbClr val="000000"/>
                </a:solidFill>
              </a:rPr>
              <a:t>/F</a:t>
            </a:r>
            <a:r>
              <a:rPr lang="ko-KR" altLang="en-US" sz="1100" dirty="0" baseline="-25000">
                <a:solidFill>
                  <a:srgbClr val="000000"/>
                </a:solidFill>
              </a:rPr>
              <a:t>m</a:t>
            </a:r>
            <a:r>
              <a:rPr lang="ko-KR" altLang="en-US" sz="1100" dirty="0">
                <a:solidFill>
                  <a:srgbClr val="000000"/>
                </a:solidFill>
              </a:rPr>
              <a:t> 감소 ≈1%로 모두 0.80 이상</a:t>
            </a:r>
          </a:p>
          <a:p>
            <a:pPr marL="201168" indent="-201168" algn="l">
              <a:spcBef>
                <a:spcPts val="600"/>
              </a:spcBef>
              <a:buFont typeface="Arial"/>
              <a:buChar char="•"/>
            </a:pPr>
            <a:r>
              <a:rPr lang="ko-KR" altLang="en-US" sz="1100" dirty="0">
                <a:solidFill>
                  <a:srgbClr val="000000"/>
                </a:solidFill>
              </a:rPr>
              <a:t>콩 ΦNO·NPQ → 광도·측정일 의존이 커 본 자료에서 제외</a:t>
            </a:r>
          </a:p>
        </p:txBody>
      </p:sp>
      <p:sp>
        <p:nvSpPr>
          <p:cNvPr id="12" name="Conclusion Box"/>
          <p:cNvSpPr/>
          <p:nvPr/>
        </p:nvSpPr>
        <p:spPr>
          <a:xfrm>
            <a:off x="841248" y="5788152"/>
            <a:ext cx="10570464" cy="566928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8575">
            <a:solidFill>
              <a:srgbClr val="AA57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36576" rIns="137160" bIns="36576" rtlCol="0" anchor="ctr"/>
          <a:lstStyle/>
          <a:p>
            <a:pPr algn="ctr"/>
            <a:r>
              <a:rPr sz="1600">
                <a:solidFill>
                  <a:srgbClr val="E97132"/>
                </a:solidFill>
              </a:rPr>
              <a:t>광계 II 손상은 콩·로메인 모두 침수 직후 경미·일시적 — 로메인 형광 신호 크기 변화 없음</a:t>
            </a:r>
          </a:p>
        </p:txBody>
      </p:sp>
      <p:sp>
        <p:nvSpPr>
          <p:cNvPr id="13" name="Footnote"/>
          <p:cNvSpPr txBox="1"/>
          <p:nvPr/>
        </p:nvSpPr>
        <p:spPr>
          <a:xfrm>
            <a:off x="457200" y="6473952"/>
            <a:ext cx="8138160" cy="310896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r>
              <a:rPr sz="1000">
                <a:solidFill>
                  <a:srgbClr val="595959"/>
                </a:solidFill>
              </a:rPr>
              <a:t>F</a:t>
            </a:r>
            <a:r>
              <a:rPr sz="1000" baseline="-25000">
                <a:solidFill>
                  <a:srgbClr val="595959"/>
                </a:solidFill>
              </a:rPr>
              <a:t>v</a:t>
            </a:r>
            <a:r>
              <a:rPr sz="1000">
                <a:solidFill>
                  <a:srgbClr val="595959"/>
                </a:solidFill>
              </a:rPr>
              <a:t>/F</a:t>
            </a:r>
            <a:r>
              <a:rPr sz="1000" baseline="-25000">
                <a:solidFill>
                  <a:srgbClr val="595959"/>
                </a:solidFill>
              </a:rPr>
              <a:t>m</a:t>
            </a:r>
            <a:r>
              <a:rPr sz="1000">
                <a:solidFill>
                  <a:srgbClr val="595959"/>
                </a:solidFill>
              </a:rPr>
              <a:t>: LI-600 야간 암적응, 평균 ± SE, * 당일 ANOVA P&lt;0.05. 콩 건조·복합구는 DAT 29만(9/28 LI-6800 값 제외). 신호 크기 표·그림: 로메인 P1(DAT 5~10), F</a:t>
            </a:r>
            <a:r>
              <a:rPr sz="1000" baseline="-25000">
                <a:solidFill>
                  <a:srgbClr val="595959"/>
                </a:solidFill>
              </a:rPr>
              <a:t>s</a:t>
            </a:r>
            <a:r>
              <a:rPr sz="1000">
                <a:solidFill>
                  <a:srgbClr val="595959"/>
                </a:solidFill>
              </a:rPr>
              <a:t>·F</a:t>
            </a:r>
            <a:r>
              <a:rPr sz="1000" baseline="-25000">
                <a:solidFill>
                  <a:srgbClr val="595959"/>
                </a:solidFill>
              </a:rPr>
              <a:t>m</a:t>
            </a:r>
            <a:r>
              <a:rPr sz="1000">
                <a:solidFill>
                  <a:srgbClr val="595959"/>
                </a:solidFill>
              </a:rPr>
              <a:t>′는 PAR·기온 보정, 암적응 F</a:t>
            </a:r>
            <a:r>
              <a:rPr sz="1000" baseline="-25000">
                <a:solidFill>
                  <a:srgbClr val="595959"/>
                </a:solidFill>
              </a:rPr>
              <a:t>m</a:t>
            </a:r>
            <a:r>
              <a:rPr sz="1000">
                <a:solidFill>
                  <a:srgbClr val="595959"/>
                </a:solidFill>
              </a:rPr>
              <a:t>은 보정 없음. 문자: Tukey.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50686"/>
            <a:ext cx="10515600" cy="950797"/>
          </a:xfrm>
        </p:spPr>
        <p:txBody>
          <a:bodyPr>
            <a:normAutofit/>
          </a:bodyPr>
          <a:lstStyle/>
          <a:p>
            <a:r>
              <a:rPr lang="en-US" altLang="ko-KR" sz="2400" dirty="0">
                <a:latin typeface="Times New Roman"/>
                <a:cs typeface="Times New Roman"/>
              </a:rPr>
              <a:t>Photosynthesis</a:t>
            </a:r>
            <a:br>
              <a:rPr lang="en-US" altLang="ko-KR" sz="2800" dirty="0"/>
            </a:br>
            <a:r>
              <a:rPr lang="ko-KR" altLang="en-US" sz="3200" dirty="0"/>
              <a:t>광합성 능력 (9</a:t>
            </a:r>
            <a:r>
              <a:rPr lang="en-US" altLang="ko-KR" sz="3200" dirty="0"/>
              <a:t>, 10</a:t>
            </a:r>
            <a:r>
              <a:rPr lang="ko-KR" altLang="en-US" sz="3200" dirty="0"/>
              <a:t>월): A-Ci, A-Q 파라미터</a:t>
            </a:r>
          </a:p>
        </p:txBody>
      </p:sp>
      <p:pic>
        <p:nvPicPr>
          <p:cNvPr id="3" name="Logo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9058" y="129246"/>
            <a:ext cx="2242456" cy="729364"/>
          </a:xfrm>
          <a:prstGeom prst="rect">
            <a:avLst/>
          </a:prstGeom>
        </p:spPr>
      </p:pic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98FA03D2-03B7-0D84-2206-40CA69A8D76A}"/>
              </a:ext>
            </a:extLst>
          </p:cNvPr>
          <p:cNvCxnSpPr>
            <a:cxnSpLocks/>
          </p:cNvCxnSpPr>
          <p:nvPr/>
        </p:nvCxnSpPr>
        <p:spPr>
          <a:xfrm>
            <a:off x="783772" y="1002621"/>
            <a:ext cx="10624457" cy="0"/>
          </a:xfrm>
          <a:prstGeom prst="line">
            <a:avLst/>
          </a:prstGeom>
          <a:ln w="571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D96D3AE-CC3D-A909-29AD-1EF41A97CF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BCED27-B7FD-4F82-BD12-1C1B2F10C096}" type="slidenum">
              <a:rPr lang="ko-KR" altLang="en-US" smtClean="0"/>
              <a:t>16</a:t>
            </a:fld>
            <a:endParaRPr lang="ko-KR" altLang="en-US"/>
          </a:p>
        </p:txBody>
      </p:sp>
      <p:pic>
        <p:nvPicPr>
          <p:cNvPr id="14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0089" y="1225296"/>
            <a:ext cx="6515100" cy="2606040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93319548"/>
              </p:ext>
            </p:extLst>
          </p:nvPr>
        </p:nvGraphicFramePr>
        <p:xfrm>
          <a:off x="457200" y="3840480"/>
          <a:ext cx="6812280" cy="1847088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69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69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6692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6692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6692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6692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6692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6692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6692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66928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219456">
                <a:tc>
                  <a:txBody>
                    <a:bodyPr/>
                    <a:lstStyle/>
                    <a:p>
                      <a:pPr algn="l"/>
                      <a:endParaRPr dirty="0"/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 gridSpan="5"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solidFill>
                            <a:srgbClr val="000000"/>
                          </a:solidFill>
                        </a:rPr>
                        <a:t>Soybean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r>
                        <a:rPr lang="en-US" sz="1050" b="1" dirty="0">
                          <a:solidFill>
                            <a:srgbClr val="000000"/>
                          </a:solidFill>
                        </a:rPr>
                        <a:t>Soybean</a:t>
                      </a:r>
                      <a:r>
                        <a:rPr sz="1050" b="1" dirty="0">
                          <a:solidFill>
                            <a:srgbClr val="000000"/>
                          </a:solidFill>
                        </a:rPr>
                        <a:t> pre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r>
                        <a:rPr lang="en-US" sz="1050" b="1" dirty="0">
                          <a:solidFill>
                            <a:srgbClr val="000000"/>
                          </a:solidFill>
                        </a:rPr>
                        <a:t>Soybean</a:t>
                      </a:r>
                      <a:r>
                        <a:rPr sz="1050" b="1" dirty="0">
                          <a:solidFill>
                            <a:srgbClr val="000000"/>
                          </a:solidFill>
                        </a:rPr>
                        <a:t> pre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r>
                        <a:rPr lang="en-US" sz="1050" b="1" dirty="0">
                          <a:solidFill>
                            <a:srgbClr val="000000"/>
                          </a:solidFill>
                        </a:rPr>
                        <a:t>Soybean</a:t>
                      </a:r>
                      <a:r>
                        <a:rPr sz="1050" b="1" dirty="0">
                          <a:solidFill>
                            <a:srgbClr val="000000"/>
                          </a:solidFill>
                        </a:rPr>
                        <a:t> pre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r>
                        <a:rPr lang="en-US" sz="1050" b="1" dirty="0">
                          <a:solidFill>
                            <a:srgbClr val="000000"/>
                          </a:solidFill>
                        </a:rPr>
                        <a:t>Soybean</a:t>
                      </a:r>
                      <a:r>
                        <a:rPr sz="1050" b="1" dirty="0">
                          <a:solidFill>
                            <a:srgbClr val="000000"/>
                          </a:solidFill>
                        </a:rPr>
                        <a:t> pre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 gridSpan="5"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solidFill>
                            <a:srgbClr val="000000"/>
                          </a:solidFill>
                        </a:rPr>
                        <a:t>Romaine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r>
                        <a:rPr lang="en-US" sz="1050" b="1" dirty="0">
                          <a:solidFill>
                            <a:srgbClr val="000000"/>
                          </a:solidFill>
                        </a:rPr>
                        <a:t>Soybean</a:t>
                      </a:r>
                      <a:r>
                        <a:rPr sz="1050" b="1" dirty="0">
                          <a:solidFill>
                            <a:srgbClr val="000000"/>
                          </a:solidFill>
                        </a:rPr>
                        <a:t> pre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r>
                        <a:rPr lang="en-US" sz="1050" b="1" dirty="0">
                          <a:solidFill>
                            <a:srgbClr val="000000"/>
                          </a:solidFill>
                        </a:rPr>
                        <a:t>Soybean</a:t>
                      </a:r>
                      <a:r>
                        <a:rPr sz="1050" b="1" dirty="0">
                          <a:solidFill>
                            <a:srgbClr val="000000"/>
                          </a:solidFill>
                        </a:rPr>
                        <a:t> pre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r>
                        <a:rPr lang="en-US" sz="1050" b="1" dirty="0">
                          <a:solidFill>
                            <a:srgbClr val="000000"/>
                          </a:solidFill>
                        </a:rPr>
                        <a:t>Soybean</a:t>
                      </a:r>
                      <a:r>
                        <a:rPr sz="1050" b="1" dirty="0">
                          <a:solidFill>
                            <a:srgbClr val="000000"/>
                          </a:solidFill>
                        </a:rPr>
                        <a:t> pre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r>
                        <a:rPr lang="en-US" sz="1050" b="1" dirty="0">
                          <a:solidFill>
                            <a:srgbClr val="000000"/>
                          </a:solidFill>
                        </a:rPr>
                        <a:t>Soybean</a:t>
                      </a:r>
                      <a:r>
                        <a:rPr sz="1050" b="1" dirty="0">
                          <a:solidFill>
                            <a:srgbClr val="000000"/>
                          </a:solidFill>
                        </a:rPr>
                        <a:t> pre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900" b="1" dirty="0">
                          <a:solidFill>
                            <a:srgbClr val="000000"/>
                          </a:solidFill>
                        </a:rPr>
                        <a:t>Treatment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V</a:t>
                      </a:r>
                      <a:r>
                        <a:rPr lang="en-US" sz="900" b="1" baseline="-25000" dirty="0">
                          <a:solidFill>
                            <a:srgbClr val="000000"/>
                          </a:solidFill>
                        </a:rPr>
                        <a:t>cmax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J</a:t>
                      </a:r>
                      <a:r>
                        <a:rPr lang="en-US" sz="900" b="1" baseline="-25000" dirty="0">
                          <a:solidFill>
                            <a:srgbClr val="000000"/>
                          </a:solidFill>
                        </a:rPr>
                        <a:t>max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R</a:t>
                      </a:r>
                      <a:r>
                        <a:rPr lang="en-US" sz="900" b="1" baseline="-25000" dirty="0">
                          <a:solidFill>
                            <a:srgbClr val="000000"/>
                          </a:solidFill>
                        </a:rPr>
                        <a:t>d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A</a:t>
                      </a:r>
                      <a:r>
                        <a:rPr lang="en-US" sz="900" b="1" baseline="-25000" dirty="0">
                          <a:solidFill>
                            <a:srgbClr val="000000"/>
                          </a:solidFill>
                        </a:rPr>
                        <a:t>max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α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V</a:t>
                      </a:r>
                      <a:r>
                        <a:rPr lang="en-US" sz="900" b="1" baseline="-25000" dirty="0">
                          <a:solidFill>
                            <a:srgbClr val="000000"/>
                          </a:solidFill>
                        </a:rPr>
                        <a:t>cmax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J</a:t>
                      </a:r>
                      <a:r>
                        <a:rPr lang="en-US" sz="900" b="1" baseline="-25000" dirty="0">
                          <a:solidFill>
                            <a:srgbClr val="000000"/>
                          </a:solidFill>
                        </a:rPr>
                        <a:t>max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R</a:t>
                      </a:r>
                      <a:r>
                        <a:rPr lang="en-US" sz="900" b="1" baseline="-25000" dirty="0">
                          <a:solidFill>
                            <a:srgbClr val="000000"/>
                          </a:solidFill>
                        </a:rPr>
                        <a:t>d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A</a:t>
                      </a:r>
                      <a:r>
                        <a:rPr lang="en-US" sz="900" b="1" baseline="-25000" dirty="0">
                          <a:solidFill>
                            <a:srgbClr val="000000"/>
                          </a:solidFill>
                        </a:rPr>
                        <a:t>max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α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</a:rPr>
                        <a:t>Pre-treatment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</a:rPr>
                        <a:t>60.4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</a:rPr>
                        <a:t>83.3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</a:rPr>
                        <a:t>1.44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</a:rPr>
                        <a:t>15.4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</a:rPr>
                        <a:t>0.047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</a:rPr>
                        <a:t>98.3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</a:rPr>
                        <a:t>172.7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</a:rPr>
                        <a:t>1.70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</a:rPr>
                        <a:t>26.4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</a:rPr>
                        <a:t>0.063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</a:rPr>
                        <a:t>ETc 100%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</a:rPr>
                        <a:t>90 a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</a:rPr>
                        <a:t>150 a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</a:rPr>
                        <a:t>1.44 a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</a:rPr>
                        <a:t>18.5 a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dirty="0">
                          <a:solidFill>
                            <a:srgbClr val="000000"/>
                          </a:solidFill>
                        </a:rPr>
                        <a:t>0.049 a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</a:rPr>
                        <a:t>103.6 a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</a:rPr>
                        <a:t>200.1 a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</a:rPr>
                        <a:t>1.94 a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</a:rPr>
                        <a:t>26.1 a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</a:rPr>
                        <a:t>0.065 a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</a:rPr>
                        <a:t>ETc 50%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9525" cap="flat" cmpd="sng" algn="ctr">
                      <a:noFill/>
                      <a:prstDash val="solid"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</a:rPr>
                        <a:t>68 b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9525" cap="flat" cmpd="sng" algn="ctr">
                      <a:noFill/>
                      <a:prstDash val="solid"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</a:rPr>
                        <a:t>104 b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9525" cap="flat" cmpd="sng" algn="ctr">
                      <a:noFill/>
                      <a:prstDash val="solid"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</a:rPr>
                        <a:t>1.04 ab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9525" cap="flat" cmpd="sng" algn="ctr">
                      <a:noFill/>
                      <a:prstDash val="solid"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</a:rPr>
                        <a:t>19.4 a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9525" cap="flat" cmpd="sng" algn="ctr">
                      <a:noFill/>
                      <a:prstDash val="solid"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</a:rPr>
                        <a:t>0.043 a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</a:rPr>
                        <a:t>94.0 ab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noFill/>
                    </a:lnR>
                    <a:lnT w="9525" cap="flat" cmpd="sng" algn="ctr">
                      <a:noFill/>
                      <a:prstDash val="solid"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</a:rPr>
                        <a:t>174.9 ab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9525" cap="flat" cmpd="sng" algn="ctr">
                      <a:noFill/>
                      <a:prstDash val="solid"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</a:rPr>
                        <a:t>2.06 a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9525" cap="flat" cmpd="sng" algn="ctr">
                      <a:noFill/>
                      <a:prstDash val="solid"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</a:rPr>
                        <a:t>25.0 a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9525" cap="flat" cmpd="sng" algn="ctr">
                      <a:noFill/>
                      <a:prstDash val="solid"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</a:rPr>
                        <a:t>0.067 a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9525" cap="flat" cmpd="sng" algn="ctr">
                      <a:noFill/>
                      <a:prstDash val="solid"/>
                    </a:lnT>
                    <a:lnB w="1270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</a:rPr>
                        <a:t>Flooding-ETc 100%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9525" cap="flat" cmpd="sng" algn="ctr">
                      <a:noFill/>
                      <a:prstDash val="solid"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</a:rPr>
                        <a:t>85 ab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9525" cap="flat" cmpd="sng" algn="ctr">
                      <a:noFill/>
                      <a:prstDash val="solid"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</a:rPr>
                        <a:t>144 a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9525" cap="flat" cmpd="sng" algn="ctr">
                      <a:noFill/>
                      <a:prstDash val="solid"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</a:rPr>
                        <a:t>1.16 ab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9525" cap="flat" cmpd="sng" algn="ctr">
                      <a:noFill/>
                      <a:prstDash val="solid"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</a:rPr>
                        <a:t>17.2 a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9525" cap="flat" cmpd="sng" algn="ctr">
                      <a:noFill/>
                      <a:prstDash val="solid"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dirty="0">
                          <a:solidFill>
                            <a:srgbClr val="000000"/>
                          </a:solidFill>
                        </a:rPr>
                        <a:t>0.046 a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</a:rPr>
                        <a:t>88.4 ab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noFill/>
                    </a:lnR>
                    <a:lnT w="9525" cap="flat" cmpd="sng" algn="ctr">
                      <a:noFill/>
                      <a:prstDash val="solid"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</a:rPr>
                        <a:t>168.3 ab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9525" cap="flat" cmpd="sng" algn="ctr">
                      <a:noFill/>
                      <a:prstDash val="solid"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</a:rPr>
                        <a:t>1.91 a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9525" cap="flat" cmpd="sng" algn="ctr">
                      <a:noFill/>
                      <a:prstDash val="solid"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</a:rPr>
                        <a:t>28.9 a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9525" cap="flat" cmpd="sng" algn="ctr">
                      <a:noFill/>
                      <a:prstDash val="solid"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</a:rPr>
                        <a:t>0.059 a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9525" cap="flat" cmpd="sng" algn="ctr">
                      <a:noFill/>
                      <a:prstDash val="solid"/>
                    </a:lnT>
                    <a:lnB w="1270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</a:rPr>
                        <a:t>Flooding-ETc 50%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9525" cap="flat" cmpd="sng" algn="ctr">
                      <a:noFill/>
                      <a:prstDash val="solid"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</a:rPr>
                        <a:t>75 ab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9525" cap="flat" cmpd="sng" algn="ctr">
                      <a:noFill/>
                      <a:prstDash val="solid"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</a:rPr>
                        <a:t>120 b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9525" cap="flat" cmpd="sng" algn="ctr">
                      <a:noFill/>
                      <a:prstDash val="solid"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</a:rPr>
                        <a:t>0.86 b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9525" cap="flat" cmpd="sng" algn="ctr">
                      <a:noFill/>
                      <a:prstDash val="solid"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</a:rPr>
                        <a:t>18.6 a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9525" cap="flat" cmpd="sng" algn="ctr">
                      <a:noFill/>
                      <a:prstDash val="solid"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dirty="0">
                          <a:solidFill>
                            <a:srgbClr val="000000"/>
                          </a:solidFill>
                        </a:rPr>
                        <a:t>0.048 a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</a:rPr>
                        <a:t>73.1 b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noFill/>
                    </a:lnR>
                    <a:lnT w="9525" cap="flat" cmpd="sng" algn="ctr">
                      <a:noFill/>
                      <a:prstDash val="solid"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</a:rPr>
                        <a:t>141.8 b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9525" cap="flat" cmpd="sng" algn="ctr">
                      <a:noFill/>
                      <a:prstDash val="solid"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</a:rPr>
                        <a:t>1.76 a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9525" cap="flat" cmpd="sng" algn="ctr">
                      <a:noFill/>
                      <a:prstDash val="solid"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</a:rPr>
                        <a:t>21.6 a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9525" cap="flat" cmpd="sng" algn="ctr">
                      <a:noFill/>
                      <a:prstDash val="solid"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</a:rPr>
                        <a:t>0.063 a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9525" cap="flat" cmpd="sng" algn="ctr">
                      <a:noFill/>
                      <a:prstDash val="solid"/>
                    </a:lnT>
                    <a:lnB w="1270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</a:rPr>
                        <a:t>P (ANOVA)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</a:rPr>
                        <a:t>0.011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</a:rPr>
                        <a:t>&lt;0.001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</a:rPr>
                        <a:t>0.049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</a:rPr>
                        <a:t>0.686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dirty="0">
                          <a:solidFill>
                            <a:srgbClr val="000000"/>
                          </a:solidFill>
                        </a:rPr>
                        <a:t>0.420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</a:rPr>
                        <a:t>0.029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noFill/>
                    </a:lnR>
                    <a:lnT w="12700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</a:rPr>
                        <a:t>0.047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</a:rPr>
                        <a:t>0.87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</a:rPr>
                        <a:t>0.58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dirty="0">
                          <a:solidFill>
                            <a:srgbClr val="000000"/>
                          </a:solidFill>
                        </a:rPr>
                        <a:t>0.79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9" name="Card 요점"/>
          <p:cNvSpPr/>
          <p:nvPr/>
        </p:nvSpPr>
        <p:spPr>
          <a:xfrm>
            <a:off x="7498079" y="1399032"/>
            <a:ext cx="4206240" cy="4133087"/>
          </a:xfrm>
          <a:prstGeom prst="roundRect">
            <a:avLst>
              <a:gd name="adj" fmla="val 3400"/>
            </a:avLst>
          </a:prstGeom>
          <a:solidFill>
            <a:srgbClr val="FBFBFB"/>
          </a:solidFill>
          <a:ln w="12700">
            <a:solidFill>
              <a:srgbClr val="AFAF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Header 요점"/>
          <p:cNvSpPr/>
          <p:nvPr/>
        </p:nvSpPr>
        <p:spPr>
          <a:xfrm>
            <a:off x="7680959" y="1188720"/>
            <a:ext cx="3840479" cy="420624"/>
          </a:xfrm>
          <a:prstGeom prst="roundRect">
            <a:avLst>
              <a:gd name="adj" fmla="val 25000"/>
            </a:avLst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27432" rIns="73152" bIns="27432"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요점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59" y="1783080"/>
            <a:ext cx="3886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01168" indent="-201168">
              <a:spcBef>
                <a:spcPts val="0"/>
              </a:spcBef>
              <a:buFont typeface="Arial"/>
              <a:buChar char="•"/>
            </a:pPr>
            <a:r>
              <a:rPr sz="1400" b="1">
                <a:solidFill>
                  <a:srgbClr val="000000"/>
                </a:solidFill>
              </a:rPr>
              <a:t>콩 9월 A-Ci:</a:t>
            </a:r>
            <a:r>
              <a:rPr sz="1400">
                <a:solidFill>
                  <a:srgbClr val="000000"/>
                </a:solidFill>
              </a:rPr>
              <a:t> V</a:t>
            </a:r>
            <a:r>
              <a:rPr sz="1400" baseline="-25000">
                <a:solidFill>
                  <a:srgbClr val="000000"/>
                </a:solidFill>
              </a:rPr>
              <a:t>cmax</a:t>
            </a:r>
            <a:r>
              <a:rPr sz="1400">
                <a:solidFill>
                  <a:srgbClr val="000000"/>
                </a:solidFill>
              </a:rPr>
              <a:t> 대조구 90 (a) &gt; 침수 85 &gt; 복합 75 &gt; 건조 68 (b) (P=0.011), J</a:t>
            </a:r>
            <a:r>
              <a:rPr sz="1400" baseline="-25000">
                <a:solidFill>
                  <a:srgbClr val="000000"/>
                </a:solidFill>
              </a:rPr>
              <a:t>max</a:t>
            </a:r>
            <a:r>
              <a:rPr sz="1400">
                <a:solidFill>
                  <a:srgbClr val="000000"/>
                </a:solidFill>
              </a:rPr>
              <a:t> 대조구·침수 (a) &gt; 복합·건조 (b) (P&lt;0.001) — 관수 주효과만 유의</a:t>
            </a:r>
          </a:p>
          <a:p>
            <a:pPr marL="201168" indent="-201168">
              <a:spcBef>
                <a:spcPts val="0"/>
              </a:spcBef>
              <a:buFont typeface="Arial"/>
              <a:buChar char="•"/>
            </a:pPr>
            <a:r>
              <a:rPr sz="1400">
                <a:solidFill>
                  <a:srgbClr val="000000"/>
                </a:solidFill>
              </a:rPr>
              <a:t>콩 8월(DAT 7~9) A-Ci 13곡선은 처리 간 차이 없음 (V</a:t>
            </a:r>
            <a:r>
              <a:rPr sz="1400" baseline="-25000">
                <a:solidFill>
                  <a:srgbClr val="000000"/>
                </a:solidFill>
              </a:rPr>
              <a:t>cmax</a:t>
            </a:r>
            <a:r>
              <a:rPr sz="1400">
                <a:solidFill>
                  <a:srgbClr val="000000"/>
                </a:solidFill>
              </a:rPr>
              <a:t> P=0.23)</a:t>
            </a:r>
          </a:p>
          <a:p>
            <a:pPr marL="201168" indent="-201168">
              <a:spcBef>
                <a:spcPts val="0"/>
              </a:spcBef>
              <a:buFont typeface="Arial"/>
              <a:buChar char="•"/>
            </a:pPr>
            <a:r>
              <a:rPr sz="1400">
                <a:solidFill>
                  <a:srgbClr val="000000"/>
                </a:solidFill>
              </a:rPr>
              <a:t>로메인 V</a:t>
            </a:r>
            <a:r>
              <a:rPr sz="1400" baseline="-25000">
                <a:solidFill>
                  <a:srgbClr val="000000"/>
                </a:solidFill>
              </a:rPr>
              <a:t>cmax</a:t>
            </a:r>
            <a:r>
              <a:rPr sz="1400">
                <a:solidFill>
                  <a:srgbClr val="000000"/>
                </a:solidFill>
              </a:rPr>
              <a:t>: 대조구 104 (a) &gt; 건조 94 &gt; 침수 88 &gt; 복합 73 (b) (P=0.029, 침수 P=0.012), J</a:t>
            </a:r>
            <a:r>
              <a:rPr sz="1400" baseline="-25000">
                <a:solidFill>
                  <a:srgbClr val="000000"/>
                </a:solidFill>
              </a:rPr>
              <a:t>max</a:t>
            </a:r>
            <a:r>
              <a:rPr sz="1400">
                <a:solidFill>
                  <a:srgbClr val="000000"/>
                </a:solidFill>
              </a:rPr>
              <a:t>도 같은 순서로 감소 (P=0.047, 침수 P=0.024)</a:t>
            </a:r>
          </a:p>
          <a:p>
            <a:pPr marL="201168" indent="-201168">
              <a:spcBef>
                <a:spcPts val="0"/>
              </a:spcBef>
              <a:buFont typeface="Arial"/>
              <a:buChar char="•"/>
            </a:pPr>
            <a:r>
              <a:rPr sz="1400">
                <a:solidFill>
                  <a:srgbClr val="000000"/>
                </a:solidFill>
              </a:rPr>
              <a:t>Rd·Amax·α·A-Q 곡선은 두 작물 모두 차이 없음 (로메인 P≥0.58). 처리별 측정일이 달라(콩 9/2~9/17, 로메인 10/16~19) 측정일과 교락 — 해석 주의</a:t>
            </a:r>
          </a:p>
        </p:txBody>
      </p:sp>
      <p:sp>
        <p:nvSpPr>
          <p:cNvPr id="12" name="Conclusion Box"/>
          <p:cNvSpPr/>
          <p:nvPr/>
        </p:nvSpPr>
        <p:spPr>
          <a:xfrm>
            <a:off x="841248" y="5788152"/>
            <a:ext cx="10570464" cy="566928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8575">
            <a:solidFill>
              <a:srgbClr val="AA57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36576" rIns="137160" bIns="36576" rtlCol="0" anchor="ctr"/>
          <a:lstStyle/>
          <a:p>
            <a:pPr algn="ctr"/>
            <a:r>
              <a:rPr sz="1600">
                <a:solidFill>
                  <a:srgbClr val="E97132"/>
                </a:solidFill>
              </a:rPr>
              <a:t>콩 건조·복합구(9월)와 로메인 복합구(10월)에서 V</a:t>
            </a:r>
            <a:r>
              <a:rPr sz="1600" baseline="-25000">
                <a:solidFill>
                  <a:srgbClr val="E97132"/>
                </a:solidFill>
              </a:rPr>
              <a:t>cmax</a:t>
            </a:r>
            <a:r>
              <a:rPr sz="1600">
                <a:solidFill>
                  <a:srgbClr val="E97132"/>
                </a:solidFill>
              </a:rPr>
              <a:t>·J</a:t>
            </a:r>
            <a:r>
              <a:rPr sz="1600" baseline="-25000">
                <a:solidFill>
                  <a:srgbClr val="E97132"/>
                </a:solidFill>
              </a:rPr>
              <a:t>max</a:t>
            </a:r>
            <a:r>
              <a:rPr sz="1600">
                <a:solidFill>
                  <a:srgbClr val="E97132"/>
                </a:solidFill>
              </a:rPr>
              <a:t>가 낮은 경향 (측정일 교락 주의)</a:t>
            </a:r>
          </a:p>
        </p:txBody>
      </p:sp>
      <p:sp>
        <p:nvSpPr>
          <p:cNvPr id="13" name="Footnote"/>
          <p:cNvSpPr txBox="1"/>
          <p:nvPr/>
        </p:nvSpPr>
        <p:spPr>
          <a:xfrm>
            <a:off x="457200" y="6473952"/>
            <a:ext cx="8138160" cy="310896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r>
              <a:rPr sz="1000">
                <a:solidFill>
                  <a:srgbClr val="595959"/>
                </a:solidFill>
              </a:rPr>
              <a:t>상자: 사분위(n≥4), 가로선: 평균 ± SE(n&lt;4), 점: 개별 곡선, 문자: Tukey(ANOVA P&lt;0.05일 때만). 콩: 9월 '선택적 데이터' 시트(9/2~9/17), 8월 A-Ci는 별도 검정. 로메인: 10/16~19 (10/19 CR 4, WR 5 곡선 제외). 회색 X: 처리 전.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50686"/>
            <a:ext cx="10515600" cy="950797"/>
          </a:xfrm>
        </p:spPr>
        <p:txBody>
          <a:bodyPr>
            <a:normAutofit/>
          </a:bodyPr>
          <a:lstStyle/>
          <a:p>
            <a:r>
              <a:rPr lang="en-US" altLang="ko-KR" sz="2400" dirty="0">
                <a:latin typeface="Times New Roman"/>
                <a:cs typeface="Times New Roman"/>
              </a:rPr>
              <a:t>Appendix</a:t>
            </a:r>
            <a:br>
              <a:rPr lang="en-US" altLang="ko-KR" sz="2800" dirty="0"/>
            </a:br>
            <a:r>
              <a:rPr lang="ko-KR" altLang="en-US" sz="3200" dirty="0"/>
              <a:t>A-Ci·A-Q 파라미터: 전체 곡선 포함</a:t>
            </a:r>
          </a:p>
        </p:txBody>
      </p:sp>
      <p:pic>
        <p:nvPicPr>
          <p:cNvPr id="3" name="Logo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9058" y="129246"/>
            <a:ext cx="2242456" cy="729364"/>
          </a:xfrm>
          <a:prstGeom prst="rect">
            <a:avLst/>
          </a:prstGeom>
        </p:spPr>
      </p:pic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98FA03D2-03B7-0D84-2206-40CA69A8D76A}"/>
              </a:ext>
            </a:extLst>
          </p:cNvPr>
          <p:cNvCxnSpPr>
            <a:cxnSpLocks/>
          </p:cNvCxnSpPr>
          <p:nvPr/>
        </p:nvCxnSpPr>
        <p:spPr>
          <a:xfrm>
            <a:off x="783772" y="1002621"/>
            <a:ext cx="10624457" cy="0"/>
          </a:xfrm>
          <a:prstGeom prst="line">
            <a:avLst/>
          </a:prstGeom>
          <a:ln w="571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D96D3AE-CC3D-A909-29AD-1EF41A97CF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BCED27-B7FD-4F82-BD12-1C1B2F10C096}" type="slidenum">
              <a:rPr lang="ko-KR" altLang="en-US" smtClean="0"/>
              <a:t>17</a:t>
            </a:fld>
            <a:endParaRPr lang="ko-KR" altLang="en-US"/>
          </a:p>
        </p:txBody>
      </p:sp>
      <p:pic>
        <p:nvPicPr>
          <p:cNvPr id="14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59" y="1188720"/>
            <a:ext cx="6766560" cy="2441290"/>
          </a:xfrm>
          <a:prstGeom prst="rect">
            <a:avLst/>
          </a:prstGeom>
        </p:spPr>
      </p:pic>
      <p:sp>
        <p:nvSpPr>
          <p:cNvPr id="9" name="Card 요점"/>
          <p:cNvSpPr/>
          <p:nvPr/>
        </p:nvSpPr>
        <p:spPr>
          <a:xfrm>
            <a:off x="7498079" y="1399032"/>
            <a:ext cx="4206240" cy="4133087"/>
          </a:xfrm>
          <a:prstGeom prst="roundRect">
            <a:avLst>
              <a:gd name="adj" fmla="val 3400"/>
            </a:avLst>
          </a:prstGeom>
          <a:solidFill>
            <a:srgbClr val="FBFBFB"/>
          </a:solidFill>
          <a:ln w="12700">
            <a:solidFill>
              <a:srgbClr val="AFAF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Header 요점"/>
          <p:cNvSpPr/>
          <p:nvPr/>
        </p:nvSpPr>
        <p:spPr>
          <a:xfrm>
            <a:off x="7680959" y="1188720"/>
            <a:ext cx="3840479" cy="420624"/>
          </a:xfrm>
          <a:prstGeom prst="roundRect">
            <a:avLst>
              <a:gd name="adj" fmla="val 25000"/>
            </a:avLst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27432" rIns="73152" bIns="27432"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요점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59" y="1783080"/>
            <a:ext cx="3886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01168" indent="-201168">
              <a:spcBef>
                <a:spcPts val="0"/>
              </a:spcBef>
              <a:buFont typeface="Arial"/>
              <a:buChar char="•"/>
            </a:pPr>
            <a:r>
              <a:rPr sz="1400">
                <a:solidFill>
                  <a:srgbClr val="000000"/>
                </a:solidFill>
              </a:rPr>
              <a:t>콩 9월 A-Ci:</a:t>
            </a:r>
            <a:r>
              <a:rPr sz="1400">
                <a:solidFill>
                  <a:srgbClr val="000000"/>
                </a:solidFill>
              </a:rPr>
              <a:t> 36곡선 전체(4처리 26곡선 + 75·25% 10곡선)로 보면 V</a:t>
            </a:r>
            <a:r>
              <a:rPr sz="1400" baseline="-25000">
                <a:solidFill>
                  <a:srgbClr val="000000"/>
                </a:solidFill>
              </a:rPr>
              <a:t>cmax</a:t>
            </a:r>
            <a:r>
              <a:rPr sz="1400">
                <a:solidFill>
                  <a:srgbClr val="000000"/>
                </a:solidFill>
              </a:rPr>
              <a:t> P 0.011 → 0.241, J</a:t>
            </a:r>
            <a:r>
              <a:rPr sz="1400" baseline="-25000">
                <a:solidFill>
                  <a:srgbClr val="000000"/>
                </a:solidFill>
              </a:rPr>
              <a:t>max</a:t>
            </a:r>
            <a:r>
              <a:rPr sz="1400">
                <a:solidFill>
                  <a:srgbClr val="000000"/>
                </a:solidFill>
              </a:rPr>
              <a:t> &lt;0.001 → 0.445, R</a:t>
            </a:r>
            <a:r>
              <a:rPr sz="1400" baseline="-25000">
                <a:solidFill>
                  <a:srgbClr val="000000"/>
                </a:solidFill>
              </a:rPr>
              <a:t>d</a:t>
            </a:r>
            <a:r>
              <a:rPr sz="1400">
                <a:solidFill>
                  <a:srgbClr val="000000"/>
                </a:solidFill>
              </a:rPr>
              <a:t> 0.049 → 0.510: 건조·복합의 V</a:t>
            </a:r>
            <a:r>
              <a:rPr sz="1400" baseline="-25000">
                <a:solidFill>
                  <a:srgbClr val="000000"/>
                </a:solidFill>
              </a:rPr>
              <a:t>cmax</a:t>
            </a:r>
            <a:r>
              <a:rPr sz="1400">
                <a:solidFill>
                  <a:srgbClr val="000000"/>
                </a:solidFill>
              </a:rPr>
              <a:t>·J</a:t>
            </a:r>
            <a:r>
              <a:rPr sz="1400" baseline="-25000">
                <a:solidFill>
                  <a:srgbClr val="000000"/>
                </a:solidFill>
              </a:rPr>
              <a:t>max</a:t>
            </a:r>
            <a:r>
              <a:rPr sz="1400">
                <a:solidFill>
                  <a:srgbClr val="000000"/>
                </a:solidFill>
              </a:rPr>
              <a:t> 감소가 사라짐 (선별 15곡선에서만 유의)</a:t>
            </a:r>
          </a:p>
          <a:p>
            <a:pPr marL="201168" indent="-201168">
              <a:spcBef>
                <a:spcPts val="0"/>
              </a:spcBef>
              <a:buFont typeface="Arial"/>
              <a:buChar char="•"/>
            </a:pPr>
            <a:r>
              <a:rPr sz="1400">
                <a:solidFill>
                  <a:srgbClr val="000000"/>
                </a:solidFill>
              </a:rPr>
              <a:t>콩 9월 A-Q 35곡선: A</a:t>
            </a:r>
            <a:r>
              <a:rPr sz="1400" baseline="-25000">
                <a:solidFill>
                  <a:srgbClr val="000000"/>
                </a:solidFill>
              </a:rPr>
              <a:t>max</a:t>
            </a:r>
            <a:r>
              <a:rPr sz="1400">
                <a:solidFill>
                  <a:srgbClr val="000000"/>
                </a:solidFill>
              </a:rPr>
              <a:t>·α·θ·R</a:t>
            </a:r>
            <a:r>
              <a:rPr sz="1400" baseline="-25000">
                <a:solidFill>
                  <a:srgbClr val="000000"/>
                </a:solidFill>
              </a:rPr>
              <a:t>d</a:t>
            </a:r>
            <a:r>
              <a:rPr sz="1400">
                <a:solidFill>
                  <a:srgbClr val="000000"/>
                </a:solidFill>
              </a:rPr>
              <a:t> 모두 처리 간 차이 없음 (P 0.42~0.97), 공란 처리했던 6셀 복원 포함</a:t>
            </a:r>
          </a:p>
          <a:p>
            <a:pPr marL="201168" indent="-201168">
              <a:spcBef>
                <a:spcPts val="0"/>
              </a:spcBef>
              <a:buFont typeface="Arial"/>
              <a:buChar char="•"/>
            </a:pPr>
            <a:r>
              <a:rPr sz="1400">
                <a:solidFill>
                  <a:srgbClr val="000000"/>
                </a:solidFill>
              </a:rPr>
              <a:t>콩 8월 A-Ci 22곡선: 4처리 차이 없음 (V</a:t>
            </a:r>
            <a:r>
              <a:rPr sz="1400" baseline="-25000">
                <a:solidFill>
                  <a:srgbClr val="000000"/>
                </a:solidFill>
              </a:rPr>
              <a:t>cmax</a:t>
            </a:r>
            <a:r>
              <a:rPr sz="1400">
                <a:solidFill>
                  <a:srgbClr val="000000"/>
                </a:solidFill>
              </a:rPr>
              <a:t> P=0.24), 75·25% 포함 시 V</a:t>
            </a:r>
            <a:r>
              <a:rPr sz="1400" baseline="-25000">
                <a:solidFill>
                  <a:srgbClr val="000000"/>
                </a:solidFill>
              </a:rPr>
              <a:t>cmax</a:t>
            </a:r>
            <a:r>
              <a:rPr sz="1400">
                <a:solidFill>
                  <a:srgbClr val="000000"/>
                </a:solidFill>
              </a:rPr>
              <a:t> P=0.003·J</a:t>
            </a:r>
            <a:r>
              <a:rPr sz="1400" baseline="-25000">
                <a:solidFill>
                  <a:srgbClr val="000000"/>
                </a:solidFill>
              </a:rPr>
              <a:t>max</a:t>
            </a:r>
            <a:r>
              <a:rPr sz="1400">
                <a:solidFill>
                  <a:srgbClr val="000000"/>
                </a:solidFill>
              </a:rPr>
              <a:t> P=0.007로 처리 간 차이가 나타남 — 측정일 교락</a:t>
            </a:r>
          </a:p>
          <a:p>
            <a:pPr marL="201168" indent="-201168">
              <a:spcBef>
                <a:spcPts val="0"/>
              </a:spcBef>
              <a:buFont typeface="Arial"/>
              <a:buChar char="•"/>
            </a:pPr>
            <a:r>
              <a:rPr sz="1400">
                <a:solidFill>
                  <a:srgbClr val="000000"/>
                </a:solidFill>
              </a:rPr>
              <a:t>로메인: 이 부록 분석 자료 없음 (10/16~19 A-Ci·A-Q는 16쪽 본문, 10/19 CR 4는 CR-2와 같은 개체라 제외)</a:t>
            </a:r>
          </a:p>
        </p:txBody>
      </p:sp>
      <p:sp>
        <p:nvSpPr>
          <p:cNvPr id="12" name="Conclusion Box"/>
          <p:cNvSpPr/>
          <p:nvPr/>
        </p:nvSpPr>
        <p:spPr>
          <a:xfrm>
            <a:off x="841248" y="5788152"/>
            <a:ext cx="10570464" cy="566928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8575">
            <a:solidFill>
              <a:srgbClr val="AA57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36576" rIns="137160" bIns="36576" rtlCol="0" anchor="ctr"/>
          <a:lstStyle/>
          <a:p>
            <a:pPr algn="ctr"/>
            <a:r>
              <a:rPr sz="1600">
                <a:solidFill>
                  <a:srgbClr val="E97132"/>
                </a:solidFill>
              </a:rPr>
              <a:t>전체 곡선으로 보면 콩 9월 V</a:t>
            </a:r>
            <a:r>
              <a:rPr sz="1600" baseline="-25000">
                <a:solidFill>
                  <a:srgbClr val="E97132"/>
                </a:solidFill>
              </a:rPr>
              <a:t>cmax</a:t>
            </a:r>
            <a:r>
              <a:rPr sz="1600">
                <a:solidFill>
                  <a:srgbClr val="E97132"/>
                </a:solidFill>
              </a:rPr>
              <a:t>·J</a:t>
            </a:r>
            <a:r>
              <a:rPr sz="1600" baseline="-25000">
                <a:solidFill>
                  <a:srgbClr val="E97132"/>
                </a:solidFill>
              </a:rPr>
              <a:t>max</a:t>
            </a:r>
            <a:r>
              <a:rPr sz="1600">
                <a:solidFill>
                  <a:srgbClr val="E97132"/>
                </a:solidFill>
              </a:rPr>
              <a:t> 감소는 선별에 의존</a:t>
            </a:r>
          </a:p>
        </p:txBody>
      </p:sp>
      <p:sp>
        <p:nvSpPr>
          <p:cNvPr id="13" name="Footnote"/>
          <p:cNvSpPr txBox="1"/>
          <p:nvPr/>
        </p:nvSpPr>
        <p:spPr>
          <a:xfrm>
            <a:off x="457200" y="6473952"/>
            <a:ext cx="8138160" cy="310896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r>
              <a:rPr sz="1000">
                <a:solidFill>
                  <a:srgbClr val="595959"/>
                </a:solidFill>
              </a:rPr>
              <a:t>상자: 사분위(n≥4), 가로선: 평균 ± SE(n&lt;4), 점: 개별 곡선, × = 사용자가 선택적 데이터에서 뺀 곡선(4처리 해당분), 문자: Tukey(ANOVA P&lt;0.05일 때만). 콩: 26_9월·260819 파라미터 results 시트.</a:t>
            </a:r>
          </a:p>
        </p:txBody>
      </p:sp>
    </p:spTree>
    <p:extLst>
      <p:ext uri="{BB962C8B-B14F-4D97-AF65-F5344CB8AC3E}">
        <p14:creationId xmlns:p14="http://schemas.microsoft.com/office/powerpoint/2010/main" val="424479654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50686"/>
            <a:ext cx="10515600" cy="950797"/>
          </a:xfrm>
        </p:spPr>
        <p:txBody>
          <a:bodyPr>
            <a:normAutofit/>
          </a:bodyPr>
          <a:lstStyle/>
          <a:p>
            <a:r>
              <a:rPr lang="en-US" altLang="ko-KR" sz="2400" dirty="0">
                <a:latin typeface="Times New Roman"/>
                <a:cs typeface="Times New Roman"/>
              </a:rPr>
              <a:t>Photosynthesis</a:t>
            </a:r>
            <a:br>
              <a:rPr lang="en-US" altLang="ko-KR" sz="2800" dirty="0"/>
            </a:br>
            <a:r>
              <a:rPr lang="ko-KR" altLang="en-US" sz="3200" dirty="0"/>
              <a:t>광합성 능력 (8월): A-Ci 파라미터</a:t>
            </a:r>
          </a:p>
        </p:txBody>
      </p:sp>
      <p:pic>
        <p:nvPicPr>
          <p:cNvPr id="3" name="Logo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9058" y="129246"/>
            <a:ext cx="2242456" cy="729364"/>
          </a:xfrm>
          <a:prstGeom prst="rect">
            <a:avLst/>
          </a:prstGeom>
        </p:spPr>
      </p:pic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98FA03D2-03B7-0D84-2206-40CA69A8D76A}"/>
              </a:ext>
            </a:extLst>
          </p:cNvPr>
          <p:cNvCxnSpPr>
            <a:cxnSpLocks/>
          </p:cNvCxnSpPr>
          <p:nvPr/>
        </p:nvCxnSpPr>
        <p:spPr>
          <a:xfrm>
            <a:off x="783772" y="1002621"/>
            <a:ext cx="10624457" cy="0"/>
          </a:xfrm>
          <a:prstGeom prst="line">
            <a:avLst/>
          </a:prstGeom>
          <a:ln w="571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D96D3AE-CC3D-A909-29AD-1EF41A97CF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BCED27-B7FD-4F82-BD12-1C1B2F10C096}" type="slidenum">
              <a:rPr lang="ko-KR" altLang="en-US" smtClean="0"/>
              <a:t>18</a:t>
            </a:fld>
            <a:endParaRPr lang="ko-KR" altLang="en-US"/>
          </a:p>
        </p:txBody>
      </p:sp>
      <p:pic>
        <p:nvPicPr>
          <p:cNvPr id="7" name="Picture 6" descr="a_p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582" y="1378995"/>
            <a:ext cx="6808116" cy="2454088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4160520"/>
          <a:ext cx="6858000" cy="1481328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000000"/>
                          </a:solidFill>
                        </a:rPr>
                        <a:t>Treatment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00000"/>
                          </a:solidFill>
                        </a:rPr>
                        <a:t>V</a:t>
                      </a:r>
                      <a:r>
                        <a:rPr sz="1050" b="1" baseline="-25000">
                          <a:solidFill>
                            <a:srgbClr val="000000"/>
                          </a:solidFill>
                        </a:rPr>
                        <a:t>cmax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00000"/>
                          </a:solidFill>
                        </a:rPr>
                        <a:t>J</a:t>
                      </a:r>
                      <a:r>
                        <a:rPr sz="1050" b="1" baseline="-25000">
                          <a:solidFill>
                            <a:srgbClr val="000000"/>
                          </a:solidFill>
                        </a:rPr>
                        <a:t>max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00000"/>
                          </a:solidFill>
                        </a:rPr>
                        <a:t>R</a:t>
                      </a:r>
                      <a:r>
                        <a:rPr sz="1050" b="1" baseline="-25000">
                          <a:solidFill>
                            <a:srgbClr val="000000"/>
                          </a:solidFill>
                        </a:rPr>
                        <a:t>d</a:t>
                      </a:r>
                      <a:r>
                        <a:rPr sz="1050" b="1">
                          <a:solidFill>
                            <a:srgbClr val="000000"/>
                          </a:solidFill>
                        </a:rPr>
                        <a:t> (A-Ci)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00000"/>
                          </a:solidFill>
                        </a:rPr>
                        <a:t>n (curves)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</a:rPr>
                        <a:t>Control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00000"/>
                          </a:solidFill>
                        </a:rPr>
                        <a:t>55.3 ± 6.3 a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00000"/>
                          </a:solidFill>
                        </a:rPr>
                        <a:t>87.5 ± 9.2 a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00000"/>
                          </a:solidFill>
                        </a:rPr>
                        <a:t>2.63 ± 0.24 a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1270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</a:rPr>
                        <a:t>Drought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00000"/>
                          </a:solidFill>
                        </a:rPr>
                        <a:t>75.6 ± 5.2 a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00000"/>
                          </a:solidFill>
                        </a:rPr>
                        <a:t>117.0 ± 7.3 a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00000"/>
                          </a:solidFill>
                        </a:rPr>
                        <a:t>3.37 ± 0.51 a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</a:rPr>
                        <a:t>Waterlogging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00000"/>
                          </a:solidFill>
                        </a:rPr>
                        <a:t>56.2 ± 12.4 a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00000"/>
                          </a:solidFill>
                        </a:rPr>
                        <a:t>83.2 ± 16.3 a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00000"/>
                          </a:solidFill>
                        </a:rPr>
                        <a:t>2.12 ± 0.35 a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</a:rPr>
                        <a:t>Combined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00000"/>
                          </a:solidFill>
                        </a:rPr>
                        <a:t>61.2 ± 2.4 a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00000"/>
                          </a:solidFill>
                        </a:rPr>
                        <a:t>90.7 ± 5.8 a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00000"/>
                          </a:solidFill>
                        </a:rPr>
                        <a:t>2.91 ± 0.51 a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00000"/>
                          </a:solidFill>
                        </a:rPr>
                        <a:t>4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</a:rPr>
                        <a:t>ANOVA P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00000"/>
                          </a:solidFill>
                        </a:rPr>
                        <a:t>0.231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00000"/>
                          </a:solidFill>
                        </a:rPr>
                        <a:t>0.153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00000"/>
                          </a:solidFill>
                        </a:rPr>
                        <a:t>0.336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00000"/>
                          </a:solidFill>
                        </a:rPr>
                        <a:t>13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Card 요점"/>
          <p:cNvSpPr/>
          <p:nvPr/>
        </p:nvSpPr>
        <p:spPr>
          <a:xfrm>
            <a:off x="7498079" y="1399032"/>
            <a:ext cx="4206240" cy="4133087"/>
          </a:xfrm>
          <a:prstGeom prst="roundRect">
            <a:avLst>
              <a:gd name="adj" fmla="val 3400"/>
            </a:avLst>
          </a:prstGeom>
          <a:solidFill>
            <a:srgbClr val="FBFBFB"/>
          </a:solidFill>
          <a:ln w="12700">
            <a:solidFill>
              <a:srgbClr val="AFAF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Header 요점"/>
          <p:cNvSpPr/>
          <p:nvPr/>
        </p:nvSpPr>
        <p:spPr>
          <a:xfrm>
            <a:off x="7680959" y="1188720"/>
            <a:ext cx="3840479" cy="420624"/>
          </a:xfrm>
          <a:prstGeom prst="roundRect">
            <a:avLst>
              <a:gd name="adj" fmla="val 25000"/>
            </a:avLst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27432" rIns="73152" bIns="27432"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요점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59" y="1783080"/>
            <a:ext cx="3886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01168" indent="-201168">
              <a:spcBef>
                <a:spcPts val="0"/>
              </a:spcBef>
              <a:buFont typeface="Arial"/>
              <a:buChar char="•"/>
            </a:pPr>
            <a:r>
              <a:rPr sz="1400" b="0">
                <a:solidFill>
                  <a:srgbClr val="000000"/>
                </a:solidFill>
              </a:rPr>
              <a:t>8월(8/19~8/21) A-Ci 선택적 데이터 13곡선 (대조구 3, 건조 3, 침수 3, 복합 4)</a:t>
            </a:r>
          </a:p>
          <a:p>
            <a:pPr marL="201168" indent="-201168">
              <a:spcBef>
                <a:spcPts val="700"/>
              </a:spcBef>
              <a:buFont typeface="Arial"/>
              <a:buChar char="•"/>
            </a:pPr>
            <a:r>
              <a:rPr sz="1400" b="0">
                <a:solidFill>
                  <a:srgbClr val="000000"/>
                </a:solidFill>
              </a:rPr>
              <a:t>처리 간 차이 없음: V</a:t>
            </a:r>
            <a:r>
              <a:rPr sz="1400" b="0" baseline="-25000">
                <a:solidFill>
                  <a:srgbClr val="000000"/>
                </a:solidFill>
              </a:rPr>
              <a:t>cmax</a:t>
            </a:r>
            <a:r>
              <a:rPr sz="1400" b="0">
                <a:solidFill>
                  <a:srgbClr val="000000"/>
                </a:solidFill>
              </a:rPr>
              <a:t> P=0.23, J</a:t>
            </a:r>
            <a:r>
              <a:rPr sz="1400" b="0" baseline="-25000">
                <a:solidFill>
                  <a:srgbClr val="000000"/>
                </a:solidFill>
              </a:rPr>
              <a:t>max</a:t>
            </a:r>
            <a:r>
              <a:rPr sz="1400" b="0">
                <a:solidFill>
                  <a:srgbClr val="000000"/>
                </a:solidFill>
              </a:rPr>
              <a:t> P=0.15, R</a:t>
            </a:r>
            <a:r>
              <a:rPr sz="1400" b="0" baseline="-25000">
                <a:solidFill>
                  <a:srgbClr val="000000"/>
                </a:solidFill>
              </a:rPr>
              <a:t>d</a:t>
            </a:r>
            <a:r>
              <a:rPr sz="1400" b="0">
                <a:solidFill>
                  <a:srgbClr val="000000"/>
                </a:solidFill>
              </a:rPr>
              <a:t> P=0.34</a:t>
            </a:r>
          </a:p>
          <a:p>
            <a:pPr marL="201168" indent="-201168">
              <a:spcBef>
                <a:spcPts val="700"/>
              </a:spcBef>
              <a:buFont typeface="Arial"/>
              <a:buChar char="•"/>
            </a:pPr>
            <a:r>
              <a:rPr sz="1400" b="0">
                <a:solidFill>
                  <a:srgbClr val="000000"/>
                </a:solidFill>
              </a:rPr>
              <a:t>A-Q 광곡선은 8월 측정 없음 (A</a:t>
            </a:r>
            <a:r>
              <a:rPr sz="1400" b="0" baseline="-25000">
                <a:solidFill>
                  <a:srgbClr val="000000"/>
                </a:solidFill>
              </a:rPr>
              <a:t>max</a:t>
            </a:r>
            <a:r>
              <a:rPr sz="1400" b="0">
                <a:solidFill>
                  <a:srgbClr val="000000"/>
                </a:solidFill>
              </a:rPr>
              <a:t>·α는 9월부터)</a:t>
            </a:r>
          </a:p>
          <a:p>
            <a:pPr marL="201168" indent="-201168">
              <a:spcBef>
                <a:spcPts val="700"/>
              </a:spcBef>
              <a:buFont typeface="Arial"/>
              <a:buChar char="•"/>
            </a:pPr>
            <a:r>
              <a:rPr sz="1400" b="0">
                <a:solidFill>
                  <a:srgbClr val="000000"/>
                </a:solidFill>
              </a:rPr>
              <a:t>처리별 측정일이 달라(대조구 8/19, 건조 8/21, 침수 8/19·20, 복합 8/19·21) 처리 효과와 측정일이 섞임</a:t>
            </a:r>
          </a:p>
        </p:txBody>
      </p:sp>
      <p:sp>
        <p:nvSpPr>
          <p:cNvPr id="12" name="Conclusion Box"/>
          <p:cNvSpPr/>
          <p:nvPr/>
        </p:nvSpPr>
        <p:spPr>
          <a:xfrm>
            <a:off x="841248" y="5788152"/>
            <a:ext cx="10570464" cy="566928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8575">
            <a:solidFill>
              <a:srgbClr val="AA57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36576" rIns="137160" bIns="36576" rtlCol="0" anchor="ctr"/>
          <a:lstStyle/>
          <a:p>
            <a:pPr algn="ctr"/>
            <a:r>
              <a:rPr sz="1600" b="0">
                <a:solidFill>
                  <a:srgbClr val="AA572C"/>
                </a:solidFill>
              </a:rPr>
              <a:t>8월 A-Ci 파라미터도 </a:t>
            </a:r>
            <a:r>
              <a:rPr sz="1600" b="1">
                <a:solidFill>
                  <a:srgbClr val="AA572C"/>
                </a:solidFill>
              </a:rPr>
              <a:t>처리 간 차이 없음</a:t>
            </a:r>
            <a:r>
              <a:rPr sz="1600" b="0">
                <a:solidFill>
                  <a:srgbClr val="AA572C"/>
                </a:solidFill>
              </a:rPr>
              <a:t> (처리당 3~4곡선)</a:t>
            </a:r>
          </a:p>
        </p:txBody>
      </p:sp>
      <p:sp>
        <p:nvSpPr>
          <p:cNvPr id="13" name="Footnote"/>
          <p:cNvSpPr txBox="1"/>
          <p:nvPr/>
        </p:nvSpPr>
        <p:spPr>
          <a:xfrm>
            <a:off x="457200" y="6473952"/>
            <a:ext cx="8138160" cy="310896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r>
              <a:rPr sz="1000" b="0">
                <a:solidFill>
                  <a:srgbClr val="595959"/>
                </a:solidFill>
              </a:rPr>
              <a:t>상자·점: 개별 곡선, 문자는 4처리 Tukey (ANOVA P≥0.05는 모두 a). 밭콩 8월: 260819 파라미터 엑셀 'Aci 선택적 데이터' 시트. 슬라이드 12(9월)와 측정일·계절이 달라 합치지 않음.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50686"/>
            <a:ext cx="10515600" cy="950797"/>
          </a:xfrm>
        </p:spPr>
        <p:txBody>
          <a:bodyPr>
            <a:normAutofit/>
          </a:bodyPr>
          <a:lstStyle/>
          <a:p>
            <a:r>
              <a:rPr lang="en-US" altLang="ko-KR" sz="2400" dirty="0">
                <a:latin typeface="Times New Roman"/>
                <a:cs typeface="Times New Roman"/>
              </a:rPr>
              <a:t>Photosynthesis</a:t>
            </a:r>
            <a:br>
              <a:rPr lang="en-US" altLang="ko-KR" sz="2800" dirty="0"/>
            </a:br>
            <a:r>
              <a:rPr lang="ko-KR" altLang="en-US" sz="3200" dirty="0"/>
              <a:t>LI-6800 광-광합성 곡선 (A-Q)</a:t>
            </a:r>
          </a:p>
        </p:txBody>
      </p:sp>
      <p:pic>
        <p:nvPicPr>
          <p:cNvPr id="3" name="Logo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9058" y="129246"/>
            <a:ext cx="2242456" cy="729364"/>
          </a:xfrm>
          <a:prstGeom prst="rect">
            <a:avLst/>
          </a:prstGeom>
        </p:spPr>
      </p:pic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98FA03D2-03B7-0D84-2206-40CA69A8D76A}"/>
              </a:ext>
            </a:extLst>
          </p:cNvPr>
          <p:cNvCxnSpPr>
            <a:cxnSpLocks/>
          </p:cNvCxnSpPr>
          <p:nvPr/>
        </p:nvCxnSpPr>
        <p:spPr>
          <a:xfrm>
            <a:off x="783772" y="1002621"/>
            <a:ext cx="10624457" cy="0"/>
          </a:xfrm>
          <a:prstGeom prst="line">
            <a:avLst/>
          </a:prstGeom>
          <a:ln w="571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D96D3AE-CC3D-A909-29AD-1EF41A97CF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BCED27-B7FD-4F82-BD12-1C1B2F10C096}" type="slidenum">
              <a:rPr lang="ko-KR" altLang="en-US" smtClean="0"/>
              <a:t>19</a:t>
            </a:fld>
            <a:endParaRPr lang="ko-KR" altLang="en-US"/>
          </a:p>
        </p:txBody>
      </p:sp>
      <p:pic>
        <p:nvPicPr>
          <p:cNvPr id="14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393195"/>
            <a:ext cx="7040880" cy="2349747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88806255"/>
              </p:ext>
            </p:extLst>
          </p:nvPr>
        </p:nvGraphicFramePr>
        <p:xfrm>
          <a:off x="457200" y="4343400"/>
          <a:ext cx="6858000" cy="905256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50" b="1" dirty="0">
                          <a:solidFill>
                            <a:srgbClr val="000000"/>
                          </a:solidFill>
                        </a:rPr>
                        <a:t>A at PPFD 1500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00000"/>
                          </a:solidFill>
                        </a:rPr>
                        <a:t>Pre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00000"/>
                          </a:solidFill>
                        </a:rPr>
                        <a:t>ETc 100%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00000"/>
                          </a:solidFill>
                        </a:rPr>
                        <a:t>ETc 50%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1" dirty="0">
                          <a:solidFill>
                            <a:srgbClr val="000000"/>
                          </a:solidFill>
                        </a:rPr>
                        <a:t>Waterlogging</a:t>
                      </a:r>
                      <a:r>
                        <a:rPr sz="1050" b="1" dirty="0">
                          <a:solidFill>
                            <a:srgbClr val="000000"/>
                          </a:solidFill>
                        </a:rPr>
                        <a:t>-100%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50" b="1" dirty="0">
                          <a:solidFill>
                            <a:srgbClr val="000000"/>
                          </a:solidFill>
                        </a:rPr>
                        <a:t>Waterlogging</a:t>
                      </a:r>
                      <a:r>
                        <a:rPr sz="1050" b="1" dirty="0">
                          <a:solidFill>
                            <a:srgbClr val="000000"/>
                          </a:solidFill>
                        </a:rPr>
                        <a:t>-50%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lang="en-US" sz="1050" b="0" dirty="0">
                          <a:solidFill>
                            <a:srgbClr val="000000"/>
                          </a:solidFill>
                        </a:rPr>
                        <a:t>Soybean</a:t>
                      </a:r>
                      <a:endParaRPr sz="1050" b="0" dirty="0">
                        <a:solidFill>
                          <a:srgbClr val="000000"/>
                        </a:solidFill>
                      </a:endParaRP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00000"/>
                          </a:solidFill>
                        </a:rPr>
                        <a:t>12.9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00000"/>
                          </a:solidFill>
                        </a:rPr>
                        <a:t>16.4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00000"/>
                          </a:solidFill>
                        </a:rPr>
                        <a:t>16.7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00000"/>
                          </a:solidFill>
                        </a:rPr>
                        <a:t>12.5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00000"/>
                          </a:solidFill>
                        </a:rPr>
                        <a:t>15.8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1270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</a:rPr>
                        <a:t>Romaine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00000"/>
                          </a:solidFill>
                        </a:rPr>
                        <a:t>22.6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00000"/>
                          </a:solidFill>
                        </a:rPr>
                        <a:t>19.5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00000"/>
                          </a:solidFill>
                        </a:rPr>
                        <a:t>19.5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00000"/>
                          </a:solidFill>
                        </a:rPr>
                        <a:t>21.2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dirty="0">
                          <a:solidFill>
                            <a:srgbClr val="000000"/>
                          </a:solidFill>
                        </a:rPr>
                        <a:t>17.7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" name="Card 요점"/>
          <p:cNvSpPr/>
          <p:nvPr/>
        </p:nvSpPr>
        <p:spPr>
          <a:xfrm>
            <a:off x="7498079" y="1399032"/>
            <a:ext cx="4206240" cy="4133087"/>
          </a:xfrm>
          <a:prstGeom prst="roundRect">
            <a:avLst>
              <a:gd name="adj" fmla="val 3400"/>
            </a:avLst>
          </a:prstGeom>
          <a:solidFill>
            <a:srgbClr val="FBFBFB"/>
          </a:solidFill>
          <a:ln w="12700">
            <a:solidFill>
              <a:srgbClr val="AFAF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Header 요점"/>
          <p:cNvSpPr/>
          <p:nvPr/>
        </p:nvSpPr>
        <p:spPr>
          <a:xfrm>
            <a:off x="7680959" y="1188720"/>
            <a:ext cx="3840479" cy="420624"/>
          </a:xfrm>
          <a:prstGeom prst="roundRect">
            <a:avLst>
              <a:gd name="adj" fmla="val 25000"/>
            </a:avLst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27432" rIns="73152" bIns="27432"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요점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59" y="1783080"/>
            <a:ext cx="3886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01168" indent="-201168">
              <a:spcBef>
                <a:spcPts val="0"/>
              </a:spcBef>
              <a:buFont typeface="Arial"/>
              <a:buChar char="•"/>
            </a:pPr>
            <a:r>
              <a:rPr sz="1400" b="0">
                <a:solidFill>
                  <a:srgbClr val="000000"/>
                </a:solidFill>
              </a:rPr>
              <a:t>PPFD 8개 수준 모두에서 처리 간 유의차 없음 (최소 P: 밭콩 0.057, 로메인 0.533)</a:t>
            </a:r>
          </a:p>
          <a:p>
            <a:pPr marL="201168" indent="-201168">
              <a:spcBef>
                <a:spcPts val="700"/>
              </a:spcBef>
              <a:buFont typeface="Arial"/>
              <a:buChar char="•"/>
            </a:pPr>
            <a:r>
              <a:rPr sz="1400" b="0">
                <a:solidFill>
                  <a:srgbClr val="000000"/>
                </a:solidFill>
              </a:rPr>
              <a:t>처리 전 곡선은 콩에서 처리 후보다 낮음 (1500에서 약 13), 로메인은 처리 전 약 23으로 처리 후(18~21)보다 높음</a:t>
            </a:r>
          </a:p>
          <a:p>
            <a:pPr marL="201168" indent="-201168">
              <a:spcBef>
                <a:spcPts val="700"/>
              </a:spcBef>
              <a:buFont typeface="Arial"/>
              <a:buChar char="•"/>
            </a:pPr>
            <a:r>
              <a:rPr sz="1400" b="0">
                <a:solidFill>
                  <a:srgbClr val="000000"/>
                </a:solidFill>
              </a:rPr>
              <a:t>밭콩 침수구는 12.5로 대조구 16.4보다 낮은 경향 (P≈0.06)</a:t>
            </a:r>
          </a:p>
          <a:p>
            <a:pPr marL="201168" indent="-201168">
              <a:spcBef>
                <a:spcPts val="700"/>
              </a:spcBef>
              <a:buFont typeface="Arial"/>
              <a:buChar char="•"/>
            </a:pPr>
            <a:r>
              <a:rPr sz="1400" b="0">
                <a:solidFill>
                  <a:srgbClr val="000000"/>
                </a:solidFill>
              </a:rPr>
              <a:t>로메인 복합구는 17.7로 낮은 경향 (n.s.)</a:t>
            </a:r>
          </a:p>
        </p:txBody>
      </p:sp>
      <p:sp>
        <p:nvSpPr>
          <p:cNvPr id="12" name="Conclusion Box"/>
          <p:cNvSpPr/>
          <p:nvPr/>
        </p:nvSpPr>
        <p:spPr>
          <a:xfrm>
            <a:off x="841248" y="5788152"/>
            <a:ext cx="10570464" cy="566928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8575">
            <a:solidFill>
              <a:srgbClr val="AA57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36576" rIns="137160" bIns="36576" rtlCol="0" anchor="ctr"/>
          <a:lstStyle/>
          <a:p>
            <a:pPr algn="ctr"/>
            <a:r>
              <a:rPr sz="1600" b="0">
                <a:solidFill>
                  <a:srgbClr val="AA572C"/>
                </a:solidFill>
              </a:rPr>
              <a:t>콩은 처리 후가 처리 전보다 높고, 두 작물 모두 처리 간 A-Q 곡선 차이는 없음</a:t>
            </a:r>
          </a:p>
        </p:txBody>
      </p:sp>
      <p:sp>
        <p:nvSpPr>
          <p:cNvPr id="13" name="Footnote"/>
          <p:cNvSpPr txBox="1"/>
          <p:nvPr/>
        </p:nvSpPr>
        <p:spPr>
          <a:xfrm>
            <a:off x="457200" y="6473952"/>
            <a:ext cx="8138160" cy="310896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r>
              <a:rPr sz="1000" b="0">
                <a:solidFill>
                  <a:srgbClr val="595959"/>
                </a:solidFill>
              </a:rPr>
              <a:t>값: 평균 ± SE (µmol CO</a:t>
            </a:r>
            <a:r>
              <a:rPr sz="1000" b="0" baseline="-25000">
                <a:solidFill>
                  <a:srgbClr val="595959"/>
                </a:solidFill>
              </a:rPr>
              <a:t>2</a:t>
            </a:r>
            <a:r>
              <a:rPr sz="1000" b="0">
                <a:solidFill>
                  <a:srgbClr val="595959"/>
                </a:solidFill>
              </a:rPr>
              <a:t> m</a:t>
            </a:r>
            <a:r>
              <a:rPr sz="1000" b="0" baseline="30000">
                <a:solidFill>
                  <a:srgbClr val="595959"/>
                </a:solidFill>
              </a:rPr>
              <a:t>−2</a:t>
            </a:r>
            <a:r>
              <a:rPr sz="1000" b="0">
                <a:solidFill>
                  <a:srgbClr val="595959"/>
                </a:solidFill>
              </a:rPr>
              <a:t>·s</a:t>
            </a:r>
            <a:r>
              <a:rPr sz="1000" b="0" baseline="30000">
                <a:solidFill>
                  <a:srgbClr val="595959"/>
                </a:solidFill>
              </a:rPr>
              <a:t>−1</a:t>
            </a:r>
            <a:r>
              <a:rPr sz="1000" b="0">
                <a:solidFill>
                  <a:srgbClr val="595959"/>
                </a:solidFill>
              </a:rPr>
              <a:t>). 밭콩 처리 전 7/22~23(3곡선), 로메인 처리 전 10/4(3곡선), 처리 후 처리당 3곡선(10/16~19). PPFD 수준별 Tukey.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50686"/>
            <a:ext cx="10515600" cy="950797"/>
          </a:xfrm>
        </p:spPr>
        <p:txBody>
          <a:bodyPr>
            <a:normAutofit/>
          </a:bodyPr>
          <a:lstStyle/>
          <a:p>
            <a:r>
              <a:rPr lang="en-US" altLang="ko-KR" sz="2400" dirty="0">
                <a:latin typeface="Times New Roman"/>
                <a:cs typeface="Times New Roman"/>
              </a:rPr>
              <a:t>Chlorophyll fluorescence</a:t>
            </a:r>
            <a:br>
              <a:rPr lang="en-US" altLang="ko-KR" sz="2800" dirty="0"/>
            </a:br>
            <a:r>
              <a:rPr lang="ko-KR" altLang="en-US" sz="3200" dirty="0"/>
              <a:t>LI-6800 광도별 형광 반응 (처리 전 포함)</a:t>
            </a:r>
          </a:p>
        </p:txBody>
      </p:sp>
      <p:pic>
        <p:nvPicPr>
          <p:cNvPr id="3" name="Logo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9058" y="129246"/>
            <a:ext cx="2242456" cy="729364"/>
          </a:xfrm>
          <a:prstGeom prst="rect">
            <a:avLst/>
          </a:prstGeom>
        </p:spPr>
      </p:pic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98FA03D2-03B7-0D84-2206-40CA69A8D76A}"/>
              </a:ext>
            </a:extLst>
          </p:cNvPr>
          <p:cNvCxnSpPr>
            <a:cxnSpLocks/>
          </p:cNvCxnSpPr>
          <p:nvPr/>
        </p:nvCxnSpPr>
        <p:spPr>
          <a:xfrm>
            <a:off x="783772" y="1002621"/>
            <a:ext cx="10624457" cy="0"/>
          </a:xfrm>
          <a:prstGeom prst="line">
            <a:avLst/>
          </a:prstGeom>
          <a:ln w="571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D96D3AE-CC3D-A909-29AD-1EF41A97CF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BCED27-B7FD-4F82-BD12-1C1B2F10C096}" type="slidenum">
              <a:rPr lang="ko-KR" altLang="en-US" smtClean="0"/>
              <a:t>20</a:t>
            </a:fld>
            <a:endParaRPr lang="ko-KR" altLang="en-US"/>
          </a:p>
        </p:txBody>
      </p:sp>
      <p:pic>
        <p:nvPicPr>
          <p:cNvPr id="14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9660" y="1353312"/>
            <a:ext cx="5961640" cy="3986784"/>
          </a:xfrm>
          <a:prstGeom prst="rect">
            <a:avLst/>
          </a:prstGeom>
        </p:spPr>
      </p:pic>
      <p:sp>
        <p:nvSpPr>
          <p:cNvPr id="8" name="Card PPFD별 Dunc"/>
          <p:cNvSpPr/>
          <p:nvPr/>
        </p:nvSpPr>
        <p:spPr>
          <a:xfrm>
            <a:off x="7498079" y="1399032"/>
            <a:ext cx="4206240" cy="4133087"/>
          </a:xfrm>
          <a:prstGeom prst="roundRect">
            <a:avLst>
              <a:gd name="adj" fmla="val 3400"/>
            </a:avLst>
          </a:prstGeom>
          <a:solidFill>
            <a:srgbClr val="FBFBFB"/>
          </a:solidFill>
          <a:ln w="12700">
            <a:solidFill>
              <a:srgbClr val="AFAF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Header PPFD별 Dunc"/>
          <p:cNvSpPr/>
          <p:nvPr/>
        </p:nvSpPr>
        <p:spPr>
          <a:xfrm>
            <a:off x="7680959" y="1188720"/>
            <a:ext cx="3840479" cy="420624"/>
          </a:xfrm>
          <a:prstGeom prst="roundRect">
            <a:avLst>
              <a:gd name="adj" fmla="val 25000"/>
            </a:avLst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27432" rIns="73152" bIns="27432"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PPFD별 최소 P (8개 광도)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680960" y="1783080"/>
          <a:ext cx="3749040" cy="1901952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37744">
                <a:tc>
                  <a:txBody>
                    <a:bodyPr/>
                    <a:lstStyle/>
                    <a:p>
                      <a:pPr algn="l"/>
                      <a:r>
                        <a:rPr sz="1050" b="1" dirty="0">
                          <a:solidFill>
                            <a:srgbClr val="000000"/>
                          </a:solidFill>
                        </a:rPr>
                        <a:t>Variable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1" dirty="0">
                          <a:solidFill>
                            <a:srgbClr val="000000"/>
                          </a:solidFill>
                        </a:rPr>
                        <a:t>Soybean</a:t>
                      </a:r>
                      <a:r>
                        <a:rPr sz="1050" b="1" dirty="0">
                          <a:solidFill>
                            <a:srgbClr val="000000"/>
                          </a:solidFill>
                        </a:rPr>
                        <a:t> min P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00000"/>
                          </a:solidFill>
                        </a:rPr>
                        <a:t>Romaine min P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</a:rPr>
                        <a:t>qP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00000"/>
                          </a:solidFill>
                        </a:rPr>
                        <a:t>0.225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00000"/>
                          </a:solidFill>
                        </a:rPr>
                        <a:t>–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1270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</a:rPr>
                        <a:t>NPQ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00000"/>
                          </a:solidFill>
                        </a:rPr>
                        <a:t>0.276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00000"/>
                          </a:solidFill>
                        </a:rPr>
                        <a:t>–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</a:rPr>
                        <a:t>ETR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00000"/>
                          </a:solidFill>
                        </a:rPr>
                        <a:t>0.200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00000"/>
                          </a:solidFill>
                        </a:rPr>
                        <a:t>–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</a:rPr>
                        <a:t>Φ</a:t>
                      </a:r>
                      <a:r>
                        <a:rPr sz="1050" b="0" baseline="-25000">
                          <a:solidFill>
                            <a:srgbClr val="000000"/>
                          </a:solidFill>
                        </a:rPr>
                        <a:t>PSII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00000"/>
                          </a:solidFill>
                        </a:rPr>
                        <a:t>0.200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00000"/>
                          </a:solidFill>
                        </a:rPr>
                        <a:t>–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</a:rPr>
                        <a:t>Φ</a:t>
                      </a:r>
                      <a:r>
                        <a:rPr sz="1050" b="0" baseline="-25000">
                          <a:solidFill>
                            <a:srgbClr val="000000"/>
                          </a:solidFill>
                        </a:rPr>
                        <a:t>NPQ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00000"/>
                          </a:solidFill>
                        </a:rPr>
                        <a:t>0.310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00000"/>
                          </a:solidFill>
                        </a:rPr>
                        <a:t>–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</a:rPr>
                        <a:t>Φ</a:t>
                      </a:r>
                      <a:r>
                        <a:rPr sz="1050" b="0" baseline="-25000">
                          <a:solidFill>
                            <a:srgbClr val="000000"/>
                          </a:solidFill>
                        </a:rPr>
                        <a:t>NO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00000"/>
                          </a:solidFill>
                        </a:rPr>
                        <a:t>0.174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00000"/>
                          </a:solidFill>
                        </a:rPr>
                        <a:t>–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</a:rPr>
                        <a:t>qL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00000"/>
                          </a:solidFill>
                        </a:rPr>
                        <a:t>0.261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00000"/>
                          </a:solidFill>
                        </a:rPr>
                        <a:t>–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7680960" y="3749039"/>
            <a:ext cx="38862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01168" indent="-201168">
              <a:buFont typeface="Arial"/>
              <a:buChar char="•"/>
            </a:pPr>
            <a:r>
              <a:rPr sz="1100">
                <a:solidFill>
                  <a:srgbClr val="000000"/>
                </a:solidFill>
              </a:rPr>
              <a:t>F</a:t>
            </a:r>
            <a:r>
              <a:rPr sz="1100" baseline="-25000">
                <a:solidFill>
                  <a:srgbClr val="000000"/>
                </a:solidFill>
              </a:rPr>
              <a:t>o</a:t>
            </a:r>
            <a:r>
              <a:rPr sz="1100">
                <a:solidFill>
                  <a:srgbClr val="000000"/>
                </a:solidFill>
              </a:rPr>
              <a:t>·F</a:t>
            </a:r>
            <a:r>
              <a:rPr sz="1100" baseline="-25000">
                <a:solidFill>
                  <a:srgbClr val="000000"/>
                </a:solidFill>
              </a:rPr>
              <a:t>m</a:t>
            </a:r>
            <a:r>
              <a:rPr sz="1100">
                <a:solidFill>
                  <a:srgbClr val="000000"/>
                </a:solidFill>
              </a:rPr>
              <a:t>: 처리별 평균 적용 (콩 9/28 n=6)</a:t>
            </a:r>
          </a:p>
          <a:p>
            <a:pPr marL="201168" indent="-201168">
              <a:buFont typeface="Arial"/>
              <a:buChar char="•"/>
            </a:pPr>
            <a:r>
              <a:rPr sz="1100">
                <a:solidFill>
                  <a:srgbClr val="000000"/>
                </a:solidFill>
              </a:rPr>
              <a:t>8개 광도 모두 콩 처리 간 유의차 없음</a:t>
            </a:r>
          </a:p>
          <a:p>
            <a:pPr marL="201168" indent="-201168">
              <a:buFont typeface="Arial"/>
              <a:buChar char="•"/>
            </a:pPr>
            <a:r>
              <a:rPr sz="1100">
                <a:solidFill>
                  <a:srgbClr val="000000"/>
                </a:solidFill>
              </a:rPr>
              <a:t>로메인: LI-6800 광도별 형광 반응 자료 없음 (LI-600 형광은 12~15쪽)</a:t>
            </a:r>
          </a:p>
        </p:txBody>
      </p:sp>
      <p:sp>
        <p:nvSpPr>
          <p:cNvPr id="12" name="Conclusion Box"/>
          <p:cNvSpPr/>
          <p:nvPr/>
        </p:nvSpPr>
        <p:spPr>
          <a:xfrm>
            <a:off x="841248" y="5788152"/>
            <a:ext cx="10570464" cy="566928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8575">
            <a:solidFill>
              <a:srgbClr val="AA57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36576" rIns="137160" bIns="36576" rtlCol="0" anchor="ctr"/>
          <a:lstStyle/>
          <a:p>
            <a:pPr algn="ctr"/>
            <a:r>
              <a:rPr sz="1600" b="0">
                <a:solidFill>
                  <a:srgbClr val="E97132"/>
                </a:solidFill>
              </a:rPr>
              <a:t>콩 광도-반응 곡선은 처리 간 유의차 없음</a:t>
            </a:r>
          </a:p>
        </p:txBody>
      </p:sp>
      <p:sp>
        <p:nvSpPr>
          <p:cNvPr id="13" name="Footnote"/>
          <p:cNvSpPr txBox="1"/>
          <p:nvPr/>
        </p:nvSpPr>
        <p:spPr>
          <a:xfrm>
            <a:off x="457200" y="6473952"/>
            <a:ext cx="8138160" cy="310896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r>
              <a:rPr sz="1000" b="0">
                <a:solidFill>
                  <a:srgbClr val="595959"/>
                </a:solidFill>
              </a:rPr>
              <a:t>F</a:t>
            </a:r>
            <a:r>
              <a:rPr sz="1000" b="0" baseline="-25000">
                <a:solidFill>
                  <a:srgbClr val="595959"/>
                </a:solidFill>
              </a:rPr>
              <a:t>o</a:t>
            </a:r>
            <a:r>
              <a:rPr sz="1000" b="0">
                <a:solidFill>
                  <a:srgbClr val="595959"/>
                </a:solidFill>
              </a:rPr>
              <a:t>·F</a:t>
            </a:r>
            <a:r>
              <a:rPr sz="1000" b="0" baseline="-25000">
                <a:solidFill>
                  <a:srgbClr val="595959"/>
                </a:solidFill>
              </a:rPr>
              <a:t>m</a:t>
            </a:r>
            <a:r>
              <a:rPr sz="1000" b="0">
                <a:solidFill>
                  <a:srgbClr val="595959"/>
                </a:solidFill>
              </a:rPr>
              <a:t> 처리별 평균(콩 9/28 F</a:t>
            </a:r>
            <a:r>
              <a:rPr sz="1000" b="0" baseline="-25000">
                <a:solidFill>
                  <a:srgbClr val="595959"/>
                </a:solidFill>
              </a:rPr>
              <a:t>m</a:t>
            </a:r>
            <a:r>
              <a:rPr sz="1000" b="0">
                <a:solidFill>
                  <a:srgbClr val="595959"/>
                </a:solidFill>
              </a:rPr>
              <a:t> P=0.020), 처리 전은 대조구 값. 평균 ± SE.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50686"/>
            <a:ext cx="10515600" cy="950797"/>
          </a:xfrm>
        </p:spPr>
        <p:txBody>
          <a:bodyPr>
            <a:normAutofit/>
          </a:bodyPr>
          <a:lstStyle/>
          <a:p>
            <a:r>
              <a:rPr lang="en-US" altLang="ko-KR" sz="2400" dirty="0">
                <a:latin typeface="Times New Roman"/>
                <a:cs typeface="Times New Roman"/>
              </a:rPr>
              <a:t>Growth</a:t>
            </a:r>
            <a:br>
              <a:rPr lang="en-US" altLang="ko-KR" sz="2800" dirty="0"/>
            </a:br>
            <a:r>
              <a:rPr lang="ko-KR" altLang="en-US" sz="3200" dirty="0"/>
              <a:t>생육 비교: 실제 측정값</a:t>
            </a:r>
          </a:p>
        </p:txBody>
      </p:sp>
      <p:pic>
        <p:nvPicPr>
          <p:cNvPr id="3" name="Logo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9058" y="129246"/>
            <a:ext cx="2242456" cy="729364"/>
          </a:xfrm>
          <a:prstGeom prst="rect">
            <a:avLst/>
          </a:prstGeom>
        </p:spPr>
      </p:pic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98FA03D2-03B7-0D84-2206-40CA69A8D76A}"/>
              </a:ext>
            </a:extLst>
          </p:cNvPr>
          <p:cNvCxnSpPr>
            <a:cxnSpLocks/>
          </p:cNvCxnSpPr>
          <p:nvPr/>
        </p:nvCxnSpPr>
        <p:spPr>
          <a:xfrm>
            <a:off x="783772" y="1002621"/>
            <a:ext cx="10624457" cy="0"/>
          </a:xfrm>
          <a:prstGeom prst="line">
            <a:avLst/>
          </a:prstGeom>
          <a:ln w="571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D96D3AE-CC3D-A909-29AD-1EF41A97CF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BCED27-B7FD-4F82-BD12-1C1B2F10C096}" type="slidenum">
              <a:rPr lang="ko-KR" altLang="en-US" smtClean="0"/>
              <a:t>21</a:t>
            </a:fld>
            <a:endParaRPr lang="ko-KR" altLang="en-US"/>
          </a:p>
        </p:txBody>
      </p:sp>
      <p:pic>
        <p:nvPicPr>
          <p:cNvPr id="14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199" y="1325880"/>
            <a:ext cx="7040880" cy="1807159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4747526"/>
              </p:ext>
            </p:extLst>
          </p:nvPr>
        </p:nvGraphicFramePr>
        <p:xfrm>
          <a:off x="457200" y="3218688"/>
          <a:ext cx="6940296" cy="2221992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234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32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132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132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1323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1323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1323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1323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1323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000000"/>
                          </a:solidFill>
                        </a:rPr>
                        <a:t>Variable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Sb</a:t>
                      </a:r>
                      <a:r>
                        <a:rPr sz="900" b="1" dirty="0">
                          <a:solidFill>
                            <a:srgbClr val="000000"/>
                          </a:solidFill>
                        </a:rPr>
                        <a:t> </a:t>
                      </a:r>
                      <a:r>
                        <a:rPr sz="900" b="1" dirty="0" err="1">
                          <a:solidFill>
                            <a:srgbClr val="000000"/>
                          </a:solidFill>
                        </a:rPr>
                        <a:t>ETc</a:t>
                      </a:r>
                      <a:endParaRPr sz="900" b="1" dirty="0">
                        <a:solidFill>
                          <a:srgbClr val="000000"/>
                        </a:solidFill>
                      </a:endParaRP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Sb</a:t>
                      </a:r>
                      <a:r>
                        <a:rPr sz="900" b="1" dirty="0">
                          <a:solidFill>
                            <a:srgbClr val="000000"/>
                          </a:solidFill>
                        </a:rPr>
                        <a:t> ETc50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Sb</a:t>
                      </a:r>
                      <a:r>
                        <a:rPr sz="900" b="1" dirty="0">
                          <a:solidFill>
                            <a:srgbClr val="000000"/>
                          </a:solidFill>
                        </a:rPr>
                        <a:t> Fl100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Sb</a:t>
                      </a:r>
                      <a:r>
                        <a:rPr sz="900" b="1" dirty="0">
                          <a:solidFill>
                            <a:srgbClr val="000000"/>
                          </a:solidFill>
                        </a:rPr>
                        <a:t> Fl50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</a:rPr>
                        <a:t>R ETc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</a:rPr>
                        <a:t>R ETc50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</a:rPr>
                        <a:t>R Fl100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</a:rPr>
                        <a:t>R Fl50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</a:rPr>
                        <a:t>SPAD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</a:rPr>
                        <a:t>46.8 a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</a:rPr>
                        <a:t>38.0 b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</a:rPr>
                        <a:t>37.8 b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dirty="0">
                          <a:solidFill>
                            <a:srgbClr val="000000"/>
                          </a:solidFill>
                        </a:rPr>
                        <a:t>41.1 ab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</a:rPr>
                        <a:t>43.2 ab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</a:rPr>
                        <a:t>44.5 a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</a:rPr>
                        <a:t>39.4 ab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</a:rPr>
                        <a:t>37.7 b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1270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</a:rPr>
                        <a:t>엽면적 (cm</a:t>
                      </a:r>
                      <a:r>
                        <a:rPr sz="900" b="0" baseline="30000">
                          <a:solidFill>
                            <a:srgbClr val="000000"/>
                          </a:solidFill>
                        </a:rPr>
                        <a:t>2</a:t>
                      </a:r>
                      <a:r>
                        <a:rPr sz="900" b="0">
                          <a:solidFill>
                            <a:srgbClr val="000000"/>
                          </a:solidFill>
                        </a:rPr>
                        <a:t>)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</a:rPr>
                        <a:t>5333 a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</a:rPr>
                        <a:t>3578 b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</a:rPr>
                        <a:t>4846 ab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dirty="0">
                          <a:solidFill>
                            <a:srgbClr val="000000"/>
                          </a:solidFill>
                        </a:rPr>
                        <a:t>4186 ab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</a:rPr>
                        <a:t>1599 a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</a:rPr>
                        <a:t>1289 b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</a:rPr>
                        <a:t>1348 ab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</a:rPr>
                        <a:t>1138 b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</a:rPr>
                        <a:t>엽수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</a:rPr>
                        <a:t>46.4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</a:rPr>
                        <a:t>41.5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</a:rPr>
                        <a:t>39.8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</a:rPr>
                        <a:t>46.2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</a:rPr>
                        <a:t>35.6 a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</a:rPr>
                        <a:t>31.1 b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</a:rPr>
                        <a:t>31.4 b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</a:rPr>
                        <a:t>30.4 b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</a:rPr>
                        <a:t>지상부 생체중 (g)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</a:rPr>
                        <a:t>278.1 a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</a:rPr>
                        <a:t>180.4 b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</a:rPr>
                        <a:t>201.3 b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dirty="0">
                          <a:solidFill>
                            <a:srgbClr val="000000"/>
                          </a:solidFill>
                        </a:rPr>
                        <a:t>225.2 ab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dirty="0">
                          <a:solidFill>
                            <a:srgbClr val="000000"/>
                          </a:solidFill>
                        </a:rPr>
                        <a:t>89.9 a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</a:rPr>
                        <a:t>63.5 b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</a:rPr>
                        <a:t>66.3 b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</a:rPr>
                        <a:t>55.4 b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</a:rPr>
                        <a:t>지상부 건조중* (g)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</a:rPr>
                        <a:t>92.2 a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</a:rPr>
                        <a:t>75.4 ab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</a:rPr>
                        <a:t>63.1 b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dirty="0">
                          <a:solidFill>
                            <a:srgbClr val="000000"/>
                          </a:solidFill>
                        </a:rPr>
                        <a:t>84.2 ab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</a:rPr>
                        <a:t>6.47 a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</a:rPr>
                        <a:t>5.43 ab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</a:rPr>
                        <a:t>4.30 bc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</a:rPr>
                        <a:t>3.69 c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</a:rPr>
                        <a:t>총 건조중† (g)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</a:rPr>
                        <a:t>189.7 a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</a:rPr>
                        <a:t>163.8 ab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</a:rPr>
                        <a:t>144.3 b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dirty="0">
                          <a:solidFill>
                            <a:srgbClr val="000000"/>
                          </a:solidFill>
                        </a:rPr>
                        <a:t>186.8 ab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</a:rPr>
                        <a:t>–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</a:rPr>
                        <a:t>–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</a:rPr>
                        <a:t>–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</a:rPr>
                        <a:t>–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</a:rPr>
                        <a:t>종실 건조중 (g)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</a:rPr>
                        <a:t>69.3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</a:rPr>
                        <a:t>66.3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</a:rPr>
                        <a:t>63.0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dirty="0">
                          <a:solidFill>
                            <a:srgbClr val="000000"/>
                          </a:solidFill>
                        </a:rPr>
                        <a:t>57.0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</a:rPr>
                        <a:t>–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</a:rPr>
                        <a:t>–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</a:rPr>
                        <a:t>–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</a:rPr>
                        <a:t>–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</a:rPr>
                        <a:t>뿌리 건조중** (g)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</a:rPr>
                        <a:t>14.7 c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</a:rPr>
                        <a:t>20.8 bc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</a:rPr>
                        <a:t>29.6 ab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dirty="0">
                          <a:solidFill>
                            <a:srgbClr val="000000"/>
                          </a:solidFill>
                        </a:rPr>
                        <a:t>33.8 a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</a:rPr>
                        <a:t>4.46 a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noFill/>
                    </a:lnR>
                    <a:lnT w="12700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</a:rPr>
                        <a:t>2.71 b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</a:rPr>
                        <a:t>2.01 b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dirty="0">
                          <a:solidFill>
                            <a:srgbClr val="000000"/>
                          </a:solidFill>
                        </a:rPr>
                        <a:t>1.45 b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9" name="Card 요점"/>
          <p:cNvSpPr/>
          <p:nvPr/>
        </p:nvSpPr>
        <p:spPr>
          <a:xfrm>
            <a:off x="7498079" y="1399032"/>
            <a:ext cx="4206240" cy="4133087"/>
          </a:xfrm>
          <a:prstGeom prst="roundRect">
            <a:avLst>
              <a:gd name="adj" fmla="val 3400"/>
            </a:avLst>
          </a:prstGeom>
          <a:solidFill>
            <a:srgbClr val="FBFBFB"/>
          </a:solidFill>
          <a:ln w="12700">
            <a:solidFill>
              <a:srgbClr val="AFAF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Header 요점"/>
          <p:cNvSpPr/>
          <p:nvPr/>
        </p:nvSpPr>
        <p:spPr>
          <a:xfrm>
            <a:off x="7680959" y="1188720"/>
            <a:ext cx="3840479" cy="420624"/>
          </a:xfrm>
          <a:prstGeom prst="roundRect">
            <a:avLst>
              <a:gd name="adj" fmla="val 25000"/>
            </a:avLst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27432" rIns="73152" bIns="27432"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요점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59" y="1783080"/>
            <a:ext cx="3886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01168" indent="-201168">
              <a:spcBef>
                <a:spcPts val="0"/>
              </a:spcBef>
              <a:buFont typeface="Arial"/>
              <a:buChar char="•"/>
            </a:pPr>
            <a:r>
              <a:rPr sz="1250">
                <a:solidFill>
                  <a:srgbClr val="000000"/>
                </a:solidFill>
              </a:rPr>
              <a:t>로메인(DAT 16): 지상부 생체중 90 (대조구) &gt; 건조 63·침수 66·복합 55 g, 건조중 6.47 &gt; 5.43 &gt; 4.30 &gt; 3.69 g (침수 P&lt;0.001, 관수 P=0.026, 상호작용 없음)</a:t>
            </a:r>
          </a:p>
          <a:p>
            <a:pPr marL="201168" indent="-201168">
              <a:spcBef>
                <a:spcPts val="700"/>
              </a:spcBef>
              <a:buFont typeface="Arial"/>
              <a:buChar char="•"/>
            </a:pPr>
            <a:r>
              <a:rPr sz="1250">
                <a:solidFill>
                  <a:srgbClr val="000000"/>
                </a:solidFill>
              </a:rPr>
              <a:t>로메인 엽면적 1599 (대조구) vs 1138~1348 cm</a:t>
            </a:r>
            <a:r>
              <a:rPr sz="1250" baseline="30000">
                <a:solidFill>
                  <a:srgbClr val="000000"/>
                </a:solidFill>
              </a:rPr>
              <a:t>2</a:t>
            </a:r>
            <a:r>
              <a:rPr sz="1250">
                <a:solidFill>
                  <a:srgbClr val="000000"/>
                </a:solidFill>
              </a:rPr>
              <a:t>, 엽수 35.6 (a) &gt; 30.4~31.4 (b); 뿌리 건조중 대조구 4.46 (a) &gt; 건조 2.71·침수 2.01·복합 1.45 g (b)</a:t>
            </a:r>
          </a:p>
          <a:p>
            <a:pPr marL="201168" indent="-201168">
              <a:spcBef>
                <a:spcPts val="700"/>
              </a:spcBef>
              <a:buFont typeface="Arial"/>
              <a:buChar char="•"/>
            </a:pPr>
            <a:r>
              <a:rPr sz="1250">
                <a:solidFill>
                  <a:srgbClr val="000000"/>
                </a:solidFill>
              </a:rPr>
              <a:t>밭콩 10/6 (전 개체): 잎+줄기 생체중 대조구 258 ≈ 복합 260 (a) &gt; 건조 184 (b) (P=0.026, 침수×관수 P=0.008), SPAD 대조구 46.8 (a) &gt; 침수 34.7 (c) (침수×관수 P&lt;0.001)</a:t>
            </a:r>
          </a:p>
          <a:p>
            <a:pPr marL="201168" indent="-201168">
              <a:spcBef>
                <a:spcPts val="700"/>
              </a:spcBef>
              <a:buFont typeface="Arial"/>
              <a:buChar char="•"/>
            </a:pPr>
            <a:r>
              <a:rPr sz="1250">
                <a:solidFill>
                  <a:srgbClr val="000000"/>
                </a:solidFill>
              </a:rPr>
              <a:t>밭콩 총 건조중 158~179 g (P=0.89), 종실 57~63 g (P=0.95)은 차이 없음 — 검출 한계 약 40~50%, 뿌리 이탈로 근거는 약함</a:t>
            </a:r>
          </a:p>
          <a:p>
            <a:pPr marL="201168" indent="-201168">
              <a:spcBef>
                <a:spcPts val="700"/>
              </a:spcBef>
              <a:buFont typeface="Arial"/>
              <a:buChar char="•"/>
            </a:pPr>
            <a:r>
              <a:rPr sz="1250">
                <a:solidFill>
                  <a:srgbClr val="000000"/>
                </a:solidFill>
              </a:rPr>
              <a:t>밭콩 뿌리 건조중은 포트 안 회수분만 반영되어 처리 효과 근거로 쓰지 않음 (참고)</a:t>
            </a:r>
          </a:p>
        </p:txBody>
      </p:sp>
      <p:sp>
        <p:nvSpPr>
          <p:cNvPr id="12" name="Conclusion Box"/>
          <p:cNvSpPr/>
          <p:nvPr/>
        </p:nvSpPr>
        <p:spPr>
          <a:xfrm>
            <a:off x="841248" y="5788152"/>
            <a:ext cx="10570464" cy="566928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8575">
            <a:solidFill>
              <a:srgbClr val="AA57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36576" rIns="137160" bIns="36576" rtlCol="0" anchor="ctr"/>
          <a:lstStyle/>
          <a:p>
            <a:pPr algn="ctr"/>
            <a:r>
              <a:rPr sz="1600">
                <a:solidFill>
                  <a:srgbClr val="AA572C"/>
                </a:solidFill>
              </a:rPr>
              <a:t>로메인은 건조·침수 모두 생육 감소(복합 −43%), 콩은 잎+줄기 생체중·SPAD 외 차이 없음</a:t>
            </a:r>
          </a:p>
        </p:txBody>
      </p:sp>
      <p:sp>
        <p:nvSpPr>
          <p:cNvPr id="13" name="Footnote"/>
          <p:cNvSpPr txBox="1"/>
          <p:nvPr/>
        </p:nvSpPr>
        <p:spPr>
          <a:xfrm>
            <a:off x="457200" y="6473952"/>
            <a:ext cx="8138160" cy="310896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r>
              <a:rPr sz="1000">
                <a:solidFill>
                  <a:srgbClr val="595959"/>
                </a:solidFill>
              </a:rPr>
              <a:t>B: 밭콩 10/6, R: 로메인 10/23, 평균·Tukey 문자(ANOVA P&lt;0.05일 때만), 전 개체 사용(이상치 제거 없음). *밭콩 = 잎+줄기, 로메인 = 지상부 전체. †밭콩 = 잎+줄기+꼬투리+종실. **밭콩은 포트 안 회수분, 로메인은 배지 제외.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50686"/>
            <a:ext cx="10515600" cy="950797"/>
          </a:xfrm>
        </p:spPr>
        <p:txBody>
          <a:bodyPr>
            <a:normAutofit/>
          </a:bodyPr>
          <a:lstStyle/>
          <a:p>
            <a:r>
              <a:rPr lang="en-US" altLang="ko-KR" sz="2400" dirty="0">
                <a:latin typeface="Times New Roman"/>
                <a:cs typeface="Times New Roman"/>
              </a:rPr>
              <a:t>Growth</a:t>
            </a:r>
            <a:br>
              <a:rPr lang="en-US" altLang="ko-KR" sz="2800" dirty="0"/>
            </a:br>
            <a:r>
              <a:rPr lang="ko-KR" altLang="en-US" sz="3200" dirty="0"/>
              <a:t>캐노피 투영 엽면적: 침수 후 확장 지연</a:t>
            </a:r>
          </a:p>
        </p:txBody>
      </p:sp>
      <p:pic>
        <p:nvPicPr>
          <p:cNvPr id="3" name="Logo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9058" y="129246"/>
            <a:ext cx="2242456" cy="729364"/>
          </a:xfrm>
          <a:prstGeom prst="rect">
            <a:avLst/>
          </a:prstGeom>
        </p:spPr>
      </p:pic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98FA03D2-03B7-0D84-2206-40CA69A8D76A}"/>
              </a:ext>
            </a:extLst>
          </p:cNvPr>
          <p:cNvCxnSpPr>
            <a:cxnSpLocks/>
          </p:cNvCxnSpPr>
          <p:nvPr/>
        </p:nvCxnSpPr>
        <p:spPr>
          <a:xfrm>
            <a:off x="783772" y="1002621"/>
            <a:ext cx="10624457" cy="0"/>
          </a:xfrm>
          <a:prstGeom prst="line">
            <a:avLst/>
          </a:prstGeom>
          <a:ln w="571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D96D3AE-CC3D-A909-29AD-1EF41A97CF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BCED27-B7FD-4F82-BD12-1C1B2F10C096}" type="slidenum">
              <a:rPr lang="ko-KR" altLang="en-US" smtClean="0"/>
              <a:t>22</a:t>
            </a:fld>
            <a:endParaRPr lang="ko-KR" altLang="en-US"/>
          </a:p>
        </p:txBody>
      </p:sp>
      <p:pic>
        <p:nvPicPr>
          <p:cNvPr id="15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2870" y="1188720"/>
            <a:ext cx="6692380" cy="2465614"/>
          </a:xfrm>
          <a:prstGeom prst="rect">
            <a:avLst/>
          </a:prstGeom>
        </p:spPr>
      </p:pic>
      <p:sp>
        <p:nvSpPr>
          <p:cNvPr id="9" name="Card 요점"/>
          <p:cNvSpPr/>
          <p:nvPr/>
        </p:nvSpPr>
        <p:spPr>
          <a:xfrm>
            <a:off x="7498079" y="1399032"/>
            <a:ext cx="4206240" cy="4133087"/>
          </a:xfrm>
          <a:prstGeom prst="roundRect">
            <a:avLst>
              <a:gd name="adj" fmla="val 3400"/>
            </a:avLst>
          </a:prstGeom>
          <a:solidFill>
            <a:srgbClr val="FBFBFB"/>
          </a:solidFill>
          <a:ln w="12700">
            <a:solidFill>
              <a:srgbClr val="AFAF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Header 요점"/>
          <p:cNvSpPr/>
          <p:nvPr/>
        </p:nvSpPr>
        <p:spPr>
          <a:xfrm>
            <a:off x="7680959" y="1188720"/>
            <a:ext cx="3840479" cy="420624"/>
          </a:xfrm>
          <a:prstGeom prst="roundRect">
            <a:avLst>
              <a:gd name="adj" fmla="val 25000"/>
            </a:avLst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27432" rIns="73152" bIns="27432"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요점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59" y="1783080"/>
            <a:ext cx="3886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01168" indent="-201168">
              <a:spcBef>
                <a:spcPts val="0"/>
              </a:spcBef>
              <a:buFont typeface="Arial"/>
              <a:buChar char="•"/>
            </a:pPr>
            <a:r>
              <a:rPr sz="1250" b="1">
                <a:solidFill>
                  <a:srgbClr val="000000"/>
                </a:solidFill>
              </a:rPr>
              <a:t>DAT 5</a:t>
            </a:r>
            <a:r>
              <a:rPr sz="1250" b="0">
                <a:solidFill>
                  <a:srgbClr val="000000"/>
                </a:solidFill>
              </a:rPr>
              <a:t>: 침수 72%·복합 69% (b) — 침수 3일 동안 잎 확장이 멈춤</a:t>
            </a:r>
          </a:p>
          <a:p>
            <a:pPr marL="201168" indent="-201168">
              <a:spcBef>
                <a:spcPts val="0"/>
              </a:spcBef>
              <a:buFont typeface="Arial"/>
              <a:buChar char="•"/>
            </a:pPr>
            <a:r>
              <a:rPr sz="1250" b="1">
                <a:solidFill>
                  <a:srgbClr val="000000"/>
                </a:solidFill>
              </a:rPr>
              <a:t>DAT 16</a:t>
            </a:r>
            <a:r>
              <a:rPr sz="1250" b="0">
                <a:solidFill>
                  <a:srgbClr val="000000"/>
                </a:solidFill>
              </a:rPr>
              <a:t>: 침수 85%, 복합 77% (b), 건조 95%</a:t>
            </a:r>
          </a:p>
          <a:p>
            <a:pPr marL="201168" indent="-201168">
              <a:spcBef>
                <a:spcPts val="0"/>
              </a:spcBef>
              <a:buFont typeface="Arial"/>
              <a:buChar char="•"/>
            </a:pPr>
            <a:r>
              <a:rPr sz="1250" b="0">
                <a:solidFill>
                  <a:srgbClr val="000000"/>
                </a:solidFill>
              </a:rPr>
              <a:t>배수 후 침수구 확장 속도는 대조구보다 빠름(RGR 0.031 vs 0.015 d</a:t>
            </a:r>
            <a:r>
              <a:rPr sz="1250" baseline="30000" b="0">
                <a:solidFill>
                  <a:srgbClr val="000000"/>
                </a:solidFill>
              </a:rPr>
              <a:t>-1</a:t>
            </a:r>
            <a:r>
              <a:rPr sz="1250" b="0">
                <a:solidFill>
                  <a:srgbClr val="000000"/>
                </a:solidFill>
              </a:rPr>
              <a:t>, 침수 P=0.001) — 그러나 따라잡지 못함</a:t>
            </a:r>
          </a:p>
          <a:p>
            <a:pPr marL="201168" indent="-201168">
              <a:spcBef>
                <a:spcPts val="0"/>
              </a:spcBef>
              <a:buFont typeface="Arial"/>
              <a:buChar char="•"/>
            </a:pPr>
            <a:r>
              <a:rPr sz="1250" b="0">
                <a:solidFill>
                  <a:srgbClr val="000000"/>
                </a:solidFill>
              </a:rPr>
              <a:t>건조구는 DAT 12 이후 확장이 멈춤(RGR 최저)</a:t>
            </a:r>
          </a:p>
        </p:txBody>
      </p:sp>
      <p:sp>
        <p:nvSpPr>
          <p:cNvPr id="12" name="Conclusion Box"/>
          <p:cNvSpPr/>
          <p:nvPr/>
        </p:nvSpPr>
        <p:spPr>
          <a:xfrm>
            <a:off x="841248" y="5788152"/>
            <a:ext cx="10570464" cy="566928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8575">
            <a:solidFill>
              <a:srgbClr val="AA57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36576" rIns="137160" bIns="36576" rtlCol="0" anchor="ctr"/>
          <a:lstStyle/>
          <a:p>
            <a:pPr algn="ctr"/>
            <a:r>
              <a:rPr sz="1600" b="0">
                <a:solidFill>
                  <a:srgbClr val="E97132"/>
                </a:solidFill>
              </a:rPr>
              <a:t>침수 중 멈춘 잎 확장이 </a:t>
            </a:r>
            <a:r>
              <a:rPr sz="1600" b="1">
                <a:solidFill>
                  <a:srgbClr val="E97132"/>
                </a:solidFill>
              </a:rPr>
              <a:t>초기 차이를 만들고</a:t>
            </a:r>
            <a:r>
              <a:rPr sz="1600" b="0">
                <a:solidFill>
                  <a:srgbClr val="E97132"/>
                </a:solidFill>
              </a:rPr>
              <a:t>, 건조는 후반(DAT 12~16)에 확장을 늦춤</a:t>
            </a:r>
          </a:p>
        </p:txBody>
      </p:sp>
      <p:sp>
        <p:nvSpPr>
          <p:cNvPr id="13" name="Footnote"/>
          <p:cNvSpPr txBox="1"/>
          <p:nvPr/>
        </p:nvSpPr>
        <p:spPr>
          <a:xfrm>
            <a:off x="457200" y="6473952"/>
            <a:ext cx="8138160" cy="310896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r>
              <a:rPr sz="1000" b="0">
                <a:solidFill>
                  <a:srgbClr val="595959"/>
                </a:solidFill>
              </a:rPr>
              <a:t>투영 엽면적(PCA): 위에서 찍은 사진의 SAM 분할(결과_SAM_수동), 처리당 6주, 평균 ± SE, 문자 Tukey(ANOVA P&lt;0.05일 때만). 처리 전 촬영 없음.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457200" y="3841923"/>
          <a:ext cx="6858000" cy="1371600"/>
        </p:xfrm>
        <a:graphic>
          <a:graphicData uri="http://schemas.openxmlformats.org/drawingml/2006/table">
            <a:tbl>
              <a:tblPr firstRow="0" bandRow="0"/>
              <a:tblGrid>
                <a:gridCol w="1828800"/>
                <a:gridCol w="1005840"/>
                <a:gridCol w="1005840"/>
                <a:gridCol w="1005840"/>
                <a:gridCol w="1005840"/>
                <a:gridCol w="1005840"/>
              </a:tblGrid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ko-KR" sz="950" dirty="0" b="1">
                          <a:solidFill>
                            <a:srgbClr val="000000"/>
                          </a:solidFill>
                        </a:rPr>
                        <a:t>Treatment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950" dirty="0" b="1">
                          <a:solidFill>
                            <a:srgbClr val="000000"/>
                          </a:solidFill>
                        </a:rPr>
                        <a:t>DAT 5 (10/12)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950" dirty="0" b="1">
                          <a:solidFill>
                            <a:srgbClr val="000000"/>
                          </a:solidFill>
                        </a:rPr>
                        <a:t>DAT 8 (10/15)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950" dirty="0" b="1">
                          <a:solidFill>
                            <a:srgbClr val="000000"/>
                          </a:solidFill>
                        </a:rPr>
                        <a:t>DAT 12 (10/19)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950" dirty="0" b="1">
                          <a:solidFill>
                            <a:srgbClr val="000000"/>
                          </a:solidFill>
                        </a:rPr>
                        <a:t>DAT 16 (10/23)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950" dirty="0" b="1">
                          <a:solidFill>
                            <a:srgbClr val="000000"/>
                          </a:solidFill>
                        </a:rPr>
                        <a:t>RGR DAT 5→16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ko-KR" sz="950" dirty="0" b="0">
                          <a:solidFill>
                            <a:srgbClr val="000000"/>
                          </a:solidFill>
                        </a:rPr>
                        <a:t>ETc 100%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950" dirty="0" b="0">
                          <a:solidFill>
                            <a:srgbClr val="000000"/>
                          </a:solidFill>
                        </a:rPr>
                        <a:t>440 a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950" dirty="0" b="0">
                          <a:solidFill>
                            <a:srgbClr val="000000"/>
                          </a:solidFill>
                        </a:rPr>
                        <a:t>511 a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950" dirty="0" b="0">
                          <a:solidFill>
                            <a:srgbClr val="000000"/>
                          </a:solidFill>
                        </a:rPr>
                        <a:t>530 a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950" dirty="0" b="0">
                          <a:solidFill>
                            <a:srgbClr val="000000"/>
                          </a:solidFill>
                        </a:rPr>
                        <a:t>516 a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950" dirty="0" b="0">
                          <a:solidFill>
                            <a:srgbClr val="000000"/>
                          </a:solidFill>
                        </a:rPr>
                        <a:t>0.015 ab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ko-KR" sz="950" dirty="0" b="0">
                          <a:solidFill>
                            <a:srgbClr val="000000"/>
                          </a:solidFill>
                        </a:rPr>
                        <a:t>ETc 50%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950" dirty="0" b="0">
                          <a:solidFill>
                            <a:srgbClr val="000000"/>
                          </a:solidFill>
                        </a:rPr>
                        <a:t>458 a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950" dirty="0" b="0">
                          <a:solidFill>
                            <a:srgbClr val="000000"/>
                          </a:solidFill>
                        </a:rPr>
                        <a:t>518 a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950" dirty="0" b="0">
                          <a:solidFill>
                            <a:srgbClr val="000000"/>
                          </a:solidFill>
                        </a:rPr>
                        <a:t>543 a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950" dirty="0" b="0">
                          <a:solidFill>
                            <a:srgbClr val="000000"/>
                          </a:solidFill>
                        </a:rPr>
                        <a:t>491 ab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950" dirty="0" b="0">
                          <a:solidFill>
                            <a:srgbClr val="000000"/>
                          </a:solidFill>
                        </a:rPr>
                        <a:t>0.007 b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ko-KR" sz="950" dirty="0" b="0">
                          <a:solidFill>
                            <a:srgbClr val="000000"/>
                          </a:solidFill>
                        </a:rPr>
                        <a:t>Waterlogging-ETc 100%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950" dirty="0" b="0">
                          <a:solidFill>
                            <a:srgbClr val="000000"/>
                          </a:solidFill>
                        </a:rPr>
                        <a:t>317 b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950" dirty="0" b="0">
                          <a:solidFill>
                            <a:srgbClr val="000000"/>
                          </a:solidFill>
                        </a:rPr>
                        <a:t>396 ab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950" dirty="0" b="0">
                          <a:solidFill>
                            <a:srgbClr val="000000"/>
                          </a:solidFill>
                        </a:rPr>
                        <a:t>421 ab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950" dirty="0" b="0">
                          <a:solidFill>
                            <a:srgbClr val="000000"/>
                          </a:solidFill>
                        </a:rPr>
                        <a:t>440 ab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950" dirty="0" b="0">
                          <a:solidFill>
                            <a:srgbClr val="000000"/>
                          </a:solidFill>
                        </a:rPr>
                        <a:t>0.031 a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ko-KR" sz="950" dirty="0" b="0">
                          <a:solidFill>
                            <a:srgbClr val="000000"/>
                          </a:solidFill>
                        </a:rPr>
                        <a:t>Waterlogging-ETc 50%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950" dirty="0" b="0">
                          <a:solidFill>
                            <a:srgbClr val="000000"/>
                          </a:solidFill>
                        </a:rPr>
                        <a:t>304 b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950" dirty="0" b="0">
                          <a:solidFill>
                            <a:srgbClr val="000000"/>
                          </a:solidFill>
                        </a:rPr>
                        <a:t>360 b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950" dirty="0" b="0">
                          <a:solidFill>
                            <a:srgbClr val="000000"/>
                          </a:solidFill>
                        </a:rPr>
                        <a:t>387 b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950" dirty="0" b="0">
                          <a:solidFill>
                            <a:srgbClr val="000000"/>
                          </a:solidFill>
                        </a:rPr>
                        <a:t>398 b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950" dirty="0" b="0">
                          <a:solidFill>
                            <a:srgbClr val="000000"/>
                          </a:solidFill>
                        </a:rPr>
                        <a:t>0.025 a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ko-KR" sz="950" dirty="0" b="0">
                          <a:solidFill>
                            <a:srgbClr val="000000"/>
                          </a:solidFill>
                        </a:rPr>
                        <a:t>P (ANOVA)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950" dirty="0" b="0">
                          <a:solidFill>
                            <a:srgbClr val="000000"/>
                          </a:solidFill>
                        </a:rPr>
                        <a:t>0.002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950" dirty="0" b="0">
                          <a:solidFill>
                            <a:srgbClr val="000000"/>
                          </a:solidFill>
                        </a:rPr>
                        <a:t>0.007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950" dirty="0" b="0">
                          <a:solidFill>
                            <a:srgbClr val="000000"/>
                          </a:solidFill>
                        </a:rPr>
                        <a:t>0.007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950" dirty="0" b="0">
                          <a:solidFill>
                            <a:srgbClr val="000000"/>
                          </a:solidFill>
                        </a:rPr>
                        <a:t>0.036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950" dirty="0" b="0">
                          <a:solidFill>
                            <a:srgbClr val="000000"/>
                          </a:solidFill>
                        </a:rPr>
                        <a:t>0.005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50686"/>
            <a:ext cx="10515600" cy="950797"/>
          </a:xfrm>
        </p:spPr>
        <p:txBody>
          <a:bodyPr>
            <a:normAutofit/>
          </a:bodyPr>
          <a:lstStyle/>
          <a:p>
            <a:r>
              <a:rPr lang="en-US" altLang="ko-KR" sz="2400" dirty="0">
                <a:latin typeface="Times New Roman"/>
                <a:cs typeface="Times New Roman"/>
              </a:rPr>
              <a:t>Yield</a:t>
            </a:r>
            <a:br>
              <a:rPr lang="en-US" altLang="ko-KR" sz="2800" dirty="0"/>
            </a:br>
            <a:r>
              <a:rPr lang="ko-KR" altLang="en-US" sz="3200" dirty="0"/>
              <a:t>수확량 비교: 로메인 지상부 vs 콩 종실</a:t>
            </a:r>
          </a:p>
        </p:txBody>
      </p:sp>
      <p:pic>
        <p:nvPicPr>
          <p:cNvPr id="3" name="Logo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9058" y="129246"/>
            <a:ext cx="2242456" cy="729364"/>
          </a:xfrm>
          <a:prstGeom prst="rect">
            <a:avLst/>
          </a:prstGeom>
        </p:spPr>
      </p:pic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98FA03D2-03B7-0D84-2206-40CA69A8D76A}"/>
              </a:ext>
            </a:extLst>
          </p:cNvPr>
          <p:cNvCxnSpPr>
            <a:cxnSpLocks/>
          </p:cNvCxnSpPr>
          <p:nvPr/>
        </p:nvCxnSpPr>
        <p:spPr>
          <a:xfrm>
            <a:off x="783772" y="1002621"/>
            <a:ext cx="10624457" cy="0"/>
          </a:xfrm>
          <a:prstGeom prst="line">
            <a:avLst/>
          </a:prstGeom>
          <a:ln w="571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D96D3AE-CC3D-A909-29AD-1EF41A97CF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BCED27-B7FD-4F82-BD12-1C1B2F10C096}" type="slidenum">
              <a:rPr lang="ko-KR" altLang="en-US" smtClean="0"/>
              <a:t>23</a:t>
            </a:fld>
            <a:endParaRPr lang="ko-KR" altLang="en-US"/>
          </a:p>
        </p:txBody>
      </p:sp>
      <p:pic>
        <p:nvPicPr>
          <p:cNvPr id="15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199" y="1385762"/>
            <a:ext cx="7040880" cy="1777862"/>
          </a:xfrm>
          <a:prstGeom prst="rect">
            <a:avLst/>
          </a:prstGeom>
        </p:spPr>
      </p:pic>
      <p:sp>
        <p:nvSpPr>
          <p:cNvPr id="9" name="Card 요점"/>
          <p:cNvSpPr/>
          <p:nvPr/>
        </p:nvSpPr>
        <p:spPr>
          <a:xfrm>
            <a:off x="7498079" y="1399032"/>
            <a:ext cx="4206240" cy="4133087"/>
          </a:xfrm>
          <a:prstGeom prst="roundRect">
            <a:avLst>
              <a:gd name="adj" fmla="val 3400"/>
            </a:avLst>
          </a:prstGeom>
          <a:solidFill>
            <a:srgbClr val="FBFBFB"/>
          </a:solidFill>
          <a:ln w="12700">
            <a:solidFill>
              <a:srgbClr val="AFAF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Header 요점"/>
          <p:cNvSpPr/>
          <p:nvPr/>
        </p:nvSpPr>
        <p:spPr>
          <a:xfrm>
            <a:off x="7680959" y="1188720"/>
            <a:ext cx="3840479" cy="420624"/>
          </a:xfrm>
          <a:prstGeom prst="roundRect">
            <a:avLst>
              <a:gd name="adj" fmla="val 25000"/>
            </a:avLst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27432" rIns="73152" bIns="27432"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요점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59" y="1783080"/>
            <a:ext cx="3886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01168" indent="-201168">
              <a:spcBef>
                <a:spcPts val="0"/>
              </a:spcBef>
              <a:buFont typeface="Arial"/>
              <a:buChar char="•"/>
            </a:pPr>
            <a:r>
              <a:rPr sz="1250">
                <a:solidFill>
                  <a:srgbClr val="000000"/>
                </a:solidFill>
              </a:rPr>
              <a:t>로메인 수확 생체중(DAT 16): 건조 −29%, 침수 −26%, 복합 −38% (P&lt;0.001)</a:t>
            </a:r>
          </a:p>
          <a:p>
            <a:pPr marL="201168" indent="-201168">
              <a:spcBef>
                <a:spcPts val="700"/>
              </a:spcBef>
              <a:buFont typeface="Arial"/>
              <a:buChar char="•"/>
            </a:pPr>
            <a:r>
              <a:rPr sz="1250">
                <a:solidFill>
                  <a:srgbClr val="000000"/>
                </a:solidFill>
              </a:rPr>
              <a:t>로메인 건물중 6.47 &gt; 5.43 &gt; 4.30 &gt; 3.69 g (침수 P&lt;0.001, 관수 P=0.026, 상호작용 없음) — 건조·침수 효과가 더해짐</a:t>
            </a:r>
          </a:p>
          <a:p>
            <a:pPr marL="201168" indent="-201168">
              <a:spcBef>
                <a:spcPts val="700"/>
              </a:spcBef>
              <a:buFont typeface="Arial"/>
              <a:buChar char="•"/>
            </a:pPr>
            <a:r>
              <a:rPr sz="1250">
                <a:solidFill>
                  <a:srgbClr val="000000"/>
                </a:solidFill>
              </a:rPr>
              <a:t>콩 종실 건물중 57~63 g·plant</a:t>
            </a:r>
            <a:r>
              <a:rPr sz="1250" baseline="30000">
                <a:solidFill>
                  <a:srgbClr val="000000"/>
                </a:solidFill>
              </a:rPr>
              <a:t>−1</a:t>
            </a:r>
            <a:r>
              <a:rPr sz="1250">
                <a:solidFill>
                  <a:srgbClr val="000000"/>
                </a:solidFill>
              </a:rPr>
              <a:t>, 종실 수·꼬투리 수·100립중 모두 처리 간 차이 없음 (P≥0.20) — 검출 한계(약 40~50%)와 뿌리 이탈로 근거는 약함</a:t>
            </a:r>
          </a:p>
          <a:p>
            <a:pPr marL="201168" indent="-201168">
              <a:spcBef>
                <a:spcPts val="700"/>
              </a:spcBef>
              <a:buFont typeface="Arial"/>
              <a:buChar char="•"/>
            </a:pPr>
            <a:r>
              <a:rPr sz="1250">
                <a:solidFill>
                  <a:srgbClr val="000000"/>
                </a:solidFill>
              </a:rPr>
              <a:t>콩 DAT 20의 꼬투리·종실 발달 지연(대조구의 65%)은 DAT 55에 차이가 없으나 횡단 비교이며 회복으로 단정하지 않음</a:t>
            </a:r>
          </a:p>
        </p:txBody>
      </p:sp>
      <p:sp>
        <p:nvSpPr>
          <p:cNvPr id="12" name="Conclusion Box"/>
          <p:cNvSpPr/>
          <p:nvPr/>
        </p:nvSpPr>
        <p:spPr>
          <a:xfrm>
            <a:off x="841248" y="5788152"/>
            <a:ext cx="10570464" cy="566928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8575">
            <a:solidFill>
              <a:srgbClr val="AA57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36576" rIns="137160" bIns="36576" rtlCol="0" anchor="ctr"/>
          <a:lstStyle/>
          <a:p>
            <a:pPr algn="ctr"/>
            <a:r>
              <a:rPr sz="1600" b="0">
                <a:solidFill>
                  <a:srgbClr val="AA572C"/>
                </a:solidFill>
              </a:rPr>
              <a:t>로메인은 건조·침수·복합 모두 수확량이 감소(복합 −38%), 콩은 종실 수량 구성요소에서 처리 간 차이 없음</a:t>
            </a:r>
          </a:p>
        </p:txBody>
      </p:sp>
      <p:sp>
        <p:nvSpPr>
          <p:cNvPr id="13" name="Footnote"/>
          <p:cNvSpPr txBox="1"/>
          <p:nvPr/>
        </p:nvSpPr>
        <p:spPr>
          <a:xfrm>
            <a:off x="457200" y="6473952"/>
            <a:ext cx="8138160" cy="310896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r>
              <a:rPr sz="1000" b="0">
                <a:solidFill>
                  <a:srgbClr val="595959"/>
                </a:solidFill>
              </a:rPr>
              <a:t>로메인 10/23(DAT 16) 수확, n=8. 콩 10/6(DAT 55, R6~R7) 파괴 조사(성숙기 최종 수확 전), n=6~9. 100립중 = 20립 샘플 종실 D.W ÷ 종실 수 × 100. 평균 ± SE, 문자: Tukey (ANOVA P&lt;0.05일 때만). W × I = 침수 × 관수 상호작용.</a:t>
            </a:r>
          </a:p>
        </p:txBody>
      </p:sp>
      <p:graphicFrame>
        <p:nvGraphicFramePr>
          <p:cNvPr id="14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89102231"/>
              </p:ext>
            </p:extLst>
          </p:nvPr>
        </p:nvGraphicFramePr>
        <p:xfrm>
          <a:off x="457200" y="3429000"/>
          <a:ext cx="6730000" cy="179222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7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6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40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40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900" b="1" dirty="0">
                          <a:solidFill>
                            <a:srgbClr val="000000"/>
                          </a:solidFill>
                        </a:rPr>
                        <a:t>Crop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000000"/>
                          </a:solidFill>
                        </a:rPr>
                        <a:t>Variable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</a:rPr>
                        <a:t>Control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</a:rPr>
                        <a:t>Drought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</a:rPr>
                        <a:t>Waterlogging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</a:rPr>
                        <a:t>Combined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</a:rPr>
                        <a:t>P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</a:rPr>
                        <a:t>W × I P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032">
                <a:tc rowSpan="2">
                  <a:txBody>
                    <a:bodyPr/>
                    <a:lstStyle/>
                    <a:p>
                      <a:pPr algn="l"/>
                      <a:r>
                        <a:rPr sz="900" dirty="0">
                          <a:solidFill>
                            <a:srgbClr val="000000"/>
                          </a:solidFill>
                        </a:rPr>
                        <a:t>Romaine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000000"/>
                          </a:solidFill>
                        </a:rPr>
                        <a:t>Shoot FW</a:t>
                      </a:r>
                      <a:r>
                        <a:rPr sz="900">
                          <a:solidFill>
                            <a:srgbClr val="000000"/>
                          </a:solidFill>
                        </a:rPr>
                        <a:t> (g·plant−1)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</a:rPr>
                        <a:t>89.9 a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</a:rPr>
                        <a:t>63.5 b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</a:rPr>
                        <a:t>66.3 b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</a:rPr>
                        <a:t>55.4 b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</a:rPr>
                        <a:t>&lt;0.001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</a:rPr>
                        <a:t>0.067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1270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6032">
                <a:tc vMerge="1"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dirty="0">
                          <a:solidFill>
                            <a:srgbClr val="000000"/>
                          </a:solidFill>
                        </a:rPr>
                        <a:t>Shoot DW</a:t>
                      </a:r>
                      <a:r>
                        <a:rPr sz="900" dirty="0">
                          <a:solidFill>
                            <a:srgbClr val="000000"/>
                          </a:solidFill>
                        </a:rPr>
                        <a:t> (g·plant−1)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dirty="0">
                          <a:solidFill>
                            <a:srgbClr val="000000"/>
                          </a:solidFill>
                        </a:rPr>
                        <a:t>6.47 a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dirty="0">
                          <a:solidFill>
                            <a:srgbClr val="000000"/>
                          </a:solidFill>
                        </a:rPr>
                        <a:t>5.43 ab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dirty="0">
                          <a:solidFill>
                            <a:srgbClr val="000000"/>
                          </a:solidFill>
                        </a:rPr>
                        <a:t>4.30 bc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dirty="0">
                          <a:solidFill>
                            <a:srgbClr val="000000"/>
                          </a:solidFill>
                        </a:rPr>
                        <a:t>3.69 c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dirty="0">
                          <a:solidFill>
                            <a:srgbClr val="000000"/>
                          </a:solidFill>
                        </a:rPr>
                        <a:t>&lt;0.001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dirty="0">
                          <a:solidFill>
                            <a:srgbClr val="000000"/>
                          </a:solidFill>
                        </a:rPr>
                        <a:t>0.546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6032">
                <a:tc rowSpan="4">
                  <a:txBody>
                    <a:bodyPr/>
                    <a:lstStyle/>
                    <a:p>
                      <a:pPr algn="l"/>
                      <a:r>
                        <a:rPr sz="900" dirty="0" err="1">
                          <a:solidFill>
                            <a:srgbClr val="000000"/>
                          </a:solidFill>
                        </a:rPr>
                        <a:t>Soybean</a:t>
                      </a:r>
                      <a:endParaRPr sz="900" dirty="0">
                        <a:solidFill>
                          <a:srgbClr val="000000"/>
                        </a:solidFill>
                      </a:endParaRP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dirty="0">
                          <a:solidFill>
                            <a:srgbClr val="000000"/>
                          </a:solidFill>
                        </a:rPr>
                        <a:t>Seed DW (g·plant</a:t>
                      </a:r>
                      <a:r>
                        <a:rPr sz="900" baseline="30000" dirty="0">
                          <a:solidFill>
                            <a:srgbClr val="000000"/>
                          </a:solidFill>
                        </a:rPr>
                        <a:t>−1</a:t>
                      </a:r>
                      <a:r>
                        <a:rPr sz="900" dirty="0">
                          <a:solidFill>
                            <a:srgbClr val="000000"/>
                          </a:solidFill>
                        </a:rPr>
                        <a:t>)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</a:rPr>
                        <a:t>69.3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</a:rPr>
                        <a:t>66.3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</a:rPr>
                        <a:t>63.0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</a:rPr>
                        <a:t>57.0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</a:rPr>
                        <a:t>0.438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</a:rPr>
                        <a:t>0.789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6032">
                <a:tc vMerge="1"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dirty="0">
                          <a:solidFill>
                            <a:srgbClr val="000000"/>
                          </a:solidFill>
                        </a:rPr>
                        <a:t>Seed no. (plant</a:t>
                      </a:r>
                      <a:r>
                        <a:rPr sz="900" baseline="30000" dirty="0">
                          <a:solidFill>
                            <a:srgbClr val="000000"/>
                          </a:solidFill>
                        </a:rPr>
                        <a:t>−1</a:t>
                      </a:r>
                      <a:r>
                        <a:rPr sz="900" dirty="0">
                          <a:solidFill>
                            <a:srgbClr val="000000"/>
                          </a:solidFill>
                        </a:rPr>
                        <a:t>)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</a:rPr>
                        <a:t>354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</a:rPr>
                        <a:t>334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</a:rPr>
                        <a:t>326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</a:rPr>
                        <a:t>300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</a:rPr>
                        <a:t>0.468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</a:rPr>
                        <a:t>0.895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6032">
                <a:tc vMerge="1"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000000"/>
                          </a:solidFill>
                        </a:rPr>
                        <a:t>Pod no. (plant</a:t>
                      </a:r>
                      <a:r>
                        <a:rPr sz="900" baseline="30000">
                          <a:solidFill>
                            <a:srgbClr val="000000"/>
                          </a:solidFill>
                        </a:rPr>
                        <a:t>−1</a:t>
                      </a:r>
                      <a:r>
                        <a:rPr sz="900">
                          <a:solidFill>
                            <a:srgbClr val="000000"/>
                          </a:solidFill>
                        </a:rPr>
                        <a:t>)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</a:rPr>
                        <a:t>170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</a:rPr>
                        <a:t>162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</a:rPr>
                        <a:t>163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</a:rPr>
                        <a:t>144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</a:rPr>
                        <a:t>0.404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</a:rPr>
                        <a:t>0.643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6032">
                <a:tc vMerge="1"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000000"/>
                          </a:solidFill>
                        </a:rPr>
                        <a:t>100-seed DW (g)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</a:rPr>
                        <a:t>22.3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</a:rPr>
                        <a:t>21.5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</a:rPr>
                        <a:t>20.1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</a:rPr>
                        <a:t>21.3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</a:rPr>
                        <a:t>0.196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dirty="0">
                          <a:solidFill>
                            <a:srgbClr val="000000"/>
                          </a:solidFill>
                        </a:rPr>
                        <a:t>0.154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50686"/>
            <a:ext cx="10515600" cy="950797"/>
          </a:xfrm>
        </p:spPr>
        <p:txBody>
          <a:bodyPr>
            <a:normAutofit/>
          </a:bodyPr>
          <a:lstStyle/>
          <a:p>
            <a:r>
              <a:rPr lang="en-US" altLang="ko-KR" sz="2400" dirty="0">
                <a:latin typeface="Times New Roman"/>
                <a:cs typeface="Times New Roman"/>
              </a:rPr>
              <a:t>Irrigation</a:t>
            </a:r>
            <a:br>
              <a:rPr lang="en-US" altLang="ko-KR" sz="2800" dirty="0"/>
            </a:br>
            <a:r>
              <a:rPr lang="ko-KR" altLang="en-US" sz="3200" dirty="0"/>
              <a:t>관수량 비교</a:t>
            </a:r>
          </a:p>
        </p:txBody>
      </p:sp>
      <p:pic>
        <p:nvPicPr>
          <p:cNvPr id="3" name="Logo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9058" y="129246"/>
            <a:ext cx="2242456" cy="729364"/>
          </a:xfrm>
          <a:prstGeom prst="rect">
            <a:avLst/>
          </a:prstGeom>
        </p:spPr>
      </p:pic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98FA03D2-03B7-0D84-2206-40CA69A8D76A}"/>
              </a:ext>
            </a:extLst>
          </p:cNvPr>
          <p:cNvCxnSpPr>
            <a:cxnSpLocks/>
          </p:cNvCxnSpPr>
          <p:nvPr/>
        </p:nvCxnSpPr>
        <p:spPr>
          <a:xfrm>
            <a:off x="783772" y="1002621"/>
            <a:ext cx="10624457" cy="0"/>
          </a:xfrm>
          <a:prstGeom prst="line">
            <a:avLst/>
          </a:prstGeom>
          <a:ln w="571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D96D3AE-CC3D-A909-29AD-1EF41A97CF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BCED27-B7FD-4F82-BD12-1C1B2F10C096}" type="slidenum">
              <a:rPr lang="ko-KR" altLang="en-US" smtClean="0"/>
              <a:t>24</a:t>
            </a:fld>
            <a:endParaRPr lang="ko-KR" altLang="en-US"/>
          </a:p>
        </p:txBody>
      </p:sp>
      <p:pic>
        <p:nvPicPr>
          <p:cNvPr id="14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301793"/>
            <a:ext cx="7040880" cy="2334172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3931920"/>
          <a:ext cx="6675120" cy="1170432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468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150" b="1" dirty="0">
                          <a:solidFill>
                            <a:srgbClr val="000000"/>
                          </a:solidFill>
                        </a:rPr>
                        <a:t>Treatment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000000"/>
                          </a:solidFill>
                        </a:rPr>
                        <a:t>Design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50" b="1" dirty="0">
                          <a:solidFill>
                            <a:srgbClr val="000000"/>
                          </a:solidFill>
                        </a:rPr>
                        <a:t>Soybean</a:t>
                      </a:r>
                      <a:endParaRPr sz="1150" b="1" dirty="0">
                        <a:solidFill>
                          <a:srgbClr val="000000"/>
                        </a:solidFill>
                      </a:endParaRP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000000"/>
                          </a:solidFill>
                        </a:rPr>
                        <a:t>Romaine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000000"/>
                          </a:solidFill>
                        </a:rPr>
                        <a:t>ETc 50% (건조)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000000"/>
                          </a:solidFill>
                        </a:rPr>
                        <a:t>50% of ETc 100%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000000"/>
                          </a:solidFill>
                        </a:rPr>
                        <a:t>40%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000000"/>
                          </a:solidFill>
                        </a:rPr>
                        <a:t>43%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1270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lang="en-US" sz="1150" b="0" dirty="0">
                          <a:solidFill>
                            <a:srgbClr val="000000"/>
                          </a:solidFill>
                        </a:rPr>
                        <a:t>Waterlogging</a:t>
                      </a:r>
                      <a:r>
                        <a:rPr sz="1150" b="0" dirty="0">
                          <a:solidFill>
                            <a:srgbClr val="000000"/>
                          </a:solidFill>
                        </a:rPr>
                        <a:t>-</a:t>
                      </a:r>
                      <a:r>
                        <a:rPr sz="1150" b="0" dirty="0" err="1">
                          <a:solidFill>
                            <a:srgbClr val="000000"/>
                          </a:solidFill>
                        </a:rPr>
                        <a:t>ETc</a:t>
                      </a:r>
                      <a:r>
                        <a:rPr sz="1150" b="0" dirty="0">
                          <a:solidFill>
                            <a:srgbClr val="000000"/>
                          </a:solidFill>
                        </a:rPr>
                        <a:t> 100% (</a:t>
                      </a:r>
                      <a:r>
                        <a:rPr sz="1150" b="0" dirty="0" err="1">
                          <a:solidFill>
                            <a:srgbClr val="000000"/>
                          </a:solidFill>
                        </a:rPr>
                        <a:t>침수</a:t>
                      </a:r>
                      <a:r>
                        <a:rPr sz="1150" b="0" dirty="0">
                          <a:solidFill>
                            <a:srgbClr val="000000"/>
                          </a:solidFill>
                        </a:rPr>
                        <a:t>)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000000"/>
                          </a:solidFill>
                        </a:rPr>
                        <a:t>100%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000000"/>
                          </a:solidFill>
                        </a:rPr>
                        <a:t>87%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000000"/>
                          </a:solidFill>
                        </a:rPr>
                        <a:t>56%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lang="en-US" sz="1150" b="0" dirty="0">
                          <a:solidFill>
                            <a:srgbClr val="000000"/>
                          </a:solidFill>
                        </a:rPr>
                        <a:t>Waterlogging</a:t>
                      </a:r>
                      <a:r>
                        <a:rPr sz="1150" b="0" dirty="0">
                          <a:solidFill>
                            <a:srgbClr val="000000"/>
                          </a:solidFill>
                        </a:rPr>
                        <a:t>-</a:t>
                      </a:r>
                      <a:r>
                        <a:rPr sz="1150" b="0" dirty="0" err="1">
                          <a:solidFill>
                            <a:srgbClr val="000000"/>
                          </a:solidFill>
                        </a:rPr>
                        <a:t>ETc</a:t>
                      </a:r>
                      <a:r>
                        <a:rPr sz="1150" b="0" dirty="0">
                          <a:solidFill>
                            <a:srgbClr val="000000"/>
                          </a:solidFill>
                        </a:rPr>
                        <a:t> 50% (</a:t>
                      </a:r>
                      <a:r>
                        <a:rPr sz="1150" b="0" dirty="0" err="1">
                          <a:solidFill>
                            <a:srgbClr val="000000"/>
                          </a:solidFill>
                        </a:rPr>
                        <a:t>복합</a:t>
                      </a:r>
                      <a:r>
                        <a:rPr sz="1150" b="0" dirty="0">
                          <a:solidFill>
                            <a:srgbClr val="000000"/>
                          </a:solidFill>
                        </a:rPr>
                        <a:t>)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 dirty="0">
                          <a:solidFill>
                            <a:srgbClr val="000000"/>
                          </a:solidFill>
                        </a:rPr>
                        <a:t>50% of </a:t>
                      </a:r>
                      <a:r>
                        <a:rPr lang="en-US" sz="1150" b="0" dirty="0">
                          <a:solidFill>
                            <a:srgbClr val="000000"/>
                          </a:solidFill>
                        </a:rPr>
                        <a:t>Waterlogging</a:t>
                      </a:r>
                      <a:endParaRPr sz="1150" b="0" dirty="0">
                        <a:solidFill>
                          <a:srgbClr val="000000"/>
                        </a:solidFill>
                      </a:endParaRP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000000"/>
                          </a:solidFill>
                        </a:rPr>
                        <a:t>44%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000000"/>
                          </a:solidFill>
                        </a:rPr>
                        <a:t>37%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Card 요점"/>
          <p:cNvSpPr/>
          <p:nvPr/>
        </p:nvSpPr>
        <p:spPr>
          <a:xfrm>
            <a:off x="7498079" y="1399032"/>
            <a:ext cx="4206240" cy="4133087"/>
          </a:xfrm>
          <a:prstGeom prst="roundRect">
            <a:avLst>
              <a:gd name="adj" fmla="val 3400"/>
            </a:avLst>
          </a:prstGeom>
          <a:solidFill>
            <a:srgbClr val="FBFBFB"/>
          </a:solidFill>
          <a:ln w="12700">
            <a:solidFill>
              <a:srgbClr val="AFAF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Header 요점"/>
          <p:cNvSpPr/>
          <p:nvPr/>
        </p:nvSpPr>
        <p:spPr>
          <a:xfrm>
            <a:off x="7680959" y="1188720"/>
            <a:ext cx="3840479" cy="420624"/>
          </a:xfrm>
          <a:prstGeom prst="roundRect">
            <a:avLst>
              <a:gd name="adj" fmla="val 25000"/>
            </a:avLst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27432" rIns="73152" bIns="27432"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요점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59" y="1783080"/>
            <a:ext cx="3886200" cy="27597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01168" indent="-201168">
              <a:spcBef>
                <a:spcPts val="0"/>
              </a:spcBef>
              <a:buFont typeface="Arial"/>
              <a:buChar char="•"/>
            </a:pPr>
            <a:r>
              <a:rPr sz="1500" dirty="0" err="1">
                <a:solidFill>
                  <a:srgbClr val="000000"/>
                </a:solidFill>
              </a:rPr>
              <a:t>대조구(ETc 100%) 대비 포트 누적 관수량: 건조 밭콩 40%, 로메인 43%</a:t>
            </a:r>
          </a:p>
          <a:p>
            <a:pPr marL="201168" indent="-201168">
              <a:spcBef>
                <a:spcPts val="700"/>
              </a:spcBef>
              <a:buFont typeface="Arial"/>
              <a:buChar char="•"/>
            </a:pPr>
            <a:r>
              <a:rPr sz="1500" dirty="0" err="1">
                <a:solidFill>
                  <a:srgbClr val="000000"/>
                </a:solidFill>
              </a:rPr>
              <a:t>복합은 침수구의 50% (밭콩 50.4%), 로메인은 66% (386 vs 586 g) — 침수구 관수 자체가 적었음</a:t>
            </a:r>
          </a:p>
          <a:p>
            <a:pPr marL="201168" indent="-201168">
              <a:spcBef>
                <a:spcPts val="700"/>
              </a:spcBef>
              <a:buFont typeface="Arial"/>
              <a:buChar char="•"/>
            </a:pPr>
            <a:r>
              <a:rPr sz="1500" dirty="0" err="1">
                <a:solidFill>
                  <a:srgbClr val="000000"/>
                </a:solidFill>
              </a:rPr>
              <a:t>침수구는 대조구의 87%(밭콩), 56%(로메인): 로메인 침수구는 과습이 이어져 덜 관수됨</a:t>
            </a:r>
            <a:endParaRPr sz="1500" dirty="0">
              <a:solidFill>
                <a:srgbClr val="000000"/>
              </a:solidFill>
            </a:endParaRPr>
          </a:p>
          <a:p>
            <a:pPr marL="201168" indent="-201168">
              <a:spcBef>
                <a:spcPts val="700"/>
              </a:spcBef>
              <a:buFont typeface="Arial"/>
              <a:buChar char="•"/>
            </a:pPr>
            <a:r>
              <a:rPr sz="1500" dirty="0" err="1">
                <a:solidFill>
                  <a:srgbClr val="000000"/>
                </a:solidFill>
              </a:rPr>
              <a:t>로메인 건조는 목표(50%)에 가까운 43% 관수됨 (목표 492 g, 실제 446 g)</a:t>
            </a:r>
          </a:p>
          <a:p>
            <a:pPr marL="201168" indent="-201168">
              <a:spcBef>
                <a:spcPts val="700"/>
              </a:spcBef>
              <a:buFont typeface="Arial"/>
              <a:buChar char="•"/>
            </a:pPr>
            <a:r>
              <a:rPr sz="1500" dirty="0" err="1">
                <a:solidFill>
                  <a:srgbClr val="000000"/>
                </a:solidFill>
              </a:rPr>
              <a:t>콩은 뿌리 이탈로 실제 수분 이용은 다를 수 있음</a:t>
            </a:r>
            <a:endParaRPr sz="1500" dirty="0">
              <a:solidFill>
                <a:srgbClr val="000000"/>
              </a:solidFill>
            </a:endParaRPr>
          </a:p>
        </p:txBody>
      </p:sp>
      <p:sp>
        <p:nvSpPr>
          <p:cNvPr id="12" name="Conclusion Box"/>
          <p:cNvSpPr/>
          <p:nvPr/>
        </p:nvSpPr>
        <p:spPr>
          <a:xfrm>
            <a:off x="841248" y="5788152"/>
            <a:ext cx="10570464" cy="566928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8575">
            <a:solidFill>
              <a:srgbClr val="AA57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36576" rIns="137160" bIns="36576" rtlCol="0" anchor="ctr"/>
          <a:lstStyle/>
          <a:p>
            <a:pPr algn="ctr"/>
            <a:r>
              <a:rPr sz="1600">
                <a:solidFill>
                  <a:srgbClr val="AA572C"/>
                </a:solidFill>
              </a:rPr>
              <a:t>두 실험 모두 포트 관수량 기준으로 감수 관수가 실현됨 (식물이 쓴 물의 양은 아님)</a:t>
            </a:r>
          </a:p>
        </p:txBody>
      </p:sp>
      <p:sp>
        <p:nvSpPr>
          <p:cNvPr id="13" name="Footnote"/>
          <p:cNvSpPr txBox="1"/>
          <p:nvPr/>
        </p:nvSpPr>
        <p:spPr>
          <a:xfrm>
            <a:off x="457200" y="6473952"/>
            <a:ext cx="8138160" cy="310896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r>
              <a:rPr sz="1000" b="0">
                <a:solidFill>
                  <a:srgbClr val="595959"/>
                </a:solidFill>
              </a:rPr>
              <a:t>밭콩 8/16~10/6 (대조구 150 g 이상 관수일), 로메인 10/12~10/22 합계 기준. 로드셀 관수량(대조구 = 로드셀 4화분 평균).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50686"/>
            <a:ext cx="10515600" cy="950797"/>
          </a:xfrm>
        </p:spPr>
        <p:txBody>
          <a:bodyPr>
            <a:normAutofit/>
          </a:bodyPr>
          <a:lstStyle/>
          <a:p>
            <a:r>
              <a:rPr lang="en-US" altLang="ko-KR" sz="2400" dirty="0">
                <a:latin typeface="Times New Roman"/>
                <a:cs typeface="Times New Roman"/>
              </a:rPr>
              <a:t>Irrigation</a:t>
            </a:r>
            <a:br>
              <a:rPr lang="en-US" altLang="ko-KR" sz="2800" dirty="0"/>
            </a:br>
            <a:r>
              <a:rPr lang="ko-KR" altLang="en-US" sz="3200" dirty="0"/>
              <a:t>관수량과 화분 무게: 처리 강도 확인</a:t>
            </a:r>
          </a:p>
        </p:txBody>
      </p:sp>
      <p:pic>
        <p:nvPicPr>
          <p:cNvPr id="3" name="Logo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9058" y="129246"/>
            <a:ext cx="2242456" cy="729364"/>
          </a:xfrm>
          <a:prstGeom prst="rect">
            <a:avLst/>
          </a:prstGeom>
        </p:spPr>
      </p:pic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98FA03D2-03B7-0D84-2206-40CA69A8D76A}"/>
              </a:ext>
            </a:extLst>
          </p:cNvPr>
          <p:cNvCxnSpPr>
            <a:cxnSpLocks/>
          </p:cNvCxnSpPr>
          <p:nvPr/>
        </p:nvCxnSpPr>
        <p:spPr>
          <a:xfrm>
            <a:off x="783772" y="1002621"/>
            <a:ext cx="10624457" cy="0"/>
          </a:xfrm>
          <a:prstGeom prst="line">
            <a:avLst/>
          </a:prstGeom>
          <a:ln w="571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D96D3AE-CC3D-A909-29AD-1EF41A97CF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BCED27-B7FD-4F82-BD12-1C1B2F10C096}" type="slidenum">
              <a:rPr lang="ko-KR" altLang="en-US" smtClean="0"/>
              <a:t>25</a:t>
            </a:fld>
            <a:endParaRPr lang="ko-KR" altLang="en-US"/>
          </a:p>
        </p:txBody>
      </p:sp>
      <p:pic>
        <p:nvPicPr>
          <p:cNvPr id="15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247796"/>
            <a:ext cx="7040880" cy="2468880"/>
          </a:xfrm>
          <a:prstGeom prst="rect">
            <a:avLst/>
          </a:prstGeom>
        </p:spPr>
      </p:pic>
      <p:sp>
        <p:nvSpPr>
          <p:cNvPr id="9" name="Card 요점"/>
          <p:cNvSpPr/>
          <p:nvPr/>
        </p:nvSpPr>
        <p:spPr>
          <a:xfrm>
            <a:off x="7498079" y="1399032"/>
            <a:ext cx="4206240" cy="4133087"/>
          </a:xfrm>
          <a:prstGeom prst="roundRect">
            <a:avLst>
              <a:gd name="adj" fmla="val 3400"/>
            </a:avLst>
          </a:prstGeom>
          <a:solidFill>
            <a:srgbClr val="FBFBFB"/>
          </a:solidFill>
          <a:ln w="12700">
            <a:solidFill>
              <a:srgbClr val="AFAF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Header 요점"/>
          <p:cNvSpPr/>
          <p:nvPr/>
        </p:nvSpPr>
        <p:spPr>
          <a:xfrm>
            <a:off x="7680959" y="1188720"/>
            <a:ext cx="3840479" cy="420624"/>
          </a:xfrm>
          <a:prstGeom prst="roundRect">
            <a:avLst>
              <a:gd name="adj" fmla="val 25000"/>
            </a:avLst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27432" rIns="73152" bIns="27432"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요점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59" y="1783080"/>
            <a:ext cx="3886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01168" indent="-201168">
              <a:spcBef>
                <a:spcPts val="0"/>
              </a:spcBef>
              <a:buFont typeface="Arial"/>
              <a:buChar char="•"/>
            </a:pPr>
            <a:r>
              <a:rPr sz="1200" b="0">
                <a:solidFill>
                  <a:srgbClr val="000000"/>
                </a:solidFill>
              </a:rPr>
              <a:t>10/12~22 누적 관수(화분당): 대조구 1046 g, 건조 446 g (43%), 침수 586 g (56%), 복합 386 g (37%)</a:t>
            </a:r>
          </a:p>
          <a:p>
            <a:pPr marL="201168" indent="-201168">
              <a:spcBef>
                <a:spcPts val="0"/>
              </a:spcBef>
              <a:buFont typeface="Arial"/>
              <a:buChar char="•"/>
            </a:pPr>
            <a:r>
              <a:rPr sz="1200" b="0">
                <a:solidFill>
                  <a:srgbClr val="000000"/>
                </a:solidFill>
              </a:rPr>
              <a:t>침수구는 10/12 무관수, 기간 합계 목표의 74% — 화분이 과습해 덜 줌</a:t>
            </a:r>
          </a:p>
          <a:p>
            <a:pPr marL="201168" indent="-201168">
              <a:spcBef>
                <a:spcPts val="0"/>
              </a:spcBef>
              <a:buFont typeface="Arial"/>
              <a:buChar char="•"/>
            </a:pPr>
            <a:r>
              <a:rPr sz="1200" b="0">
                <a:solidFill>
                  <a:srgbClr val="000000"/>
                </a:solidFill>
              </a:rPr>
              <a:t>침수구 화분 무게는 배수 후에도 1,070~1,230 g으로 대조구(780~920 g)보다 무거움</a:t>
            </a:r>
          </a:p>
          <a:p>
            <a:pPr marL="201168" indent="-201168">
              <a:spcBef>
                <a:spcPts val="0"/>
              </a:spcBef>
              <a:buFont typeface="Arial"/>
              <a:buChar char="•"/>
            </a:pPr>
            <a:r>
              <a:rPr sz="1200" b="0">
                <a:solidFill>
                  <a:srgbClr val="000000"/>
                </a:solidFill>
              </a:rPr>
              <a:t>증산량(DAT 5~16 화분 평균): 침수구가 대조구보다 약 20% 적음 (P=0.06)</a:t>
            </a:r>
          </a:p>
        </p:txBody>
      </p:sp>
      <p:sp>
        <p:nvSpPr>
          <p:cNvPr id="12" name="Conclusion Box"/>
          <p:cNvSpPr/>
          <p:nvPr/>
        </p:nvSpPr>
        <p:spPr>
          <a:xfrm>
            <a:off x="841248" y="5788152"/>
            <a:ext cx="10570464" cy="566928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8575">
            <a:solidFill>
              <a:srgbClr val="AA57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36576" rIns="137160" bIns="36576" rtlCol="0" anchor="ctr"/>
          <a:lstStyle/>
          <a:p>
            <a:pPr algn="ctr"/>
            <a:r>
              <a:rPr sz="1600" b="0">
                <a:solidFill>
                  <a:srgbClr val="E97132"/>
                </a:solidFill>
              </a:rPr>
              <a:t>건조구는 설계(50%)에 가깝게 관수(43%), </a:t>
            </a:r>
            <a:r>
              <a:rPr sz="1600" b="1">
                <a:solidFill>
                  <a:srgbClr val="E97132"/>
                </a:solidFill>
              </a:rPr>
              <a:t>침수구는 과습으로 관수 자체가 적었음</a:t>
            </a:r>
          </a:p>
        </p:txBody>
      </p:sp>
      <p:sp>
        <p:nvSpPr>
          <p:cNvPr id="13" name="Footnote"/>
          <p:cNvSpPr txBox="1"/>
          <p:nvPr/>
        </p:nvSpPr>
        <p:spPr>
          <a:xfrm>
            <a:off x="457200" y="6473952"/>
            <a:ext cx="8138160" cy="310896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r>
              <a:rPr sz="1000" b="0">
                <a:solidFill>
                  <a:srgbClr val="595959"/>
                </a:solidFill>
              </a:rPr>
              <a:t>관수량: 관수량 비교 시트의 화분 평균 관수량(대조구 = 로드셀 4화분 평균, 결측 = 0). 화분 무게: 증산량 시트 관수 전 무게(ETc·침수 각 3반복).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457200" y="3719231"/>
          <a:ext cx="6858000" cy="1143000"/>
        </p:xfrm>
        <a:graphic>
          <a:graphicData uri="http://schemas.openxmlformats.org/drawingml/2006/table">
            <a:tbl>
              <a:tblPr firstRow="0" bandRow="0"/>
              <a:tblGrid>
                <a:gridCol w="1920240"/>
                <a:gridCol w="1234440"/>
                <a:gridCol w="868680"/>
                <a:gridCol w="960120"/>
                <a:gridCol w="1005840"/>
                <a:gridCol w="868680"/>
              </a:tblGrid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ko-KR" sz="950" dirty="0" b="1">
                          <a:solidFill>
                            <a:srgbClr val="000000"/>
                          </a:solidFill>
                        </a:rPr>
                        <a:t>Treatment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950" dirty="0" b="1">
                          <a:solidFill>
                            <a:srgbClr val="000000"/>
                          </a:solidFill>
                        </a:rPr>
                        <a:t>Design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950" dirty="0" b="1">
                          <a:solidFill>
                            <a:srgbClr val="000000"/>
                          </a:solidFill>
                        </a:rPr>
                        <a:t>Target (g)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950" dirty="0" b="1">
                          <a:solidFill>
                            <a:srgbClr val="000000"/>
                          </a:solidFill>
                        </a:rPr>
                        <a:t>Delivered (g)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950" dirty="0" b="1">
                          <a:solidFill>
                            <a:srgbClr val="000000"/>
                          </a:solidFill>
                        </a:rPr>
                        <a:t>Delivered / Target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950" dirty="0" b="1">
                          <a:solidFill>
                            <a:srgbClr val="000000"/>
                          </a:solidFill>
                        </a:rPr>
                        <a:t>% of ETc 100%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ko-KR" sz="950" dirty="0" b="0">
                          <a:solidFill>
                            <a:srgbClr val="000000"/>
                          </a:solidFill>
                        </a:rPr>
                        <a:t>ETc 100%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950" dirty="0" b="0">
                          <a:solidFill>
                            <a:srgbClr val="000000"/>
                          </a:solidFill>
                        </a:rPr>
                        <a:t>증산량 100%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950" dirty="0" b="0">
                          <a:solidFill>
                            <a:srgbClr val="000000"/>
                          </a:solidFill>
                        </a:rPr>
                        <a:t>985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950" dirty="0" b="0">
                          <a:solidFill>
                            <a:srgbClr val="000000"/>
                          </a:solidFill>
                        </a:rPr>
                        <a:t>1046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950" dirty="0" b="0">
                          <a:solidFill>
                            <a:srgbClr val="000000"/>
                          </a:solidFill>
                        </a:rPr>
                        <a:t>1.06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950" dirty="0" b="0">
                          <a:solidFill>
                            <a:srgbClr val="000000"/>
                          </a:solidFill>
                        </a:rPr>
                        <a:t>100%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ko-KR" sz="950" dirty="0" b="0">
                          <a:solidFill>
                            <a:srgbClr val="000000"/>
                          </a:solidFill>
                        </a:rPr>
                        <a:t>ETc 50%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950" dirty="0" b="0">
                          <a:solidFill>
                            <a:srgbClr val="000000"/>
                          </a:solidFill>
                        </a:rPr>
                        <a:t>ETc 100%의 50%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950" dirty="0" b="0">
                          <a:solidFill>
                            <a:srgbClr val="000000"/>
                          </a:solidFill>
                        </a:rPr>
                        <a:t>492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950" dirty="0" b="0">
                          <a:solidFill>
                            <a:srgbClr val="000000"/>
                          </a:solidFill>
                        </a:rPr>
                        <a:t>446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950" dirty="0" b="0">
                          <a:solidFill>
                            <a:srgbClr val="000000"/>
                          </a:solidFill>
                        </a:rPr>
                        <a:t>0.91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950" dirty="0" b="0">
                          <a:solidFill>
                            <a:srgbClr val="000000"/>
                          </a:solidFill>
                        </a:rPr>
                        <a:t>43%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ko-KR" sz="950" dirty="0" b="0">
                          <a:solidFill>
                            <a:srgbClr val="000000"/>
                          </a:solidFill>
                        </a:rPr>
                        <a:t>Waterlogging-ETc 100%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950" dirty="0" b="0">
                          <a:solidFill>
                            <a:srgbClr val="000000"/>
                          </a:solidFill>
                        </a:rPr>
                        <a:t>침수 후 100%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950" dirty="0" b="0">
                          <a:solidFill>
                            <a:srgbClr val="000000"/>
                          </a:solidFill>
                        </a:rPr>
                        <a:t>792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950" dirty="0" b="0">
                          <a:solidFill>
                            <a:srgbClr val="000000"/>
                          </a:solidFill>
                        </a:rPr>
                        <a:t>586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950" dirty="0" b="0">
                          <a:solidFill>
                            <a:srgbClr val="000000"/>
                          </a:solidFill>
                        </a:rPr>
                        <a:t>0.74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950" dirty="0" b="0">
                          <a:solidFill>
                            <a:srgbClr val="000000"/>
                          </a:solidFill>
                        </a:rPr>
                        <a:t>56%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ko-KR" sz="950" dirty="0" b="0">
                          <a:solidFill>
                            <a:srgbClr val="000000"/>
                          </a:solidFill>
                        </a:rPr>
                        <a:t>Waterlogging-ETc 50%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950" dirty="0" b="0">
                          <a:solidFill>
                            <a:srgbClr val="000000"/>
                          </a:solidFill>
                        </a:rPr>
                        <a:t>침수 후 50%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950" dirty="0" b="0">
                          <a:solidFill>
                            <a:srgbClr val="000000"/>
                          </a:solidFill>
                        </a:rPr>
                        <a:t>396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950" dirty="0" b="0">
                          <a:solidFill>
                            <a:srgbClr val="000000"/>
                          </a:solidFill>
                        </a:rPr>
                        <a:t>386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950" dirty="0" b="0">
                          <a:solidFill>
                            <a:srgbClr val="000000"/>
                          </a:solidFill>
                        </a:rPr>
                        <a:t>0.97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950" dirty="0" b="0">
                          <a:solidFill>
                            <a:srgbClr val="000000"/>
                          </a:solidFill>
                        </a:rPr>
                        <a:t>37%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50686"/>
            <a:ext cx="10515600" cy="950797"/>
          </a:xfrm>
        </p:spPr>
        <p:txBody>
          <a:bodyPr>
            <a:normAutofit/>
          </a:bodyPr>
          <a:lstStyle/>
          <a:p>
            <a:r>
              <a:rPr lang="en-US" altLang="ko-KR" sz="2400" dirty="0">
                <a:latin typeface="Times New Roman"/>
                <a:cs typeface="Times New Roman"/>
              </a:rPr>
              <a:t>Irrigation</a:t>
            </a:r>
            <a:br>
              <a:rPr lang="en-US" altLang="ko-KR" sz="2800" dirty="0"/>
            </a:br>
            <a:r>
              <a:rPr lang="ko-KR" altLang="en-US" sz="3200" dirty="0"/>
              <a:t>밭콩 일 물 소모량: 로드셀 vs EC5</a:t>
            </a:r>
          </a:p>
        </p:txBody>
      </p:sp>
      <p:pic>
        <p:nvPicPr>
          <p:cNvPr id="3" name="Logo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9058" y="129246"/>
            <a:ext cx="2242456" cy="729364"/>
          </a:xfrm>
          <a:prstGeom prst="rect">
            <a:avLst/>
          </a:prstGeom>
        </p:spPr>
      </p:pic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98FA03D2-03B7-0D84-2206-40CA69A8D76A}"/>
              </a:ext>
            </a:extLst>
          </p:cNvPr>
          <p:cNvCxnSpPr>
            <a:cxnSpLocks/>
          </p:cNvCxnSpPr>
          <p:nvPr/>
        </p:nvCxnSpPr>
        <p:spPr>
          <a:xfrm>
            <a:off x="783772" y="1002621"/>
            <a:ext cx="10624457" cy="0"/>
          </a:xfrm>
          <a:prstGeom prst="line">
            <a:avLst/>
          </a:prstGeom>
          <a:ln w="571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D96D3AE-CC3D-A909-29AD-1EF41A97CF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BCED27-B7FD-4F82-BD12-1C1B2F10C096}" type="slidenum">
              <a:rPr lang="ko-KR" altLang="en-US" smtClean="0"/>
              <a:t>27</a:t>
            </a:fld>
            <a:endParaRPr lang="ko-KR" altLang="en-US"/>
          </a:p>
        </p:txBody>
      </p:sp>
      <p:pic>
        <p:nvPicPr>
          <p:cNvPr id="7" name="Picture 6" descr="a_bean_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156402"/>
            <a:ext cx="7040880" cy="1905114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4709160"/>
          <a:ext cx="6766560" cy="950976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37744">
                <a:tc>
                  <a:txBody>
                    <a:bodyPr/>
                    <a:lstStyle/>
                    <a:p>
                      <a:pPr algn="l"/>
                      <a:r>
                        <a:rPr sz="1000" b="1" dirty="0">
                          <a:solidFill>
                            <a:srgbClr val="000000"/>
                          </a:solidFill>
                        </a:rPr>
                        <a:t>Treatment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00000"/>
                          </a:solidFill>
                        </a:rPr>
                        <a:t>n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00000"/>
                          </a:solidFill>
                        </a:rPr>
                        <a:t>Loadcell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00000"/>
                          </a:solidFill>
                        </a:rPr>
                        <a:t>EC5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00000"/>
                          </a:solidFill>
                        </a:rPr>
                        <a:t>EC5/LC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00000"/>
                          </a:solidFill>
                        </a:rPr>
                        <a:t>r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</a:rPr>
                        <a:t>ETc 100%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30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14.7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9.7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66%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0.83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1270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</a:rPr>
                        <a:t>ETc 50%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29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7.7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9.3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121%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0.34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l"/>
                      <a:r>
                        <a:rPr lang="en-US" sz="1000" b="0" dirty="0">
                          <a:solidFill>
                            <a:srgbClr val="000000"/>
                          </a:solidFill>
                        </a:rPr>
                        <a:t>Waterlogging</a:t>
                      </a:r>
                      <a:r>
                        <a:rPr sz="1000" b="0" dirty="0">
                          <a:solidFill>
                            <a:srgbClr val="000000"/>
                          </a:solidFill>
                        </a:rPr>
                        <a:t>-</a:t>
                      </a:r>
                      <a:r>
                        <a:rPr sz="1000" b="0" dirty="0" err="1">
                          <a:solidFill>
                            <a:srgbClr val="000000"/>
                          </a:solidFill>
                        </a:rPr>
                        <a:t>ETc</a:t>
                      </a:r>
                      <a:r>
                        <a:rPr sz="1000" b="0" dirty="0">
                          <a:solidFill>
                            <a:srgbClr val="000000"/>
                          </a:solidFill>
                        </a:rPr>
                        <a:t> 100%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27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13.0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10.5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80%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0.59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Card 요점"/>
          <p:cNvSpPr/>
          <p:nvPr/>
        </p:nvSpPr>
        <p:spPr>
          <a:xfrm>
            <a:off x="7498079" y="1399032"/>
            <a:ext cx="4206240" cy="4133087"/>
          </a:xfrm>
          <a:prstGeom prst="roundRect">
            <a:avLst>
              <a:gd name="adj" fmla="val 3400"/>
            </a:avLst>
          </a:prstGeom>
          <a:solidFill>
            <a:srgbClr val="FBFBFB"/>
          </a:solidFill>
          <a:ln w="12700">
            <a:solidFill>
              <a:srgbClr val="AFAF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Header 요점"/>
          <p:cNvSpPr/>
          <p:nvPr/>
        </p:nvSpPr>
        <p:spPr>
          <a:xfrm>
            <a:off x="7680959" y="1188720"/>
            <a:ext cx="3840479" cy="420624"/>
          </a:xfrm>
          <a:prstGeom prst="roundRect">
            <a:avLst>
              <a:gd name="adj" fmla="val 25000"/>
            </a:avLst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27432" rIns="73152" bIns="27432"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요점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59" y="1783080"/>
            <a:ext cx="3886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01168" indent="-201168">
              <a:spcBef>
                <a:spcPts val="0"/>
              </a:spcBef>
              <a:buFont typeface="Arial"/>
              <a:buChar char="•"/>
            </a:pPr>
            <a:r>
              <a:rPr sz="1300">
                <a:solidFill>
                  <a:srgbClr val="000000"/>
                </a:solidFill>
              </a:rPr>
              <a:t>두 방법은 같은 방향으로 변동 (대조구 r=0.83, 침수 r=0.59)</a:t>
            </a:r>
          </a:p>
          <a:p>
            <a:pPr marL="201168" indent="-201168">
              <a:spcBef>
                <a:spcPts val="700"/>
              </a:spcBef>
              <a:buFont typeface="Arial"/>
              <a:buChar char="•"/>
            </a:pPr>
            <a:r>
              <a:rPr sz="1300">
                <a:solidFill>
                  <a:srgbClr val="000000"/>
                </a:solidFill>
              </a:rPr>
              <a:t>EC5는 로드셀보다 낮게 추정: 대조구 66%, 침수 80%</a:t>
            </a:r>
          </a:p>
          <a:p>
            <a:pPr marL="201168" indent="-201168">
              <a:spcBef>
                <a:spcPts val="700"/>
              </a:spcBef>
              <a:buFont typeface="Arial"/>
              <a:buChar char="•"/>
            </a:pPr>
            <a:r>
              <a:rPr sz="1300">
                <a:solidFill>
                  <a:srgbClr val="000000"/>
                </a:solidFill>
              </a:rPr>
              <a:t>건조구는 EC5(센서 7~9)가 오히려 높음 (121%), 상관 낮음 (r=0.34) — 이 센서는 보정식 신뢰도가 낮아(종합데이터 안내문) 뿌리 이탈 가능성과 함께 정황 자료로만 사용</a:t>
            </a:r>
          </a:p>
          <a:p>
            <a:pPr marL="201168" indent="-201168">
              <a:spcBef>
                <a:spcPts val="700"/>
              </a:spcBef>
              <a:buFont typeface="Arial"/>
              <a:buChar char="•"/>
            </a:pPr>
            <a:r>
              <a:rPr sz="1300">
                <a:solidFill>
                  <a:srgbClr val="000000"/>
                </a:solidFill>
              </a:rPr>
              <a:t>로드셀 기준 건조/대조구 = 54%로 설계(50%)와 유사, EC5 기준은 94%로 처리 차이를 구분 못 함</a:t>
            </a:r>
          </a:p>
        </p:txBody>
      </p:sp>
      <p:sp>
        <p:nvSpPr>
          <p:cNvPr id="12" name="Conclusion Box"/>
          <p:cNvSpPr/>
          <p:nvPr/>
        </p:nvSpPr>
        <p:spPr>
          <a:xfrm>
            <a:off x="841248" y="5788152"/>
            <a:ext cx="10570464" cy="566928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8575">
            <a:solidFill>
              <a:srgbClr val="AA57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36576" rIns="137160" bIns="36576" rtlCol="0" anchor="ctr"/>
          <a:lstStyle/>
          <a:p>
            <a:pPr algn="ctr"/>
            <a:r>
              <a:rPr sz="1600" b="0">
                <a:solidFill>
                  <a:srgbClr val="AA572C"/>
                </a:solidFill>
              </a:rPr>
              <a:t>EC5는 변동 경향은 반영하나 </a:t>
            </a:r>
            <a:r>
              <a:rPr sz="1600" b="1">
                <a:solidFill>
                  <a:srgbClr val="AA572C"/>
                </a:solidFill>
              </a:rPr>
              <a:t>처리 간 물 소모 차이는 로드셀이 더 정확</a:t>
            </a:r>
          </a:p>
        </p:txBody>
      </p:sp>
      <p:sp>
        <p:nvSpPr>
          <p:cNvPr id="13" name="Footnote"/>
          <p:cNvSpPr txBox="1"/>
          <p:nvPr/>
        </p:nvSpPr>
        <p:spPr>
          <a:xfrm>
            <a:off x="457200" y="6400800"/>
            <a:ext cx="8138160" cy="310896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r>
              <a:rPr sz="1000" b="0">
                <a:solidFill>
                  <a:srgbClr val="595959"/>
                </a:solidFill>
              </a:rPr>
              <a:t>일 물 소모(mm/일) = 관수 후(08:30~09:00)와 다음날 관수 직전의 차. 로드셀 38.01 g/mm, EC5 VWC·180 mm. 두 값 모두 있는 날만.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50686"/>
            <a:ext cx="10515600" cy="950797"/>
          </a:xfrm>
        </p:spPr>
        <p:txBody>
          <a:bodyPr>
            <a:normAutofit/>
          </a:bodyPr>
          <a:lstStyle/>
          <a:p>
            <a:r>
              <a:rPr lang="en-US" altLang="ko-KR" sz="2400" dirty="0">
                <a:latin typeface="Times New Roman"/>
                <a:cs typeface="Times New Roman"/>
              </a:rPr>
              <a:t>Environment</a:t>
            </a:r>
            <a:br>
              <a:rPr lang="en-US" altLang="ko-KR" sz="2800" dirty="0"/>
            </a:br>
            <a:r>
              <a:rPr lang="ko-KR" altLang="en-US" sz="3200" dirty="0"/>
              <a:t>환경 조건 비교</a:t>
            </a:r>
          </a:p>
        </p:txBody>
      </p:sp>
      <p:pic>
        <p:nvPicPr>
          <p:cNvPr id="3" name="Logo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9058" y="129246"/>
            <a:ext cx="2242456" cy="729364"/>
          </a:xfrm>
          <a:prstGeom prst="rect">
            <a:avLst/>
          </a:prstGeom>
        </p:spPr>
      </p:pic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98FA03D2-03B7-0D84-2206-40CA69A8D76A}"/>
              </a:ext>
            </a:extLst>
          </p:cNvPr>
          <p:cNvCxnSpPr>
            <a:cxnSpLocks/>
          </p:cNvCxnSpPr>
          <p:nvPr/>
        </p:nvCxnSpPr>
        <p:spPr>
          <a:xfrm>
            <a:off x="783772" y="1002621"/>
            <a:ext cx="10624457" cy="0"/>
          </a:xfrm>
          <a:prstGeom prst="line">
            <a:avLst/>
          </a:prstGeom>
          <a:ln w="571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D96D3AE-CC3D-A909-29AD-1EF41A97CF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BCED27-B7FD-4F82-BD12-1C1B2F10C096}" type="slidenum">
              <a:rPr lang="ko-KR" altLang="en-US" smtClean="0"/>
              <a:t>28</a:t>
            </a:fld>
            <a:endParaRPr lang="ko-KR" altLang="en-US"/>
          </a:p>
        </p:txBody>
      </p:sp>
      <p:pic>
        <p:nvPicPr>
          <p:cNvPr id="14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4302" y="1296323"/>
            <a:ext cx="6226676" cy="2345112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3886200"/>
          <a:ext cx="6766560" cy="1481328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algn="l"/>
                      <a:endParaRPr dirty="0"/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Soybean</a:t>
                      </a:r>
                      <a:r>
                        <a:rPr sz="1100" b="1" dirty="0">
                          <a:solidFill>
                            <a:srgbClr val="000000"/>
                          </a:solidFill>
                        </a:rPr>
                        <a:t> DAT 0–16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Soybean</a:t>
                      </a:r>
                      <a:r>
                        <a:rPr sz="1100" b="1" dirty="0">
                          <a:solidFill>
                            <a:srgbClr val="000000"/>
                          </a:solidFill>
                        </a:rPr>
                        <a:t> 8/12–10/6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00000"/>
                          </a:solidFill>
                        </a:rPr>
                        <a:t>Romaine 10/7–10/23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</a:rPr>
                        <a:t>평균 기온 (°C)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</a:rPr>
                        <a:t>28.4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</a:rPr>
                        <a:t>24.6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</a:rPr>
                        <a:t>18.2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1270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</a:rPr>
                        <a:t>최저 기온 (°C)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</a:rPr>
                        <a:t>17.6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</a:rPr>
                        <a:t>7.9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</a:rPr>
                        <a:t>5.0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</a:rPr>
                        <a:t>평균 상대습도 (%)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</a:rPr>
                        <a:t>78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</a:rPr>
                        <a:t>75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</a:rPr>
                        <a:t>71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</a:rPr>
                        <a:t>DLI (mol·m</a:t>
                      </a:r>
                      <a:r>
                        <a:rPr sz="1100" b="0" baseline="30000">
                          <a:solidFill>
                            <a:srgbClr val="000000"/>
                          </a:solidFill>
                        </a:rPr>
                        <a:t>−2</a:t>
                      </a:r>
                      <a:r>
                        <a:rPr sz="1100" b="0">
                          <a:solidFill>
                            <a:srgbClr val="000000"/>
                          </a:solidFill>
                        </a:rPr>
                        <a:t>·d</a:t>
                      </a:r>
                      <a:r>
                        <a:rPr sz="1100" b="0" baseline="30000">
                          <a:solidFill>
                            <a:srgbClr val="000000"/>
                          </a:solidFill>
                        </a:rPr>
                        <a:t>−1</a:t>
                      </a:r>
                      <a:r>
                        <a:rPr sz="1100" b="0">
                          <a:solidFill>
                            <a:srgbClr val="000000"/>
                          </a:solidFill>
                        </a:rPr>
                        <a:t>)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</a:rPr>
                        <a:t>22.0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</a:rPr>
                        <a:t>22.2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</a:rPr>
                        <a:t>17.5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Card 요점"/>
          <p:cNvSpPr/>
          <p:nvPr/>
        </p:nvSpPr>
        <p:spPr>
          <a:xfrm>
            <a:off x="7498079" y="1399032"/>
            <a:ext cx="4206240" cy="4133087"/>
          </a:xfrm>
          <a:prstGeom prst="roundRect">
            <a:avLst>
              <a:gd name="adj" fmla="val 3400"/>
            </a:avLst>
          </a:prstGeom>
          <a:solidFill>
            <a:srgbClr val="FBFBFB"/>
          </a:solidFill>
          <a:ln w="12700">
            <a:solidFill>
              <a:srgbClr val="AFAF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Header 요점"/>
          <p:cNvSpPr/>
          <p:nvPr/>
        </p:nvSpPr>
        <p:spPr>
          <a:xfrm>
            <a:off x="7680959" y="1188720"/>
            <a:ext cx="3840479" cy="420624"/>
          </a:xfrm>
          <a:prstGeom prst="roundRect">
            <a:avLst>
              <a:gd name="adj" fmla="val 25000"/>
            </a:avLst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27432" rIns="73152" bIns="27432"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요점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59" y="1783080"/>
            <a:ext cx="3886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01168" indent="-201168">
              <a:spcBef>
                <a:spcPts val="0"/>
              </a:spcBef>
              <a:buFont typeface="Arial"/>
              <a:buChar char="•"/>
            </a:pPr>
            <a:r>
              <a:rPr sz="1500" b="0">
                <a:solidFill>
                  <a:srgbClr val="000000"/>
                </a:solidFill>
              </a:rPr>
              <a:t>로메인 시기(10/7~10/23) 평균 기온 18.2 °C로 밭콩 처리 초기(28.4 °C)보다 약 10 °C 낮음</a:t>
            </a:r>
          </a:p>
          <a:p>
            <a:pPr marL="201168" indent="-201168">
              <a:spcBef>
                <a:spcPts val="700"/>
              </a:spcBef>
              <a:buFont typeface="Arial"/>
              <a:buChar char="•"/>
            </a:pPr>
            <a:r>
              <a:rPr sz="1500" b="0">
                <a:solidFill>
                  <a:srgbClr val="000000"/>
                </a:solidFill>
              </a:rPr>
              <a:t>DLI도 낮음 (17.5 vs 22.0 mol·m</a:t>
            </a:r>
            <a:r>
              <a:rPr sz="1500" b="0" baseline="30000">
                <a:solidFill>
                  <a:srgbClr val="000000"/>
                </a:solidFill>
              </a:rPr>
              <a:t>−2</a:t>
            </a:r>
            <a:r>
              <a:rPr sz="1500" b="0">
                <a:solidFill>
                  <a:srgbClr val="000000"/>
                </a:solidFill>
              </a:rPr>
              <a:t>·d</a:t>
            </a:r>
            <a:r>
              <a:rPr sz="1500" b="0" baseline="30000">
                <a:solidFill>
                  <a:srgbClr val="000000"/>
                </a:solidFill>
              </a:rPr>
              <a:t>−1</a:t>
            </a:r>
            <a:r>
              <a:rPr sz="1500" b="0">
                <a:solidFill>
                  <a:srgbClr val="000000"/>
                </a:solidFill>
              </a:rPr>
              <a:t>)</a:t>
            </a:r>
          </a:p>
          <a:p>
            <a:pPr marL="201168" indent="-201168">
              <a:spcBef>
                <a:spcPts val="700"/>
              </a:spcBef>
              <a:buFont typeface="Arial"/>
              <a:buChar char="•"/>
            </a:pPr>
            <a:r>
              <a:rPr sz="1500" b="0">
                <a:solidFill>
                  <a:srgbClr val="000000"/>
                </a:solidFill>
              </a:rPr>
              <a:t>10월에는 기온 하강이 뚜렷해 증산 요구량 자체가 낮음</a:t>
            </a:r>
          </a:p>
          <a:p>
            <a:pPr marL="201168" indent="-201168">
              <a:spcBef>
                <a:spcPts val="700"/>
              </a:spcBef>
              <a:buFont typeface="Arial"/>
              <a:buChar char="•"/>
            </a:pPr>
            <a:r>
              <a:rPr sz="1500" b="0">
                <a:solidFill>
                  <a:srgbClr val="000000"/>
                </a:solidFill>
              </a:rPr>
              <a:t>작물·온실·계절 차이로 반응 차이에 환경 교란이 포함됨</a:t>
            </a:r>
          </a:p>
        </p:txBody>
      </p:sp>
      <p:sp>
        <p:nvSpPr>
          <p:cNvPr id="12" name="Conclusion Box"/>
          <p:cNvSpPr/>
          <p:nvPr/>
        </p:nvSpPr>
        <p:spPr>
          <a:xfrm>
            <a:off x="841248" y="5788152"/>
            <a:ext cx="10570464" cy="566928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8575">
            <a:solidFill>
              <a:srgbClr val="AA57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36576" rIns="137160" bIns="36576" rtlCol="0" anchor="ctr"/>
          <a:lstStyle/>
          <a:p>
            <a:pPr algn="ctr"/>
            <a:r>
              <a:rPr sz="1600" b="0">
                <a:solidFill>
                  <a:srgbClr val="AA572C"/>
                </a:solidFill>
              </a:rPr>
              <a:t>로메인은 저온·중간 일사 조건에서 처리되어 증발산 부하와 건조 스트레스 강도가 다름</a:t>
            </a:r>
          </a:p>
        </p:txBody>
      </p:sp>
      <p:sp>
        <p:nvSpPr>
          <p:cNvPr id="13" name="Footnote"/>
          <p:cNvSpPr txBox="1"/>
          <p:nvPr/>
        </p:nvSpPr>
        <p:spPr>
          <a:xfrm>
            <a:off x="457200" y="6473952"/>
            <a:ext cx="8138160" cy="310896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r>
              <a:rPr sz="1000" b="0">
                <a:solidFill>
                  <a:srgbClr val="595959"/>
                </a:solidFill>
              </a:rPr>
              <a:t>밭콩: CR1000X 기상 센서, 로메인: 26번 온실 환경 데이터(CR300; 10/13·10/18 결측일 제외). 로메인 DLI = 일사량(MJ) × 2.02 mol/MJ 추정.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50686"/>
            <a:ext cx="10515600" cy="950797"/>
          </a:xfrm>
        </p:spPr>
        <p:txBody>
          <a:bodyPr>
            <a:normAutofit/>
          </a:bodyPr>
          <a:lstStyle/>
          <a:p>
            <a:r>
              <a:rPr lang="en-US" altLang="ko-KR" sz="2400" dirty="0">
                <a:latin typeface="Times New Roman"/>
                <a:cs typeface="Times New Roman"/>
              </a:rPr>
              <a:t>Discussion</a:t>
            </a:r>
            <a:br>
              <a:rPr lang="en-US" altLang="ko-KR" sz="2800" dirty="0"/>
            </a:br>
            <a:r>
              <a:rPr lang="ko-KR" altLang="en-US" sz="3200" dirty="0"/>
              <a:t>고찰: 생육 감소 경로와 처리 강도의 한계</a:t>
            </a:r>
          </a:p>
        </p:txBody>
      </p:sp>
      <p:pic>
        <p:nvPicPr>
          <p:cNvPr id="3" name="Logo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9058" y="129246"/>
            <a:ext cx="2242456" cy="729364"/>
          </a:xfrm>
          <a:prstGeom prst="rect">
            <a:avLst/>
          </a:prstGeom>
        </p:spPr>
      </p:pic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98FA03D2-03B7-0D84-2206-40CA69A8D76A}"/>
              </a:ext>
            </a:extLst>
          </p:cNvPr>
          <p:cNvCxnSpPr>
            <a:cxnSpLocks/>
          </p:cNvCxnSpPr>
          <p:nvPr/>
        </p:nvCxnSpPr>
        <p:spPr>
          <a:xfrm>
            <a:off x="783772" y="1002621"/>
            <a:ext cx="10624457" cy="0"/>
          </a:xfrm>
          <a:prstGeom prst="line">
            <a:avLst/>
          </a:prstGeom>
          <a:ln w="571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D96D3AE-CC3D-A909-29AD-1EF41A97CF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BCED27-B7FD-4F82-BD12-1C1B2F10C096}" type="slidenum">
              <a:rPr lang="ko-KR" altLang="en-US" smtClean="0"/>
              <a:t>29</a:t>
            </a:fld>
            <a:endParaRPr lang="ko-KR" altLang="en-US"/>
          </a:p>
        </p:txBody>
      </p:sp>
      <p:sp>
        <p:nvSpPr>
          <p:cNvPr id="7" name="Card 공통 반응"/>
          <p:cNvSpPr/>
          <p:nvPr/>
        </p:nvSpPr>
        <p:spPr>
          <a:xfrm>
            <a:off x="841248" y="1399032"/>
            <a:ext cx="3383280" cy="4133087"/>
          </a:xfrm>
          <a:prstGeom prst="roundRect">
            <a:avLst>
              <a:gd name="adj" fmla="val 3400"/>
            </a:avLst>
          </a:prstGeom>
          <a:solidFill>
            <a:srgbClr val="FBFBFB"/>
          </a:solidFill>
          <a:ln w="12700">
            <a:solidFill>
              <a:srgbClr val="AFAF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Header 공통 반응"/>
          <p:cNvSpPr/>
          <p:nvPr/>
        </p:nvSpPr>
        <p:spPr>
          <a:xfrm>
            <a:off x="1024128" y="1188720"/>
            <a:ext cx="3017520" cy="420624"/>
          </a:xfrm>
          <a:prstGeom prst="roundRect">
            <a:avLst>
              <a:gd name="adj" fmla="val 25000"/>
            </a:avLst>
          </a:prstGeom>
          <a:solidFill>
            <a:srgbClr val="6B42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27432" rIns="73152" bIns="27432" rtlCol="0" anchor="ctr"/>
          <a:lstStyle/>
          <a:p>
            <a:pPr algn="ctr"/>
            <a:r>
              <a:rPr sz="1600">
                <a:solidFill>
                  <a:srgbClr val="FFFFFF"/>
                </a:solidFill>
              </a:rPr>
              <a:t>① 로메인: 잎 확장 정지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" y="1783080"/>
            <a:ext cx="31089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01168" indent="-201168" algn="l">
              <a:spcBef>
                <a:spcPts val="0"/>
              </a:spcBef>
              <a:buFont typeface="Arial"/>
              <a:buChar char="•"/>
            </a:pPr>
            <a:r>
              <a:rPr lang="ko-KR" altLang="en-US" sz="1350" dirty="0">
                <a:solidFill>
                  <a:srgbClr val="000000"/>
                </a:solidFill>
              </a:rPr>
              <a:t>g</a:t>
            </a:r>
            <a:r>
              <a:rPr lang="ko-KR" altLang="en-US" sz="1350" dirty="0" baseline="-25000">
                <a:solidFill>
                  <a:srgbClr val="000000"/>
                </a:solidFill>
              </a:rPr>
              <a:t>sw</a:t>
            </a:r>
            <a:r>
              <a:rPr lang="ko-KR" altLang="en-US" sz="1350" dirty="0">
                <a:solidFill>
                  <a:srgbClr val="000000"/>
                </a:solidFill>
              </a:rPr>
              <a:t> 10%까지 감소, 캐노피 확장 정지(DAT 5 투영 엽면적 69~72%); 배수 후 g</a:t>
            </a:r>
            <a:r>
              <a:rPr lang="ko-KR" altLang="en-US" sz="1350" dirty="0" baseline="-25000">
                <a:solidFill>
                  <a:srgbClr val="000000"/>
                </a:solidFill>
              </a:rPr>
              <a:t>sw</a:t>
            </a:r>
            <a:r>
              <a:rPr lang="ko-KR" altLang="en-US" sz="1350" dirty="0">
                <a:solidFill>
                  <a:srgbClr val="000000"/>
                </a:solidFill>
              </a:rPr>
              <a:t>·Φ</a:t>
            </a:r>
            <a:r>
              <a:rPr lang="ko-KR" altLang="en-US" sz="1350" dirty="0" baseline="-25000">
                <a:solidFill>
                  <a:srgbClr val="000000"/>
                </a:solidFill>
              </a:rPr>
              <a:t>PSII</a:t>
            </a:r>
            <a:r>
              <a:rPr lang="ko-KR" altLang="en-US" sz="1350" dirty="0">
                <a:solidFill>
                  <a:srgbClr val="000000"/>
                </a:solidFill>
              </a:rPr>
              <a:t>는 2~3일 내 회복, 확장 속도도 더 빠름</a:t>
            </a:r>
          </a:p>
          <a:p>
            <a:pPr marL="201168" indent="-201168" algn="l">
              <a:spcBef>
                <a:spcPts val="1000"/>
              </a:spcBef>
              <a:buFont typeface="Arial"/>
              <a:buChar char="•"/>
            </a:pPr>
            <a:r>
              <a:rPr lang="ko-KR" altLang="en-US" sz="1350" dirty="0">
                <a:solidFill>
                  <a:srgbClr val="000000"/>
                </a:solidFill>
              </a:rPr>
              <a:t>→ 수확 감소의 주원인은 침수 중 손실된 잎 면적이라는 가설 (건조구는 DAT 12 이후 캐노피 정체, DAT 16 g</a:t>
            </a:r>
            <a:r>
              <a:rPr lang="ko-KR" altLang="en-US" sz="1350" dirty="0" baseline="-25000">
                <a:solidFill>
                  <a:srgbClr val="000000"/>
                </a:solidFill>
              </a:rPr>
              <a:t>sw</a:t>
            </a:r>
            <a:r>
              <a:rPr lang="ko-KR" altLang="en-US" sz="1350" dirty="0">
                <a:solidFill>
                  <a:srgbClr val="000000"/>
                </a:solidFill>
              </a:rPr>
              <a:t> 0.055 vs 0.144)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69848" y="4224528"/>
            <a:ext cx="2926080" cy="1143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6B42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15568" y="4279392"/>
            <a:ext cx="283464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3000">
                <a:solidFill>
                  <a:srgbClr val="6B4226"/>
                </a:solidFill>
              </a:rPr>
              <a:t>−31%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" y="4873752"/>
            <a:ext cx="28346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50">
                <a:solidFill>
                  <a:srgbClr val="595959"/>
                </a:solidFill>
              </a:rPr>
              <a:t>복합구 캐노피 면적, DAT 5 (대조구 대비)</a:t>
            </a:r>
          </a:p>
        </p:txBody>
      </p:sp>
      <p:sp>
        <p:nvSpPr>
          <p:cNvPr id="13" name="Card 작물 간 차이"/>
          <p:cNvSpPr/>
          <p:nvPr/>
        </p:nvSpPr>
        <p:spPr>
          <a:xfrm>
            <a:off x="4407408" y="1399032"/>
            <a:ext cx="3383280" cy="4133087"/>
          </a:xfrm>
          <a:prstGeom prst="roundRect">
            <a:avLst>
              <a:gd name="adj" fmla="val 3400"/>
            </a:avLst>
          </a:prstGeom>
          <a:solidFill>
            <a:srgbClr val="FBFBFB"/>
          </a:solidFill>
          <a:ln w="12700">
            <a:solidFill>
              <a:srgbClr val="AFAF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Header 작물 간 차이"/>
          <p:cNvSpPr/>
          <p:nvPr/>
        </p:nvSpPr>
        <p:spPr>
          <a:xfrm>
            <a:off x="4590288" y="1188720"/>
            <a:ext cx="3017520" cy="420624"/>
          </a:xfrm>
          <a:prstGeom prst="roundRect">
            <a:avLst>
              <a:gd name="adj" fmla="val 25000"/>
            </a:avLst>
          </a:prstGeom>
          <a:solidFill>
            <a:srgbClr val="2E6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27432" rIns="73152" bIns="27432" rtlCol="0" anchor="ctr"/>
          <a:lstStyle/>
          <a:p>
            <a:pPr algn="ctr"/>
            <a:r>
              <a:rPr sz="1600">
                <a:solidFill>
                  <a:srgbClr val="FFFFFF"/>
                </a:solidFill>
              </a:rPr>
              <a:t>② 콩: 교차 내성은 가설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0288" y="1783080"/>
            <a:ext cx="31089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01168" indent="-201168" algn="l">
              <a:spcBef>
                <a:spcPts val="0"/>
              </a:spcBef>
              <a:buFont typeface="Arial"/>
              <a:buChar char="•"/>
            </a:pPr>
            <a:r>
              <a:rPr lang="ko-KR" altLang="en-US" sz="1350" dirty="0">
                <a:solidFill>
                  <a:srgbClr val="000000"/>
                </a:solidFill>
              </a:rPr>
              <a:t>고광도 Φ</a:t>
            </a:r>
            <a:r>
              <a:rPr lang="ko-KR" altLang="en-US" sz="1350" baseline="-25000" dirty="0">
                <a:solidFill>
                  <a:srgbClr val="000000"/>
                </a:solidFill>
              </a:rPr>
              <a:t>PSII</a:t>
            </a:r>
            <a:r>
              <a:rPr lang="ko-KR" altLang="en-US" sz="1350" dirty="0">
                <a:solidFill>
                  <a:srgbClr val="000000"/>
                </a:solidFill>
              </a:rPr>
              <a:t>·SPAD에서 복합 &gt; 건조 (W × I P=0.027, &lt;0.001), g</a:t>
            </a:r>
            <a:r>
              <a:rPr lang="ko-KR" altLang="en-US" sz="1350" baseline="-25000" dirty="0">
                <a:solidFill>
                  <a:srgbClr val="000000"/>
                </a:solidFill>
              </a:rPr>
              <a:t>sw</a:t>
            </a:r>
            <a:r>
              <a:rPr lang="ko-KR" altLang="en-US" sz="1350" dirty="0">
                <a:solidFill>
                  <a:srgbClr val="000000"/>
                </a:solidFill>
              </a:rPr>
              <a:t>에는 상호작용 없음</a:t>
            </a:r>
          </a:p>
          <a:p>
            <a:pPr marL="201168" indent="-201168" algn="l">
              <a:spcBef>
                <a:spcPts val="1000"/>
              </a:spcBef>
              <a:buFont typeface="Arial"/>
              <a:buChar char="•"/>
            </a:pPr>
            <a:r>
              <a:rPr lang="ko-KR" altLang="en-US" sz="1350" dirty="0">
                <a:solidFill>
                  <a:srgbClr val="000000"/>
                </a:solidFill>
              </a:rPr>
              <a:t>대안: 근계 변화, 포트 밖 뿌리의 수분 이용 차이 — 단 침수 때 이탈 뿌리가 끊겨 복합구가 오히려 불리했을 수 있음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636008" y="4224528"/>
            <a:ext cx="2926080" cy="1143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2E6B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681728" y="4279392"/>
            <a:ext cx="283464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3000">
                <a:solidFill>
                  <a:srgbClr val="2E6B3F"/>
                </a:solidFill>
              </a:rPr>
              <a:t>P=0.027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81728" y="4873752"/>
            <a:ext cx="28346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50">
                <a:solidFill>
                  <a:srgbClr val="595959"/>
                </a:solidFill>
              </a:rPr>
              <a:t>콩 Φ</a:t>
            </a:r>
            <a:r>
              <a:rPr sz="1150" baseline="-25000">
                <a:solidFill>
                  <a:srgbClr val="595959"/>
                </a:solidFill>
              </a:rPr>
              <a:t>PSII</a:t>
            </a:r>
            <a:r>
              <a:rPr sz="1150">
                <a:solidFill>
                  <a:srgbClr val="595959"/>
                </a:solidFill>
              </a:rPr>
              <a:t> 침수×관수 (측정일 반복 검정)</a:t>
            </a:r>
          </a:p>
        </p:txBody>
      </p:sp>
      <p:sp>
        <p:nvSpPr>
          <p:cNvPr id="19" name="Card 생육"/>
          <p:cNvSpPr/>
          <p:nvPr/>
        </p:nvSpPr>
        <p:spPr>
          <a:xfrm>
            <a:off x="7973568" y="1399032"/>
            <a:ext cx="3383280" cy="4133087"/>
          </a:xfrm>
          <a:prstGeom prst="roundRect">
            <a:avLst>
              <a:gd name="adj" fmla="val 3400"/>
            </a:avLst>
          </a:prstGeom>
          <a:solidFill>
            <a:srgbClr val="FBFBFB"/>
          </a:solidFill>
          <a:ln w="12700">
            <a:solidFill>
              <a:srgbClr val="AFAF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Header 생육"/>
          <p:cNvSpPr/>
          <p:nvPr/>
        </p:nvSpPr>
        <p:spPr>
          <a:xfrm>
            <a:off x="8156448" y="1188720"/>
            <a:ext cx="3017520" cy="420624"/>
          </a:xfrm>
          <a:prstGeom prst="roundRect">
            <a:avLst>
              <a:gd name="adj" fmla="val 25000"/>
            </a:avLst>
          </a:prstGeom>
          <a:solidFill>
            <a:srgbClr val="AA57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27432" rIns="73152" bIns="27432" rtlCol="0" anchor="ctr"/>
          <a:lstStyle/>
          <a:p>
            <a:pPr algn="ctr"/>
            <a:r>
              <a:rPr sz="1600">
                <a:solidFill>
                  <a:srgbClr val="FFFFFF"/>
                </a:solidFill>
              </a:rPr>
              <a:t>③ 처리 강도와 비교의 한계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56448" y="1783080"/>
            <a:ext cx="31089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01168" indent="-201168" algn="l">
              <a:spcBef>
                <a:spcPts val="0"/>
              </a:spcBef>
              <a:buFont typeface="Arial"/>
              <a:buChar char="•"/>
            </a:pPr>
            <a:r>
              <a:rPr lang="ko-KR" altLang="en-US" sz="1350" dirty="0">
                <a:solidFill>
                  <a:srgbClr val="000000"/>
                </a:solidFill>
              </a:rPr>
              <a:t>로메인: 침수 후 과습 유지로 침수구 관수 56%, 복합구 37%; A-Ci·A-Q는 처리당 3~4곡선으로 측정일과 반복이 겹침</a:t>
            </a:r>
          </a:p>
          <a:p>
            <a:pPr marL="201168" indent="-201168" algn="l">
              <a:spcBef>
                <a:spcPts val="1000"/>
              </a:spcBef>
              <a:buFont typeface="Arial"/>
              <a:buChar char="•"/>
            </a:pPr>
            <a:r>
              <a:rPr lang="ko-KR" altLang="en-US" sz="1350" dirty="0">
                <a:solidFill>
                  <a:srgbClr val="000000"/>
                </a:solidFill>
              </a:rPr>
              <a:t>콩은 포트 밖 뿌리로 건조 강도 희석 가능, 두 실험은 계절·생육단계가 달라 병렬 사례로 해석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02168" y="4224528"/>
            <a:ext cx="2926080" cy="1143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AA57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247888" y="4279392"/>
            <a:ext cx="283464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3000">
                <a:solidFill>
                  <a:srgbClr val="AA572C"/>
                </a:solidFill>
              </a:rPr>
              <a:t>≈ 40~50%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47888" y="4873752"/>
            <a:ext cx="28346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50">
                <a:solidFill>
                  <a:srgbClr val="595959"/>
                </a:solidFill>
              </a:rPr>
              <a:t>콩 DAT 55 생육 비교의 검출 한계</a:t>
            </a:r>
          </a:p>
        </p:txBody>
      </p:sp>
      <p:sp>
        <p:nvSpPr>
          <p:cNvPr id="25" name="Conclusion Box"/>
          <p:cNvSpPr/>
          <p:nvPr/>
        </p:nvSpPr>
        <p:spPr>
          <a:xfrm>
            <a:off x="841248" y="5788152"/>
            <a:ext cx="10570464" cy="566928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8575">
            <a:solidFill>
              <a:srgbClr val="AA57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36576" rIns="137160" bIns="36576" rtlCol="0" anchor="ctr"/>
          <a:lstStyle/>
          <a:p>
            <a:pPr algn="ctr"/>
            <a:r>
              <a:rPr sz="1600">
                <a:solidFill>
                  <a:srgbClr val="E97132"/>
                </a:solidFill>
              </a:rPr>
              <a:t>로메인 생육 감소는 침수 중 잎 확장 정지와 후반 건조 억제로 설명 가능한 가설, 콩의 교차 내성은 뿌리 이탈을 배제할 수 없는 가설로 해석</a:t>
            </a:r>
          </a:p>
        </p:txBody>
      </p:sp>
      <p:sp>
        <p:nvSpPr>
          <p:cNvPr id="26" name="Footnote"/>
          <p:cNvSpPr txBox="1"/>
          <p:nvPr/>
        </p:nvSpPr>
        <p:spPr>
          <a:xfrm>
            <a:off x="457200" y="6473952"/>
            <a:ext cx="8138160" cy="310896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r>
              <a:rPr sz="1000">
                <a:solidFill>
                  <a:srgbClr val="595959"/>
                </a:solidFill>
              </a:rPr>
              <a:t>잎 확장 손실은 SAM 투영 엽면적 기준(실제 엽면적 아님). 2차년도: 포트 하단 차단(방근 시트·받침대), 수확 시 이탈 뿌리 기록, 엽 수분퍼텐셜·처리 전후 잎 신장 측정, 두 작물 동시 처리.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50686"/>
            <a:ext cx="10515600" cy="950797"/>
          </a:xfrm>
        </p:spPr>
        <p:txBody>
          <a:bodyPr>
            <a:normAutofit/>
          </a:bodyPr>
          <a:lstStyle/>
          <a:p>
            <a:r>
              <a:rPr lang="en-US" altLang="ko-KR" sz="2400" dirty="0">
                <a:latin typeface="Times New Roman"/>
                <a:cs typeface="Times New Roman"/>
              </a:rPr>
              <a:t>Conclusion</a:t>
            </a:r>
            <a:br>
              <a:rPr lang="en-US" altLang="ko-KR" sz="2800" dirty="0"/>
            </a:br>
            <a:r>
              <a:rPr lang="ko-KR" altLang="en-US" sz="3200" dirty="0"/>
              <a:t>종합 결론: 밭콩 vs 로메인 상추</a:t>
            </a:r>
          </a:p>
        </p:txBody>
      </p:sp>
      <p:pic>
        <p:nvPicPr>
          <p:cNvPr id="3" name="Logo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9058" y="129246"/>
            <a:ext cx="2242456" cy="729364"/>
          </a:xfrm>
          <a:prstGeom prst="rect">
            <a:avLst/>
          </a:prstGeom>
        </p:spPr>
      </p:pic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98FA03D2-03B7-0D84-2206-40CA69A8D76A}"/>
              </a:ext>
            </a:extLst>
          </p:cNvPr>
          <p:cNvCxnSpPr>
            <a:cxnSpLocks/>
          </p:cNvCxnSpPr>
          <p:nvPr/>
        </p:nvCxnSpPr>
        <p:spPr>
          <a:xfrm>
            <a:off x="783772" y="1002621"/>
            <a:ext cx="10624457" cy="0"/>
          </a:xfrm>
          <a:prstGeom prst="line">
            <a:avLst/>
          </a:prstGeom>
          <a:ln w="571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D96D3AE-CC3D-A909-29AD-1EF41A97CF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BCED27-B7FD-4F82-BD12-1C1B2F10C096}" type="slidenum">
              <a:rPr lang="ko-KR" altLang="en-US" smtClean="0"/>
              <a:t>30</a:t>
            </a:fld>
            <a:endParaRPr lang="ko-KR" altLang="en-US"/>
          </a:p>
        </p:txBody>
      </p:sp>
      <p:sp>
        <p:nvSpPr>
          <p:cNvPr id="7" name="Card 공통 반응"/>
          <p:cNvSpPr/>
          <p:nvPr/>
        </p:nvSpPr>
        <p:spPr>
          <a:xfrm>
            <a:off x="841248" y="1399032"/>
            <a:ext cx="3383280" cy="4133087"/>
          </a:xfrm>
          <a:prstGeom prst="roundRect">
            <a:avLst>
              <a:gd name="adj" fmla="val 3400"/>
            </a:avLst>
          </a:prstGeom>
          <a:solidFill>
            <a:srgbClr val="FBFBFB"/>
          </a:solidFill>
          <a:ln w="12700">
            <a:solidFill>
              <a:srgbClr val="AFAF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Header 공통 반응"/>
          <p:cNvSpPr/>
          <p:nvPr/>
        </p:nvSpPr>
        <p:spPr>
          <a:xfrm>
            <a:off x="1024128" y="1188720"/>
            <a:ext cx="3017520" cy="420624"/>
          </a:xfrm>
          <a:prstGeom prst="roundRect">
            <a:avLst>
              <a:gd name="adj" fmla="val 25000"/>
            </a:avLst>
          </a:prstGeom>
          <a:solidFill>
            <a:srgbClr val="6B42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27432" rIns="73152" bIns="27432"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공통 반응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" y="1783080"/>
            <a:ext cx="31089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01168" indent="-201168">
              <a:spcBef>
                <a:spcPts val="0"/>
              </a:spcBef>
              <a:buFont typeface="Arial"/>
              <a:buChar char="•"/>
            </a:pPr>
            <a:r>
              <a:rPr sz="1250">
                <a:solidFill>
                  <a:srgbClr val="000000"/>
                </a:solidFill>
              </a:rPr>
              <a:t>g</a:t>
            </a:r>
            <a:r>
              <a:rPr sz="1250" baseline="-25000">
                <a:solidFill>
                  <a:srgbClr val="000000"/>
                </a:solidFill>
              </a:rPr>
              <a:t>sw</a:t>
            </a:r>
            <a:r>
              <a:rPr sz="1250">
                <a:solidFill>
                  <a:srgbClr val="000000"/>
                </a:solidFill>
              </a:rPr>
              <a:t>는 침수 직후 두 작물 모두 감소: 로메인은 배수 2~3일 후 회복(DAT 3 10%), 콩은 DAT 9에도 48%, DAT 23 회복</a:t>
            </a:r>
          </a:p>
          <a:p>
            <a:pPr marL="201168" indent="-201168">
              <a:spcBef>
                <a:spcPts val="600"/>
              </a:spcBef>
              <a:buFont typeface="Arial"/>
              <a:buChar char="•"/>
            </a:pPr>
            <a:r>
              <a:rPr sz="1250">
                <a:solidFill>
                  <a:srgbClr val="000000"/>
                </a:solidFill>
              </a:rPr>
              <a:t>콩 건조의 Φ</a:t>
            </a:r>
            <a:r>
              <a:rPr sz="1250" baseline="-25000">
                <a:solidFill>
                  <a:srgbClr val="000000"/>
                </a:solidFill>
              </a:rPr>
              <a:t>PSII</a:t>
            </a:r>
            <a:r>
              <a:rPr sz="1250">
                <a:solidFill>
                  <a:srgbClr val="000000"/>
                </a:solidFill>
              </a:rPr>
              <a:t> 저하는 고광도에서만 (PPFD 1,200: 0.68 → 0.50), 교차 내성은 가설 (뿌리 이탈 배제 불가)</a:t>
            </a:r>
          </a:p>
          <a:p>
            <a:pPr marL="201168" indent="-201168">
              <a:spcBef>
                <a:spcPts val="600"/>
              </a:spcBef>
              <a:buFont typeface="Arial"/>
              <a:buChar char="•"/>
            </a:pPr>
            <a:r>
              <a:rPr sz="1250">
                <a:solidFill>
                  <a:srgbClr val="000000"/>
                </a:solidFill>
              </a:rPr>
              <a:t>F</a:t>
            </a:r>
            <a:r>
              <a:rPr sz="1250" baseline="-25000">
                <a:solidFill>
                  <a:srgbClr val="000000"/>
                </a:solidFill>
              </a:rPr>
              <a:t>v</a:t>
            </a:r>
            <a:r>
              <a:rPr sz="1250">
                <a:solidFill>
                  <a:srgbClr val="000000"/>
                </a:solidFill>
              </a:rPr>
              <a:t>/F</a:t>
            </a:r>
            <a:r>
              <a:rPr sz="1250" baseline="-25000">
                <a:solidFill>
                  <a:srgbClr val="000000"/>
                </a:solidFill>
              </a:rPr>
              <a:t>m</a:t>
            </a:r>
            <a:r>
              <a:rPr sz="1250">
                <a:solidFill>
                  <a:srgbClr val="000000"/>
                </a:solidFill>
              </a:rPr>
              <a:t>은 모든 처리구 0.80 이상, V</a:t>
            </a:r>
            <a:r>
              <a:rPr sz="1250" baseline="-25000">
                <a:solidFill>
                  <a:srgbClr val="000000"/>
                </a:solidFill>
              </a:rPr>
              <a:t>cmax</a:t>
            </a:r>
            <a:r>
              <a:rPr sz="1250">
                <a:solidFill>
                  <a:srgbClr val="000000"/>
                </a:solidFill>
              </a:rPr>
              <a:t>·J</a:t>
            </a:r>
            <a:r>
              <a:rPr sz="1250" baseline="-25000">
                <a:solidFill>
                  <a:srgbClr val="000000"/>
                </a:solidFill>
              </a:rPr>
              <a:t>max</a:t>
            </a:r>
            <a:r>
              <a:rPr sz="1250">
                <a:solidFill>
                  <a:srgbClr val="000000"/>
                </a:solidFill>
              </a:rPr>
              <a:t>는 콩 건조·복합구, 로메인 침수·복합구에서 낮은 경향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69848" y="4224528"/>
            <a:ext cx="2926080" cy="1143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6B42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15568" y="4279392"/>
            <a:ext cx="283464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3000">
                <a:solidFill>
                  <a:srgbClr val="6B4226"/>
                </a:solidFill>
              </a:rPr>
              <a:t>DAT 9: 48%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" y="4873752"/>
            <a:ext cx="28346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50">
                <a:solidFill>
                  <a:srgbClr val="595959"/>
                </a:solidFill>
              </a:rPr>
              <a:t>콩 침수구 g</a:t>
            </a:r>
            <a:r>
              <a:rPr sz="1150" baseline="-25000">
                <a:solidFill>
                  <a:srgbClr val="595959"/>
                </a:solidFill>
              </a:rPr>
              <a:t>sw</a:t>
            </a:r>
            <a:r>
              <a:rPr sz="1150">
                <a:solidFill>
                  <a:srgbClr val="595959"/>
                </a:solidFill>
              </a:rPr>
              <a:t> (같은 날 대조구 대비)</a:t>
            </a:r>
          </a:p>
        </p:txBody>
      </p:sp>
      <p:sp>
        <p:nvSpPr>
          <p:cNvPr id="13" name="Card 작물 간 차이"/>
          <p:cNvSpPr/>
          <p:nvPr/>
        </p:nvSpPr>
        <p:spPr>
          <a:xfrm>
            <a:off x="4407408" y="1399032"/>
            <a:ext cx="3383280" cy="4133087"/>
          </a:xfrm>
          <a:prstGeom prst="roundRect">
            <a:avLst>
              <a:gd name="adj" fmla="val 3400"/>
            </a:avLst>
          </a:prstGeom>
          <a:solidFill>
            <a:srgbClr val="FBFBFB"/>
          </a:solidFill>
          <a:ln w="12700">
            <a:solidFill>
              <a:srgbClr val="AFAF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Header 작물 간 차이"/>
          <p:cNvSpPr/>
          <p:nvPr/>
        </p:nvSpPr>
        <p:spPr>
          <a:xfrm>
            <a:off x="4590288" y="1188720"/>
            <a:ext cx="3017520" cy="420624"/>
          </a:xfrm>
          <a:prstGeom prst="roundRect">
            <a:avLst>
              <a:gd name="adj" fmla="val 25000"/>
            </a:avLst>
          </a:prstGeom>
          <a:solidFill>
            <a:srgbClr val="2E6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27432" rIns="73152" bIns="27432"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작물 간 차이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0288" y="1783080"/>
            <a:ext cx="31089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01168" indent="-201168">
              <a:spcBef>
                <a:spcPts val="0"/>
              </a:spcBef>
              <a:buFont typeface="Arial"/>
              <a:buChar char="•"/>
            </a:pPr>
            <a:r>
              <a:rPr sz="1250">
                <a:solidFill>
                  <a:srgbClr val="000000"/>
                </a:solidFill>
              </a:rPr>
              <a:t>로메인은 Φ</a:t>
            </a:r>
            <a:r>
              <a:rPr sz="1250" baseline="-25000">
                <a:solidFill>
                  <a:srgbClr val="000000"/>
                </a:solidFill>
              </a:rPr>
              <a:t>PSII</a:t>
            </a:r>
            <a:r>
              <a:rPr sz="1250">
                <a:solidFill>
                  <a:srgbClr val="000000"/>
                </a:solidFill>
              </a:rPr>
              <a:t>·F</a:t>
            </a:r>
            <a:r>
              <a:rPr sz="1250" baseline="-25000">
                <a:solidFill>
                  <a:srgbClr val="000000"/>
                </a:solidFill>
              </a:rPr>
              <a:t>s</a:t>
            </a:r>
            <a:r>
              <a:rPr sz="1250">
                <a:solidFill>
                  <a:srgbClr val="000000"/>
                </a:solidFill>
              </a:rPr>
              <a:t>·ETR 구간 평균에 처리 차이가 없고 F</a:t>
            </a:r>
            <a:r>
              <a:rPr sz="1250" baseline="-25000">
                <a:solidFill>
                  <a:srgbClr val="000000"/>
                </a:solidFill>
              </a:rPr>
              <a:t>v</a:t>
            </a:r>
            <a:r>
              <a:rPr sz="1250">
                <a:solidFill>
                  <a:srgbClr val="000000"/>
                </a:solidFill>
              </a:rPr>
              <a:t>/F</a:t>
            </a:r>
            <a:r>
              <a:rPr sz="1250" baseline="-25000">
                <a:solidFill>
                  <a:srgbClr val="000000"/>
                </a:solidFill>
              </a:rPr>
              <a:t>m</a:t>
            </a:r>
            <a:r>
              <a:rPr sz="1250">
                <a:solidFill>
                  <a:srgbClr val="000000"/>
                </a:solidFill>
              </a:rPr>
              <a:t>도 약 1~3% 작게 감소 후 회복 — 잎 광화학 손상은 작음</a:t>
            </a:r>
          </a:p>
          <a:p>
            <a:pPr marL="201168" indent="-201168">
              <a:spcBef>
                <a:spcPts val="600"/>
              </a:spcBef>
              <a:buFont typeface="Arial"/>
              <a:buChar char="•"/>
            </a:pPr>
            <a:r>
              <a:rPr sz="1250">
                <a:solidFill>
                  <a:srgbClr val="000000"/>
                </a:solidFill>
              </a:rPr>
              <a:t>침수 3일째 로메인 V</a:t>
            </a:r>
            <a:r>
              <a:rPr sz="1250" baseline="-25000">
                <a:solidFill>
                  <a:srgbClr val="000000"/>
                </a:solidFill>
              </a:rPr>
              <a:t>cmax</a:t>
            </a:r>
            <a:r>
              <a:rPr sz="1250">
                <a:solidFill>
                  <a:srgbClr val="000000"/>
                </a:solidFill>
              </a:rPr>
              <a:t>·J</a:t>
            </a:r>
            <a:r>
              <a:rPr sz="1250" baseline="-25000">
                <a:solidFill>
                  <a:srgbClr val="000000"/>
                </a:solidFill>
              </a:rPr>
              <a:t>max</a:t>
            </a:r>
            <a:r>
              <a:rPr sz="1250">
                <a:solidFill>
                  <a:srgbClr val="000000"/>
                </a:solidFill>
              </a:rPr>
              <a:t> ≈ 78% (P=0.06~0.07, n=3): 감소 경향이나 검출력 낮음</a:t>
            </a:r>
          </a:p>
          <a:p>
            <a:pPr marL="201168" indent="-201168">
              <a:spcBef>
                <a:spcPts val="600"/>
              </a:spcBef>
              <a:buFont typeface="Arial"/>
              <a:buChar char="•"/>
            </a:pPr>
            <a:r>
              <a:rPr sz="1250">
                <a:solidFill>
                  <a:srgbClr val="000000"/>
                </a:solidFill>
              </a:rPr>
              <a:t>물 소모: EC5는 로드셀의 66~80%, 건조구 센서는 신뢰도 낮음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636008" y="4224528"/>
            <a:ext cx="2926080" cy="1143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2E6B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681728" y="4279392"/>
            <a:ext cx="283464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3000">
                <a:solidFill>
                  <a:srgbClr val="2E6B3F"/>
                </a:solidFill>
              </a:rPr>
              <a:t>−43%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81728" y="4873752"/>
            <a:ext cx="28346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50">
                <a:solidFill>
                  <a:srgbClr val="595959"/>
                </a:solidFill>
              </a:rPr>
              <a:t>로메인 복합구 지상부 건조중 (DAT 16)</a:t>
            </a:r>
          </a:p>
        </p:txBody>
      </p:sp>
      <p:sp>
        <p:nvSpPr>
          <p:cNvPr id="19" name="Card 생육"/>
          <p:cNvSpPr/>
          <p:nvPr/>
        </p:nvSpPr>
        <p:spPr>
          <a:xfrm>
            <a:off x="7973568" y="1399032"/>
            <a:ext cx="3383280" cy="4133087"/>
          </a:xfrm>
          <a:prstGeom prst="roundRect">
            <a:avLst>
              <a:gd name="adj" fmla="val 3400"/>
            </a:avLst>
          </a:prstGeom>
          <a:solidFill>
            <a:srgbClr val="FBFBFB"/>
          </a:solidFill>
          <a:ln w="12700">
            <a:solidFill>
              <a:srgbClr val="AFAF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Header 생육"/>
          <p:cNvSpPr/>
          <p:nvPr/>
        </p:nvSpPr>
        <p:spPr>
          <a:xfrm>
            <a:off x="8156448" y="1188720"/>
            <a:ext cx="3017520" cy="420624"/>
          </a:xfrm>
          <a:prstGeom prst="roundRect">
            <a:avLst>
              <a:gd name="adj" fmla="val 25000"/>
            </a:avLst>
          </a:prstGeom>
          <a:solidFill>
            <a:srgbClr val="AA57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27432" rIns="73152" bIns="27432"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생육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56448" y="1783080"/>
            <a:ext cx="31089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01168" indent="-201168">
              <a:spcBef>
                <a:spcPts val="0"/>
              </a:spcBef>
              <a:buFont typeface="Arial"/>
              <a:buChar char="•"/>
            </a:pPr>
            <a:r>
              <a:rPr sz="1250">
                <a:solidFill>
                  <a:srgbClr val="000000"/>
                </a:solidFill>
              </a:rPr>
              <a:t>로메인 16일: 지상부 생체중 90 → 55~66 g, 건조중 6.5 → 3.7 g (복합), 침수·건조 효과 가법적 → 침수 중 잎 확장 정지(캐노피 DAT 5 69~72%) + 후반 건조 억제 가설</a:t>
            </a:r>
          </a:p>
          <a:p>
            <a:pPr marL="201168" indent="-201168">
              <a:spcBef>
                <a:spcPts val="600"/>
              </a:spcBef>
              <a:buFont typeface="Arial"/>
              <a:buChar char="•"/>
            </a:pPr>
            <a:r>
              <a:rPr sz="1250">
                <a:solidFill>
                  <a:srgbClr val="000000"/>
                </a:solidFill>
              </a:rPr>
              <a:t>밭콩 DAT 20: 침수구 꼬투리+종실 65%, DAT 55 총 건조중·종실 차이 없음 (검출 한계 약 40~50%, 뿌리 이탈)</a:t>
            </a:r>
          </a:p>
          <a:p>
            <a:pPr marL="201168" indent="-201168">
              <a:spcBef>
                <a:spcPts val="600"/>
              </a:spcBef>
              <a:buFont typeface="Arial"/>
              <a:buChar char="•"/>
            </a:pPr>
            <a:r>
              <a:rPr sz="1250">
                <a:solidFill>
                  <a:srgbClr val="000000"/>
                </a:solidFill>
              </a:rPr>
              <a:t>밭콩 뿌리 건조중은 포트 안 회수분이라 제외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02168" y="4224528"/>
            <a:ext cx="2926080" cy="1143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AA57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247888" y="4279392"/>
            <a:ext cx="283464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3000">
                <a:solidFill>
                  <a:srgbClr val="AA572C"/>
                </a:solidFill>
              </a:rPr>
              <a:t>≈ 40~50%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47888" y="4873752"/>
            <a:ext cx="28346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50">
                <a:solidFill>
                  <a:srgbClr val="595959"/>
                </a:solidFill>
              </a:rPr>
              <a:t>콩 DAT 55 비교의 검출 한계</a:t>
            </a:r>
          </a:p>
        </p:txBody>
      </p:sp>
      <p:sp>
        <p:nvSpPr>
          <p:cNvPr id="25" name="Conclusion Box"/>
          <p:cNvSpPr/>
          <p:nvPr/>
        </p:nvSpPr>
        <p:spPr>
          <a:xfrm>
            <a:off x="841248" y="5788152"/>
            <a:ext cx="10570464" cy="566928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8575">
            <a:solidFill>
              <a:srgbClr val="AA57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36576" rIns="137160" bIns="36576" rtlCol="0" anchor="ctr"/>
          <a:lstStyle/>
          <a:p>
            <a:pPr algn="ctr"/>
            <a:r>
              <a:rPr sz="1600">
                <a:solidFill>
                  <a:srgbClr val="E97132"/>
                </a:solidFill>
              </a:rPr>
              <a:t>수분 재해 피해 진단에는 잎 생리 지표와 함께 잎 신장·생장 지표가 필요</a:t>
            </a:r>
          </a:p>
        </p:txBody>
      </p:sp>
      <p:sp>
        <p:nvSpPr>
          <p:cNvPr id="26" name="Footnote"/>
          <p:cNvSpPr txBox="1"/>
          <p:nvPr/>
        </p:nvSpPr>
        <p:spPr>
          <a:xfrm>
            <a:off x="457200" y="6473952"/>
            <a:ext cx="8138160" cy="310896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r>
              <a:rPr sz="1000">
                <a:solidFill>
                  <a:srgbClr val="595959"/>
                </a:solidFill>
              </a:rPr>
              <a:t>밭콩 10/6, 로메인 10/23까지 자료. 두 실험은 계절·온실·생육단계가 달라 병렬 사례로 해석하며, 작물 차이는 가설 수준.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50686"/>
            <a:ext cx="10515600" cy="950797"/>
          </a:xfrm>
        </p:spPr>
        <p:txBody>
          <a:bodyPr>
            <a:normAutofit/>
          </a:bodyPr>
          <a:lstStyle/>
          <a:p>
            <a:r>
              <a:rPr lang="en-US" altLang="ko-KR" sz="2400" dirty="0">
                <a:latin typeface="Times New Roman"/>
                <a:cs typeface="Times New Roman"/>
              </a:rPr>
              <a:t>Appendix</a:t>
            </a:r>
            <a:br>
              <a:rPr lang="en-US" altLang="ko-KR" sz="2800" dirty="0"/>
            </a:br>
            <a:r>
              <a:rPr lang="ko-KR" altLang="en-US" sz="3200" dirty="0"/>
              <a:t>원자료 전체 포함 분석: 제외·선별 자료</a:t>
            </a:r>
          </a:p>
        </p:txBody>
      </p:sp>
      <p:pic>
        <p:nvPicPr>
          <p:cNvPr id="3" name="Logo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9058" y="129246"/>
            <a:ext cx="2242456" cy="729364"/>
          </a:xfrm>
          <a:prstGeom prst="rect">
            <a:avLst/>
          </a:prstGeom>
        </p:spPr>
      </p:pic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98FA03D2-03B7-0D84-2206-40CA69A8D76A}"/>
              </a:ext>
            </a:extLst>
          </p:cNvPr>
          <p:cNvCxnSpPr>
            <a:cxnSpLocks/>
          </p:cNvCxnSpPr>
          <p:nvPr/>
        </p:nvCxnSpPr>
        <p:spPr>
          <a:xfrm>
            <a:off x="783772" y="1002621"/>
            <a:ext cx="10624457" cy="0"/>
          </a:xfrm>
          <a:prstGeom prst="line">
            <a:avLst/>
          </a:prstGeom>
          <a:ln w="571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D96D3AE-CC3D-A909-29AD-1EF41A97CF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BCED27-B7FD-4F82-BD12-1C1B2F10C096}" type="slidenum">
              <a:rPr lang="ko-KR" altLang="en-US" smtClean="0"/>
              <a:t>31</a:t>
            </a:fld>
            <a:endParaRPr lang="ko-KR" altLang="en-US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280160"/>
          <a:ext cx="11247120" cy="3803904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40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000000"/>
                          </a:solidFill>
                        </a:rPr>
                        <a:t>항목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00000"/>
                          </a:solidFill>
                        </a:rPr>
                        <a:t>사용자가 삭제·선별한 내용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00000"/>
                          </a:solidFill>
                        </a:rPr>
                        <a:t>개수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00000"/>
                          </a:solidFill>
                        </a:rPr>
                        <a:t>전체 포함 분석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00000"/>
                          </a:solidFill>
                        </a:rPr>
                        <a:t>전체 포함 시 달라진 점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</a:rPr>
                        <a:t>LI-600 g</a:t>
                      </a:r>
                      <a:r>
                        <a:rPr sz="1000" b="0" baseline="-25000">
                          <a:solidFill>
                            <a:srgbClr val="000000"/>
                          </a:solidFill>
                        </a:rPr>
                        <a:t>sw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2026-10-26 g</a:t>
                      </a:r>
                      <a:r>
                        <a:rPr sz="1000" b="0" baseline="-25000">
                          <a:solidFill>
                            <a:srgbClr val="000000"/>
                          </a:solidFill>
                        </a:rPr>
                        <a:t>sw</a:t>
                      </a:r>
                      <a:r>
                        <a:rPr sz="1000" b="0">
                          <a:solidFill>
                            <a:srgbClr val="000000"/>
                          </a:solidFill>
                        </a:rPr>
                        <a:t> 12개 삭제(콩 8/13·8/17·8/19·8/20·8/29·9/11)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12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부록 1·2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침수 직후 g</a:t>
                      </a:r>
                      <a:r>
                        <a:rPr sz="1000" b="0" baseline="-25000">
                          <a:solidFill>
                            <a:srgbClr val="000000"/>
                          </a:solidFill>
                        </a:rPr>
                        <a:t>sw</a:t>
                      </a:r>
                      <a:r>
                        <a:rPr sz="1000" b="0">
                          <a:solidFill>
                            <a:srgbClr val="000000"/>
                          </a:solidFill>
                        </a:rPr>
                        <a:t> 비율 DAT 7 39→32%, DAT 8 65→56%, 9/11 82→106%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1270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</a:rPr>
                        <a:t>A-Ci 9월 (LI-6800)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A-Ci_results 36곡선 중 15곡선만 사용 (75·25% 10곡선, 피팅 문제 표시 곡선 등 제외)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21 제외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부록 3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V</a:t>
                      </a:r>
                      <a:r>
                        <a:rPr sz="1000" b="0" baseline="-25000">
                          <a:solidFill>
                            <a:srgbClr val="000000"/>
                          </a:solidFill>
                        </a:rPr>
                        <a:t>cmax</a:t>
                      </a:r>
                      <a:r>
                        <a:rPr sz="1000" b="0">
                          <a:solidFill>
                            <a:srgbClr val="000000"/>
                          </a:solidFill>
                        </a:rPr>
                        <a:t> P 0.011→0.241, J</a:t>
                      </a:r>
                      <a:r>
                        <a:rPr sz="1000" b="0" baseline="-25000">
                          <a:solidFill>
                            <a:srgbClr val="000000"/>
                          </a:solidFill>
                        </a:rPr>
                        <a:t>max</a:t>
                      </a:r>
                      <a:r>
                        <a:rPr sz="1000" b="0">
                          <a:solidFill>
                            <a:srgbClr val="000000"/>
                          </a:solidFill>
                        </a:rPr>
                        <a:t> &lt;0.001→0.445, R</a:t>
                      </a:r>
                      <a:r>
                        <a:rPr sz="1000" b="0" baseline="-25000">
                          <a:solidFill>
                            <a:srgbClr val="000000"/>
                          </a:solidFill>
                        </a:rPr>
                        <a:t>d</a:t>
                      </a:r>
                      <a:r>
                        <a:rPr sz="1000" b="0">
                          <a:solidFill>
                            <a:srgbClr val="000000"/>
                          </a:solidFill>
                        </a:rPr>
                        <a:t> 0.049→0.510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</a:rPr>
                        <a:t>A-Q 9월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A-Q_results 35곡선 중 20곡선만 사용, 이상값 6셀 공란 처리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15 제외 + 6셀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부록 3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A</a:t>
                      </a:r>
                      <a:r>
                        <a:rPr sz="1000" b="0" baseline="-25000">
                          <a:solidFill>
                            <a:srgbClr val="000000"/>
                          </a:solidFill>
                        </a:rPr>
                        <a:t>max</a:t>
                      </a:r>
                      <a:r>
                        <a:rPr sz="1000" b="0">
                          <a:solidFill>
                            <a:srgbClr val="000000"/>
                          </a:solidFill>
                        </a:rPr>
                        <a:t> P 0.118(공란 복원)→0.546(전체)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</a:rPr>
                        <a:t>A-Ci 8월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A-Ci_results 22곡선 중 13곡선만 사용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9 제외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부록 3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4처리 P 0.23 → 0.24 (차이 없음)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</a:rPr>
                        <a:t>LSP (A-Q 피팅)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측정 문제 곡선 5개 제외 (콩 침수·복합)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5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부록 4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콩 LSP P 0.011 → 0.396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</a:rPr>
                        <a:t>콩 생육 (파괴조사)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'이상값제거' 시트: 원자료 60개체 중 124개 셀 공란, 1개체 행 삭제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124셀 + 1행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부록 5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10/6 총 건조중 P 0.889→0.035, 뿌리 0.099→0.001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</a:rPr>
                        <a:t>콩 F</a:t>
                      </a:r>
                      <a:r>
                        <a:rPr sz="1000" b="0" baseline="-25000">
                          <a:solidFill>
                            <a:srgbClr val="000000"/>
                          </a:solidFill>
                        </a:rPr>
                        <a:t>v</a:t>
                      </a:r>
                      <a:r>
                        <a:rPr sz="1000" b="0">
                          <a:solidFill>
                            <a:srgbClr val="000000"/>
                          </a:solidFill>
                        </a:rPr>
                        <a:t>/F</a:t>
                      </a:r>
                      <a:r>
                        <a:rPr sz="1000" b="0" baseline="-25000">
                          <a:solidFill>
                            <a:srgbClr val="000000"/>
                          </a:solidFill>
                        </a:rPr>
                        <a:t>m</a:t>
                      </a:r>
                      <a:r>
                        <a:rPr sz="1000" b="0">
                          <a:solidFill>
                            <a:srgbClr val="000000"/>
                          </a:solidFill>
                        </a:rPr>
                        <a:t> 9/28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LI-6800 측정 값이라 LI-600 F</a:t>
                      </a:r>
                      <a:r>
                        <a:rPr sz="1000" b="0" baseline="-25000">
                          <a:solidFill>
                            <a:srgbClr val="000000"/>
                          </a:solidFill>
                        </a:rPr>
                        <a:t>v</a:t>
                      </a:r>
                      <a:r>
                        <a:rPr sz="1000" b="0">
                          <a:solidFill>
                            <a:srgbClr val="000000"/>
                          </a:solidFill>
                        </a:rPr>
                        <a:t>/F</a:t>
                      </a:r>
                      <a:r>
                        <a:rPr sz="1000" b="0" baseline="-25000">
                          <a:solidFill>
                            <a:srgbClr val="000000"/>
                          </a:solidFill>
                        </a:rPr>
                        <a:t>m</a:t>
                      </a:r>
                      <a:r>
                        <a:rPr sz="1000" b="0">
                          <a:solidFill>
                            <a:srgbClr val="000000"/>
                          </a:solidFill>
                        </a:rPr>
                        <a:t> 분석에서 제외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6처리 × 6잎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비교 PPT v5 포함본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6처리 0.842~0.851, P=0.53 (차이 없음)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2" name="Conclusion Box"/>
          <p:cNvSpPr/>
          <p:nvPr/>
        </p:nvSpPr>
        <p:spPr>
          <a:xfrm>
            <a:off x="841248" y="5788152"/>
            <a:ext cx="10570464" cy="566928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8575">
            <a:solidFill>
              <a:srgbClr val="AA57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36576" rIns="137160" bIns="36576" rtlCol="0" anchor="ctr"/>
          <a:lstStyle/>
          <a:p>
            <a:pPr algn="ctr"/>
            <a:r>
              <a:rPr sz="1600">
                <a:solidFill>
                  <a:srgbClr val="E97132"/>
                </a:solidFill>
              </a:rPr>
              <a:t>제거·선별한 자료를 모두 되살려 다시 분석하면 콩 광합성 능력·생육의 일부 결론이 바뀜</a:t>
            </a:r>
          </a:p>
        </p:txBody>
      </p:sp>
      <p:sp>
        <p:nvSpPr>
          <p:cNvPr id="13" name="Footnote"/>
          <p:cNvSpPr txBox="1"/>
          <p:nvPr/>
        </p:nvSpPr>
        <p:spPr>
          <a:xfrm>
            <a:off x="457200" y="6473952"/>
            <a:ext cx="8138160" cy="310896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r>
              <a:rPr sz="1000">
                <a:solidFill>
                  <a:srgbClr val="595959"/>
                </a:solidFill>
              </a:rPr>
              <a:t>출처: 마스터 14_이상값_보정내역, 광합성 데이터\26_9월 파라미터.xlsx(A-Ci_results·A-Q_results)·260819 파라미터.xlsx, 밭콩 파괴조사 rawdata.xlsx(대원콩·260901·261006·이상값제거). 75·25% 곡선은 4처리 분석에서 제외하고 6처리 일원 ANOVA만 병기.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50686"/>
            <a:ext cx="10515600" cy="950797"/>
          </a:xfrm>
        </p:spPr>
        <p:txBody>
          <a:bodyPr>
            <a:normAutofit/>
          </a:bodyPr>
          <a:lstStyle/>
          <a:p>
            <a:r>
              <a:rPr lang="en-US" altLang="ko-KR" sz="2400" dirty="0">
                <a:latin typeface="Times New Roman"/>
                <a:cs typeface="Times New Roman"/>
              </a:rPr>
              <a:t>Appendix</a:t>
            </a:r>
            <a:br>
              <a:rPr lang="en-US" altLang="ko-KR" sz="2800" dirty="0"/>
            </a:br>
            <a:r>
              <a:rPr lang="ko-KR" altLang="en-US" sz="3200" dirty="0"/>
              <a:t>g</a:t>
            </a:r>
            <a:r>
              <a:rPr lang="ko-KR" altLang="en-US" sz="3200" baseline="-25000" dirty="0"/>
              <a:t>sw</a:t>
            </a:r>
            <a:r>
              <a:rPr lang="ko-KR" altLang="en-US" sz="3200" dirty="0"/>
              <a:t> 전체 측정값 포함 (삭제 12개 복원)</a:t>
            </a:r>
          </a:p>
        </p:txBody>
      </p:sp>
      <p:pic>
        <p:nvPicPr>
          <p:cNvPr id="3" name="Logo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9058" y="129246"/>
            <a:ext cx="2242456" cy="729364"/>
          </a:xfrm>
          <a:prstGeom prst="rect">
            <a:avLst/>
          </a:prstGeom>
        </p:spPr>
      </p:pic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98FA03D2-03B7-0D84-2206-40CA69A8D76A}"/>
              </a:ext>
            </a:extLst>
          </p:cNvPr>
          <p:cNvCxnSpPr>
            <a:cxnSpLocks/>
          </p:cNvCxnSpPr>
          <p:nvPr/>
        </p:nvCxnSpPr>
        <p:spPr>
          <a:xfrm>
            <a:off x="783772" y="1002621"/>
            <a:ext cx="10624457" cy="0"/>
          </a:xfrm>
          <a:prstGeom prst="line">
            <a:avLst/>
          </a:prstGeom>
          <a:ln w="571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D96D3AE-CC3D-A909-29AD-1EF41A97CF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BCED27-B7FD-4F82-BD12-1C1B2F10C096}" type="slidenum">
              <a:rPr lang="ko-KR" altLang="en-US" smtClean="0"/>
              <a:t>32</a:t>
            </a:fld>
            <a:endParaRPr lang="ko-KR" altLang="en-US"/>
          </a:p>
        </p:txBody>
      </p:sp>
      <p:pic>
        <p:nvPicPr>
          <p:cNvPr id="14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234440"/>
            <a:ext cx="6903720" cy="2283609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3154680"/>
          <a:ext cx="6858000" cy="1792224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1000" b="1" dirty="0">
                          <a:solidFill>
                            <a:srgbClr val="000000"/>
                          </a:solidFill>
                        </a:rPr>
                        <a:t>Treatment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solidFill>
                            <a:srgbClr val="000000"/>
                          </a:solidFill>
                        </a:rPr>
                        <a:t>Soybean</a:t>
                      </a:r>
                      <a:r>
                        <a:rPr sz="1000" b="1" dirty="0">
                          <a:solidFill>
                            <a:srgbClr val="000000"/>
                          </a:solidFill>
                        </a:rPr>
                        <a:t> P1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solidFill>
                            <a:srgbClr val="000000"/>
                          </a:solidFill>
                        </a:rPr>
                        <a:t>Soybean</a:t>
                      </a:r>
                      <a:r>
                        <a:rPr sz="1000" b="1" dirty="0">
                          <a:solidFill>
                            <a:srgbClr val="000000"/>
                          </a:solidFill>
                        </a:rPr>
                        <a:t> P2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00000"/>
                          </a:solidFill>
                        </a:rPr>
                        <a:t>Romaine P1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00000"/>
                          </a:solidFill>
                        </a:rPr>
                        <a:t>Romaine P2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</a:rPr>
                        <a:t>ETc 100%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0.368 a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0.335 a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0.264 a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0.155 ab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1270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</a:rPr>
                        <a:t>ETc 50%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–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0.224 b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0.249 a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0.113 b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lang="en-US" sz="1000" b="0" dirty="0">
                          <a:solidFill>
                            <a:srgbClr val="000000"/>
                          </a:solidFill>
                        </a:rPr>
                        <a:t>Waterlogging</a:t>
                      </a:r>
                      <a:r>
                        <a:rPr sz="1000" b="0" dirty="0">
                          <a:solidFill>
                            <a:srgbClr val="000000"/>
                          </a:solidFill>
                        </a:rPr>
                        <a:t>-</a:t>
                      </a:r>
                      <a:r>
                        <a:rPr sz="1000" b="0" dirty="0" err="1">
                          <a:solidFill>
                            <a:srgbClr val="000000"/>
                          </a:solidFill>
                        </a:rPr>
                        <a:t>ETc</a:t>
                      </a:r>
                      <a:r>
                        <a:rPr sz="1000" b="0" dirty="0">
                          <a:solidFill>
                            <a:srgbClr val="000000"/>
                          </a:solidFill>
                        </a:rPr>
                        <a:t> 100%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0.264 b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0.353 a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0.255 a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0.161 a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lang="en-US" sz="1000" b="0" dirty="0">
                          <a:solidFill>
                            <a:srgbClr val="000000"/>
                          </a:solidFill>
                        </a:rPr>
                        <a:t>Waterlogging</a:t>
                      </a:r>
                      <a:r>
                        <a:rPr sz="1000" b="0" dirty="0">
                          <a:solidFill>
                            <a:srgbClr val="000000"/>
                          </a:solidFill>
                        </a:rPr>
                        <a:t>-</a:t>
                      </a:r>
                      <a:r>
                        <a:rPr sz="1000" b="0" dirty="0" err="1">
                          <a:solidFill>
                            <a:srgbClr val="000000"/>
                          </a:solidFill>
                        </a:rPr>
                        <a:t>ETc</a:t>
                      </a:r>
                      <a:r>
                        <a:rPr sz="1000" b="0" dirty="0">
                          <a:solidFill>
                            <a:srgbClr val="000000"/>
                          </a:solidFill>
                        </a:rPr>
                        <a:t> 50%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–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0.233 b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0.237 a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0.144 ab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</a:rPr>
                        <a:t>처리 P (보정 모형)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&lt;0.001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&lt;0.001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0.20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0.029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</a:rPr>
                        <a:t>침수×관수 P (v6 → 전체)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–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0.60 → 0.969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변화 없음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변화 없음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9" name="Card 요점"/>
          <p:cNvSpPr/>
          <p:nvPr/>
        </p:nvSpPr>
        <p:spPr>
          <a:xfrm>
            <a:off x="7498079" y="1399032"/>
            <a:ext cx="4206240" cy="4133087"/>
          </a:xfrm>
          <a:prstGeom prst="roundRect">
            <a:avLst>
              <a:gd name="adj" fmla="val 3400"/>
            </a:avLst>
          </a:prstGeom>
          <a:solidFill>
            <a:srgbClr val="FBFBFB"/>
          </a:solidFill>
          <a:ln w="12700">
            <a:solidFill>
              <a:srgbClr val="AFAF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Header 요점"/>
          <p:cNvSpPr/>
          <p:nvPr/>
        </p:nvSpPr>
        <p:spPr>
          <a:xfrm>
            <a:off x="7680959" y="1188720"/>
            <a:ext cx="3840479" cy="420624"/>
          </a:xfrm>
          <a:prstGeom prst="roundRect">
            <a:avLst>
              <a:gd name="adj" fmla="val 25000"/>
            </a:avLst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27432" rIns="73152" bIns="27432"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요점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59" y="1783080"/>
            <a:ext cx="3886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01168" indent="-201168">
              <a:spcBef>
                <a:spcPts val="0"/>
              </a:spcBef>
              <a:buFont typeface="Arial"/>
              <a:buChar char="•"/>
            </a:pPr>
            <a:r>
              <a:rPr sz="1400">
                <a:solidFill>
                  <a:srgbClr val="000000"/>
                </a:solidFill>
              </a:rPr>
              <a:t>삭제된 g</a:t>
            </a:r>
            <a:r>
              <a:rPr sz="1400" baseline="-25000">
                <a:solidFill>
                  <a:srgbClr val="000000"/>
                </a:solidFill>
              </a:rPr>
              <a:t>sw</a:t>
            </a:r>
            <a:r>
              <a:rPr sz="1400">
                <a:solidFill>
                  <a:srgbClr val="000000"/>
                </a:solidFill>
              </a:rPr>
              <a:t> 12개 중 4처리 분석에 해당하는 11개를 복원 (원래 g</a:t>
            </a:r>
            <a:r>
              <a:rPr sz="1400" baseline="-25000">
                <a:solidFill>
                  <a:srgbClr val="000000"/>
                </a:solidFill>
              </a:rPr>
              <a:t>sw</a:t>
            </a:r>
            <a:r>
              <a:rPr sz="1400">
                <a:solidFill>
                  <a:srgbClr val="000000"/>
                </a:solidFill>
              </a:rPr>
              <a:t>는 마스터 14_이상값_보정내역, g</a:t>
            </a:r>
            <a:r>
              <a:rPr sz="1400" baseline="-25000">
                <a:solidFill>
                  <a:srgbClr val="000000"/>
                </a:solidFill>
              </a:rPr>
              <a:t>sw</a:t>
            </a:r>
            <a:r>
              <a:rPr sz="1400">
                <a:solidFill>
                  <a:srgbClr val="000000"/>
                </a:solidFill>
              </a:rPr>
              <a:t>_보정은 같은 날 g</a:t>
            </a:r>
            <a:r>
              <a:rPr sz="1400" baseline="-25000">
                <a:solidFill>
                  <a:srgbClr val="000000"/>
                </a:solidFill>
              </a:rPr>
              <a:t>sw</a:t>
            </a:r>
            <a:r>
              <a:rPr sz="1400">
                <a:solidFill>
                  <a:srgbClr val="000000"/>
                </a:solidFill>
              </a:rPr>
              <a:t>~g</a:t>
            </a:r>
            <a:r>
              <a:rPr sz="1400" baseline="-25000">
                <a:solidFill>
                  <a:srgbClr val="000000"/>
                </a:solidFill>
              </a:rPr>
              <a:t>sw</a:t>
            </a:r>
            <a:r>
              <a:rPr sz="1400">
                <a:solidFill>
                  <a:srgbClr val="000000"/>
                </a:solidFill>
              </a:rPr>
              <a:t>_보정 선형식으로 추정, 8/29 ETc25 1개는 75·25% 처리라 4처리 분석 밖)</a:t>
            </a:r>
          </a:p>
          <a:p>
            <a:pPr marL="201168" indent="-201168">
              <a:spcBef>
                <a:spcPts val="0"/>
              </a:spcBef>
              <a:buFont typeface="Arial"/>
              <a:buChar char="•"/>
            </a:pPr>
            <a:r>
              <a:rPr sz="1400">
                <a:solidFill>
                  <a:srgbClr val="000000"/>
                </a:solidFill>
              </a:rPr>
              <a:t>콩 P1: 대조구 0.368 (a) &gt; 침수 0.264 (b) — v6 0.363 vs 0.273, 침수 효과는 같은 방향으로 유지</a:t>
            </a:r>
          </a:p>
          <a:p>
            <a:pPr marL="201168" indent="-201168">
              <a:spcBef>
                <a:spcPts val="0"/>
              </a:spcBef>
              <a:buFont typeface="Arial"/>
              <a:buChar char="•"/>
            </a:pPr>
            <a:r>
              <a:rPr sz="1400">
                <a:solidFill>
                  <a:srgbClr val="000000"/>
                </a:solidFill>
              </a:rPr>
              <a:t>콩 P2: 건조·복합 0.22~0.23 (b) &lt; 대조구·침수 0.33~0.35 (a), 관수 효과만 유의 — 침수×관수 P 0.60 → 0.969 (9/11 대조구 두 값 복원으로 대조구 평균 0.60 → 0.969)</a:t>
            </a:r>
          </a:p>
          <a:p>
            <a:pPr marL="201168" indent="-201168">
              <a:spcBef>
                <a:spcPts val="0"/>
              </a:spcBef>
              <a:buFont typeface="Arial"/>
              <a:buChar char="•"/>
            </a:pPr>
            <a:r>
              <a:rPr sz="1400">
                <a:solidFill>
                  <a:srgbClr val="000000"/>
                </a:solidFill>
              </a:rPr>
              <a:t>로메인은 삭제된 g</a:t>
            </a:r>
            <a:r>
              <a:rPr sz="1400" baseline="-25000">
                <a:solidFill>
                  <a:srgbClr val="000000"/>
                </a:solidFill>
              </a:rPr>
              <a:t>sw</a:t>
            </a:r>
            <a:r>
              <a:rPr sz="1400">
                <a:solidFill>
                  <a:srgbClr val="000000"/>
                </a:solidFill>
              </a:rPr>
              <a:t>가 없어 결과 동일 (9쪽)</a:t>
            </a:r>
          </a:p>
        </p:txBody>
      </p:sp>
      <p:sp>
        <p:nvSpPr>
          <p:cNvPr id="12" name="Conclusion Box"/>
          <p:cNvSpPr/>
          <p:nvPr/>
        </p:nvSpPr>
        <p:spPr>
          <a:xfrm>
            <a:off x="841248" y="5788152"/>
            <a:ext cx="10570464" cy="566928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8575">
            <a:solidFill>
              <a:srgbClr val="AA57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36576" rIns="137160" bIns="36576" rtlCol="0" anchor="ctr"/>
          <a:lstStyle/>
          <a:p>
            <a:pPr algn="ctr"/>
            <a:r>
              <a:rPr sz="1600">
                <a:solidFill>
                  <a:srgbClr val="E97132"/>
                </a:solidFill>
              </a:rPr>
              <a:t>삭제값을 되살려도 침수 직후 g</a:t>
            </a:r>
            <a:r>
              <a:rPr sz="1600" baseline="-25000">
                <a:solidFill>
                  <a:srgbClr val="E97132"/>
                </a:solidFill>
              </a:rPr>
              <a:t>sw</a:t>
            </a:r>
            <a:r>
              <a:rPr sz="1600">
                <a:solidFill>
                  <a:srgbClr val="E97132"/>
                </a:solidFill>
              </a:rPr>
              <a:t> 감소와 건조의 지속 감소는 그대로</a:t>
            </a:r>
          </a:p>
        </p:txBody>
      </p:sp>
      <p:sp>
        <p:nvSpPr>
          <p:cNvPr id="13" name="Footnote"/>
          <p:cNvSpPr txBox="1"/>
          <p:nvPr/>
        </p:nvSpPr>
        <p:spPr>
          <a:xfrm>
            <a:off x="457200" y="6473952"/>
            <a:ext cx="8138160" cy="310896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r>
              <a:rPr sz="1000">
                <a:solidFill>
                  <a:srgbClr val="595959"/>
                </a:solidFill>
              </a:rPr>
              <a:t>표: 원 평균과 Tukey 문자(처리 P&lt;0.05), 로메인 열은 9쪽과 동일. 그림: 흐린 날 포함 전 측정일, 선 = 평균, 음영 = ± SE, 회색 띠 = 흐린 날, * 당일 P&lt;0.05(Holm). 복원 g</a:t>
            </a:r>
            <a:r>
              <a:rPr sz="1000" baseline="-25000">
                <a:solidFill>
                  <a:srgbClr val="595959"/>
                </a:solidFill>
              </a:rPr>
              <a:t>sw</a:t>
            </a:r>
            <a:r>
              <a:rPr sz="1000">
                <a:solidFill>
                  <a:srgbClr val="595959"/>
                </a:solidFill>
              </a:rPr>
              <a:t>_보정은 추정값.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50686"/>
            <a:ext cx="10515600" cy="950797"/>
          </a:xfrm>
        </p:spPr>
        <p:txBody>
          <a:bodyPr>
            <a:normAutofit/>
          </a:bodyPr>
          <a:lstStyle/>
          <a:p>
            <a:r>
              <a:rPr lang="en-US" altLang="ko-KR" sz="2400" dirty="0">
                <a:latin typeface="Times New Roman"/>
                <a:cs typeface="Times New Roman"/>
              </a:rPr>
              <a:t>Appendix</a:t>
            </a:r>
            <a:br>
              <a:rPr lang="en-US" altLang="ko-KR" sz="2800" dirty="0"/>
            </a:br>
            <a:r>
              <a:rPr lang="ko-KR" altLang="en-US" sz="3200" dirty="0"/>
              <a:t>기공 회복 속도 (g</a:t>
            </a:r>
            <a:r>
              <a:rPr lang="ko-KR" altLang="en-US" sz="3200" baseline="-25000" dirty="0"/>
              <a:t>sw</a:t>
            </a:r>
            <a:r>
              <a:rPr lang="ko-KR" altLang="en-US" sz="3200" dirty="0"/>
              <a:t> 전체 측정값 포함)</a:t>
            </a:r>
          </a:p>
        </p:txBody>
      </p:sp>
      <p:pic>
        <p:nvPicPr>
          <p:cNvPr id="3" name="Logo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9058" y="129246"/>
            <a:ext cx="2242456" cy="729364"/>
          </a:xfrm>
          <a:prstGeom prst="rect">
            <a:avLst/>
          </a:prstGeom>
        </p:spPr>
      </p:pic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98FA03D2-03B7-0D84-2206-40CA69A8D76A}"/>
              </a:ext>
            </a:extLst>
          </p:cNvPr>
          <p:cNvCxnSpPr>
            <a:cxnSpLocks/>
          </p:cNvCxnSpPr>
          <p:nvPr/>
        </p:nvCxnSpPr>
        <p:spPr>
          <a:xfrm>
            <a:off x="783772" y="1002621"/>
            <a:ext cx="10624457" cy="0"/>
          </a:xfrm>
          <a:prstGeom prst="line">
            <a:avLst/>
          </a:prstGeom>
          <a:ln w="571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D96D3AE-CC3D-A909-29AD-1EF41A97CF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BCED27-B7FD-4F82-BD12-1C1B2F10C096}" type="slidenum">
              <a:rPr lang="ko-KR" altLang="en-US" smtClean="0"/>
              <a:t>33</a:t>
            </a:fld>
            <a:endParaRPr lang="ko-KR" altLang="en-US"/>
          </a:p>
        </p:txBody>
      </p:sp>
      <p:pic>
        <p:nvPicPr>
          <p:cNvPr id="18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188720"/>
            <a:ext cx="6903720" cy="3138054"/>
          </a:xfrm>
          <a:prstGeom prst="rect">
            <a:avLst/>
          </a:prstGeom>
        </p:spPr>
      </p:pic>
      <p:sp>
        <p:nvSpPr>
          <p:cNvPr id="9" name="Card 요점"/>
          <p:cNvSpPr/>
          <p:nvPr/>
        </p:nvSpPr>
        <p:spPr>
          <a:xfrm>
            <a:off x="7498079" y="1399032"/>
            <a:ext cx="4206240" cy="4133087"/>
          </a:xfrm>
          <a:prstGeom prst="roundRect">
            <a:avLst>
              <a:gd name="adj" fmla="val 3400"/>
            </a:avLst>
          </a:prstGeom>
          <a:solidFill>
            <a:srgbClr val="FBFBFB"/>
          </a:solidFill>
          <a:ln w="12700">
            <a:solidFill>
              <a:srgbClr val="AFAF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Header 요점"/>
          <p:cNvSpPr/>
          <p:nvPr/>
        </p:nvSpPr>
        <p:spPr>
          <a:xfrm>
            <a:off x="7680959" y="1188720"/>
            <a:ext cx="3840479" cy="420624"/>
          </a:xfrm>
          <a:prstGeom prst="roundRect">
            <a:avLst>
              <a:gd name="adj" fmla="val 25000"/>
            </a:avLst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27432" rIns="73152" bIns="27432"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요점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59" y="1783080"/>
            <a:ext cx="3886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01168" indent="-201168" algn="l">
              <a:spcBef>
                <a:spcPts val="0"/>
              </a:spcBef>
              <a:buFont typeface="Arial"/>
              <a:buChar char="•"/>
            </a:pPr>
            <a:r>
              <a:rPr lang="ko-KR" altLang="en-US" sz="1250" dirty="0">
                <a:solidFill>
                  <a:srgbClr val="000000"/>
                </a:solidFill>
              </a:rPr>
              <a:t>콩:  DAT 2~9에 32~85%로 낮음 (DAT 7 39→32%, DAT 8 65→56%, DAT 9 48%) → DAT 17 86%(흐림), DAT 23 105%</a:t>
            </a:r>
          </a:p>
          <a:p>
            <a:pPr marL="201168" indent="-201168" algn="l">
              <a:spcBef>
                <a:spcPts val="600"/>
              </a:spcBef>
              <a:buFont typeface="Arial"/>
              <a:buChar char="•"/>
            </a:pPr>
            <a:r>
              <a:rPr lang="ko-KR" altLang="en-US" sz="1250" dirty="0">
                <a:solidFill>
                  <a:srgbClr val="000000"/>
                </a:solidFill>
              </a:rPr>
              <a:t>9/11(DAT 30)은 대조구 두 값 복원으로 82% → 106%</a:t>
            </a:r>
          </a:p>
          <a:p>
            <a:pPr marL="201168" indent="-201168" algn="l">
              <a:spcBef>
                <a:spcPts val="600"/>
              </a:spcBef>
              <a:buFont typeface="Arial"/>
              <a:buChar char="•"/>
            </a:pPr>
            <a:r>
              <a:rPr lang="ko-KR" altLang="en-US" sz="1250" dirty="0">
                <a:solidFill>
                  <a:srgbClr val="000000"/>
                </a:solidFill>
              </a:rPr>
              <a:t>로메인은 삭제된 g</a:t>
            </a:r>
            <a:r>
              <a:rPr lang="ko-KR" altLang="en-US" sz="1250" dirty="0" baseline="-25000">
                <a:solidFill>
                  <a:srgbClr val="000000"/>
                </a:solidFill>
              </a:rPr>
              <a:t>sw</a:t>
            </a:r>
            <a:r>
              <a:rPr lang="ko-KR" altLang="en-US" sz="1250" dirty="0">
                <a:solidFill>
                  <a:srgbClr val="000000"/>
                </a:solidFill>
              </a:rPr>
              <a:t>가 없어 결과 동일 (DAT 3 최저 10%, DAT 5~6 회복, 10쪽)</a:t>
            </a:r>
          </a:p>
        </p:txBody>
      </p:sp>
      <p:sp>
        <p:nvSpPr>
          <p:cNvPr id="12" name="Conclusion Box"/>
          <p:cNvSpPr/>
          <p:nvPr/>
        </p:nvSpPr>
        <p:spPr>
          <a:xfrm>
            <a:off x="841248" y="5788152"/>
            <a:ext cx="10570464" cy="566928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8575">
            <a:solidFill>
              <a:srgbClr val="AA57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36576" rIns="137160" bIns="36576" rtlCol="0" anchor="ctr"/>
          <a:lstStyle/>
          <a:p>
            <a:pPr algn="ctr"/>
            <a:r>
              <a:rPr sz="1600">
                <a:solidFill>
                  <a:srgbClr val="E97132"/>
                </a:solidFill>
              </a:rPr>
              <a:t>복원 후에도 콩은 DAT 9까지 회복되지 않고 DAT 23에 대조구 수준</a:t>
            </a:r>
          </a:p>
        </p:txBody>
      </p:sp>
      <p:sp>
        <p:nvSpPr>
          <p:cNvPr id="13" name="Footnote"/>
          <p:cNvSpPr txBox="1"/>
          <p:nvPr/>
        </p:nvSpPr>
        <p:spPr>
          <a:xfrm>
            <a:off x="457200" y="6473952"/>
            <a:ext cx="8138160" cy="310896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r>
              <a:rPr sz="1000">
                <a:solidFill>
                  <a:srgbClr val="595959"/>
                </a:solidFill>
              </a:rPr>
              <a:t>침수구 g</a:t>
            </a:r>
            <a:r>
              <a:rPr sz="1000" baseline="-25000">
                <a:solidFill>
                  <a:srgbClr val="595959"/>
                </a:solidFill>
              </a:rPr>
              <a:t>sw</a:t>
            </a:r>
            <a:r>
              <a:rPr sz="1000">
                <a:solidFill>
                  <a:srgbClr val="595959"/>
                </a:solidFill>
              </a:rPr>
              <a:t> ÷ 같은 날 대조구 g</a:t>
            </a:r>
            <a:r>
              <a:rPr sz="1000" baseline="-25000">
                <a:solidFill>
                  <a:srgbClr val="595959"/>
                </a:solidFill>
              </a:rPr>
              <a:t>sw</a:t>
            </a:r>
            <a:r>
              <a:rPr sz="1000">
                <a:solidFill>
                  <a:srgbClr val="595959"/>
                </a:solidFill>
              </a:rPr>
              <a:t> × 100. * 대조 vs 침수 P&lt;0.05(Welch t, Holm 보정). 회색 띠 = 흐린 날(CI&lt;0.5). 복원한 11개 값은 g</a:t>
            </a:r>
            <a:r>
              <a:rPr sz="1000" baseline="-25000">
                <a:solidFill>
                  <a:srgbClr val="595959"/>
                </a:solidFill>
              </a:rPr>
              <a:t>sw</a:t>
            </a:r>
            <a:r>
              <a:rPr sz="1000">
                <a:solidFill>
                  <a:srgbClr val="595959"/>
                </a:solidFill>
              </a:rPr>
              <a:t>_보정 추정값 사용.</a:t>
            </a:r>
          </a:p>
        </p:txBody>
      </p:sp>
      <p:sp>
        <p:nvSpPr>
          <p:cNvPr id="5" name="Rounded Rectangle 9"/>
          <p:cNvSpPr/>
          <p:nvPr/>
        </p:nvSpPr>
        <p:spPr>
          <a:xfrm>
            <a:off x="822960" y="4434840"/>
            <a:ext cx="2926080" cy="1143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6B42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10"/>
          <p:cNvSpPr txBox="1"/>
          <p:nvPr/>
        </p:nvSpPr>
        <p:spPr>
          <a:xfrm>
            <a:off x="868680" y="4489704"/>
            <a:ext cx="283464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3000">
                <a:solidFill>
                  <a:srgbClr val="6B4226"/>
                </a:solidFill>
              </a:rPr>
              <a:t>2~3일</a:t>
            </a:r>
          </a:p>
        </p:txBody>
      </p:sp>
      <p:sp>
        <p:nvSpPr>
          <p:cNvPr id="14" name="TextBox 11"/>
          <p:cNvSpPr txBox="1"/>
          <p:nvPr/>
        </p:nvSpPr>
        <p:spPr>
          <a:xfrm>
            <a:off x="868680" y="5084064"/>
            <a:ext cx="28346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50">
                <a:solidFill>
                  <a:srgbClr val="595959"/>
                </a:solidFill>
              </a:rPr>
              <a:t>로메인: 침수 종료 후 대조구 수준까지 회복</a:t>
            </a:r>
          </a:p>
        </p:txBody>
      </p:sp>
      <p:sp>
        <p:nvSpPr>
          <p:cNvPr id="15" name="Rounded Rectangle 9"/>
          <p:cNvSpPr/>
          <p:nvPr/>
        </p:nvSpPr>
        <p:spPr>
          <a:xfrm>
            <a:off x="4069080" y="4434840"/>
            <a:ext cx="2926080" cy="1143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6B42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0"/>
          <p:cNvSpPr txBox="1"/>
          <p:nvPr/>
        </p:nvSpPr>
        <p:spPr>
          <a:xfrm>
            <a:off x="4114800" y="4489704"/>
            <a:ext cx="283464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3000">
                <a:solidFill>
                  <a:srgbClr val="6B4226"/>
                </a:solidFill>
              </a:rPr>
              <a:t>DAT 8: 56%</a:t>
            </a:r>
          </a:p>
        </p:txBody>
      </p:sp>
      <p:sp>
        <p:nvSpPr>
          <p:cNvPr id="17" name="TextBox 11"/>
          <p:cNvSpPr txBox="1"/>
          <p:nvPr/>
        </p:nvSpPr>
        <p:spPr>
          <a:xfrm>
            <a:off x="4114800" y="5084064"/>
            <a:ext cx="28346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50">
                <a:solidFill>
                  <a:srgbClr val="595959"/>
                </a:solidFill>
              </a:rPr>
              <a:t>콩: 침수 종료 6일 후에도 미회복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50686"/>
            <a:ext cx="10515600" cy="950797"/>
          </a:xfrm>
        </p:spPr>
        <p:txBody>
          <a:bodyPr>
            <a:normAutofit/>
          </a:bodyPr>
          <a:lstStyle/>
          <a:p>
            <a:r>
              <a:rPr lang="en-US" altLang="ko-KR" sz="2400" dirty="0">
                <a:latin typeface="Times New Roman"/>
                <a:cs typeface="Times New Roman"/>
              </a:rPr>
              <a:t>Appendix</a:t>
            </a:r>
            <a:br>
              <a:rPr lang="en-US" altLang="ko-KR" sz="2800" dirty="0"/>
            </a:br>
            <a:r>
              <a:rPr lang="ko-KR" altLang="en-US" sz="3200" dirty="0"/>
              <a:t>광포화점 LSP: 측정 문제 곡선 5개 포함</a:t>
            </a:r>
          </a:p>
        </p:txBody>
      </p:sp>
      <p:pic>
        <p:nvPicPr>
          <p:cNvPr id="3" name="Logo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9058" y="129246"/>
            <a:ext cx="2242456" cy="729364"/>
          </a:xfrm>
          <a:prstGeom prst="rect">
            <a:avLst/>
          </a:prstGeom>
        </p:spPr>
      </p:pic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98FA03D2-03B7-0D84-2206-40CA69A8D76A}"/>
              </a:ext>
            </a:extLst>
          </p:cNvPr>
          <p:cNvCxnSpPr>
            <a:cxnSpLocks/>
          </p:cNvCxnSpPr>
          <p:nvPr/>
        </p:nvCxnSpPr>
        <p:spPr>
          <a:xfrm>
            <a:off x="783772" y="1002621"/>
            <a:ext cx="10624457" cy="0"/>
          </a:xfrm>
          <a:prstGeom prst="line">
            <a:avLst/>
          </a:prstGeom>
          <a:ln w="571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D96D3AE-CC3D-A909-29AD-1EF41A97CF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BCED27-B7FD-4F82-BD12-1C1B2F10C096}" type="slidenum">
              <a:rPr lang="ko-KR" altLang="en-US" smtClean="0"/>
              <a:t>34</a:t>
            </a:fld>
            <a:endParaRPr lang="ko-KR" altLang="en-US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1463040"/>
          <a:ext cx="6858000" cy="27432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00" b="1" dirty="0">
                          <a:solidFill>
                            <a:srgbClr val="000000"/>
                          </a:solidFill>
                        </a:rPr>
                        <a:t>Treatment (콩)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00000"/>
                          </a:solidFill>
                        </a:rPr>
                        <a:t>LSP 현재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00000"/>
                          </a:solidFill>
                        </a:rPr>
                        <a:t>LSP 전체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00000"/>
                          </a:solidFill>
                        </a:rPr>
                        <a:t>A</a:t>
                      </a:r>
                      <a:r>
                        <a:rPr sz="1000" b="1" baseline="-25000">
                          <a:solidFill>
                            <a:srgbClr val="000000"/>
                          </a:solidFill>
                        </a:rPr>
                        <a:t>max</a:t>
                      </a:r>
                      <a:r>
                        <a:rPr sz="1000" b="1">
                          <a:solidFill>
                            <a:srgbClr val="000000"/>
                          </a:solidFill>
                        </a:rPr>
                        <a:t> 현재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00000"/>
                          </a:solidFill>
                        </a:rPr>
                        <a:t>A</a:t>
                      </a:r>
                      <a:r>
                        <a:rPr sz="1000" b="1" baseline="-25000">
                          <a:solidFill>
                            <a:srgbClr val="000000"/>
                          </a:solidFill>
                        </a:rPr>
                        <a:t>max</a:t>
                      </a:r>
                      <a:r>
                        <a:rPr sz="1000" b="1">
                          <a:solidFill>
                            <a:srgbClr val="000000"/>
                          </a:solidFill>
                        </a:rPr>
                        <a:t> 전체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</a:rPr>
                        <a:t>ETc 100%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560.8 b (n=5)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560.8 (n=5)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17.6 (n=5)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17.6 (n=5)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1270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</a:rPr>
                        <a:t>ETc 50%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815.5 a (n=3)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815.5 (n=3)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18.8 (n=3)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18.8 (n=3)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en-US" sz="1000" b="0" dirty="0">
                          <a:solidFill>
                            <a:srgbClr val="000000"/>
                          </a:solidFill>
                        </a:rPr>
                        <a:t>Waterlogging</a:t>
                      </a:r>
                      <a:r>
                        <a:rPr sz="1000" b="0" dirty="0">
                          <a:solidFill>
                            <a:srgbClr val="000000"/>
                          </a:solidFill>
                        </a:rPr>
                        <a:t>-</a:t>
                      </a:r>
                      <a:r>
                        <a:rPr sz="1000" b="0" dirty="0" err="1">
                          <a:solidFill>
                            <a:srgbClr val="000000"/>
                          </a:solidFill>
                        </a:rPr>
                        <a:t>ETc</a:t>
                      </a:r>
                      <a:r>
                        <a:rPr sz="1000" b="0" dirty="0">
                          <a:solidFill>
                            <a:srgbClr val="000000"/>
                          </a:solidFill>
                        </a:rPr>
                        <a:t> 100%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548.6 b (n=3)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660.0 (n=6)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15.5 (n=3)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13.9 (n=6)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en-US" sz="1000" b="0" dirty="0">
                          <a:solidFill>
                            <a:srgbClr val="000000"/>
                          </a:solidFill>
                        </a:rPr>
                        <a:t>Waterlogging</a:t>
                      </a:r>
                      <a:r>
                        <a:rPr sz="1000" b="0" dirty="0">
                          <a:solidFill>
                            <a:srgbClr val="000000"/>
                          </a:solidFill>
                        </a:rPr>
                        <a:t>-</a:t>
                      </a:r>
                      <a:r>
                        <a:rPr sz="1000" b="0" dirty="0" err="1">
                          <a:solidFill>
                            <a:srgbClr val="000000"/>
                          </a:solidFill>
                        </a:rPr>
                        <a:t>ETc</a:t>
                      </a:r>
                      <a:r>
                        <a:rPr sz="1000" b="0" dirty="0">
                          <a:solidFill>
                            <a:srgbClr val="000000"/>
                          </a:solidFill>
                        </a:rPr>
                        <a:t> 50%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689.9 ab (n=4)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794.1 (n=6)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17.8 (n=4)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17.7 (n=6)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</a:rPr>
                        <a:t>ANOVA P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0.011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0.396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0.380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0.104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Card 요점"/>
          <p:cNvSpPr/>
          <p:nvPr/>
        </p:nvSpPr>
        <p:spPr>
          <a:xfrm>
            <a:off x="7498079" y="1399032"/>
            <a:ext cx="4206240" cy="4133087"/>
          </a:xfrm>
          <a:prstGeom prst="roundRect">
            <a:avLst>
              <a:gd name="adj" fmla="val 3400"/>
            </a:avLst>
          </a:prstGeom>
          <a:solidFill>
            <a:srgbClr val="FBFBFB"/>
          </a:solidFill>
          <a:ln w="12700">
            <a:solidFill>
              <a:srgbClr val="AFAF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Header 요점"/>
          <p:cNvSpPr/>
          <p:nvPr/>
        </p:nvSpPr>
        <p:spPr>
          <a:xfrm>
            <a:off x="7680959" y="1188720"/>
            <a:ext cx="3840479" cy="420624"/>
          </a:xfrm>
          <a:prstGeom prst="roundRect">
            <a:avLst>
              <a:gd name="adj" fmla="val 25000"/>
            </a:avLst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27432" rIns="73152" bIns="27432"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요점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59" y="1783080"/>
            <a:ext cx="3886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01168" indent="-201168" algn="l">
              <a:spcBef>
                <a:spcPts val="0"/>
              </a:spcBef>
              <a:buFont typeface="Arial"/>
              <a:buChar char="•"/>
            </a:pPr>
            <a:r>
              <a:rPr lang="ko-KR" altLang="en-US" sz="1250" dirty="0">
                <a:solidFill>
                  <a:srgbClr val="000000"/>
                </a:solidFill>
              </a:rPr>
              <a:t>측정 문제로 제외한 콩 침수·복합 5곡선(9/3·9/14 2곡선·9/14·9/15 등)을 포함하면 LSP 처리 간 차이가 사라짐 (P 0.011 → 0.396)</a:t>
            </a:r>
          </a:p>
          <a:p>
            <a:pPr marL="201168" indent="-201168" algn="l">
              <a:spcBef>
                <a:spcPts val="600"/>
              </a:spcBef>
              <a:buFont typeface="Arial"/>
              <a:buChar char="•"/>
            </a:pPr>
            <a:r>
              <a:rPr lang="ko-KR" altLang="en-US" sz="1250" dirty="0">
                <a:solidFill>
                  <a:srgbClr val="000000"/>
                </a:solidFill>
              </a:rPr>
              <a:t>현재 분석의 '건조 LSP 816 (a) &gt; 대조구 561 (b)'는 5곡선 제외에 의존, 전체로 보면 침수·복합이 660~794로 올라가 차이 없음</a:t>
            </a:r>
          </a:p>
          <a:p>
            <a:pPr marL="201168" indent="-201168" algn="l">
              <a:spcBef>
                <a:spcPts val="600"/>
              </a:spcBef>
              <a:buFont typeface="Arial"/>
              <a:buChar char="•"/>
            </a:pPr>
            <a:r>
              <a:rPr lang="ko-KR" altLang="en-US" sz="1250" dirty="0">
                <a:solidFill>
                  <a:srgbClr val="000000"/>
                </a:solidFill>
              </a:rPr>
              <a:t>A</a:t>
            </a:r>
            <a:r>
              <a:rPr lang="ko-KR" altLang="en-US" sz="1250" baseline="-25000" dirty="0">
                <a:solidFill>
                  <a:srgbClr val="000000"/>
                </a:solidFill>
              </a:rPr>
              <a:t>max</a:t>
            </a:r>
            <a:r>
              <a:rPr lang="ko-KR" altLang="en-US" sz="1250" dirty="0">
                <a:solidFill>
                  <a:srgbClr val="000000"/>
                </a:solidFill>
              </a:rPr>
              <a:t>(순)도 P 0.380 → 0.104로 모두 비유의</a:t>
            </a:r>
          </a:p>
          <a:p>
            <a:pPr marL="201168" indent="-201168" algn="l">
              <a:spcBef>
                <a:spcPts val="600"/>
              </a:spcBef>
              <a:buFont typeface="Arial"/>
              <a:buChar char="•"/>
            </a:pPr>
            <a:r>
              <a:rPr lang="ko-KR" altLang="en-US" sz="1250" dirty="0">
                <a:solidFill>
                  <a:srgbClr val="000000"/>
                </a:solidFill>
              </a:rPr>
              <a:t>로메인: LSP 분석 자료 없음</a:t>
            </a:r>
          </a:p>
        </p:txBody>
      </p:sp>
      <p:sp>
        <p:nvSpPr>
          <p:cNvPr id="12" name="Conclusion Box"/>
          <p:cNvSpPr/>
          <p:nvPr/>
        </p:nvSpPr>
        <p:spPr>
          <a:xfrm>
            <a:off x="841248" y="5788152"/>
            <a:ext cx="10570464" cy="566928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8575">
            <a:solidFill>
              <a:srgbClr val="AA57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36576" rIns="137160" bIns="36576" rtlCol="0" anchor="ctr"/>
          <a:lstStyle/>
          <a:p>
            <a:pPr algn="ctr"/>
            <a:r>
              <a:rPr sz="1600">
                <a:solidFill>
                  <a:srgbClr val="E97132"/>
                </a:solidFill>
              </a:rPr>
              <a:t>LSP의 건조 효과는 5개 곡선 제외에 의존 — 전체 곡선에서는 차이 없음</a:t>
            </a:r>
          </a:p>
        </p:txBody>
      </p:sp>
      <p:sp>
        <p:nvSpPr>
          <p:cNvPr id="13" name="Footnote"/>
          <p:cNvSpPr txBox="1"/>
          <p:nvPr/>
        </p:nvSpPr>
        <p:spPr>
          <a:xfrm>
            <a:off x="457200" y="6473952"/>
            <a:ext cx="8138160" cy="310896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r>
              <a:rPr sz="1000">
                <a:solidFill>
                  <a:srgbClr val="595959"/>
                </a:solidFill>
              </a:rPr>
              <a:t>LSP = NRH 피팅 순광합성이 A</a:t>
            </a:r>
            <a:r>
              <a:rPr sz="1000" baseline="-25000">
                <a:solidFill>
                  <a:srgbClr val="595959"/>
                </a:solidFill>
              </a:rPr>
              <a:t>max</a:t>
            </a:r>
            <a:r>
              <a:rPr sz="1000">
                <a:solidFill>
                  <a:srgbClr val="595959"/>
                </a:solidFill>
              </a:rPr>
              <a:t>(순)의 80%가 되는 PPFD(µmol·m</a:t>
            </a:r>
            <a:r>
              <a:rPr sz="1000" baseline="30000">
                <a:solidFill>
                  <a:srgbClr val="595959"/>
                </a:solidFill>
              </a:rPr>
              <a:t>−2</a:t>
            </a:r>
            <a:r>
              <a:rPr sz="1000">
                <a:solidFill>
                  <a:srgbClr val="595959"/>
                </a:solidFill>
              </a:rPr>
              <a:t>·s</a:t>
            </a:r>
            <a:r>
              <a:rPr sz="1000" baseline="30000">
                <a:solidFill>
                  <a:srgbClr val="595959"/>
                </a:solidFill>
              </a:rPr>
              <a:t>−1</a:t>
            </a:r>
            <a:r>
              <a:rPr sz="1000">
                <a:solidFill>
                  <a:srgbClr val="595959"/>
                </a:solidFill>
              </a:rPr>
              <a:t>). 평균과 Tukey 문자(ANOVA P&lt;0.05일 때만), n = 곡선 수. 콩 처리 후 A-Q 곡선.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50686"/>
            <a:ext cx="10515600" cy="950797"/>
          </a:xfrm>
        </p:spPr>
        <p:txBody>
          <a:bodyPr>
            <a:normAutofit/>
          </a:bodyPr>
          <a:lstStyle/>
          <a:p>
            <a:r>
              <a:rPr lang="en-US" altLang="ko-KR" sz="2400" dirty="0">
                <a:latin typeface="Times New Roman"/>
                <a:cs typeface="Times New Roman"/>
              </a:rPr>
              <a:t>Appendix</a:t>
            </a:r>
            <a:br>
              <a:rPr lang="en-US" altLang="ko-KR" sz="2800" dirty="0"/>
            </a:br>
            <a:r>
              <a:rPr lang="ko-KR" altLang="en-US" sz="3200" dirty="0"/>
              <a:t>콩 생육: 원자료 전체 vs 이상값제거 시트</a:t>
            </a:r>
          </a:p>
        </p:txBody>
      </p:sp>
      <p:pic>
        <p:nvPicPr>
          <p:cNvPr id="3" name="Logo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9058" y="129246"/>
            <a:ext cx="2242456" cy="729364"/>
          </a:xfrm>
          <a:prstGeom prst="rect">
            <a:avLst/>
          </a:prstGeom>
        </p:spPr>
      </p:pic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98FA03D2-03B7-0D84-2206-40CA69A8D76A}"/>
              </a:ext>
            </a:extLst>
          </p:cNvPr>
          <p:cNvCxnSpPr>
            <a:cxnSpLocks/>
          </p:cNvCxnSpPr>
          <p:nvPr/>
        </p:nvCxnSpPr>
        <p:spPr>
          <a:xfrm>
            <a:off x="783772" y="1002621"/>
            <a:ext cx="10624457" cy="0"/>
          </a:xfrm>
          <a:prstGeom prst="line">
            <a:avLst/>
          </a:prstGeom>
          <a:ln w="571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D96D3AE-CC3D-A909-29AD-1EF41A97CF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BCED27-B7FD-4F82-BD12-1C1B2F10C096}" type="slidenum">
              <a:rPr lang="ko-KR" altLang="en-US" smtClean="0"/>
              <a:t>35</a:t>
            </a:fld>
            <a:endParaRPr lang="ko-KR" altLang="en-US"/>
          </a:p>
        </p:txBody>
      </p:sp>
      <p:pic>
        <p:nvPicPr>
          <p:cNvPr id="7" name="Picture 6" descr="a_growt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1851" y="1188720"/>
            <a:ext cx="4691575" cy="2103120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82882470"/>
              </p:ext>
            </p:extLst>
          </p:nvPr>
        </p:nvGraphicFramePr>
        <p:xfrm>
          <a:off x="457200" y="3218688"/>
          <a:ext cx="6940296" cy="2221992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234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32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132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132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1323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1323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1323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1323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1323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000000"/>
                          </a:solidFill>
                        </a:rPr>
                        <a:t>10/6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</a:rPr>
                        <a:t>원 ETc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</a:rPr>
                        <a:t>원 ETc50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</a:rPr>
                        <a:t>원 Fl100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dirty="0">
                          <a:solidFill>
                            <a:srgbClr val="000000"/>
                          </a:solidFill>
                        </a:rPr>
                        <a:t>원 Fl50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</a:rPr>
                        <a:t>제거 ETc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</a:rPr>
                        <a:t>제거 ETc50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</a:rPr>
                        <a:t>제거 Fl100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</a:rPr>
                        <a:t>제거 Fl50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</a:rPr>
                        <a:t>SPAD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</a:rPr>
                        <a:t>46.8 a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</a:rPr>
                        <a:t>38.0 bc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</a:rPr>
                        <a:t>34.7 c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dirty="0">
                          <a:solidFill>
                            <a:srgbClr val="000000"/>
                          </a:solidFill>
                        </a:rPr>
                        <a:t>44.2 ab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</a:rPr>
                        <a:t>46.8 a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</a:rPr>
                        <a:t>38.0 bc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</a:rPr>
                        <a:t>34.7 c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</a:rPr>
                        <a:t>44.2 ab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1270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</a:rPr>
                        <a:t>엽면적 (cm</a:t>
                      </a:r>
                      <a:r>
                        <a:rPr sz="900" b="0" baseline="30000">
                          <a:solidFill>
                            <a:srgbClr val="000000"/>
                          </a:solidFill>
                        </a:rPr>
                        <a:t>2</a:t>
                      </a:r>
                      <a:r>
                        <a:rPr sz="900" b="0">
                          <a:solidFill>
                            <a:srgbClr val="000000"/>
                          </a:solidFill>
                        </a:rPr>
                        <a:t>)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</a:rPr>
                        <a:t>5333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</a:rPr>
                        <a:t>4091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</a:rPr>
                        <a:t>4846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dirty="0">
                          <a:solidFill>
                            <a:srgbClr val="000000"/>
                          </a:solidFill>
                        </a:rPr>
                        <a:t>5055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</a:rPr>
                        <a:t>5333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</a:rPr>
                        <a:t>3578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</a:rPr>
                        <a:t>4846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</a:rPr>
                        <a:t>5055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</a:rPr>
                        <a:t>엽수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</a:rPr>
                        <a:t>45.0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</a:rPr>
                        <a:t>39.4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</a:rPr>
                        <a:t>37.3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dirty="0">
                          <a:solidFill>
                            <a:srgbClr val="000000"/>
                          </a:solidFill>
                        </a:rPr>
                        <a:t>37.2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</a:rPr>
                        <a:t>46.4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</a:rPr>
                        <a:t>41.5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</a:rPr>
                        <a:t>39.8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</a:rPr>
                        <a:t>46.2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</a:rPr>
                        <a:t>잎+줄기 FW (g)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</a:rPr>
                        <a:t>257.9 a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</a:rPr>
                        <a:t>184.4 b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</a:rPr>
                        <a:t>216.7 ab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</a:rPr>
                        <a:t>260.2 a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</a:rPr>
                        <a:t>278.1 a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</a:rPr>
                        <a:t>180.4 b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</a:rPr>
                        <a:t>201.3 b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</a:rPr>
                        <a:t>225.2 ab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</a:rPr>
                        <a:t>잎+줄기 DW (g)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</a:rPr>
                        <a:t>81.4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</a:rPr>
                        <a:t>76.1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</a:rPr>
                        <a:t>67.5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dirty="0">
                          <a:solidFill>
                            <a:srgbClr val="000000"/>
                          </a:solidFill>
                        </a:rPr>
                        <a:t>98.4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</a:rPr>
                        <a:t>92.2 a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</a:rPr>
                        <a:t>75.4 ab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</a:rPr>
                        <a:t>63.1 b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</a:rPr>
                        <a:t>84.2 ab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</a:rPr>
                        <a:t>총 건조중 (g)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</a:rPr>
                        <a:t>163.5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</a:rPr>
                        <a:t>163.3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</a:rPr>
                        <a:t>157.9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dirty="0">
                          <a:solidFill>
                            <a:srgbClr val="000000"/>
                          </a:solidFill>
                        </a:rPr>
                        <a:t>178.5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</a:rPr>
                        <a:t>189.7 a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</a:rPr>
                        <a:t>163.8 ab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</a:rPr>
                        <a:t>144.3 b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</a:rPr>
                        <a:t>186.8 ab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</a:rPr>
                        <a:t>종실 건조중 (g)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</a:rPr>
                        <a:t>60.0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</a:rPr>
                        <a:t>63.3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</a:rPr>
                        <a:t>63.0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dirty="0">
                          <a:solidFill>
                            <a:srgbClr val="000000"/>
                          </a:solidFill>
                        </a:rPr>
                        <a:t>57.0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</a:rPr>
                        <a:t>69.3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</a:rPr>
                        <a:t>66.3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</a:rPr>
                        <a:t>63.0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</a:rPr>
                        <a:t>57.0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</a:rPr>
                        <a:t>뿌리 건조중 (g)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</a:rPr>
                        <a:t>19.5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</a:rPr>
                        <a:t>27.1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</a:rPr>
                        <a:t>35.1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dirty="0">
                          <a:solidFill>
                            <a:srgbClr val="000000"/>
                          </a:solidFill>
                        </a:rPr>
                        <a:t>36.6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</a:rPr>
                        <a:t>14.7 c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noFill/>
                    </a:lnR>
                    <a:lnT w="12700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</a:rPr>
                        <a:t>20.8 bc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</a:rPr>
                        <a:t>29.6 ab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dirty="0">
                          <a:solidFill>
                            <a:srgbClr val="000000"/>
                          </a:solidFill>
                        </a:rPr>
                        <a:t>33.8 a</a:t>
                      </a:r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9" name="Card 요점"/>
          <p:cNvSpPr/>
          <p:nvPr/>
        </p:nvSpPr>
        <p:spPr>
          <a:xfrm>
            <a:off x="7498079" y="1399032"/>
            <a:ext cx="4206240" cy="4133087"/>
          </a:xfrm>
          <a:prstGeom prst="roundRect">
            <a:avLst>
              <a:gd name="adj" fmla="val 3400"/>
            </a:avLst>
          </a:prstGeom>
          <a:solidFill>
            <a:srgbClr val="FBFBFB"/>
          </a:solidFill>
          <a:ln w="12700">
            <a:solidFill>
              <a:srgbClr val="AFAF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Header 요점"/>
          <p:cNvSpPr/>
          <p:nvPr/>
        </p:nvSpPr>
        <p:spPr>
          <a:xfrm>
            <a:off x="7680959" y="1188720"/>
            <a:ext cx="3840479" cy="420624"/>
          </a:xfrm>
          <a:prstGeom prst="roundRect">
            <a:avLst>
              <a:gd name="adj" fmla="val 25000"/>
            </a:avLst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27432" rIns="73152" bIns="27432"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요점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59" y="1783080"/>
            <a:ext cx="3886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01168" indent="-201168">
              <a:spcBef>
                <a:spcPts val="0"/>
              </a:spcBef>
              <a:buFont typeface="Arial"/>
              <a:buChar char="•"/>
            </a:pPr>
            <a:r>
              <a:rPr sz="1250">
                <a:solidFill>
                  <a:srgbClr val="000000"/>
                </a:solidFill>
              </a:rPr>
              <a:t>'이상값제거' 시트는 원자료 60개체에서 124개 셀(15개 항목)을 비우고 1개체 행을 뺌 → 처리당 n이 3~8로 줄어듦</a:t>
            </a:r>
          </a:p>
          <a:p>
            <a:pPr marL="201168" indent="-201168">
              <a:spcBef>
                <a:spcPts val="700"/>
              </a:spcBef>
              <a:buFont typeface="Arial"/>
              <a:buChar char="•"/>
            </a:pPr>
            <a:r>
              <a:rPr sz="1250">
                <a:solidFill>
                  <a:srgbClr val="000000"/>
                </a:solidFill>
              </a:rPr>
              <a:t>10/6 총 건조중 P 0.889 → 0.035, 뿌리 0.099 → &lt;0.001, 잎+줄기 DW 0.070 → 0.020</a:t>
            </a:r>
          </a:p>
          <a:p>
            <a:pPr marL="201168" indent="-201168">
              <a:spcBef>
                <a:spcPts val="700"/>
              </a:spcBef>
              <a:buFont typeface="Arial"/>
              <a:buChar char="•"/>
            </a:pPr>
            <a:r>
              <a:rPr sz="1250">
                <a:solidFill>
                  <a:srgbClr val="000000"/>
                </a:solidFill>
              </a:rPr>
              <a:t>9/1: 엽면적 P 0.075 → 0.008, 잎+줄기 FW 0.092 → 0.010, 종실 DW 0.204 → 0.005</a:t>
            </a:r>
          </a:p>
          <a:p>
            <a:pPr marL="201168" indent="-201168">
              <a:spcBef>
                <a:spcPts val="700"/>
              </a:spcBef>
              <a:buFont typeface="Arial"/>
              <a:buChar char="•"/>
            </a:pPr>
            <a:r>
              <a:rPr sz="1250">
                <a:solidFill>
                  <a:srgbClr val="000000"/>
                </a:solidFill>
              </a:rPr>
              <a:t>원자료 전체: 10/6 콩은 잎+줄기 생체중·SPAD 외 처리 간 차이 없음 — 제거 여부에 따라 유의성이 새로 생김</a:t>
            </a:r>
          </a:p>
        </p:txBody>
      </p:sp>
      <p:sp>
        <p:nvSpPr>
          <p:cNvPr id="12" name="Conclusion Box"/>
          <p:cNvSpPr/>
          <p:nvPr/>
        </p:nvSpPr>
        <p:spPr>
          <a:xfrm>
            <a:off x="841248" y="5788152"/>
            <a:ext cx="10570464" cy="566928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8575">
            <a:solidFill>
              <a:srgbClr val="AA57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36576" rIns="137160" bIns="36576" rtlCol="0" anchor="ctr"/>
          <a:lstStyle/>
          <a:p>
            <a:pPr algn="ctr"/>
            <a:r>
              <a:rPr sz="1600">
                <a:solidFill>
                  <a:srgbClr val="AA572C"/>
                </a:solidFill>
              </a:rPr>
              <a:t>생육 결론은 이상값 제거 여부에 민감 — 원자료 전체를 본문 근거로 사용</a:t>
            </a:r>
          </a:p>
        </p:txBody>
      </p:sp>
      <p:sp>
        <p:nvSpPr>
          <p:cNvPr id="13" name="Footnote"/>
          <p:cNvSpPr txBox="1"/>
          <p:nvPr/>
        </p:nvSpPr>
        <p:spPr>
          <a:xfrm>
            <a:off x="457200" y="6473952"/>
            <a:ext cx="8138160" cy="310896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r>
              <a:rPr sz="1000">
                <a:solidFill>
                  <a:srgbClr val="595959"/>
                </a:solidFill>
              </a:rPr>
              <a:t>평균과 Tukey 문자(ANOVA P&lt;0.05일 때만), 침수 = Fl100, 복합 = Fl50. 원 = 밭콩 파괴조사 rawdata(260901·261006), 제거 = '이상값제거' 시트. 총 건조중 = 잎+줄기+꼬투리+종실.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양쪽 모서리가 둥근 사각형 1">
            <a:extLst>
              <a:ext uri="{FF2B5EF4-FFF2-40B4-BE49-F238E27FC236}">
                <a16:creationId xmlns:a16="http://schemas.microsoft.com/office/drawing/2014/main" id="{61F6D138-DFFC-10C1-053C-3D2B417CC93E}"/>
              </a:ext>
            </a:extLst>
          </p:cNvPr>
          <p:cNvSpPr/>
          <p:nvPr/>
        </p:nvSpPr>
        <p:spPr>
          <a:xfrm>
            <a:off x="0" y="3429000"/>
            <a:ext cx="12192000" cy="3429000"/>
          </a:xfrm>
          <a:prstGeom prst="round2SameRect">
            <a:avLst/>
          </a:prstGeom>
          <a:solidFill>
            <a:srgbClr val="04458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 sz="120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11A0B38-A3E4-9B0E-0886-5E9788B47173}"/>
              </a:ext>
            </a:extLst>
          </p:cNvPr>
          <p:cNvSpPr txBox="1"/>
          <p:nvPr/>
        </p:nvSpPr>
        <p:spPr>
          <a:xfrm>
            <a:off x="3766530" y="2681512"/>
            <a:ext cx="465894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ko-KR" altLang="en-US" sz="4400" b="1" spc="-200" dirty="0">
                <a:solidFill>
                  <a:srgbClr val="04458A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감사합니다</a:t>
            </a:r>
            <a:endParaRPr kumimoji="1" lang="en-US" altLang="ko-Kore-KR" sz="4400" b="1" spc="-200" dirty="0">
              <a:solidFill>
                <a:srgbClr val="04458A"/>
              </a:solidFill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BD9CEE3-88A3-FC3B-9B6B-4B8B7C7214DE}"/>
              </a:ext>
            </a:extLst>
          </p:cNvPr>
          <p:cNvSpPr txBox="1"/>
          <p:nvPr/>
        </p:nvSpPr>
        <p:spPr>
          <a:xfrm>
            <a:off x="3026229" y="3520615"/>
            <a:ext cx="6139542" cy="10484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kumimoji="1" lang="ko-KR" altLang="en-US" sz="2400" b="1" spc="-100" dirty="0">
                <a:solidFill>
                  <a:schemeClr val="bg1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전북대학교 </a:t>
            </a:r>
            <a:r>
              <a:rPr kumimoji="1" lang="ko-KR" altLang="en-US" sz="2400" b="1" spc="-100" dirty="0" err="1">
                <a:solidFill>
                  <a:schemeClr val="bg1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스마트농업AI융합학과</a:t>
            </a:r>
            <a:endParaRPr kumimoji="1" lang="en-US" altLang="ko-KR" sz="2400" b="1" spc="-100" dirty="0">
              <a:solidFill>
                <a:schemeClr val="bg1"/>
              </a:solidFill>
              <a:latin typeface="Malgun Gothic" panose="020B0503020000020004" pitchFamily="34" charset="-127"/>
              <a:ea typeface="Malgun Gothic" panose="020B0503020000020004" pitchFamily="34" charset="-127"/>
            </a:endParaRPr>
          </a:p>
          <a:p>
            <a:pPr algn="ctr">
              <a:lnSpc>
                <a:spcPct val="150000"/>
              </a:lnSpc>
            </a:pPr>
            <a:r>
              <a:rPr kumimoji="1" lang="ko-KR" altLang="en-US" sz="2000" b="1" spc="-100" dirty="0">
                <a:solidFill>
                  <a:schemeClr val="bg1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석사과정 윤정민</a:t>
            </a:r>
            <a:endParaRPr kumimoji="1" lang="en-US" altLang="ko-Kore-KR" sz="2000" b="1" spc="-100" dirty="0">
              <a:solidFill>
                <a:schemeClr val="bg1"/>
              </a:solidFill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3A3A3A"/>
      </a:accent1>
      <a:accent2>
        <a:srgbClr val="AA572C"/>
      </a:accent2>
      <a:accent3>
        <a:srgbClr val="2E6B3F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3A3A3A"/>
      </a:accent1>
      <a:accent2>
        <a:srgbClr val="AA572C"/>
      </a:accent2>
      <a:accent3>
        <a:srgbClr val="2E6B3F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D847690B-9EC7-46B6-89C7-B4D0A48C43BA}">
  <we:reference id="wa200010001" version="1.0.0.1" store="en-US" storeType="OMEX"/>
  <we:alternateReferences>
    <we:reference id="wa200010001" version="1.0.0.1" store="en-US" storeType="OMEX"/>
  </we:alternateReferences>
  <we:properties>
    <we:property name="claude.fileId" value="&quot;4f520049-4b44-42da-a845-ab676c9aec61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19467</TotalTime>
  <Words>8909</Words>
  <Application>Microsoft Office PowerPoint</Application>
  <PresentationFormat>와이드스크린</PresentationFormat>
  <Paragraphs>1374</Paragraphs>
  <Slides>36</Slides>
  <Notes>4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36</vt:i4>
      </vt:variant>
    </vt:vector>
  </HeadingPairs>
  <TitlesOfParts>
    <vt:vector size="41" baseType="lpstr">
      <vt:lpstr>맑은 고딕</vt:lpstr>
      <vt:lpstr>맑은 고딕</vt:lpstr>
      <vt:lpstr>Arial</vt:lpstr>
      <vt:lpstr>Times New Roman</vt:lpstr>
      <vt:lpstr>Office 테마</vt:lpstr>
      <vt:lpstr>밭콩 vs 잎상추 건조·침수에 따른 생리·생육 반응 비교  Comparison of Physiological and Growth Responses of Upland Soybean and Lettuce to Drought and Waterlogging</vt:lpstr>
      <vt:lpstr>목차</vt:lpstr>
      <vt:lpstr>Materials and Methods 실험 개요: 밭콩 vs 잎상추</vt:lpstr>
      <vt:lpstr>Materials and Methods 처리 일정과 측정 시기 (DAT 기준 정렬)</vt:lpstr>
      <vt:lpstr>Materials and Methods 비교 분석 방법</vt:lpstr>
      <vt:lpstr>Measurement conditions 측정 당시 일사 조건: 흐린 날 판정</vt:lpstr>
      <vt:lpstr>Materials and Methods LI-600 보정: 선형 PAR(Qamb) + 기온(Tair)</vt:lpstr>
      <vt:lpstr>Limitations 한계점: 처리 강도와 비교의 한계</vt:lpstr>
      <vt:lpstr>Photosynthesis 기공전도도 (gsw): 실제 값 비교</vt:lpstr>
      <vt:lpstr>Photosynthesis 기공 회복 속도: 상추는 빠르게, 콩은 느리게</vt:lpstr>
      <vt:lpstr>Photosynthesis 상추 침수 직후(10/10): 광합성 대조 vs 침수</vt:lpstr>
      <vt:lpstr>Chlorophyll fluorescence ΦPSII: 콩 건조 저하는 고광도에서만</vt:lpstr>
      <vt:lpstr>Chlorophyll fluorescence 정상 상태 형광 (Fs): 실제 값 비교</vt:lpstr>
      <vt:lpstr>Chlorophyll fluorescence 전자전달속도 (ETR): 실제 값 비교</vt:lpstr>
      <vt:lpstr>Chlorophyll fluorescence 광계 II 손상과 형광 신호 크기</vt:lpstr>
      <vt:lpstr>Photosynthesis 광합성 능력 (9, 10월): A-Ci, A-Q 파라미터</vt:lpstr>
      <vt:lpstr>Appendix A-Ci·A-Q 파라미터: 전체 곡선 포함</vt:lpstr>
      <vt:lpstr>Photosynthesis 광합성 능력 (8월): A-Ci 파라미터</vt:lpstr>
      <vt:lpstr>Photosynthesis LI-6800 광-광합성 곡선 (A-Q)</vt:lpstr>
      <vt:lpstr>Chlorophyll fluorescence LI-6800 광도별 형광 반응 (처리 전 포함)</vt:lpstr>
      <vt:lpstr>Growth 생육 비교: 실제 측정값</vt:lpstr>
      <vt:lpstr>Growth 상추 생육 감소는 잎 생리로 설명되지 않음</vt:lpstr>
      <vt:lpstr>Yield 수확량 비교: 상추 지상부 vs 콩 종실</vt:lpstr>
      <vt:lpstr>Irrigation 관수량 비교</vt:lpstr>
      <vt:lpstr>Irrigation 잎상추 관수 확인: 로드셀 CSV vs 목표</vt:lpstr>
      <vt:lpstr>Irrigation 잎상추 증산량과 ETc 로드셀 신뢰도</vt:lpstr>
      <vt:lpstr>Irrigation 밭콩 일 물 소모량: 로드셀 vs EC5</vt:lpstr>
      <vt:lpstr>Environment 환경 조건 비교</vt:lpstr>
      <vt:lpstr>Discussion 고찰: 생육 감소 경로와 처리 강도의 한계</vt:lpstr>
      <vt:lpstr>Conclusion 종합 결론: 밭콩 vs 잎상추</vt:lpstr>
      <vt:lpstr>Appendix 원자료 전체 포함 분석: 제외·선별 자료</vt:lpstr>
      <vt:lpstr>Appendix gsw 전체 측정값 포함 (삭제 12개 복원)</vt:lpstr>
      <vt:lpstr>Appendix 기공 회복 속도 (gsw 전체 측정값 포함)</vt:lpstr>
      <vt:lpstr>Appendix 광포화점 LSP: 측정 문제 곡선 5개 포함</vt:lpstr>
      <vt:lpstr>Appendix 콩 생육: 원자료 전체 vs 이상값제거 시트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윤정민</dc:creator>
  <cp:lastModifiedBy>윤정민</cp:lastModifiedBy>
  <cp:revision>2</cp:revision>
  <dcterms:created xsi:type="dcterms:W3CDTF">2026-04-06T01:45:26Z</dcterms:created>
  <dcterms:modified xsi:type="dcterms:W3CDTF">2026-10-30T01:42:29Z</dcterms:modified>
</cp:coreProperties>
</file>