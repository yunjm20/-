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390" r:id="rId3"/>
    <p:sldId id="391" r:id="rId4"/>
    <p:sldId id="392" r:id="rId5"/>
    <p:sldId id="373" r:id="rId6"/>
    <p:sldId id="393" r:id="rId7"/>
    <p:sldId id="412" r:id="rId40"/>
    <p:sldId id="394" r:id="rId8"/>
    <p:sldId id="376" r:id="rId9"/>
    <p:sldId id="395" r:id="rId10"/>
    <p:sldId id="377" r:id="rId12"/>
    <p:sldId id="381" r:id="rId14"/>
    <p:sldId id="397" r:id="rId15"/>
    <p:sldId id="398" r:id="rId17"/>
    <p:sldId id="399" r:id="rId18"/>
    <p:sldId id="413" r:id="rId41"/>
    <p:sldId id="400" r:id="rId19"/>
    <p:sldId id="301" r:id="rId20"/>
    <p:sldId id="401" r:id="rId21"/>
    <p:sldId id="407" r:id="rId22"/>
    <p:sldId id="383" r:id="rId23"/>
    <p:sldId id="378" r:id="rId26"/>
    <p:sldId id="379" r:id="rId27"/>
    <p:sldId id="375" r:id="rId28"/>
    <p:sldId id="414" r:id="rId4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9ED5"/>
    <a:srgbClr val="136331"/>
    <a:srgbClr val="1E3A8A"/>
    <a:srgbClr val="991B1B"/>
    <a:srgbClr val="8D711D"/>
    <a:srgbClr val="7A5B00"/>
    <a:srgbClr val="595959"/>
    <a:srgbClr val="CC2E27"/>
    <a:srgbClr val="FFF4CC"/>
    <a:srgbClr val="1350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1273" autoAdjust="0"/>
  </p:normalViewPr>
  <p:slideViewPr>
    <p:cSldViewPr snapToGrid="0">
      <p:cViewPr varScale="1">
        <p:scale>
          <a:sx n="110" d="100"/>
          <a:sy n="110" d="100"/>
        </p:scale>
        <p:origin x="630" y="114"/>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2"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4.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microsoft.com/office/2016/11/relationships/changesInfo" Target="changesInfos/changesInfo1.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윤정민" userId="6b15c765-da21-42d7-95fe-61eaef7495af" providerId="ADAL" clId="{5C7C66C6-67D0-439D-9B00-412197ADBF19}"/>
    <pc:docChg chg="undo custSel addSld delSld modSld sldOrd">
      <pc:chgData name="윤정민" userId="6b15c765-da21-42d7-95fe-61eaef7495af" providerId="ADAL" clId="{5C7C66C6-67D0-439D-9B00-412197ADBF19}" dt="2026-10-30T01:34:00.518" v="2957" actId="14100"/>
      <pc:docMkLst>
        <pc:docMk/>
      </pc:docMkLst>
      <pc:sldChg chg="modSp mod">
        <pc:chgData name="윤정민" userId="6b15c765-da21-42d7-95fe-61eaef7495af" providerId="ADAL" clId="{5C7C66C6-67D0-439D-9B00-412197ADBF19}" dt="2026-10-30T01:33:35.113" v="2956" actId="14100"/>
        <pc:sldMkLst>
          <pc:docMk/>
          <pc:sldMk cId="0" sldId="377"/>
        </pc:sldMkLst>
        <pc:spChg chg="mod">
          <ac:chgData name="윤정민" userId="6b15c765-da21-42d7-95fe-61eaef7495af" providerId="ADAL" clId="{5C7C66C6-67D0-439D-9B00-412197ADBF19}" dt="2026-10-30T01:33:35.113" v="2956" actId="14100"/>
          <ac:spMkLst>
            <pc:docMk/>
            <pc:sldMk cId="0" sldId="377"/>
            <ac:spMk id="2" creationId="{00000000-0000-0000-0000-000000000000}"/>
          </ac:spMkLst>
        </pc:spChg>
      </pc:sldChg>
      <pc:sldChg chg="modSp mod">
        <pc:chgData name="윤정민" userId="6b15c765-da21-42d7-95fe-61eaef7495af" providerId="ADAL" clId="{5C7C66C6-67D0-439D-9B00-412197ADBF19}" dt="2026-10-30T01:34:00.518" v="2957" actId="14100"/>
        <pc:sldMkLst>
          <pc:docMk/>
          <pc:sldMk cId="0" sldId="397"/>
        </pc:sldMkLst>
        <pc:spChg chg="mod">
          <ac:chgData name="윤정민" userId="6b15c765-da21-42d7-95fe-61eaef7495af" providerId="ADAL" clId="{5C7C66C6-67D0-439D-9B00-412197ADBF19}" dt="2026-10-30T01:34:00.518" v="2957" actId="14100"/>
          <ac:spMkLst>
            <pc:docMk/>
            <pc:sldMk cId="0" sldId="397"/>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C7B71-203A-44A4-BF64-F0E05ABB4A10}" type="datetimeFigureOut">
              <a:rPr lang="ko-KR" altLang="en-US" smtClean="0"/>
              <a:t>2026-10-30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34595A-DD79-43DB-8171-24D3E6EC3B6F}" type="slidenum">
              <a:rPr lang="ko-KR" altLang="en-US" smtClean="0"/>
              <a:t>‹#›</a:t>
            </a:fld>
            <a:endParaRPr lang="ko-KR" altLang="en-US"/>
          </a:p>
        </p:txBody>
      </p:sp>
    </p:spTree>
    <p:extLst>
      <p:ext uri="{BB962C8B-B14F-4D97-AF65-F5344CB8AC3E}">
        <p14:creationId xmlns:p14="http://schemas.microsoft.com/office/powerpoint/2010/main" val="43043718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(약 10초) 안녕하십니까. 전북대학교 스마트농업AI융합학과 윤정민입니다. 오늘은 침수와 건조, 그리고 두 재해가 연속으로 발생한 복합재해 조건에서 콩과 로메인 상추의 생리 및 생육 반응을 비교한 결과를 발표하겠습니다. (발표 10분, 질의응답 2분)</a:t>
            </a:r>
          </a:p>
        </p:txBody>
      </p:sp>
      <p:sp>
        <p:nvSpPr>
          <p:cNvPr id="4" name="슬라이드 번호 개체 틀 3"/>
          <p:cNvSpPr>
            <a:spLocks noGrp="1"/>
          </p:cNvSpPr>
          <p:nvPr>
            <p:ph type="sldNum" sz="quarter" idx="5"/>
          </p:nvPr>
        </p:nvSpPr>
        <p:spPr/>
        <p:txBody>
          <a:bodyPr/>
          <a:lstStyle/>
          <a:p>
            <a:fld id="{9334595A-DD79-43DB-8171-24D3E6EC3B6F}" type="slidenum">
              <a:rPr lang="ko-KR" altLang="en-US" smtClean="0"/>
              <a:t>1</a:t>
            </a:fld>
            <a:endParaRPr lang="ko-KR" altLang="en-US"/>
          </a:p>
        </p:txBody>
      </p:sp>
    </p:spTree>
    <p:extLst>
      <p:ext uri="{BB962C8B-B14F-4D97-AF65-F5344CB8AC3E}">
        <p14:creationId xmlns:p14="http://schemas.microsoft.com/office/powerpoint/2010/main" val="2369180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최근 집중호우와 폭염·가뭄이 짧은 간격으로 반복되면서 한 생육기 안에서 침수와 건조를 연이어 겪는 일이 늘고 있습니다. 침수는 근권 산소 결핍으로, 건조는 토양 수분 부족으로 기공을 닫게 하지만, 두 재해가 연속될 때 피해가 누적되는지, 선행 스트레스가 순화 효과를 주는지는 작물마다 다를 수 있습니다. 그런데 재해 유형별로 생리 반응이 어느 단계에서 제한되는지를 작물 간에 비교한 연구는 충분하지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이 연구는 수분 재해의 영향을 네 단계로 나누어 보았습니다. 가장 먼저 반응하는 기공, 광계의 명반응, 광합성의 생화학적 능력, 그리고 최종적으로 생육과 수량입니다. 콩과 로메인 상추에 침수, 건조, 복합 처리를 적용하여 잎 생리 반응이 어느 단계까지 이어지는지, 기공이 얼마나 빨리 회복되는지, 생육과 수량의 감소로 이어지는지를 비교했습니다.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공시 작물은 콩 대원콩과 로메인 상추 클라우디우스이며 전북대학교 부속농장에서 재배했습니다. 상추는 정식 3주 후 영양생장기에, 콩은 개화기에 처리를 시작했습니다. 처리구는 전날 손실된 수분량, 즉 증발산량만큼 관수한 대조구, 50%만 관수한 건조구, 3일간 침지한 뒤 정상 관수한 침수구, 침수 후 50% 관수한 복합구의 네 가지입니다.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15초) 두 실험은 시기와 기간이 달라 침수 시작일을 DAT 0으로 맞추어 정렬했습니다. 로메인 상추는 처리 후 16일, 콩은 55일까지 관찰했습니다. LI-600은 초기에는 매일, 이후에는 콩은 1~2주 간격, 로메인은 이틀 간격으로 측정했고 LI-6800 광합성 곡선은 콩은 9월 중순, 로메인은 10월 중순에 측정했습니다. 결과는 침수 시작부터 종료 후 7일까지를 P1, 그 이후를 P2로 나누어 제시합니다.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앞서 제시한 네 단계에 맞추어 지표를 측정했습니다. 기공전도도와 명반응은 LI-600으로 반복 측정했고, 형광 지표는 측정 당시의 광도와 기온 차이를 선행 연구를 따라 공변량으로 보정했고, 기공전도도는 보정하지 않은 값을 사용했습니다. 광합성의 생화학적 능력은 LI-6800의 A-Ci와 광-광합성 곡선으로 평가했고, 생육과 수량은 파괴 조사로 측정했습니다.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결과를 보기 전에 처리가 실제로 어떻게 들어갔는지 확인했습니다. 대조구 대비 누적 관수량은 건조구가 로메인 43%, 콩 40%로 설계인 50%에 가까웠습니다. 침수구는 콩이 87%였지만 로메인은 화분이 과습한 상태가 유지되어 56%만 관수되었습니다. 복합구는 로메인 37%, 콩 44%였습니다. 다만 콩은 포트 밖으로 나간 뿌리가 있어 실제 수분 이용은 다를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40초) 첫 번째 단계인 기공입니다. 그래프와 표는 측정 광도와 기온을 보정한 값입니다. 침수 기간 동안 두 작물 모두 기공전도도가 감소했습니다. 로메인 상추는 침수 3일째 대조구의 10%까지 떨어졌다가 배수 직후 빠르게 회복했고, 콩은 침수 효과가 DAT 9까지 이어졌습니다. 건조는 두 작물 모두 후반에 기공전도도를 낮췄습니다.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50초) 각 처리구의 기공전도도를 같은 날 대조구에 대한 비율로 나타낸 그래프입니다. 건조와 복합은 회색으로 두고 침수 위주로 설명하겠습니다. 로메인 상추는 침수 3일째 10%까지 떨어졌지만 배수 후 2~3일, 즉 DAT 5~6에 대조구 수준으로 회복했습니다. 콩은 DAT 9에도 48%로 회복되지 않았고 DAT 17 이후에야 대조구에 가까워졌습니다.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 두 번째 단계인 명반응입니다. P2 구간은 광도 수준을 나누지 않고 통합하여 분석했습니다. 콩에서는 P1에서 침수구가 대조구보다 약간 낮았고, P2에서는 건조구의 Φ_PSII가 0.61로 대조구 0.70보다 낮았습니다. 로메인 상추는 P1과 P2 모두 처리 간 차이가 없었습니다. 따라서 로메인에서는 기공이 닫혔는데도 명반응은 영향을 받지 않았습니다.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 세 번째 단계인 광합성의 생화학적 능력입니다. 콩은 9월 측정에서 건조구와 복합구의 최대 카르복실화 속도와 최대 전자전달 속도가 낮았고, 로메인 상추도 복합구에서 가장 낮은 경향을 보였습니다. 오른쪽 광-광합성 곡선의 역삼각형은 광포화점으로, 콩은 건조구에서 높았고 로메인은 처리 간 차이가 없었습니다. 다만 처리별로 측정일이 달라 측정일과 처리 효과가 섞여 있고 곡선 수도 처리당 3~4개로 적어 확정적으로 말하기는 어렵습니다.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50초) 네 번째 단계인 생육과 수량입니다. 로메인 상추는 건조구 16%, 침수구 34%, 복합구 43%의 지상부 건물중 감소를 보였습니다. 콩은 종실 건조중, 종실 수, 꼬투리 수와 100립 생체중 모두 처리 간 유의한 차이가 없었습니다. 표에 대조구 대비 감소율을 같이 적었는데, 100립 생체중은 5, 9, 1% 감소로 작았고 종실 건조중은 복합구에서 18%까지 감소하는 경향이 있었습니다. 다만 검출 한계가 약 40~50%이고 뿌리가 포트 밖으로 나간 영향이 있어 근거는 약합니다.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지금까지의 결과를 작물, 처리, 단계별로 정리한 표입니다. 로메인 상추는 기공이 침수 직후 크게 닫혔다가 며칠 만에 회복했고 명반응에는 변화가 없었지만, 건물중은 침수 34%, 복합 43% 감소했습니다. 콩은 기공 회복이 느렸고 건조구에서 명반응이 낮았지만 수량은 100립 생체중 기준 1~9% 감소하는 데 그쳤습니다. 같은 수분 재해라도 작물에 따라 영향이 나타나는 단계가 다릅니다.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60초) 먼저 콩입니다. 앞서 본 결과를 논리 순서대로 다시 정리하겠습니다. 침수 직후 기공전도도가 먼저 감소했고 DAT 9에도 대조구의 48%로 회복이 느렸습니다. 뿌리의 저산소는 아쿠아포린 기능과 뿌리 수리전도도를 떨어뜨려 잎의 수분 상태를 악화시키고 기공을 닫는 것으로 보고됩니다. 두 번째로 명반응은 건조구에서 P2에 낮아졌고, 세 번째로 광합성의 생화학적 능력도 건조·복합구에서 낮은 경향이었습니다. 그러나 네 번째 수량은 100립 생체중이 1~9% 감소하는 경향이었으나 큰 차이가 없었습니다. 즉 콩은 생리 지표에서는 차이가 있었지만 수량으로는 이어지지 않았습니다. 개화기 처리 후 55일의 회복 기간 동안 보상이 있었을 가능성이 있으나 이는 가설입니다.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40초) 결론입니다. 첫째, 침수는 두 작물에서 기공을 먼저 제한했고 로메인은 배수 2~3일 만에, 콩은 DAT 9 이후에 회복했습니다. 둘째, 명반응과 광합성 능력은 로메인에서 거의 변하지 않았고 콩은 건조구에서 낮았습니다. 셋째, 로메인은 기공이 회복되었는데도 침수 기간의 손실이 유지되어 건물중이 감소했고, 콩은 수량이 감소하는 경향이었지만 큰 차이는 없었습니다. 따라서 수분 스트레스에 대한 반응은 작물마다 다릅니다. 감사합니다.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이상으로 발표를 마치겠습니다. 감사합니다. (질의응답 2분)</a:t>
            </a:r>
          </a:p>
        </p:txBody>
      </p:sp>
      <p:sp>
        <p:nvSpPr>
          <p:cNvPr id="4" name="슬라이드 번호 개체 틀 3"/>
          <p:cNvSpPr>
            <a:spLocks noGrp="1"/>
          </p:cNvSpPr>
          <p:nvPr>
            <p:ph type="sldNum" sz="quarter" idx="5"/>
          </p:nvPr>
        </p:nvSpPr>
        <p:spPr/>
        <p:txBody>
          <a:bodyPr/>
          <a:lstStyle/>
          <a:p>
            <a:fld id="{9334595A-DD79-43DB-8171-24D3E6EC3B6F}" type="slidenum">
              <a:rPr lang="ko-KR" altLang="en-US" smtClean="0"/>
              <a:t>19</a:t>
            </a:fld>
            <a:endParaRPr lang="ko-KR" altLang="en-US"/>
          </a:p>
        </p:txBody>
      </p:sp>
    </p:spTree>
    <p:extLst>
      <p:ext uri="{BB962C8B-B14F-4D97-AF65-F5344CB8AC3E}">
        <p14:creationId xmlns:p14="http://schemas.microsoft.com/office/powerpoint/2010/main" val="34955834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질의응답용 자료입니다. LI-600은 야외 광에서 측정하기 때문에 같은 날에도 처리마다 측정 광도와 기온이 달랐습니다. 그래서 측정일, 선형 PAR, 기온을 공변량으로 보정했고, 로메인 상추에서는 PAR만 보정한 결과와 기온까지 보정한 결과의 유의성 판정이 모든 지표에서 같았습니다.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20초) 두 실험은 계절이 달라 환경 조건이 크게 다릅니다. 콩의 처리 초기 평균 기온은 28.4도, 로메인 상추는 18.2도로 약 10도 낮았고 일적산광량도 로메인이 낮았습니다. 따라서 같은 50% 관수라도 증발산 부하가 달라 건조 스트레스 강도가 다르며, 두 작물의 차이는 병렬 사례로 해석하겠습니다.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60초) 다음은 로메인 상추입니다. 침수 3일째 기공전도도가 대조구의 10%까지 떨어졌지만 배수 후 2~3일 만에 대조구 수준으로 회복했습니다. 명반응은 처리 간 차이가 없었고, 광합성의 생화학적 능력은 복합구에서만 낮은 경향이었습니다. 그럼에도 지상부 건물중은 건조 16%, 침수 34%, 복합 43% 감소했습니다. 식물의 생장은 탄소 공급보다 조직 성장과 세포 팽압이 먼저 제한되는 경우가 많아, 침수 기간 동안 생긴 생장 손실이 회복 후에도 유지된 것으로 해석됩니다. 로메인은 영양생장기에 처리했고 수확물이 지상부라 이 손실이 곧 수량 손실입니다.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보충 자료 목록입니다.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광합성 광반응 곡선은 PPFD 8개 수준 모두에서 두 작물 모두 처리 간 유의한 차이가 없었습니다.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정상 상태 형광 Fs의 절대값은 로메인 상추에서 처리 간 차이가 없었고, 콩에서는 침수·건조 처리구가 대조구보다 높았습니다.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전자전달속도는 측정 광도에 비례하므로 광도를 보정한 평균으로 비교했고, 로메인 상추에서는 침수구가 약 6~8% 낮은 경향을 보였지만 측정일 반복 기준으로는 유의하지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흐린 날은 제외하지 않고 측정 광도와 기온으로 보정했으며, 맑음지수 0.5 미만인 날을 그림에 회색 띠로 표시했습니다.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발표에 인용한 참고문헌입니다.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072F4-2873-FA64-1793-1B59A9006EA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35C725AA-7A3D-1E01-136A-BA5E31AAFA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333D4592-A7B5-1B8E-7084-C40EC53F029F}"/>
              </a:ext>
            </a:extLst>
          </p:cNvPr>
          <p:cNvSpPr>
            <a:spLocks noGrp="1"/>
          </p:cNvSpPr>
          <p:nvPr>
            <p:ph type="dt" sz="half" idx="10"/>
          </p:nvPr>
        </p:nvSpPr>
        <p:spPr/>
        <p:txBody>
          <a:bodyPr/>
          <a:lstStyle/>
          <a:p>
            <a:fld id="{23B7423D-07B6-40C2-A3B1-DE84ED9F9226}"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5648F786-E4C0-F7C0-32CD-34E91CEF7B7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E5BECFB-E902-EC85-FEC1-E4AB644B19F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710430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50C47BA-E2E9-69D7-F6E0-02DC3B986C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4A97C6CC-8DA3-FD4D-87B4-868FAA53564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702C51B-FB8D-E7C1-6733-5EC2ECA1CBAC}"/>
              </a:ext>
            </a:extLst>
          </p:cNvPr>
          <p:cNvSpPr>
            <a:spLocks noGrp="1"/>
          </p:cNvSpPr>
          <p:nvPr>
            <p:ph type="dt" sz="half" idx="10"/>
          </p:nvPr>
        </p:nvSpPr>
        <p:spPr/>
        <p:txBody>
          <a:bodyPr/>
          <a:lstStyle/>
          <a:p>
            <a:fld id="{9D045C9A-BDB9-48A9-9066-A45ABF71364F}"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A98E2A7E-4A0C-FD9F-1ED0-7811F3E13D7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C65C28-2F83-31A3-5148-349E65E68D7E}"/>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43711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19FBAAD-2832-D2E6-9201-28DBD75909FF}"/>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A763489E-C9A3-CFD5-E26E-C4F2F9B407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DB9888C3-0185-B4BB-FE7C-08442FC7E7ED}"/>
              </a:ext>
            </a:extLst>
          </p:cNvPr>
          <p:cNvSpPr>
            <a:spLocks noGrp="1"/>
          </p:cNvSpPr>
          <p:nvPr>
            <p:ph type="dt" sz="half" idx="10"/>
          </p:nvPr>
        </p:nvSpPr>
        <p:spPr/>
        <p:txBody>
          <a:bodyPr/>
          <a:lstStyle/>
          <a:p>
            <a:fld id="{8DF124EE-B7C9-47F6-AC19-1FC82632F435}"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370C6D9C-5A42-E114-6EA7-D4D918C2ED4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AB716F0-7AC5-35C9-215B-75DBDDF026EB}"/>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16143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48125F4-6D71-334C-84D5-A1ACC974BC7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A27950-5013-95BA-AFC7-A8A163281073}"/>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08FFBEAB-A7F2-2965-ACDF-C78C8B76643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87428652-A26B-FC7B-C0DE-C56897C8B859}"/>
              </a:ext>
            </a:extLst>
          </p:cNvPr>
          <p:cNvSpPr>
            <a:spLocks noGrp="1"/>
          </p:cNvSpPr>
          <p:nvPr>
            <p:ph type="dt" sz="half" idx="10"/>
          </p:nvPr>
        </p:nvSpPr>
        <p:spPr/>
        <p:txBody>
          <a:bodyPr/>
          <a:lstStyle/>
          <a:p>
            <a:fld id="{36F2CE93-FFF2-48C5-876B-C29D334070AC}"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2854ECFA-AB42-AC1C-4117-09D00A9DBF2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1583EDE-A663-AC4C-23CA-8E1840BC53A0}"/>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823386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D429BE-5249-9056-163C-74FA9783FB1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B23B763C-22D9-C80F-CCDE-0707C6AC9A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DB574F77-2209-A440-F7AB-3060E96F4A81}"/>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D1B2901-98D7-6D8A-F650-669806F465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71FDDB69-9C13-7002-F81F-1C1EFD7B74AB}"/>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7A01F8E8-08B1-62D8-B503-4283DFACB61C}"/>
              </a:ext>
            </a:extLst>
          </p:cNvPr>
          <p:cNvSpPr>
            <a:spLocks noGrp="1"/>
          </p:cNvSpPr>
          <p:nvPr>
            <p:ph type="dt" sz="half" idx="10"/>
          </p:nvPr>
        </p:nvSpPr>
        <p:spPr/>
        <p:txBody>
          <a:bodyPr/>
          <a:lstStyle/>
          <a:p>
            <a:fld id="{F1614133-4840-4F08-BA32-D57CA94E303C}" type="datetime1">
              <a:rPr lang="ko-KR" altLang="en-US" smtClean="0"/>
              <a:t>2026-10-30</a:t>
            </a:fld>
            <a:endParaRPr lang="ko-KR" altLang="en-US"/>
          </a:p>
        </p:txBody>
      </p:sp>
      <p:sp>
        <p:nvSpPr>
          <p:cNvPr id="8" name="바닥글 개체 틀 7">
            <a:extLst>
              <a:ext uri="{FF2B5EF4-FFF2-40B4-BE49-F238E27FC236}">
                <a16:creationId xmlns:a16="http://schemas.microsoft.com/office/drawing/2014/main" id="{BF9B74BF-BE22-63C7-48D7-C09BC9875D32}"/>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E248C76-A4AD-26F0-801B-E0C228FD7DD7}"/>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59302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0262E28-2DBA-605A-BECA-20063F14785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738E0772-E95D-EF89-1540-90BAF501D61D}"/>
              </a:ext>
            </a:extLst>
          </p:cNvPr>
          <p:cNvSpPr>
            <a:spLocks noGrp="1"/>
          </p:cNvSpPr>
          <p:nvPr>
            <p:ph type="dt" sz="half" idx="10"/>
          </p:nvPr>
        </p:nvSpPr>
        <p:spPr/>
        <p:txBody>
          <a:bodyPr/>
          <a:lstStyle/>
          <a:p>
            <a:fld id="{2A691F09-6923-414B-A1FA-93B7B6B05A06}" type="datetime1">
              <a:rPr lang="ko-KR" altLang="en-US" smtClean="0"/>
              <a:t>2026-10-30</a:t>
            </a:fld>
            <a:endParaRPr lang="ko-KR" altLang="en-US"/>
          </a:p>
        </p:txBody>
      </p:sp>
      <p:sp>
        <p:nvSpPr>
          <p:cNvPr id="4" name="바닥글 개체 틀 3">
            <a:extLst>
              <a:ext uri="{FF2B5EF4-FFF2-40B4-BE49-F238E27FC236}">
                <a16:creationId xmlns:a16="http://schemas.microsoft.com/office/drawing/2014/main" id="{AA18BA7F-B0B9-9AEB-CFFF-E6BB717243A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D9C7F523-2E13-CF6D-4554-8D965EA1A8C2}"/>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987163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1FBE8BF9-A354-4992-F8C2-90BF87854A8F}"/>
              </a:ext>
            </a:extLst>
          </p:cNvPr>
          <p:cNvSpPr>
            <a:spLocks noGrp="1"/>
          </p:cNvSpPr>
          <p:nvPr>
            <p:ph type="dt" sz="half" idx="10"/>
          </p:nvPr>
        </p:nvSpPr>
        <p:spPr/>
        <p:txBody>
          <a:bodyPr/>
          <a:lstStyle/>
          <a:p>
            <a:fld id="{F061528D-0A4B-4725-BECB-0A804A98733B}" type="datetime1">
              <a:rPr lang="ko-KR" altLang="en-US" smtClean="0"/>
              <a:t>2026-10-30</a:t>
            </a:fld>
            <a:endParaRPr lang="ko-KR" altLang="en-US"/>
          </a:p>
        </p:txBody>
      </p:sp>
      <p:sp>
        <p:nvSpPr>
          <p:cNvPr id="3" name="바닥글 개체 틀 2">
            <a:extLst>
              <a:ext uri="{FF2B5EF4-FFF2-40B4-BE49-F238E27FC236}">
                <a16:creationId xmlns:a16="http://schemas.microsoft.com/office/drawing/2014/main" id="{300C3AA4-8FE3-F53A-0F4F-13CDD6F77C2D}"/>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79ECA705-4832-583C-C769-782684C72C2A}"/>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971228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334CB40-F222-33F8-2930-F8C8F170FB72}"/>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F683CDC-0D06-E8FF-5CB6-AD0E41A04E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345D3C8C-90E8-FE3F-941F-50AF76CE21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84B14FF-82AA-1021-E783-8543CC459F1B}"/>
              </a:ext>
            </a:extLst>
          </p:cNvPr>
          <p:cNvSpPr>
            <a:spLocks noGrp="1"/>
          </p:cNvSpPr>
          <p:nvPr>
            <p:ph type="dt" sz="half" idx="10"/>
          </p:nvPr>
        </p:nvSpPr>
        <p:spPr/>
        <p:txBody>
          <a:bodyPr/>
          <a:lstStyle/>
          <a:p>
            <a:fld id="{D9BA0492-4290-4283-8041-C72F2A3FD572}"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D71E3FCC-569A-6CE6-D4EF-75FFC816590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A45CEF7-23C1-61E3-0CB0-E857E9E8238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225281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8FDFA6-91D5-3744-B2AE-8AD520F1E02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E68EC9AF-67D0-C116-F5BD-AFF40AB496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E4B042C-7642-FF7C-B5B2-E432270BB5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518D809-019A-150B-309F-5E84A5321D96}"/>
              </a:ext>
            </a:extLst>
          </p:cNvPr>
          <p:cNvSpPr>
            <a:spLocks noGrp="1"/>
          </p:cNvSpPr>
          <p:nvPr>
            <p:ph type="dt" sz="half" idx="10"/>
          </p:nvPr>
        </p:nvSpPr>
        <p:spPr/>
        <p:txBody>
          <a:bodyPr/>
          <a:lstStyle/>
          <a:p>
            <a:fld id="{3933010E-CE60-4360-8079-7BED3621D0DA}"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138F648C-2B44-F25B-BA65-0F0EA93209C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C610761-27DA-5D7F-A72E-03EC8DD59948}"/>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025844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FABC10-DCAE-3EA5-9B62-E982FA39E5A7}"/>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0DB3CE13-292C-C63A-86DA-B62C68FA0395}"/>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A5F8A6-B9F4-6134-3C3F-3B42A7DB1090}"/>
              </a:ext>
            </a:extLst>
          </p:cNvPr>
          <p:cNvSpPr>
            <a:spLocks noGrp="1"/>
          </p:cNvSpPr>
          <p:nvPr>
            <p:ph type="dt" sz="half" idx="10"/>
          </p:nvPr>
        </p:nvSpPr>
        <p:spPr/>
        <p:txBody>
          <a:bodyPr/>
          <a:lstStyle/>
          <a:p>
            <a:fld id="{F199F8C8-AD83-442B-B306-C2E74F989BB3}"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8749D320-0180-2E7B-CB63-6406A988DB7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32DEF9D-4DBA-4D73-41B0-D03A47769FBC}"/>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506709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91EA5634-B559-9843-AFE5-E5585D0EF46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41F5A501-6259-5E2A-4E7B-7823242DCDE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C7567E4-4880-C0C0-8932-6BF750727C4E}"/>
              </a:ext>
            </a:extLst>
          </p:cNvPr>
          <p:cNvSpPr>
            <a:spLocks noGrp="1"/>
          </p:cNvSpPr>
          <p:nvPr>
            <p:ph type="dt" sz="half" idx="10"/>
          </p:nvPr>
        </p:nvSpPr>
        <p:spPr/>
        <p:txBody>
          <a:bodyPr/>
          <a:lstStyle/>
          <a:p>
            <a:fld id="{26090C41-AFF9-488A-8C02-EEA924D341C6}"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6148955D-85B0-2FB5-B2D9-EFD9AE0F0D0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2F28678-A0B9-C385-2F24-B9CE6337BEF3}"/>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20203379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B28C9D72-72B9-1829-B00B-B4FFF7CBCD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DC67C0B4-28E8-F572-9FD7-8D8C462D97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9ED7AAD-7768-C084-52A6-0F737C0AE9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19DF18-70C5-4E96-87E8-EA7D036EB1FB}"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13DBE269-CA62-A3AD-C7CF-3E5EB58183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98E5383-3E5C-18D7-E7DF-D4D2293271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603762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32.png"/><Relationship Id="rId5" Type="http://schemas.openxmlformats.org/officeDocument/2006/relationships/notesSlide" Target="../notesSlides/notesSlide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image" Target="../media/image33.png"/><Relationship Id="rId5" Type="http://schemas.openxmlformats.org/officeDocument/2006/relationships/notesSlide" Target="../notesSlides/notesSlide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34.png"/><Relationship Id="rId5" Type="http://schemas.openxmlformats.org/officeDocument/2006/relationships/notesSlide" Target="../notesSlides/notesSlide3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1.png"/><Relationship Id="rId4"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2CE28E-68F2-8698-8327-B6D337810C4C}"/>
              </a:ext>
            </a:extLst>
          </p:cNvPr>
          <p:cNvSpPr>
            <a:spLocks noGrp="1"/>
          </p:cNvSpPr>
          <p:nvPr>
            <p:ph type="ctrTitle"/>
          </p:nvPr>
        </p:nvSpPr>
        <p:spPr>
          <a:xfrm>
            <a:off x="1480457" y="1367249"/>
            <a:ext cx="9231086" cy="2475807"/>
          </a:xfrm>
        </p:spPr>
        <p:txBody>
          <a:bodyPr>
            <a:normAutofit/>
          </a:bodyPr>
          <a:lstStyle/>
          <a:p>
            <a:r>
              <a:rPr lang="ko-KR" altLang="en-US" sz="4000" b="1" dirty="0"/>
              <a:t>침수 및 건조 복합재해에 대한 콩과</a:t>
            </a:r>
            <a:br>
              <a:rPr lang="en-US" altLang="ko-KR" sz="4000" b="1" dirty="0"/>
            </a:br>
            <a:r>
              <a:rPr lang="ko-KR" altLang="en-US" sz="4000" b="1" dirty="0"/>
              <a:t>로메인 상추의 생육 및 생리 반응 비교</a:t>
            </a:r>
            <a:br>
              <a:rPr lang="en-US" altLang="ko-KR" sz="4000" b="1" dirty="0"/>
            </a:br>
            <a:br>
              <a:rPr lang="en-US" altLang="ko-KR" sz="1600" b="1" dirty="0"/>
            </a:br>
            <a:r>
              <a:rPr lang="en-US" altLang="ko-KR" sz="1600" b="1" dirty="0">
                <a:latin typeface="Times New Roman" panose="02020603050405020304" pitchFamily="18" charset="0"/>
                <a:cs typeface="Times New Roman" panose="02020603050405020304" pitchFamily="18" charset="0"/>
              </a:rPr>
              <a:t>Comparison of Growth and Physiological Responses of Soybean and Romaine Lettuce to Flooding, Drought, and Combined Stress</a:t>
            </a:r>
            <a:endParaRPr lang="ko-KR" altLang="en-US" sz="2700" b="1" dirty="0">
              <a:latin typeface="Times New Roman" panose="02020603050405020304" pitchFamily="18" charset="0"/>
              <a:cs typeface="Times New Roman" panose="02020603050405020304" pitchFamily="18" charset="0"/>
            </a:endParaRPr>
          </a:p>
        </p:txBody>
      </p:sp>
      <p:sp>
        <p:nvSpPr>
          <p:cNvPr id="3" name="부제목 2">
            <a:extLst>
              <a:ext uri="{FF2B5EF4-FFF2-40B4-BE49-F238E27FC236}">
                <a16:creationId xmlns:a16="http://schemas.microsoft.com/office/drawing/2014/main" id="{1CE9F5BD-D28B-5F96-2E69-88270E8FFD15}"/>
              </a:ext>
            </a:extLst>
          </p:cNvPr>
          <p:cNvSpPr>
            <a:spLocks noGrp="1"/>
          </p:cNvSpPr>
          <p:nvPr>
            <p:ph type="subTitle" idx="1"/>
          </p:nvPr>
        </p:nvSpPr>
        <p:spPr>
          <a:xfrm>
            <a:off x="1524000" y="4255580"/>
            <a:ext cx="9144000" cy="2344850"/>
          </a:xfrm>
        </p:spPr>
        <p:txBody>
          <a:bodyPr>
            <a:normAutofit/>
          </a:bodyPr>
          <a:lstStyle/>
          <a:p>
            <a:pPr>
              <a:lnSpc>
                <a:spcPct val="80000"/>
              </a:lnSpc>
            </a:pPr>
            <a:endParaRPr lang="en-US" altLang="ko-KR" sz="2000" dirty="0"/>
          </a:p>
          <a:p>
            <a:pPr>
              <a:lnSpc>
                <a:spcPct val="80000"/>
              </a:lnSpc>
            </a:pPr>
            <a:endParaRPr lang="en-US" altLang="ko-KR" sz="1800" dirty="0"/>
          </a:p>
          <a:p>
            <a:endParaRPr lang="en-US" altLang="ko-KR" sz="1800" dirty="0"/>
          </a:p>
          <a:p>
            <a:endParaRPr lang="ko-KR" altLang="en-US" sz="1800" dirty="0"/>
          </a:p>
        </p:txBody>
      </p:sp>
      <p:pic>
        <p:nvPicPr>
          <p:cNvPr id="1026" name="Picture 2" descr="폰트, 그래픽, 로고, 텍스트이(가) 표시된 사진&#10;&#10;자동 생성된 설명">
            <a:extLst>
              <a:ext uri="{FF2B5EF4-FFF2-40B4-BE49-F238E27FC236}">
                <a16:creationId xmlns:a16="http://schemas.microsoft.com/office/drawing/2014/main" id="{1F5D21A4-5CE8-CA11-3AC9-D4DA2CEEAE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1381" y="5788448"/>
            <a:ext cx="2213666" cy="7200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직선 연결선 8">
            <a:extLst>
              <a:ext uri="{FF2B5EF4-FFF2-40B4-BE49-F238E27FC236}">
                <a16:creationId xmlns:a16="http://schemas.microsoft.com/office/drawing/2014/main" id="{98A2E225-EF8F-F661-C3B4-5EE926C3C211}"/>
              </a:ext>
            </a:extLst>
          </p:cNvPr>
          <p:cNvCxnSpPr>
            <a:cxnSpLocks/>
          </p:cNvCxnSpPr>
          <p:nvPr/>
        </p:nvCxnSpPr>
        <p:spPr>
          <a:xfrm>
            <a:off x="783772" y="89376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11" name="직선 연결선 10">
            <a:extLst>
              <a:ext uri="{FF2B5EF4-FFF2-40B4-BE49-F238E27FC236}">
                <a16:creationId xmlns:a16="http://schemas.microsoft.com/office/drawing/2014/main" id="{F25E478C-FA31-1F67-05B3-34C5962519CF}"/>
              </a:ext>
            </a:extLst>
          </p:cNvPr>
          <p:cNvCxnSpPr>
            <a:cxnSpLocks/>
          </p:cNvCxnSpPr>
          <p:nvPr/>
        </p:nvCxnSpPr>
        <p:spPr>
          <a:xfrm>
            <a:off x="1480457" y="4014412"/>
            <a:ext cx="9231086" cy="0"/>
          </a:xfrm>
          <a:prstGeom prst="line">
            <a:avLst/>
          </a:prstGeom>
          <a:ln w="28575"/>
        </p:spPr>
        <p:style>
          <a:lnRef idx="2">
            <a:schemeClr val="accent1"/>
          </a:lnRef>
          <a:fillRef idx="0">
            <a:schemeClr val="accent1"/>
          </a:fillRef>
          <a:effectRef idx="1">
            <a:schemeClr val="accent1"/>
          </a:effectRef>
          <a:fontRef idx="minor">
            <a:schemeClr val="tx1"/>
          </a:fontRef>
        </p:style>
      </p:cxnSp>
      <p:pic>
        <p:nvPicPr>
          <p:cNvPr id="4" name="Picture 2" descr="사)한국원예학회">
            <a:extLst>
              <a:ext uri="{FF2B5EF4-FFF2-40B4-BE49-F238E27FC236}">
                <a16:creationId xmlns:a16="http://schemas.microsoft.com/office/drawing/2014/main" id="{4869A5E8-6B1D-FCB7-158B-34C00508FE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772" y="88083"/>
            <a:ext cx="317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전북대학교 로고 브랜드 시그니처 마크 상징물 다운로드 LOGO UI MI CI AI BI JPG">
            <a:extLst>
              <a:ext uri="{FF2B5EF4-FFF2-40B4-BE49-F238E27FC236}">
                <a16:creationId xmlns:a16="http://schemas.microsoft.com/office/drawing/2014/main" id="{6B76D25D-FBEA-3892-9D2A-4667E65B44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9410" y="5788448"/>
            <a:ext cx="2936590" cy="720000"/>
          </a:xfrm>
          <a:prstGeom prst="rect">
            <a:avLst/>
          </a:prstGeom>
          <a:noFill/>
          <a:extLst>
            <a:ext uri="{909E8E84-426E-40DD-AFC4-6F175D3DCCD1}">
              <a14:hiddenFill xmlns:a14="http://schemas.microsoft.com/office/drawing/2010/main">
                <a:solidFill>
                  <a:srgbClr val="FFFFFF"/>
                </a:solidFill>
              </a14:hiddenFill>
            </a:ext>
          </a:extLst>
        </p:spPr>
      </p:pic>
      <p:sp>
        <p:nvSpPr>
          <p:cNvPr id="5" name="부제목 2">
            <a:extLst>
              <a:ext uri="{FF2B5EF4-FFF2-40B4-BE49-F238E27FC236}">
                <a16:creationId xmlns:a16="http://schemas.microsoft.com/office/drawing/2014/main" id="{510EA85C-DDC4-B272-8D57-37B6606FB19D}"/>
              </a:ext>
            </a:extLst>
          </p:cNvPr>
          <p:cNvSpPr txBox="1">
            <a:spLocks/>
          </p:cNvSpPr>
          <p:nvPr/>
        </p:nvSpPr>
        <p:spPr>
          <a:xfrm>
            <a:off x="1676400" y="4407980"/>
            <a:ext cx="9144000" cy="2344850"/>
          </a:xfrm>
          <a:prstGeom prst="rect">
            <a:avLst/>
          </a:prstGeom>
        </p:spPr>
        <p:txBody>
          <a:bodyPr vert="horz" lIns="91440" tIns="45720" rIns="91440" bIns="45720" rtlCol="0">
            <a:norm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80000"/>
              </a:lnSpc>
            </a:pPr>
            <a:r>
              <a:rPr lang="ko-KR" altLang="en-US" sz="2000" dirty="0"/>
              <a:t>전북대학교</a:t>
            </a:r>
            <a:r>
              <a:rPr lang="en-US" altLang="ko-KR" sz="2000" dirty="0"/>
              <a:t> </a:t>
            </a:r>
            <a:r>
              <a:rPr lang="ko-KR" altLang="en-US" sz="2000" dirty="0" err="1"/>
              <a:t>스마트농업AI융합학과</a:t>
            </a:r>
            <a:endParaRPr lang="en-US" altLang="ko-KR" sz="2000" dirty="0"/>
          </a:p>
          <a:p>
            <a:pPr>
              <a:lnSpc>
                <a:spcPct val="80000"/>
              </a:lnSpc>
            </a:pPr>
            <a:r>
              <a:rPr lang="ko-KR" altLang="en-US" sz="1800" dirty="0"/>
              <a:t>석사과정 윤정민</a:t>
            </a:r>
            <a:endParaRPr lang="en-US" altLang="ko-KR" sz="1800" dirty="0"/>
          </a:p>
          <a:p>
            <a:endParaRPr lang="en-US" altLang="ko-KR" sz="800" dirty="0"/>
          </a:p>
          <a:p>
            <a:r>
              <a:rPr lang="en-US" altLang="ko-KR" sz="1800" dirty="0"/>
              <a:t>2026. 11. 6.</a:t>
            </a:r>
            <a:endParaRPr lang="ko-KR" altLang="en-US" sz="1800" dirty="0"/>
          </a:p>
        </p:txBody>
      </p:sp>
    </p:spTree>
    <p:extLst>
      <p:ext uri="{BB962C8B-B14F-4D97-AF65-F5344CB8AC3E}">
        <p14:creationId xmlns:p14="http://schemas.microsoft.com/office/powerpoint/2010/main" val="239685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배경: 한 생육기 안의 침수–건조 연속 재해</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수분 재해 유형에 따라 </a:t>
            </a:r>
            <a:r>
              <a:rPr sz="1600" b="1">
                <a:solidFill>
                  <a:srgbClr val="E97132"/>
                </a:solidFill>
              </a:rPr>
              <a:t>생리 반응이 어느 단계에서 제한되는지</a:t>
            </a:r>
            <a:r>
              <a:rPr sz="1600" b="0">
                <a:solidFill>
                  <a:srgbClr val="E97132"/>
                </a:solidFill>
              </a:rPr>
              <a:t> 비교한 연구는 충분하지 않음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Swain et al. (2018) Nat. Clim. Change 8:427–433; Zandalinas &amp; Mittler (2022) New Phytol. 234:1161–1167.</a:t>
            </a:r>
          </a:p>
        </p:txBody>
      </p:sp>
      <p:sp>
        <p:nvSpPr>
          <p:cNvPr id="27" name="Flow 1"/>
          <p:cNvSpPr/>
          <p:nvPr/>
        </p:nvSpPr>
        <p:spPr>
          <a:xfrm>
            <a:off x="841248" y="1325880"/>
            <a:ext cx="3154680" cy="868680"/>
          </a:xfrm>
          <a:prstGeom prst="roundRect">
            <a:avLst>
              <a:gd name="adj" fmla="val 20000"/>
            </a:avLst>
          </a:prstGeom>
          <a:solidFill>
            <a:srgbClr val="DCEBF7"/>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0B76A0"/>
                </a:solidFill>
              </a:rPr>
              <a:t>집중호우</a:t>
            </a:r>
          </a:p>
          <a:p>
            <a:pPr marL="0" indent="0" algn="ctr">
              <a:spcBef>
                <a:spcPts val="0"/>
              </a:spcBef>
              <a:buNone/>
            </a:pPr>
            <a:r>
              <a:rPr lang="ko-KR" altLang="en-US" sz="1250" b="0" dirty="0">
                <a:solidFill>
                  <a:srgbClr val="000000"/>
                </a:solidFill>
              </a:rPr>
              <a:t>→ 침수 (근권 산소 결핍)</a:t>
            </a:r>
          </a:p>
        </p:txBody>
      </p:sp>
      <p:sp>
        <p:nvSpPr>
          <p:cNvPr id="28" name="Arrow 1"/>
          <p:cNvSpPr/>
          <p:nvPr/>
        </p:nvSpPr>
        <p:spPr>
          <a:xfrm>
            <a:off x="4069080" y="1618488"/>
            <a:ext cx="411480" cy="274320"/>
          </a:xfrm>
          <a:prstGeom prst="rightArrow">
            <a:avLst/>
          </a:prstGeom>
          <a:solidFill>
            <a:srgbClr val="BFBFBF"/>
          </a:solidFill>
          <a:ln>
            <a:noFill/>
          </a:ln>
        </p:spPr>
        <p:txBody>
          <a:bodyPr wrap="square" lIns="73152" tIns="36576" rIns="73152" bIns="36576" rtlCol="0" anchor="ctr">
            <a:noAutofit/>
          </a:bodyPr>
          <a:lstStyle/>
          <a:p>
            <a:endParaRPr lang="ko-KR"/>
          </a:p>
        </p:txBody>
      </p:sp>
      <p:sp>
        <p:nvSpPr>
          <p:cNvPr id="29" name="Flow 2"/>
          <p:cNvSpPr/>
          <p:nvPr/>
        </p:nvSpPr>
        <p:spPr>
          <a:xfrm>
            <a:off x="4553712" y="1325880"/>
            <a:ext cx="3154680" cy="868680"/>
          </a:xfrm>
          <a:prstGeom prst="roundRect">
            <a:avLst>
              <a:gd name="adj" fmla="val 20000"/>
            </a:avLst>
          </a:prstGeom>
          <a:solidFill>
            <a:srgbClr val="F8E1D3"/>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AF5524"/>
                </a:solidFill>
              </a:rPr>
              <a:t>폭염·가뭄</a:t>
            </a:r>
          </a:p>
          <a:p>
            <a:pPr marL="0" indent="0" algn="ctr">
              <a:spcBef>
                <a:spcPts val="0"/>
              </a:spcBef>
              <a:buNone/>
            </a:pPr>
            <a:r>
              <a:rPr lang="ko-KR" altLang="en-US" sz="1250" b="0" dirty="0">
                <a:solidFill>
                  <a:srgbClr val="000000"/>
                </a:solidFill>
              </a:rPr>
              <a:t>→ 건조 (토양 수분 부족)</a:t>
            </a:r>
          </a:p>
        </p:txBody>
      </p:sp>
      <p:sp>
        <p:nvSpPr>
          <p:cNvPr id="30" name="Arrow 2"/>
          <p:cNvSpPr/>
          <p:nvPr/>
        </p:nvSpPr>
        <p:spPr>
          <a:xfrm>
            <a:off x="7781544" y="1618488"/>
            <a:ext cx="411480" cy="274320"/>
          </a:xfrm>
          <a:prstGeom prst="rightArrow">
            <a:avLst/>
          </a:prstGeom>
          <a:solidFill>
            <a:srgbClr val="BFBFBF"/>
          </a:solidFill>
          <a:ln>
            <a:noFill/>
          </a:ln>
        </p:spPr>
        <p:txBody>
          <a:bodyPr wrap="square" lIns="73152" tIns="36576" rIns="73152" bIns="36576" rtlCol="0" anchor="ctr">
            <a:noAutofit/>
          </a:bodyPr>
          <a:lstStyle/>
          <a:p>
            <a:endParaRPr lang="ko-KR"/>
          </a:p>
        </p:txBody>
      </p:sp>
      <p:sp>
        <p:nvSpPr>
          <p:cNvPr id="31" name="Flow 3"/>
          <p:cNvSpPr/>
          <p:nvPr/>
        </p:nvSpPr>
        <p:spPr>
          <a:xfrm>
            <a:off x="8266176" y="1325880"/>
            <a:ext cx="3081528" cy="868680"/>
          </a:xfrm>
          <a:prstGeom prst="roundRect">
            <a:avLst>
              <a:gd name="adj" fmla="val 20000"/>
            </a:avLst>
          </a:prstGeom>
          <a:solidFill>
            <a:srgbClr val="E3E9F1"/>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156082"/>
                </a:solidFill>
              </a:rPr>
              <a:t>짧은 간격으로 반복</a:t>
            </a:r>
          </a:p>
          <a:p>
            <a:pPr marL="0" indent="0" algn="ctr">
              <a:spcBef>
                <a:spcPts val="0"/>
              </a:spcBef>
              <a:buNone/>
            </a:pPr>
            <a:r>
              <a:rPr lang="ko-KR" altLang="en-US" sz="1250" b="0" dirty="0">
                <a:solidFill>
                  <a:srgbClr val="000000"/>
                </a:solidFill>
              </a:rPr>
              <a:t>→ 한 생육기 내 복합재해</a:t>
            </a:r>
          </a:p>
        </p:txBody>
      </p:sp>
      <p:sp>
        <p:nvSpPr>
          <p:cNvPr id="32" name="Card 침수 (Waterlogging)"/>
          <p:cNvSpPr/>
          <p:nvPr/>
        </p:nvSpPr>
        <p:spPr>
          <a:xfrm>
            <a:off x="84124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3" name="Header 침수 (Waterlogging)"/>
          <p:cNvSpPr/>
          <p:nvPr/>
        </p:nvSpPr>
        <p:spPr>
          <a:xfrm>
            <a:off x="1024128" y="2578608"/>
            <a:ext cx="2926080" cy="420624"/>
          </a:xfrm>
          <a:prstGeom prst="roundRect">
            <a:avLst>
              <a:gd name="adj" fmla="val 25000"/>
            </a:avLst>
          </a:prstGeom>
          <a:solidFill>
            <a:srgbClr val="0B76A0"/>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침수 (Waterlogging)</a:t>
            </a:r>
          </a:p>
        </p:txBody>
      </p:sp>
      <p:sp>
        <p:nvSpPr>
          <p:cNvPr id="34" name="Text 침수 (Waterlogging)"/>
          <p:cNvSpPr txBox="1"/>
          <p:nvPr/>
        </p:nvSpPr>
        <p:spPr>
          <a:xfrm>
            <a:off x="102412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근권 산소 결핍 → 뿌리 호흡·양수분 흡수 저해</a:t>
            </a:r>
          </a:p>
          <a:p>
            <a:pPr marL="201168" indent="-201168" algn="l">
              <a:spcBef>
                <a:spcPts val="1000"/>
              </a:spcBef>
              <a:buFont typeface="Arial"/>
              <a:buChar char="•"/>
            </a:pPr>
            <a:r>
              <a:rPr lang="ko-KR" altLang="en-US" sz="1400" b="0" dirty="0">
                <a:solidFill>
                  <a:srgbClr val="000000"/>
                </a:solidFill>
              </a:rPr>
              <a:t>기공 닫힘 → 엽 내 CO</a:t>
            </a:r>
            <a:r>
              <a:rPr lang="ko-KR" altLang="en-US" sz="1400" b="0" baseline="-25000" dirty="0">
                <a:solidFill>
                  <a:srgbClr val="000000"/>
                </a:solidFill>
              </a:rPr>
              <a:t>2</a:t>
            </a:r>
            <a:r>
              <a:rPr lang="ko-KR" altLang="en-US" sz="1400" b="0" dirty="0">
                <a:solidFill>
                  <a:srgbClr val="000000"/>
                </a:solidFill>
              </a:rPr>
              <a:t> 공급 감소</a:t>
            </a:r>
          </a:p>
          <a:p>
            <a:pPr marL="201168" indent="-201168" algn="l">
              <a:spcBef>
                <a:spcPts val="1000"/>
              </a:spcBef>
              <a:buFont typeface="Arial"/>
              <a:buChar char="•"/>
            </a:pPr>
            <a:r>
              <a:rPr lang="ko-KR" altLang="en-US" sz="1400" b="0" dirty="0">
                <a:solidFill>
                  <a:srgbClr val="000000"/>
                </a:solidFill>
              </a:rPr>
              <a:t>배수 후에도 회복에 시간 소요</a:t>
            </a:r>
          </a:p>
        </p:txBody>
      </p:sp>
      <p:sp>
        <p:nvSpPr>
          <p:cNvPr id="35" name="Card 건조 (Drought)"/>
          <p:cNvSpPr/>
          <p:nvPr/>
        </p:nvSpPr>
        <p:spPr>
          <a:xfrm>
            <a:off x="445312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6" name="Header 건조 (Drought)"/>
          <p:cNvSpPr/>
          <p:nvPr/>
        </p:nvSpPr>
        <p:spPr>
          <a:xfrm>
            <a:off x="4636008" y="2578608"/>
            <a:ext cx="2926080" cy="420624"/>
          </a:xfrm>
          <a:prstGeom prst="roundRect">
            <a:avLst>
              <a:gd name="adj" fmla="val 25000"/>
            </a:avLst>
          </a:prstGeom>
          <a:solidFill>
            <a:srgbClr val="AF5524"/>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건조 (Drought)</a:t>
            </a:r>
          </a:p>
        </p:txBody>
      </p:sp>
      <p:sp>
        <p:nvSpPr>
          <p:cNvPr id="37" name="Text 건조 (Drought)"/>
          <p:cNvSpPr txBox="1"/>
          <p:nvPr/>
        </p:nvSpPr>
        <p:spPr>
          <a:xfrm>
            <a:off x="463600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토양 수분 감소 → 엽 수분 상태 저하</a:t>
            </a:r>
          </a:p>
          <a:p>
            <a:pPr marL="201168" indent="-201168" algn="l">
              <a:spcBef>
                <a:spcPts val="1000"/>
              </a:spcBef>
              <a:buFont typeface="Arial"/>
              <a:buChar char="•"/>
            </a:pPr>
            <a:r>
              <a:rPr lang="ko-KR" altLang="en-US" sz="1400" b="0" dirty="0">
                <a:solidFill>
                  <a:srgbClr val="000000"/>
                </a:solidFill>
              </a:rPr>
              <a:t>기공 닫힘 → 증산·광합성 감소</a:t>
            </a:r>
          </a:p>
          <a:p>
            <a:pPr marL="201168" indent="-201168" algn="l">
              <a:spcBef>
                <a:spcPts val="1000"/>
              </a:spcBef>
              <a:buFont typeface="Arial"/>
              <a:buChar char="•"/>
            </a:pPr>
            <a:r>
              <a:rPr lang="ko-KR" altLang="en-US" sz="1400" b="0" dirty="0">
                <a:solidFill>
                  <a:srgbClr val="000000"/>
                </a:solidFill>
              </a:rPr>
              <a:t>지속 시 광화학 효율 저하 가능</a:t>
            </a:r>
          </a:p>
        </p:txBody>
      </p:sp>
      <p:sp>
        <p:nvSpPr>
          <p:cNvPr id="38" name="Card 복합 (침수 → 건조)"/>
          <p:cNvSpPr/>
          <p:nvPr/>
        </p:nvSpPr>
        <p:spPr>
          <a:xfrm>
            <a:off x="806500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9" name="Header 복합 (침수 → 건조)"/>
          <p:cNvSpPr/>
          <p:nvPr/>
        </p:nvSpPr>
        <p:spPr>
          <a:xfrm>
            <a:off x="8247888" y="2578608"/>
            <a:ext cx="2926080"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복합 (침수 → 건조)</a:t>
            </a:r>
          </a:p>
        </p:txBody>
      </p:sp>
      <p:sp>
        <p:nvSpPr>
          <p:cNvPr id="40" name="Text 복합 (침수 → 건조)"/>
          <p:cNvSpPr txBox="1"/>
          <p:nvPr/>
        </p:nvSpPr>
        <p:spPr>
          <a:xfrm>
            <a:off x="824788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침수 피해 회복 전에 건조에 노출</a:t>
            </a:r>
          </a:p>
          <a:p>
            <a:pPr marL="201168" indent="-201168" algn="l">
              <a:spcBef>
                <a:spcPts val="1000"/>
              </a:spcBef>
              <a:buFont typeface="Arial"/>
              <a:buChar char="•"/>
            </a:pPr>
            <a:r>
              <a:rPr lang="ko-KR" altLang="en-US" sz="1400" b="0" dirty="0">
                <a:solidFill>
                  <a:srgbClr val="000000"/>
                </a:solidFill>
              </a:rPr>
              <a:t>피해 누적 또는 선행 스트레스에 의한 순화 가능</a:t>
            </a:r>
          </a:p>
          <a:p>
            <a:pPr marL="201168" indent="-201168" algn="l">
              <a:spcBef>
                <a:spcPts val="1000"/>
              </a:spcBef>
              <a:buFont typeface="Arial"/>
              <a:buChar char="•"/>
            </a:pPr>
            <a:r>
              <a:rPr lang="ko-KR" altLang="en-US" sz="1400" b="0" dirty="0">
                <a:solidFill>
                  <a:srgbClr val="000000"/>
                </a:solidFill>
              </a:rPr>
              <a:t>작물·생육 단계별 반응 비교 정보 부족</a:t>
            </a:r>
          </a:p>
        </p:txBody>
      </p:sp>
      <p:sp>
        <p:nvSpPr>
          <p:cNvPr id="58"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5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6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500"/>
                                        <p:tgtEl>
                                          <p:spTgt spid="3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목적: 수분 재해별 생리적 제한 단계 규명</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3</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핵심 질문: 같은 침수·건조 재해에 콩과 로메인 상추의 생리·생육 반응은 어떻게 다른가?</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본 발표의 결과는 ①→④ 순서로 제시함.</a:t>
            </a:r>
          </a:p>
        </p:txBody>
      </p:sp>
      <p:sp>
        <p:nvSpPr>
          <p:cNvPr id="27" name="Step 1"/>
          <p:cNvSpPr/>
          <p:nvPr/>
        </p:nvSpPr>
        <p:spPr>
          <a:xfrm>
            <a:off x="841248" y="1417320"/>
            <a:ext cx="1993392" cy="749808"/>
          </a:xfrm>
          <a:prstGeom prst="roundRect">
            <a:avLst>
              <a:gd name="adj" fmla="val 14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① 기공</a:t>
            </a:r>
          </a:p>
          <a:p>
            <a:pPr marL="0" indent="0" algn="ctr">
              <a:spcBef>
                <a:spcPts val="0"/>
              </a:spcBef>
              <a:buNone/>
            </a:pPr>
            <a:r>
              <a:rPr lang="ko-KR" altLang="en-US" sz="1100" b="0" dirty="0">
                <a:solidFill>
                  <a:srgbClr val="000000"/>
                </a:solidFill>
              </a:rPr>
              <a:t>g</a:t>
            </a:r>
            <a:r>
              <a:rPr lang="ko-KR" altLang="en-US" sz="1100" b="0" dirty="0" baseline="-25000">
                <a:solidFill>
                  <a:srgbClr val="000000"/>
                </a:solidFill>
              </a:rPr>
              <a:t>sw</a:t>
            </a:r>
          </a:p>
        </p:txBody>
      </p:sp>
      <p:sp>
        <p:nvSpPr>
          <p:cNvPr id="28" name="Step 2"/>
          <p:cNvSpPr/>
          <p:nvPr/>
        </p:nvSpPr>
        <p:spPr>
          <a:xfrm>
            <a:off x="3474720" y="2130552"/>
            <a:ext cx="1993392" cy="749808"/>
          </a:xfrm>
          <a:prstGeom prst="roundRect">
            <a:avLst>
              <a:gd name="adj" fmla="val 14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② 명반응</a:t>
            </a:r>
          </a:p>
          <a:p>
            <a:pPr marL="0" indent="0" algn="ctr">
              <a:spcBef>
                <a:spcPts val="0"/>
              </a:spcBef>
              <a:buNone/>
            </a:pPr>
            <a:r>
              <a:rPr lang="ko-KR" altLang="en-US" sz="1100" b="0" dirty="0">
                <a:solidFill>
                  <a:srgbClr val="000000"/>
                </a:solidFill>
              </a:rPr>
              <a:t>Φ</a:t>
            </a:r>
            <a:r>
              <a:rPr lang="ko-KR" altLang="en-US" sz="1100" b="0" dirty="0" baseline="-25000">
                <a:solidFill>
                  <a:srgbClr val="000000"/>
                </a:solidFill>
              </a:rPr>
              <a:t>PSII</a:t>
            </a:r>
          </a:p>
        </p:txBody>
      </p:sp>
      <p:sp>
        <p:nvSpPr>
          <p:cNvPr id="30" name="Step 4"/>
          <p:cNvSpPr/>
          <p:nvPr/>
        </p:nvSpPr>
        <p:spPr>
          <a:xfrm>
            <a:off x="6108192" y="2843784"/>
            <a:ext cx="1993392" cy="749808"/>
          </a:xfrm>
          <a:prstGeom prst="roundRect">
            <a:avLst>
              <a:gd name="adj" fmla="val 14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③ 생화학적 능력</a:t>
            </a:r>
          </a:p>
          <a:p>
            <a:pPr marL="0" indent="0" algn="ctr">
              <a:spcBef>
                <a:spcPts val="0"/>
              </a:spcBef>
              <a:buNone/>
            </a:pPr>
            <a:r>
              <a:rPr lang="ko-KR" altLang="en-US" sz="1100" b="0" dirty="0">
                <a:solidFill>
                  <a:srgbClr val="FFFFFF"/>
                </a:solidFill>
              </a:rPr>
              <a:t>V</a:t>
            </a:r>
            <a:r>
              <a:rPr lang="ko-KR" altLang="en-US" sz="1100" b="0" dirty="0" baseline="-25000">
                <a:solidFill>
                  <a:srgbClr val="FFFFFF"/>
                </a:solidFill>
              </a:rPr>
              <a:t>cmax</a:t>
            </a:r>
            <a:r>
              <a:rPr lang="ko-KR" altLang="en-US" sz="1100" b="0" dirty="0">
                <a:solidFill>
                  <a:srgbClr val="FFFFFF"/>
                </a:solidFill>
              </a:rPr>
              <a:t> · J</a:t>
            </a:r>
            <a:r>
              <a:rPr lang="ko-KR" altLang="en-US" sz="1100" b="0" dirty="0" baseline="-25000">
                <a:solidFill>
                  <a:srgbClr val="FFFFFF"/>
                </a:solidFill>
              </a:rPr>
              <a:t>max</a:t>
            </a:r>
            <a:r>
              <a:rPr lang="ko-KR" altLang="en-US" sz="1100" b="0" dirty="0">
                <a:solidFill>
                  <a:srgbClr val="FFFFFF"/>
                </a:solidFill>
              </a:rPr>
              <a:t> · LSP</a:t>
            </a:r>
          </a:p>
        </p:txBody>
      </p:sp>
      <p:sp>
        <p:nvSpPr>
          <p:cNvPr id="31" name="Step 5"/>
          <p:cNvSpPr/>
          <p:nvPr/>
        </p:nvSpPr>
        <p:spPr>
          <a:xfrm>
            <a:off x="8741664" y="3557015"/>
            <a:ext cx="1993392" cy="749808"/>
          </a:xfrm>
          <a:prstGeom prst="roundRect">
            <a:avLst>
              <a:gd name="adj" fmla="val 14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④ 생육·수량</a:t>
            </a:r>
          </a:p>
          <a:p>
            <a:pPr marL="0" indent="0" algn="ctr">
              <a:spcBef>
                <a:spcPts val="0"/>
              </a:spcBef>
              <a:buNone/>
            </a:pPr>
            <a:r>
              <a:rPr lang="ko-KR" altLang="en-US" sz="1100" b="0" dirty="0">
                <a:solidFill>
                  <a:srgbClr val="FFFFFF"/>
                </a:solidFill>
              </a:rPr>
              <a:t>수량 · 지상부 건물중</a:t>
            </a:r>
          </a:p>
        </p:txBody>
      </p:sp>
      <p:sp>
        <p:nvSpPr>
          <p:cNvPr id="33" name="Objective"/>
          <p:cNvSpPr/>
          <p:nvPr/>
        </p:nvSpPr>
        <p:spPr>
          <a:xfrm>
            <a:off x="841248" y="4498848"/>
            <a:ext cx="10515600" cy="1115568"/>
          </a:xfrm>
          <a:prstGeom prst="roundRect">
            <a:avLst>
              <a:gd name="adj" fmla="val 10000"/>
            </a:avLst>
          </a:prstGeom>
          <a:solidFill>
            <a:srgbClr val="F2F6F9"/>
          </a:solidFill>
          <a:ln w="15875">
            <a:solidFill>
              <a:srgbClr val="156082"/>
            </a:solidFill>
          </a:ln>
        </p:spPr>
        <p:txBody>
          <a:bodyPr wrap="square" lIns="228600" tIns="73152" rIns="228600" bIns="73152" rtlCol="0" anchor="ctr">
            <a:noAutofit/>
          </a:bodyPr>
          <a:lstStyle/>
          <a:p>
            <a:pPr marL="0" indent="0" algn="l">
              <a:spcBef>
                <a:spcPts val="0"/>
              </a:spcBef>
              <a:buNone/>
            </a:pPr>
            <a:r>
              <a:rPr lang="ko-KR" altLang="en-US" sz="1400" b="1" dirty="0">
                <a:solidFill>
                  <a:srgbClr val="000000"/>
                </a:solidFill>
              </a:rPr>
              <a:t>연구 목적</a:t>
            </a:r>
            <a:r>
              <a:rPr lang="ko-KR" altLang="en-US" sz="1400" dirty="0">
                <a:solidFill>
                  <a:srgbClr val="000000"/>
                </a:solidFill>
              </a:rPr>
              <a:t>  콩과 로메인 상추에 침수·건조·복합 처리를 적용하여</a:t>
            </a:r>
          </a:p>
          <a:p>
            <a:pPr marL="0" indent="0" algn="l">
              <a:spcBef>
                <a:spcPts val="400"/>
              </a:spcBef>
              <a:buNone/>
            </a:pPr>
            <a:r>
              <a:rPr lang="ko-KR" altLang="en-US" sz="1400" dirty="0">
                <a:solidFill>
                  <a:srgbClr val="000000"/>
                </a:solidFill>
              </a:rPr>
              <a:t>잎 생리 반응이 </a:t>
            </a:r>
            <a:r>
              <a:rPr lang="ko-KR" altLang="en-US" sz="1400" b="1" dirty="0">
                <a:solidFill>
                  <a:srgbClr val="000000"/>
                </a:solidFill>
              </a:rPr>
              <a:t>어느 단계까지 확대되는지</a:t>
            </a:r>
            <a:r>
              <a:rPr lang="ko-KR" altLang="en-US" sz="1400" dirty="0">
                <a:solidFill>
                  <a:srgbClr val="000000"/>
                </a:solidFill>
              </a:rPr>
              <a:t>, 기공이 </a:t>
            </a:r>
            <a:r>
              <a:rPr lang="ko-KR" altLang="en-US" sz="1400" b="1" dirty="0">
                <a:solidFill>
                  <a:srgbClr val="000000"/>
                </a:solidFill>
              </a:rPr>
              <a:t>얼마나 빨리 회복되는지</a:t>
            </a:r>
            <a:r>
              <a:rPr lang="ko-KR" altLang="en-US" sz="1400" dirty="0">
                <a:solidFill>
                  <a:srgbClr val="000000"/>
                </a:solidFill>
              </a:rPr>
              <a:t>, </a:t>
            </a:r>
            <a:r>
              <a:rPr lang="ko-KR" altLang="en-US" sz="1400" b="1" dirty="0">
                <a:solidFill>
                  <a:srgbClr val="000000"/>
                </a:solidFill>
              </a:rPr>
              <a:t>생육·수량 감소로 이어지는지</a:t>
            </a:r>
            <a:r>
              <a:rPr lang="ko-KR" altLang="en-US" sz="1400" dirty="0">
                <a:solidFill>
                  <a:srgbClr val="000000"/>
                </a:solidFill>
              </a:rPr>
              <a:t> 비교</a:t>
            </a:r>
          </a:p>
        </p:txBody>
      </p:sp>
      <p:sp>
        <p:nvSpPr>
          <p:cNvPr id="41"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42"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3"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4"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5"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30" grpId="0" animBg="1"/>
      <p:bldP spid="31" grpId="0" animBg="1"/>
      <p:bldP spid="3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공시 작물 및 수분 처리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4</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1">
                <a:solidFill>
                  <a:srgbClr val="E97132"/>
                </a:solidFill>
              </a:rPr>
              <a:t>2작물 × 4처리</a:t>
            </a:r>
            <a:r>
              <a:rPr sz="1600" b="0">
                <a:solidFill>
                  <a:srgbClr val="E97132"/>
                </a:solidFill>
              </a:rPr>
              <a:t>: 대조구 · 건조 · 침수 · 복합(침수 후 건조), 침수 기간은 두 작물 모두 3일</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복합구는 침수 종료 후 침수구 관수량의 50%를 관수. 침수는 포트를 물통에 옮겨 3일간 잠기게 함. 콩은 처리 전부터 일부 뿌리가 포트 하단 배수구로 빠져나가 지면에 닿음.</a:t>
            </a:r>
          </a:p>
        </p:txBody>
      </p:sp>
      <p:sp>
        <p:nvSpPr>
          <p:cNvPr id="27" name="Card 상추"/>
          <p:cNvSpPr/>
          <p:nvPr/>
        </p:nvSpPr>
        <p:spPr>
          <a:xfrm>
            <a:off x="841248" y="1508760"/>
            <a:ext cx="4892040" cy="15544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28" name="Header 상추"/>
          <p:cNvSpPr/>
          <p:nvPr/>
        </p:nvSpPr>
        <p:spPr>
          <a:xfrm>
            <a:off x="1024128" y="1298448"/>
            <a:ext cx="4526280" cy="420624"/>
          </a:xfrm>
          <a:prstGeom prst="roundRect">
            <a:avLst>
              <a:gd name="adj" fmla="val 25000"/>
            </a:avLst>
          </a:prstGeom>
          <a:solidFill>
            <a:srgbClr val="2E6B3F"/>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로메인 상추</a:t>
            </a:r>
          </a:p>
        </p:txBody>
      </p:sp>
      <p:sp>
        <p:nvSpPr>
          <p:cNvPr id="29" name="Text 상추"/>
          <p:cNvSpPr txBox="1"/>
          <p:nvPr/>
        </p:nvSpPr>
        <p:spPr>
          <a:xfrm>
            <a:off x="1024128" y="1892808"/>
            <a:ext cx="4572000" cy="105156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00" b="0" i="1" dirty="0">
                <a:solidFill>
                  <a:srgbClr val="000000"/>
                </a:solidFill>
              </a:rPr>
              <a:t>Lactuca sativa</a:t>
            </a:r>
            <a:r>
              <a:rPr lang="ko-KR" altLang="en-US" sz="1300" b="0" i="0" dirty="0">
                <a:solidFill>
                  <a:srgbClr val="000000"/>
                </a:solidFill>
              </a:rPr>
              <a:t> L. cv. Claudius</a:t>
            </a:r>
          </a:p>
          <a:p>
            <a:pPr marL="201168" indent="-201168" algn="l">
              <a:spcBef>
                <a:spcPts val="600"/>
              </a:spcBef>
              <a:buFont typeface="Arial"/>
              <a:buChar char="•"/>
            </a:pPr>
            <a:r>
              <a:rPr lang="ko-KR" altLang="en-US" sz="1300" b="0" dirty="0">
                <a:solidFill>
                  <a:srgbClr val="000000"/>
                </a:solidFill>
              </a:rPr>
              <a:t>처리 개시: 정식 3주 후 (영양생장기)</a:t>
            </a:r>
          </a:p>
          <a:p>
            <a:pPr marL="201168" indent="-201168" algn="l">
              <a:spcBef>
                <a:spcPts val="600"/>
              </a:spcBef>
              <a:buFont typeface="Arial"/>
              <a:buChar char="•"/>
            </a:pPr>
            <a:r>
              <a:rPr lang="ko-KR" altLang="en-US" sz="1300" b="0" dirty="0">
                <a:solidFill>
                  <a:srgbClr val="000000"/>
                </a:solidFill>
              </a:rPr>
              <a:t>관찰: 처리 후 16일 (DAT 0~16)</a:t>
            </a:r>
          </a:p>
        </p:txBody>
      </p:sp>
      <p:sp>
        <p:nvSpPr>
          <p:cNvPr id="30" name="Card 콩"/>
          <p:cNvSpPr/>
          <p:nvPr/>
        </p:nvSpPr>
        <p:spPr>
          <a:xfrm>
            <a:off x="841248" y="3611880"/>
            <a:ext cx="4892040" cy="15544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1" name="Header 콩"/>
          <p:cNvSpPr/>
          <p:nvPr/>
        </p:nvSpPr>
        <p:spPr>
          <a:xfrm>
            <a:off x="1024128" y="3401568"/>
            <a:ext cx="4526280" cy="420624"/>
          </a:xfrm>
          <a:prstGeom prst="roundRect">
            <a:avLst>
              <a:gd name="adj" fmla="val 25000"/>
            </a:avLst>
          </a:prstGeom>
          <a:solidFill>
            <a:srgbClr val="6B4226"/>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콩</a:t>
            </a:r>
          </a:p>
        </p:txBody>
      </p:sp>
      <p:sp>
        <p:nvSpPr>
          <p:cNvPr id="32" name="Text 콩"/>
          <p:cNvSpPr txBox="1"/>
          <p:nvPr/>
        </p:nvSpPr>
        <p:spPr>
          <a:xfrm>
            <a:off x="1024128" y="3995928"/>
            <a:ext cx="4572000" cy="105156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00" b="0" i="1" dirty="0">
                <a:solidFill>
                  <a:srgbClr val="000000"/>
                </a:solidFill>
              </a:rPr>
              <a:t>Glycine max</a:t>
            </a:r>
            <a:r>
              <a:rPr lang="ko-KR" altLang="en-US" sz="1300" b="0" i="0" dirty="0">
                <a:solidFill>
                  <a:srgbClr val="000000"/>
                </a:solidFill>
              </a:rPr>
              <a:t> (L.) Merr. cv. Daewonkong</a:t>
            </a:r>
          </a:p>
          <a:p>
            <a:pPr marL="201168" indent="-201168" algn="l">
              <a:spcBef>
                <a:spcPts val="600"/>
              </a:spcBef>
              <a:buFont typeface="Arial"/>
              <a:buChar char="•"/>
            </a:pPr>
            <a:r>
              <a:rPr lang="ko-KR" altLang="en-US" sz="1300" b="0" dirty="0">
                <a:solidFill>
                  <a:srgbClr val="000000"/>
                </a:solidFill>
              </a:rPr>
              <a:t>처리 개시: 개화기</a:t>
            </a:r>
          </a:p>
          <a:p>
            <a:pPr marL="201168" indent="-201168" algn="l">
              <a:spcBef>
                <a:spcPts val="600"/>
              </a:spcBef>
              <a:buFont typeface="Arial"/>
              <a:buChar char="•"/>
            </a:pPr>
            <a:r>
              <a:rPr lang="ko-KR" altLang="en-US" sz="1300" b="0" dirty="0">
                <a:solidFill>
                  <a:srgbClr val="000000"/>
                </a:solidFill>
              </a:rPr>
              <a:t>관찰: 처리 후 55일 (DAT 0~55)</a:t>
            </a:r>
          </a:p>
        </p:txBody>
      </p:sp>
      <p:sp>
        <p:nvSpPr>
          <p:cNvPr id="33" name="Pot label"/>
          <p:cNvSpPr txBox="1"/>
          <p:nvPr/>
        </p:nvSpPr>
        <p:spPr>
          <a:xfrm>
            <a:off x="608076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3A3A3A"/>
                </a:solidFill>
              </a:rPr>
              <a:t>대조구</a:t>
            </a:r>
          </a:p>
        </p:txBody>
      </p:sp>
      <p:sp>
        <p:nvSpPr>
          <p:cNvPr id="34" name="Leaf"/>
          <p:cNvSpPr/>
          <p:nvPr/>
        </p:nvSpPr>
        <p:spPr>
          <a:xfrm>
            <a:off x="637336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35" name="Stem"/>
          <p:cNvSpPr/>
          <p:nvPr/>
        </p:nvSpPr>
        <p:spPr>
          <a:xfrm>
            <a:off x="666597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36" name="Soil"/>
          <p:cNvSpPr/>
          <p:nvPr/>
        </p:nvSpPr>
        <p:spPr>
          <a:xfrm flipV="1">
            <a:off x="6217920" y="2816352"/>
            <a:ext cx="960120" cy="1234440"/>
          </a:xfrm>
          <a:prstGeom prst="trapezoid">
            <a:avLst>
              <a:gd name="adj" fmla="val 12000"/>
            </a:avLst>
          </a:prstGeom>
          <a:solidFill>
            <a:srgbClr val="7B4A1E"/>
          </a:solidFill>
          <a:ln>
            <a:noFill/>
          </a:ln>
        </p:spPr>
        <p:txBody>
          <a:bodyPr wrap="square" lIns="73152" tIns="36576" rIns="73152" bIns="36576" rtlCol="0" anchor="ctr">
            <a:noAutofit/>
          </a:bodyPr>
          <a:lstStyle/>
          <a:p>
            <a:endParaRPr lang="ko-KR"/>
          </a:p>
        </p:txBody>
      </p:sp>
      <p:sp>
        <p:nvSpPr>
          <p:cNvPr id="37" name="Pot"/>
          <p:cNvSpPr/>
          <p:nvPr/>
        </p:nvSpPr>
        <p:spPr>
          <a:xfrm flipV="1">
            <a:off x="615391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38" name="Pot desc"/>
          <p:cNvSpPr txBox="1"/>
          <p:nvPr/>
        </p:nvSpPr>
        <p:spPr>
          <a:xfrm>
            <a:off x="603504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ET 100% 관수</a:t>
            </a:r>
          </a:p>
        </p:txBody>
      </p:sp>
      <p:sp>
        <p:nvSpPr>
          <p:cNvPr id="39" name="Pot label"/>
          <p:cNvSpPr txBox="1"/>
          <p:nvPr/>
        </p:nvSpPr>
        <p:spPr>
          <a:xfrm>
            <a:off x="740664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8A7F70"/>
                </a:solidFill>
              </a:rPr>
              <a:t>건조</a:t>
            </a:r>
          </a:p>
        </p:txBody>
      </p:sp>
      <p:sp>
        <p:nvSpPr>
          <p:cNvPr id="40" name="Leaf"/>
          <p:cNvSpPr/>
          <p:nvPr/>
        </p:nvSpPr>
        <p:spPr>
          <a:xfrm>
            <a:off x="769924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41" name="Stem"/>
          <p:cNvSpPr/>
          <p:nvPr/>
        </p:nvSpPr>
        <p:spPr>
          <a:xfrm>
            <a:off x="799185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42" name="Soil"/>
          <p:cNvSpPr/>
          <p:nvPr/>
        </p:nvSpPr>
        <p:spPr>
          <a:xfrm flipV="1">
            <a:off x="7543800" y="2816352"/>
            <a:ext cx="960120" cy="1234440"/>
          </a:xfrm>
          <a:prstGeom prst="trapezoid">
            <a:avLst>
              <a:gd name="adj" fmla="val 12000"/>
            </a:avLst>
          </a:prstGeom>
          <a:solidFill>
            <a:srgbClr val="C9A26B"/>
          </a:solidFill>
          <a:ln>
            <a:noFill/>
          </a:ln>
        </p:spPr>
        <p:txBody>
          <a:bodyPr wrap="square" lIns="73152" tIns="36576" rIns="73152" bIns="36576" rtlCol="0" anchor="ctr">
            <a:noAutofit/>
          </a:bodyPr>
          <a:lstStyle/>
          <a:p>
            <a:endParaRPr lang="ko-KR"/>
          </a:p>
        </p:txBody>
      </p:sp>
      <p:sp>
        <p:nvSpPr>
          <p:cNvPr id="43" name="Pot"/>
          <p:cNvSpPr/>
          <p:nvPr/>
        </p:nvSpPr>
        <p:spPr>
          <a:xfrm flipV="1">
            <a:off x="747979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44" name="Pot desc"/>
          <p:cNvSpPr txBox="1"/>
          <p:nvPr/>
        </p:nvSpPr>
        <p:spPr>
          <a:xfrm>
            <a:off x="736092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ET 50% 관수</a:t>
            </a:r>
          </a:p>
        </p:txBody>
      </p:sp>
      <p:sp>
        <p:nvSpPr>
          <p:cNvPr id="45" name="Pot label"/>
          <p:cNvSpPr txBox="1"/>
          <p:nvPr/>
        </p:nvSpPr>
        <p:spPr>
          <a:xfrm>
            <a:off x="873252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1F4E79"/>
                </a:solidFill>
              </a:rPr>
              <a:t>침수</a:t>
            </a:r>
          </a:p>
        </p:txBody>
      </p:sp>
      <p:sp>
        <p:nvSpPr>
          <p:cNvPr id="46" name="Leaf"/>
          <p:cNvSpPr/>
          <p:nvPr/>
        </p:nvSpPr>
        <p:spPr>
          <a:xfrm>
            <a:off x="902512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47" name="Stem"/>
          <p:cNvSpPr/>
          <p:nvPr/>
        </p:nvSpPr>
        <p:spPr>
          <a:xfrm>
            <a:off x="931773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48" name="Water"/>
          <p:cNvSpPr/>
          <p:nvPr/>
        </p:nvSpPr>
        <p:spPr>
          <a:xfrm>
            <a:off x="8805672" y="2487168"/>
            <a:ext cx="1088136" cy="347472"/>
          </a:xfrm>
          <a:prstGeom prst="rect">
            <a:avLst/>
          </a:prstGeom>
          <a:solidFill>
            <a:srgbClr val="6BAED6">
              <a:alpha val="75000"/>
            </a:srgbClr>
          </a:solidFill>
          <a:ln>
            <a:noFill/>
          </a:ln>
        </p:spPr>
        <p:txBody>
          <a:bodyPr wrap="square" lIns="73152" tIns="36576" rIns="73152" bIns="36576" rtlCol="0" anchor="ctr">
            <a:noAutofit/>
          </a:bodyPr>
          <a:lstStyle/>
          <a:p>
            <a:endParaRPr lang="ko-KR"/>
          </a:p>
        </p:txBody>
      </p:sp>
      <p:sp>
        <p:nvSpPr>
          <p:cNvPr id="49" name="Soil"/>
          <p:cNvSpPr/>
          <p:nvPr/>
        </p:nvSpPr>
        <p:spPr>
          <a:xfrm flipV="1">
            <a:off x="8869680" y="2816352"/>
            <a:ext cx="960120" cy="1234440"/>
          </a:xfrm>
          <a:prstGeom prst="trapezoid">
            <a:avLst>
              <a:gd name="adj" fmla="val 12000"/>
            </a:avLst>
          </a:prstGeom>
          <a:solidFill>
            <a:srgbClr val="7B4A1E"/>
          </a:solidFill>
          <a:ln>
            <a:noFill/>
          </a:ln>
        </p:spPr>
        <p:txBody>
          <a:bodyPr wrap="square" lIns="73152" tIns="36576" rIns="73152" bIns="36576" rtlCol="0" anchor="ctr">
            <a:noAutofit/>
          </a:bodyPr>
          <a:lstStyle/>
          <a:p>
            <a:endParaRPr lang="ko-KR"/>
          </a:p>
        </p:txBody>
      </p:sp>
      <p:sp>
        <p:nvSpPr>
          <p:cNvPr id="50" name="Pot"/>
          <p:cNvSpPr/>
          <p:nvPr/>
        </p:nvSpPr>
        <p:spPr>
          <a:xfrm flipV="1">
            <a:off x="880567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51" name="Pot desc"/>
          <p:cNvSpPr txBox="1"/>
          <p:nvPr/>
        </p:nvSpPr>
        <p:spPr>
          <a:xfrm>
            <a:off x="868680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3일 침지 →</a:t>
            </a:r>
          </a:p>
          <a:p>
            <a:pPr marL="0" indent="0" algn="ctr">
              <a:spcBef>
                <a:spcPts val="0"/>
              </a:spcBef>
              <a:buNone/>
            </a:pPr>
            <a:r>
              <a:rPr lang="ko-KR" altLang="en-US" sz="1150" b="0" dirty="0">
                <a:solidFill>
                  <a:srgbClr val="000000"/>
                </a:solidFill>
              </a:rPr>
              <a:t>ET 100%</a:t>
            </a:r>
          </a:p>
        </p:txBody>
      </p:sp>
      <p:sp>
        <p:nvSpPr>
          <p:cNvPr id="52" name="Pot label"/>
          <p:cNvSpPr txBox="1"/>
          <p:nvPr/>
        </p:nvSpPr>
        <p:spPr>
          <a:xfrm>
            <a:off x="1005840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6F93B8"/>
                </a:solidFill>
              </a:rPr>
              <a:t>복합</a:t>
            </a:r>
          </a:p>
        </p:txBody>
      </p:sp>
      <p:sp>
        <p:nvSpPr>
          <p:cNvPr id="53" name="Leaf"/>
          <p:cNvSpPr/>
          <p:nvPr/>
        </p:nvSpPr>
        <p:spPr>
          <a:xfrm>
            <a:off x="1035100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54" name="Stem"/>
          <p:cNvSpPr/>
          <p:nvPr/>
        </p:nvSpPr>
        <p:spPr>
          <a:xfrm>
            <a:off x="1064361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55" name="Water"/>
          <p:cNvSpPr/>
          <p:nvPr/>
        </p:nvSpPr>
        <p:spPr>
          <a:xfrm>
            <a:off x="10131552" y="2487168"/>
            <a:ext cx="1088136" cy="347472"/>
          </a:xfrm>
          <a:prstGeom prst="rect">
            <a:avLst/>
          </a:prstGeom>
          <a:solidFill>
            <a:srgbClr val="6BAED6">
              <a:alpha val="75000"/>
            </a:srgbClr>
          </a:solidFill>
          <a:ln>
            <a:noFill/>
          </a:ln>
        </p:spPr>
        <p:txBody>
          <a:bodyPr wrap="square" lIns="73152" tIns="36576" rIns="73152" bIns="36576" rtlCol="0" anchor="ctr">
            <a:noAutofit/>
          </a:bodyPr>
          <a:lstStyle/>
          <a:p>
            <a:endParaRPr lang="ko-KR"/>
          </a:p>
        </p:txBody>
      </p:sp>
      <p:sp>
        <p:nvSpPr>
          <p:cNvPr id="56" name="Soil"/>
          <p:cNvSpPr/>
          <p:nvPr/>
        </p:nvSpPr>
        <p:spPr>
          <a:xfrm flipV="1">
            <a:off x="10195560" y="2816352"/>
            <a:ext cx="960120" cy="1234440"/>
          </a:xfrm>
          <a:prstGeom prst="trapezoid">
            <a:avLst>
              <a:gd name="adj" fmla="val 12000"/>
            </a:avLst>
          </a:prstGeom>
          <a:solidFill>
            <a:srgbClr val="C9A26B"/>
          </a:solidFill>
          <a:ln>
            <a:noFill/>
          </a:ln>
        </p:spPr>
        <p:txBody>
          <a:bodyPr wrap="square" lIns="73152" tIns="36576" rIns="73152" bIns="36576" rtlCol="0" anchor="ctr">
            <a:noAutofit/>
          </a:bodyPr>
          <a:lstStyle/>
          <a:p>
            <a:endParaRPr lang="ko-KR"/>
          </a:p>
        </p:txBody>
      </p:sp>
      <p:sp>
        <p:nvSpPr>
          <p:cNvPr id="57" name="Pot"/>
          <p:cNvSpPr/>
          <p:nvPr/>
        </p:nvSpPr>
        <p:spPr>
          <a:xfrm flipV="1">
            <a:off x="1013155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58" name="Pot desc"/>
          <p:cNvSpPr txBox="1"/>
          <p:nvPr/>
        </p:nvSpPr>
        <p:spPr>
          <a:xfrm>
            <a:off x="1001268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3일 침지 →</a:t>
            </a:r>
          </a:p>
          <a:p>
            <a:pPr marL="0" indent="0" algn="ctr">
              <a:spcBef>
                <a:spcPts val="0"/>
              </a:spcBef>
              <a:buNone/>
            </a:pPr>
            <a:r>
              <a:rPr lang="ko-KR" altLang="en-US" sz="1150" b="0" dirty="0">
                <a:solidFill>
                  <a:srgbClr val="000000"/>
                </a:solidFill>
              </a:rPr>
              <a:t>ET 50%</a:t>
            </a:r>
          </a:p>
        </p:txBody>
      </p:sp>
      <p:sp>
        <p:nvSpPr>
          <p:cNvPr id="59" name="Site"/>
          <p:cNvSpPr txBox="1"/>
          <p:nvPr/>
        </p:nvSpPr>
        <p:spPr>
          <a:xfrm>
            <a:off x="6035040" y="4983480"/>
            <a:ext cx="5303520" cy="457200"/>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재배: 전북대학교 부속농장  ·  ET: 전날 손실된 수분량 (증발산량)</a:t>
            </a:r>
          </a:p>
        </p:txBody>
      </p:sp>
      <p:sp>
        <p:nvSpPr>
          <p:cNvPr id="117"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18"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119"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20"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21"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500"/>
                                        <p:tgtEl>
                                          <p:spTgt spid="3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500"/>
                                        <p:tgtEl>
                                          <p:spTgt spid="3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500"/>
                                        <p:tgtEl>
                                          <p:spTgt spid="3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500"/>
                                        <p:tgtEl>
                                          <p:spTgt spid="3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500"/>
                                        <p:tgtEl>
                                          <p:spTgt spid="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500"/>
                                        <p:tgtEl>
                                          <p:spTgt spid="4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500"/>
                                        <p:tgtEl>
                                          <p:spTgt spid="4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fade">
                                      <p:cBhvr>
                                        <p:cTn id="59" dur="500"/>
                                        <p:tgtEl>
                                          <p:spTgt spid="4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500"/>
                                        <p:tgtEl>
                                          <p:spTgt spid="4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500"/>
                                        <p:tgtEl>
                                          <p:spTgt spid="4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6"/>
                                        </p:tgtEl>
                                        <p:attrNameLst>
                                          <p:attrName>style.visibility</p:attrName>
                                        </p:attrNameLst>
                                      </p:cBhvr>
                                      <p:to>
                                        <p:strVal val="visible"/>
                                      </p:to>
                                    </p:set>
                                    <p:animEffect transition="in" filter="fade">
                                      <p:cBhvr>
                                        <p:cTn id="70" dur="500"/>
                                        <p:tgtEl>
                                          <p:spTgt spid="4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visible"/>
                                      </p:to>
                                    </p:set>
                                    <p:animEffect transition="in" filter="fade">
                                      <p:cBhvr>
                                        <p:cTn id="73" dur="500"/>
                                        <p:tgtEl>
                                          <p:spTgt spid="4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8"/>
                                        </p:tgtEl>
                                        <p:attrNameLst>
                                          <p:attrName>style.visibility</p:attrName>
                                        </p:attrNameLst>
                                      </p:cBhvr>
                                      <p:to>
                                        <p:strVal val="visible"/>
                                      </p:to>
                                    </p:set>
                                    <p:animEffect transition="in" filter="fade">
                                      <p:cBhvr>
                                        <p:cTn id="76" dur="500"/>
                                        <p:tgtEl>
                                          <p:spTgt spid="4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fade">
                                      <p:cBhvr>
                                        <p:cTn id="79" dur="500"/>
                                        <p:tgtEl>
                                          <p:spTgt spid="4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0"/>
                                        </p:tgtEl>
                                        <p:attrNameLst>
                                          <p:attrName>style.visibility</p:attrName>
                                        </p:attrNameLst>
                                      </p:cBhvr>
                                      <p:to>
                                        <p:strVal val="visible"/>
                                      </p:to>
                                    </p:set>
                                    <p:animEffect transition="in" filter="fade">
                                      <p:cBhvr>
                                        <p:cTn id="82" dur="500"/>
                                        <p:tgtEl>
                                          <p:spTgt spid="5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1"/>
                                        </p:tgtEl>
                                        <p:attrNameLst>
                                          <p:attrName>style.visibility</p:attrName>
                                        </p:attrNameLst>
                                      </p:cBhvr>
                                      <p:to>
                                        <p:strVal val="visible"/>
                                      </p:to>
                                    </p:set>
                                    <p:animEffect transition="in" filter="fade">
                                      <p:cBhvr>
                                        <p:cTn id="85" dur="500"/>
                                        <p:tgtEl>
                                          <p:spTgt spid="51"/>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52"/>
                                        </p:tgtEl>
                                        <p:attrNameLst>
                                          <p:attrName>style.visibility</p:attrName>
                                        </p:attrNameLst>
                                      </p:cBhvr>
                                      <p:to>
                                        <p:strVal val="visible"/>
                                      </p:to>
                                    </p:set>
                                    <p:animEffect transition="in" filter="fade">
                                      <p:cBhvr>
                                        <p:cTn id="90" dur="500"/>
                                        <p:tgtEl>
                                          <p:spTgt spid="5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3"/>
                                        </p:tgtEl>
                                        <p:attrNameLst>
                                          <p:attrName>style.visibility</p:attrName>
                                        </p:attrNameLst>
                                      </p:cBhvr>
                                      <p:to>
                                        <p:strVal val="visible"/>
                                      </p:to>
                                    </p:set>
                                    <p:animEffect transition="in" filter="fade">
                                      <p:cBhvr>
                                        <p:cTn id="93" dur="500"/>
                                        <p:tgtEl>
                                          <p:spTgt spid="5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54"/>
                                        </p:tgtEl>
                                        <p:attrNameLst>
                                          <p:attrName>style.visibility</p:attrName>
                                        </p:attrNameLst>
                                      </p:cBhvr>
                                      <p:to>
                                        <p:strVal val="visible"/>
                                      </p:to>
                                    </p:set>
                                    <p:animEffect transition="in" filter="fade">
                                      <p:cBhvr>
                                        <p:cTn id="96" dur="500"/>
                                        <p:tgtEl>
                                          <p:spTgt spid="5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5"/>
                                        </p:tgtEl>
                                        <p:attrNameLst>
                                          <p:attrName>style.visibility</p:attrName>
                                        </p:attrNameLst>
                                      </p:cBhvr>
                                      <p:to>
                                        <p:strVal val="visible"/>
                                      </p:to>
                                    </p:set>
                                    <p:animEffect transition="in" filter="fade">
                                      <p:cBhvr>
                                        <p:cTn id="99" dur="500"/>
                                        <p:tgtEl>
                                          <p:spTgt spid="5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6"/>
                                        </p:tgtEl>
                                        <p:attrNameLst>
                                          <p:attrName>style.visibility</p:attrName>
                                        </p:attrNameLst>
                                      </p:cBhvr>
                                      <p:to>
                                        <p:strVal val="visible"/>
                                      </p:to>
                                    </p:set>
                                    <p:animEffect transition="in" filter="fade">
                                      <p:cBhvr>
                                        <p:cTn id="102" dur="500"/>
                                        <p:tgtEl>
                                          <p:spTgt spid="5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7"/>
                                        </p:tgtEl>
                                        <p:attrNameLst>
                                          <p:attrName>style.visibility</p:attrName>
                                        </p:attrNameLst>
                                      </p:cBhvr>
                                      <p:to>
                                        <p:strVal val="visible"/>
                                      </p:to>
                                    </p:set>
                                    <p:animEffect transition="in" filter="fade">
                                      <p:cBhvr>
                                        <p:cTn id="105" dur="500"/>
                                        <p:tgtEl>
                                          <p:spTgt spid="5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8"/>
                                        </p:tgtEl>
                                        <p:attrNameLst>
                                          <p:attrName>style.visibility</p:attrName>
                                        </p:attrNameLst>
                                      </p:cBhvr>
                                      <p:to>
                                        <p:strVal val="visible"/>
                                      </p:to>
                                    </p:set>
                                    <p:animEffect transition="in" filter="fade">
                                      <p:cBhvr>
                                        <p:cTn id="108" dur="500"/>
                                        <p:tgtEl>
                                          <p:spTgt spid="58"/>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59"/>
                                        </p:tgtEl>
                                        <p:attrNameLst>
                                          <p:attrName>style.visibility</p:attrName>
                                        </p:attrNameLst>
                                      </p:cBhvr>
                                      <p:to>
                                        <p:strVal val="visible"/>
                                      </p:to>
                                    </p:set>
                                    <p:animEffect transition="in" filter="fade">
                                      <p:cBhvr>
                                        <p:cTn id="113" dur="500"/>
                                        <p:tgtEl>
                                          <p:spTgt spid="5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25"/>
                                        </p:tgtEl>
                                        <p:attrNameLst>
                                          <p:attrName>style.visibility</p:attrName>
                                        </p:attrNameLst>
                                      </p:cBhvr>
                                      <p:to>
                                        <p:strVal val="visible"/>
                                      </p:to>
                                    </p:set>
                                    <p:animEffect transition="in" filter="fade">
                                      <p:cBhvr>
                                        <p:cTn id="11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처리 일정과 측정 시기 (DAT 기준 정렬)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5</a:t>
            </a:fld>
            <a:endParaRPr lang="ko-KR" altLang="en-US"/>
          </a:p>
        </p:txBody>
      </p:sp>
      <p:sp>
        <p:nvSpPr>
          <p:cNvPr id="7" name="TextBox 6"/>
          <p:cNvSpPr txBox="1"/>
          <p:nvPr/>
        </p:nvSpPr>
        <p:spPr>
          <a:xfrm>
            <a:off x="457200" y="1371600"/>
            <a:ext cx="1097280" cy="274320"/>
          </a:xfrm>
          <a:prstGeom prst="rect">
            <a:avLst/>
          </a:prstGeom>
          <a:noFill/>
        </p:spPr>
        <p:txBody>
          <a:bodyPr wrap="square" lIns="0" tIns="0" rIns="0" bIns="0">
            <a:spAutoFit/>
          </a:bodyPr>
          <a:lstStyle/>
          <a:p>
            <a:r>
              <a:rPr sz="1100" b="0">
                <a:solidFill>
                  <a:srgbClr val="595959"/>
                </a:solidFill>
              </a:rPr>
              <a:t>DAT (일)</a:t>
            </a:r>
          </a:p>
        </p:txBody>
      </p:sp>
      <p:sp>
        <p:nvSpPr>
          <p:cNvPr id="8" name="TextBox 7"/>
          <p:cNvSpPr txBox="1"/>
          <p:nvPr/>
        </p:nvSpPr>
        <p:spPr>
          <a:xfrm>
            <a:off x="1691640" y="1371600"/>
            <a:ext cx="457200" cy="274320"/>
          </a:xfrm>
          <a:prstGeom prst="rect">
            <a:avLst/>
          </a:prstGeom>
          <a:noFill/>
        </p:spPr>
        <p:txBody>
          <a:bodyPr wrap="square" lIns="0" tIns="0" rIns="0" bIns="0">
            <a:spAutoFit/>
          </a:bodyPr>
          <a:lstStyle/>
          <a:p>
            <a:pPr algn="ctr"/>
            <a:r>
              <a:rPr sz="1100" b="0">
                <a:solidFill>
                  <a:srgbClr val="595959"/>
                </a:solidFill>
              </a:rPr>
              <a:t>0</a:t>
            </a:r>
          </a:p>
        </p:txBody>
      </p:sp>
      <p:sp>
        <p:nvSpPr>
          <p:cNvPr id="9" name="TextBox 8"/>
          <p:cNvSpPr txBox="1"/>
          <p:nvPr/>
        </p:nvSpPr>
        <p:spPr>
          <a:xfrm>
            <a:off x="2560320" y="1371600"/>
            <a:ext cx="457200" cy="274320"/>
          </a:xfrm>
          <a:prstGeom prst="rect">
            <a:avLst/>
          </a:prstGeom>
          <a:noFill/>
        </p:spPr>
        <p:txBody>
          <a:bodyPr wrap="square" lIns="0" tIns="0" rIns="0" bIns="0">
            <a:spAutoFit/>
          </a:bodyPr>
          <a:lstStyle/>
          <a:p>
            <a:pPr algn="ctr"/>
            <a:r>
              <a:rPr sz="1100" b="0">
                <a:solidFill>
                  <a:srgbClr val="595959"/>
                </a:solidFill>
              </a:rPr>
              <a:t>5</a:t>
            </a:r>
          </a:p>
        </p:txBody>
      </p:sp>
      <p:sp>
        <p:nvSpPr>
          <p:cNvPr id="10" name="TextBox 9"/>
          <p:cNvSpPr txBox="1"/>
          <p:nvPr/>
        </p:nvSpPr>
        <p:spPr>
          <a:xfrm>
            <a:off x="3429000" y="1371600"/>
            <a:ext cx="457200" cy="274320"/>
          </a:xfrm>
          <a:prstGeom prst="rect">
            <a:avLst/>
          </a:prstGeom>
          <a:noFill/>
        </p:spPr>
        <p:txBody>
          <a:bodyPr wrap="square" lIns="0" tIns="0" rIns="0" bIns="0">
            <a:spAutoFit/>
          </a:bodyPr>
          <a:lstStyle/>
          <a:p>
            <a:pPr algn="ctr"/>
            <a:r>
              <a:rPr sz="1100" b="0">
                <a:solidFill>
                  <a:srgbClr val="595959"/>
                </a:solidFill>
              </a:rPr>
              <a:t>10</a:t>
            </a:r>
          </a:p>
        </p:txBody>
      </p:sp>
      <p:sp>
        <p:nvSpPr>
          <p:cNvPr id="11" name="TextBox 10"/>
          <p:cNvSpPr txBox="1"/>
          <p:nvPr/>
        </p:nvSpPr>
        <p:spPr>
          <a:xfrm>
            <a:off x="4297680" y="1371600"/>
            <a:ext cx="457200" cy="274320"/>
          </a:xfrm>
          <a:prstGeom prst="rect">
            <a:avLst/>
          </a:prstGeom>
          <a:noFill/>
        </p:spPr>
        <p:txBody>
          <a:bodyPr wrap="square" lIns="0" tIns="0" rIns="0" bIns="0">
            <a:spAutoFit/>
          </a:bodyPr>
          <a:lstStyle/>
          <a:p>
            <a:pPr algn="ctr"/>
            <a:r>
              <a:rPr sz="1100" b="0">
                <a:solidFill>
                  <a:srgbClr val="595959"/>
                </a:solidFill>
              </a:rPr>
              <a:t>15</a:t>
            </a:r>
          </a:p>
        </p:txBody>
      </p:sp>
      <p:sp>
        <p:nvSpPr>
          <p:cNvPr id="12" name="TextBox 11"/>
          <p:cNvSpPr txBox="1"/>
          <p:nvPr/>
        </p:nvSpPr>
        <p:spPr>
          <a:xfrm>
            <a:off x="5166360" y="1371600"/>
            <a:ext cx="457200" cy="274320"/>
          </a:xfrm>
          <a:prstGeom prst="rect">
            <a:avLst/>
          </a:prstGeom>
          <a:noFill/>
        </p:spPr>
        <p:txBody>
          <a:bodyPr wrap="square" lIns="0" tIns="0" rIns="0" bIns="0">
            <a:spAutoFit/>
          </a:bodyPr>
          <a:lstStyle/>
          <a:p>
            <a:pPr algn="ctr"/>
            <a:r>
              <a:rPr sz="1100" b="0">
                <a:solidFill>
                  <a:srgbClr val="595959"/>
                </a:solidFill>
              </a:rPr>
              <a:t>20</a:t>
            </a:r>
          </a:p>
        </p:txBody>
      </p:sp>
      <p:sp>
        <p:nvSpPr>
          <p:cNvPr id="13" name="TextBox 12"/>
          <p:cNvSpPr txBox="1"/>
          <p:nvPr/>
        </p:nvSpPr>
        <p:spPr>
          <a:xfrm>
            <a:off x="6035040" y="1371600"/>
            <a:ext cx="457200" cy="274320"/>
          </a:xfrm>
          <a:prstGeom prst="rect">
            <a:avLst/>
          </a:prstGeom>
          <a:noFill/>
        </p:spPr>
        <p:txBody>
          <a:bodyPr wrap="square" lIns="0" tIns="0" rIns="0" bIns="0">
            <a:spAutoFit/>
          </a:bodyPr>
          <a:lstStyle/>
          <a:p>
            <a:pPr algn="ctr"/>
            <a:r>
              <a:rPr sz="1100" b="0">
                <a:solidFill>
                  <a:srgbClr val="595959"/>
                </a:solidFill>
              </a:rPr>
              <a:t>25</a:t>
            </a:r>
          </a:p>
        </p:txBody>
      </p:sp>
      <p:sp>
        <p:nvSpPr>
          <p:cNvPr id="14" name="TextBox 13"/>
          <p:cNvSpPr txBox="1"/>
          <p:nvPr/>
        </p:nvSpPr>
        <p:spPr>
          <a:xfrm>
            <a:off x="6903720" y="1371600"/>
            <a:ext cx="457200" cy="274320"/>
          </a:xfrm>
          <a:prstGeom prst="rect">
            <a:avLst/>
          </a:prstGeom>
          <a:noFill/>
        </p:spPr>
        <p:txBody>
          <a:bodyPr wrap="square" lIns="0" tIns="0" rIns="0" bIns="0">
            <a:spAutoFit/>
          </a:bodyPr>
          <a:lstStyle/>
          <a:p>
            <a:pPr algn="ctr"/>
            <a:r>
              <a:rPr sz="1100" b="0">
                <a:solidFill>
                  <a:srgbClr val="595959"/>
                </a:solidFill>
              </a:rPr>
              <a:t>30</a:t>
            </a:r>
          </a:p>
        </p:txBody>
      </p:sp>
      <p:sp>
        <p:nvSpPr>
          <p:cNvPr id="15" name="TextBox 14"/>
          <p:cNvSpPr txBox="1"/>
          <p:nvPr/>
        </p:nvSpPr>
        <p:spPr>
          <a:xfrm>
            <a:off x="7772400" y="1371600"/>
            <a:ext cx="457200" cy="274320"/>
          </a:xfrm>
          <a:prstGeom prst="rect">
            <a:avLst/>
          </a:prstGeom>
          <a:noFill/>
        </p:spPr>
        <p:txBody>
          <a:bodyPr wrap="square" lIns="0" tIns="0" rIns="0" bIns="0">
            <a:spAutoFit/>
          </a:bodyPr>
          <a:lstStyle/>
          <a:p>
            <a:pPr algn="ctr"/>
            <a:r>
              <a:rPr sz="1100" b="0">
                <a:solidFill>
                  <a:srgbClr val="595959"/>
                </a:solidFill>
              </a:rPr>
              <a:t>35</a:t>
            </a:r>
          </a:p>
        </p:txBody>
      </p:sp>
      <p:sp>
        <p:nvSpPr>
          <p:cNvPr id="16" name="TextBox 15"/>
          <p:cNvSpPr txBox="1"/>
          <p:nvPr/>
        </p:nvSpPr>
        <p:spPr>
          <a:xfrm>
            <a:off x="8641080" y="1371600"/>
            <a:ext cx="457200" cy="274320"/>
          </a:xfrm>
          <a:prstGeom prst="rect">
            <a:avLst/>
          </a:prstGeom>
          <a:noFill/>
        </p:spPr>
        <p:txBody>
          <a:bodyPr wrap="square" lIns="0" tIns="0" rIns="0" bIns="0">
            <a:spAutoFit/>
          </a:bodyPr>
          <a:lstStyle/>
          <a:p>
            <a:pPr algn="ctr"/>
            <a:r>
              <a:rPr sz="1100" b="0">
                <a:solidFill>
                  <a:srgbClr val="595959"/>
                </a:solidFill>
              </a:rPr>
              <a:t>40</a:t>
            </a:r>
          </a:p>
        </p:txBody>
      </p:sp>
      <p:sp>
        <p:nvSpPr>
          <p:cNvPr id="17" name="TextBox 16"/>
          <p:cNvSpPr txBox="1"/>
          <p:nvPr/>
        </p:nvSpPr>
        <p:spPr>
          <a:xfrm>
            <a:off x="9509760" y="1371600"/>
            <a:ext cx="457200" cy="274320"/>
          </a:xfrm>
          <a:prstGeom prst="rect">
            <a:avLst/>
          </a:prstGeom>
          <a:noFill/>
        </p:spPr>
        <p:txBody>
          <a:bodyPr wrap="square" lIns="0" tIns="0" rIns="0" bIns="0">
            <a:spAutoFit/>
          </a:bodyPr>
          <a:lstStyle/>
          <a:p>
            <a:pPr algn="ctr"/>
            <a:r>
              <a:rPr sz="1100" b="0">
                <a:solidFill>
                  <a:srgbClr val="595959"/>
                </a:solidFill>
              </a:rPr>
              <a:t>45</a:t>
            </a:r>
          </a:p>
        </p:txBody>
      </p:sp>
      <p:sp>
        <p:nvSpPr>
          <p:cNvPr id="18" name="TextBox 17"/>
          <p:cNvSpPr txBox="1"/>
          <p:nvPr/>
        </p:nvSpPr>
        <p:spPr>
          <a:xfrm>
            <a:off x="10378440" y="1371600"/>
            <a:ext cx="457200" cy="274320"/>
          </a:xfrm>
          <a:prstGeom prst="rect">
            <a:avLst/>
          </a:prstGeom>
          <a:noFill/>
        </p:spPr>
        <p:txBody>
          <a:bodyPr wrap="square" lIns="0" tIns="0" rIns="0" bIns="0">
            <a:spAutoFit/>
          </a:bodyPr>
          <a:lstStyle/>
          <a:p>
            <a:pPr algn="ctr"/>
            <a:r>
              <a:rPr sz="1100" b="0">
                <a:solidFill>
                  <a:srgbClr val="595959"/>
                </a:solidFill>
              </a:rPr>
              <a:t>50</a:t>
            </a:r>
          </a:p>
        </p:txBody>
      </p:sp>
      <p:sp>
        <p:nvSpPr>
          <p:cNvPr id="19" name="TextBox 18"/>
          <p:cNvSpPr txBox="1"/>
          <p:nvPr/>
        </p:nvSpPr>
        <p:spPr>
          <a:xfrm>
            <a:off x="11247119" y="1371600"/>
            <a:ext cx="457200" cy="274320"/>
          </a:xfrm>
          <a:prstGeom prst="rect">
            <a:avLst/>
          </a:prstGeom>
          <a:noFill/>
        </p:spPr>
        <p:txBody>
          <a:bodyPr wrap="square" lIns="0" tIns="0" rIns="0" bIns="0">
            <a:spAutoFit/>
          </a:bodyPr>
          <a:lstStyle/>
          <a:p>
            <a:pPr algn="ctr"/>
            <a:r>
              <a:rPr sz="1100" b="0">
                <a:solidFill>
                  <a:srgbClr val="595959"/>
                </a:solidFill>
              </a:rPr>
              <a:t>55</a:t>
            </a:r>
          </a:p>
        </p:txBody>
      </p:sp>
      <p:cxnSp>
        <p:nvCxnSpPr>
          <p:cNvPr id="20" name="Connector 19"/>
          <p:cNvCxnSpPr/>
          <p:nvPr/>
        </p:nvCxnSpPr>
        <p:spPr>
          <a:xfrm>
            <a:off x="1920240" y="1691640"/>
            <a:ext cx="9555479" cy="0"/>
          </a:xfrm>
          <a:prstGeom prst="line">
            <a:avLst/>
          </a:prstGeom>
          <a:ln>
            <a:solidFill>
              <a:srgbClr val="7F7F7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 y="2103120"/>
            <a:ext cx="1371600" cy="457200"/>
          </a:xfrm>
          <a:prstGeom prst="rect">
            <a:avLst/>
          </a:prstGeom>
          <a:noFill/>
        </p:spPr>
        <p:txBody>
          <a:bodyPr wrap="square" lIns="0" tIns="0" rIns="0" bIns="0">
            <a:spAutoFit/>
          </a:bodyPr>
          <a:lstStyle/>
          <a:p>
            <a:r>
              <a:rPr sz="1800" b="1">
                <a:solidFill>
                  <a:srgbClr val="0B76A0"/>
                </a:solidFill>
              </a:rPr>
              <a:t>콩</a:t>
            </a:r>
          </a:p>
        </p:txBody>
      </p:sp>
      <p:sp>
        <p:nvSpPr>
          <p:cNvPr id="22" name="Rounded Rectangle 21"/>
          <p:cNvSpPr/>
          <p:nvPr/>
        </p:nvSpPr>
        <p:spPr>
          <a:xfrm>
            <a:off x="1920240" y="2011680"/>
            <a:ext cx="521207" cy="457200"/>
          </a:xfrm>
          <a:prstGeom prst="roundRect">
            <a:avLst>
              <a:gd name="adj" fmla="val 2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900" b="1">
                <a:solidFill>
                  <a:srgbClr val="FFFFFF"/>
                </a:solidFill>
              </a:rPr>
              <a:t>침수</a:t>
            </a:r>
          </a:p>
        </p:txBody>
      </p:sp>
      <p:sp>
        <p:nvSpPr>
          <p:cNvPr id="23" name="Rounded Rectangle 22"/>
          <p:cNvSpPr/>
          <p:nvPr/>
        </p:nvSpPr>
        <p:spPr>
          <a:xfrm>
            <a:off x="2441448" y="2011680"/>
            <a:ext cx="9034272" cy="457200"/>
          </a:xfrm>
          <a:prstGeom prst="roundRect">
            <a:avLst>
              <a:gd name="adj" fmla="val 20000"/>
            </a:avLst>
          </a:prstGeom>
          <a:solidFill>
            <a:srgbClr val="AF55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1100" b="1">
                <a:solidFill>
                  <a:srgbClr val="FFFFFF"/>
                </a:solidFill>
              </a:rPr>
              <a:t>건조·복합 50% 관수</a:t>
            </a:r>
          </a:p>
        </p:txBody>
      </p:sp>
      <p:sp>
        <p:nvSpPr>
          <p:cNvPr id="39" name="TextBox 38"/>
          <p:cNvSpPr txBox="1"/>
          <p:nvPr/>
        </p:nvSpPr>
        <p:spPr>
          <a:xfrm>
            <a:off x="457200" y="2926080"/>
            <a:ext cx="1371600" cy="457200"/>
          </a:xfrm>
          <a:prstGeom prst="rect">
            <a:avLst/>
          </a:prstGeom>
          <a:noFill/>
        </p:spPr>
        <p:txBody>
          <a:bodyPr wrap="square" lIns="0" tIns="0" rIns="0" bIns="0">
            <a:spAutoFit/>
          </a:bodyPr>
          <a:lstStyle/>
          <a:p>
            <a:r>
              <a:rPr sz="1800" b="1">
                <a:solidFill>
                  <a:srgbClr val="2E7D32"/>
                </a:solidFill>
              </a:rPr>
              <a:t>로메인</a:t>
            </a:r>
          </a:p>
        </p:txBody>
      </p:sp>
      <p:sp>
        <p:nvSpPr>
          <p:cNvPr id="40" name="Rounded Rectangle 39"/>
          <p:cNvSpPr/>
          <p:nvPr/>
        </p:nvSpPr>
        <p:spPr>
          <a:xfrm>
            <a:off x="1920240" y="2834640"/>
            <a:ext cx="521207" cy="457200"/>
          </a:xfrm>
          <a:prstGeom prst="roundRect">
            <a:avLst>
              <a:gd name="adj" fmla="val 2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900" b="1">
                <a:solidFill>
                  <a:srgbClr val="FFFFFF"/>
                </a:solidFill>
              </a:rPr>
              <a:t>침수</a:t>
            </a:r>
          </a:p>
        </p:txBody>
      </p:sp>
      <p:sp>
        <p:nvSpPr>
          <p:cNvPr id="42" name="Rounded Rectangle 41"/>
          <p:cNvSpPr/>
          <p:nvPr/>
        </p:nvSpPr>
        <p:spPr>
          <a:xfrm>
            <a:off x="2441447" y="2834640"/>
            <a:ext cx="2258569" cy="457200"/>
          </a:xfrm>
          <a:prstGeom prst="roundRect">
            <a:avLst>
              <a:gd name="adj" fmla="val 20000"/>
            </a:avLst>
          </a:prstGeom>
          <a:solidFill>
            <a:srgbClr val="AF55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lang="ko-KR" altLang="en-US" sz="1100" b="1" dirty="0">
                <a:solidFill>
                  <a:srgbClr val="FFFFFF"/>
                </a:solidFill>
              </a:rPr>
              <a:t>건조</a:t>
            </a:r>
            <a:r>
              <a:rPr lang="en-US" altLang="ko-KR" sz="1100" b="1" dirty="0">
                <a:solidFill>
                  <a:srgbClr val="FFFFFF"/>
                </a:solidFill>
              </a:rPr>
              <a:t>·</a:t>
            </a:r>
            <a:r>
              <a:rPr lang="ko-KR" altLang="en-US" sz="1100" b="1" dirty="0">
                <a:solidFill>
                  <a:srgbClr val="FFFFFF"/>
                </a:solidFill>
              </a:rPr>
              <a:t>복합 </a:t>
            </a:r>
            <a:r>
              <a:rPr lang="en-US" altLang="ko-KR" sz="1100" b="1" dirty="0">
                <a:solidFill>
                  <a:srgbClr val="FFFFFF"/>
                </a:solidFill>
              </a:rPr>
              <a:t>50% </a:t>
            </a:r>
            <a:r>
              <a:rPr lang="ko-KR" altLang="en-US" sz="1100" b="1" dirty="0">
                <a:solidFill>
                  <a:srgbClr val="FFFFFF"/>
                </a:solidFill>
              </a:rPr>
              <a:t>관수</a:t>
            </a:r>
          </a:p>
        </p:txBody>
      </p:sp>
      <p:sp>
        <p:nvSpPr>
          <p:cNvPr id="58" name="Conclusion Box"/>
          <p:cNvSpPr/>
          <p:nvPr/>
        </p:nvSpPr>
        <p:spPr>
          <a:xfrm>
            <a:off x="841248" y="5532120"/>
            <a:ext cx="10570464" cy="502920"/>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P1 : 침수 시작 ~ 종료 후 7일 (초기 반응·회복 시작)  ·  P2 : 이후 (회복 후기·건조 영향)</a:t>
            </a:r>
          </a:p>
        </p:txBody>
      </p:sp>
      <p:sp>
        <p:nvSpPr>
          <p:cNvPr id="59" name="Footnote"/>
          <p:cNvSpPr txBox="1"/>
          <p:nvPr/>
        </p:nvSpPr>
        <p:spPr>
          <a:xfrm>
            <a:off x="457200" y="6473952"/>
            <a:ext cx="8138160" cy="310896"/>
          </a:xfrm>
          <a:prstGeom prst="rect">
            <a:avLst/>
          </a:prstGeom>
          <a:noFill/>
        </p:spPr>
        <p:txBody>
          <a:bodyPr wrap="square" lIns="45720" tIns="0" rIns="45720" bIns="0" anchor="t">
            <a:spAutoFit/>
          </a:bodyPr>
          <a:lstStyle/>
          <a:p>
            <a:r>
              <a:rPr sz="1000" b="0" dirty="0">
                <a:solidFill>
                  <a:srgbClr val="595959"/>
                </a:solidFill>
              </a:rPr>
              <a:t>콩 침수 8/12~14, 50% 관수는 8/15부터. 로메인 침수 10/7~10/10 오전, 50% 관수 10/12부터. 침수 시작일을 DAT 0으로 맞추어 두 작물을 정렬. P1 = 콩 DAT 1~9, 로메인 DAT 1~10 / P2 = 이후.</a:t>
            </a:r>
          </a:p>
        </p:txBody>
      </p:sp>
      <p:sp>
        <p:nvSpPr>
          <p:cNvPr id="60"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61"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62"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3"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4"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65" name="Rounded Rectangle 64"/>
          <p:cNvSpPr/>
          <p:nvPr/>
        </p:nvSpPr>
        <p:spPr>
          <a:xfrm>
            <a:off x="1920240" y="2505456"/>
            <a:ext cx="1650492" cy="201168"/>
          </a:xfrm>
          <a:prstGeom prst="round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P1</a:t>
            </a:r>
          </a:p>
        </p:txBody>
      </p:sp>
      <p:sp>
        <p:nvSpPr>
          <p:cNvPr id="66" name="Rounded Rectangle 65"/>
          <p:cNvSpPr/>
          <p:nvPr/>
        </p:nvSpPr>
        <p:spPr>
          <a:xfrm>
            <a:off x="3570732" y="2505456"/>
            <a:ext cx="7904988" cy="201168"/>
          </a:xfrm>
          <a:prstGeom prst="roundRect">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P2</a:t>
            </a:r>
          </a:p>
        </p:txBody>
      </p:sp>
      <p:sp>
        <p:nvSpPr>
          <p:cNvPr id="67" name="Rounded Rectangle 66"/>
          <p:cNvSpPr/>
          <p:nvPr/>
        </p:nvSpPr>
        <p:spPr>
          <a:xfrm>
            <a:off x="1920240" y="3328416"/>
            <a:ext cx="1824228" cy="201168"/>
          </a:xfrm>
          <a:prstGeom prst="round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P1</a:t>
            </a:r>
          </a:p>
        </p:txBody>
      </p:sp>
      <p:sp>
        <p:nvSpPr>
          <p:cNvPr id="68" name="Rounded Rectangle 67"/>
          <p:cNvSpPr/>
          <p:nvPr/>
        </p:nvSpPr>
        <p:spPr>
          <a:xfrm>
            <a:off x="3744468" y="3328416"/>
            <a:ext cx="955547" cy="201168"/>
          </a:xfrm>
          <a:prstGeom prst="roundRect">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P2</a:t>
            </a:r>
          </a:p>
        </p:txBody>
      </p:sp>
      <p:sp>
        <p:nvSpPr>
          <p:cNvPr id="69" name="Rounded Rectangle 68"/>
          <p:cNvSpPr/>
          <p:nvPr/>
        </p:nvSpPr>
        <p:spPr>
          <a:xfrm>
            <a:off x="1920240" y="3703320"/>
            <a:ext cx="4480560" cy="365760"/>
          </a:xfrm>
          <a:prstGeom prst="round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rPr>
              <a:t>콩</a:t>
            </a:r>
          </a:p>
        </p:txBody>
      </p:sp>
      <p:sp>
        <p:nvSpPr>
          <p:cNvPr id="70" name="Rounded Rectangle 69"/>
          <p:cNvSpPr/>
          <p:nvPr/>
        </p:nvSpPr>
        <p:spPr>
          <a:xfrm>
            <a:off x="6537960" y="3703320"/>
            <a:ext cx="4937760" cy="365760"/>
          </a:xfrm>
          <a:prstGeom prst="roundRect">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rPr>
              <a:t>로메인 상추</a:t>
            </a:r>
          </a:p>
        </p:txBody>
      </p:sp>
      <p:sp>
        <p:nvSpPr>
          <p:cNvPr id="71" name="Rounded Rectangle 70"/>
          <p:cNvSpPr/>
          <p:nvPr/>
        </p:nvSpPr>
        <p:spPr>
          <a:xfrm>
            <a:off x="457200" y="41148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rPr>
              <a:t>LI-600</a:t>
            </a:r>
          </a:p>
        </p:txBody>
      </p:sp>
      <p:sp>
        <p:nvSpPr>
          <p:cNvPr id="72" name="Rounded Rectangle 71"/>
          <p:cNvSpPr/>
          <p:nvPr/>
        </p:nvSpPr>
        <p:spPr>
          <a:xfrm>
            <a:off x="1920240" y="4114800"/>
            <a:ext cx="44805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P1 : 매일 (DAT 1~9)  /  P2 : 1~2주 간격</a:t>
            </a:r>
          </a:p>
        </p:txBody>
      </p:sp>
      <p:sp>
        <p:nvSpPr>
          <p:cNvPr id="73" name="Rounded Rectangle 72"/>
          <p:cNvSpPr/>
          <p:nvPr/>
        </p:nvSpPr>
        <p:spPr>
          <a:xfrm>
            <a:off x="6537960" y="4114800"/>
            <a:ext cx="49377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P1 : 매일 (DAT 1~10)  /  P2 : 이틀 간격</a:t>
            </a:r>
          </a:p>
        </p:txBody>
      </p:sp>
      <p:sp>
        <p:nvSpPr>
          <p:cNvPr id="74" name="Rounded Rectangle 73"/>
          <p:cNvSpPr/>
          <p:nvPr/>
        </p:nvSpPr>
        <p:spPr>
          <a:xfrm>
            <a:off x="457200" y="45720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rPr>
              <a:t>LI-6800</a:t>
            </a:r>
          </a:p>
        </p:txBody>
      </p:sp>
      <p:sp>
        <p:nvSpPr>
          <p:cNvPr id="75" name="Rounded Rectangle 74"/>
          <p:cNvSpPr/>
          <p:nvPr/>
        </p:nvSpPr>
        <p:spPr>
          <a:xfrm>
            <a:off x="1920240" y="4572000"/>
            <a:ext cx="44805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P2 : 9월 중순  /  (9/2~9/17, DAT 21~36)</a:t>
            </a:r>
          </a:p>
        </p:txBody>
      </p:sp>
      <p:sp>
        <p:nvSpPr>
          <p:cNvPr id="76" name="Rounded Rectangle 75"/>
          <p:cNvSpPr/>
          <p:nvPr/>
        </p:nvSpPr>
        <p:spPr>
          <a:xfrm>
            <a:off x="6537960" y="4572000"/>
            <a:ext cx="49377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P1~P2 : 10월 중순  /  (10/16~10/19, DAT 9~12)</a:t>
            </a:r>
          </a:p>
        </p:txBody>
      </p:sp>
      <p:sp>
        <p:nvSpPr>
          <p:cNvPr id="77" name="Rounded Rectangle 76"/>
          <p:cNvSpPr/>
          <p:nvPr/>
        </p:nvSpPr>
        <p:spPr>
          <a:xfrm>
            <a:off x="457200" y="50292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rPr>
              <a:t>생육 조사</a:t>
            </a:r>
          </a:p>
        </p:txBody>
      </p:sp>
      <p:sp>
        <p:nvSpPr>
          <p:cNvPr id="78" name="Rounded Rectangle 77"/>
          <p:cNvSpPr/>
          <p:nvPr/>
        </p:nvSpPr>
        <p:spPr>
          <a:xfrm>
            <a:off x="1920240" y="5029200"/>
            <a:ext cx="44805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9/1 (DAT 20), 10/6 (DAT 55)</a:t>
            </a:r>
          </a:p>
        </p:txBody>
      </p:sp>
      <p:sp>
        <p:nvSpPr>
          <p:cNvPr id="79" name="Rounded Rectangle 78"/>
          <p:cNvSpPr/>
          <p:nvPr/>
        </p:nvSpPr>
        <p:spPr>
          <a:xfrm>
            <a:off x="6537960" y="5029200"/>
            <a:ext cx="49377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10/23 (DAT 16)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측정 항목: 제한 단계별 지표</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6</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통계: 침수 × 관수 이원 ANOVA·Tukey (형광 지표는 측정일·PAR·기온 보정 평균)</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P1 = 침수 시작~종료 후 7일(콩 DAT 1~9, 로메인 DAT 1~10), P2 = 이후. 형광 지표(Φ</a:t>
            </a:r>
            <a:r>
              <a:rPr sz="1000" baseline="-25000">
                <a:solidFill>
                  <a:srgbClr val="595959"/>
                </a:solidFill>
              </a:rPr>
              <a:t>PSII</a:t>
            </a:r>
            <a:r>
              <a:rPr sz="1000">
                <a:solidFill>
                  <a:srgbClr val="595959"/>
                </a:solidFill>
              </a:rPr>
              <a:t>, F</a:t>
            </a:r>
            <a:r>
              <a:rPr sz="1000" baseline="-25000">
                <a:solidFill>
                  <a:srgbClr val="595959"/>
                </a:solidFill>
              </a:rPr>
              <a:t>s</a:t>
            </a:r>
            <a:r>
              <a:rPr sz="1000">
                <a:solidFill>
                  <a:srgbClr val="595959"/>
                </a:solidFill>
              </a:rPr>
              <a:t>, ETR) = PAR·기온 보정 평균 (Ali et al., 2025; Gao et al., 2024), g</a:t>
            </a:r>
            <a:r>
              <a:rPr sz="1000" baseline="-25000">
                <a:solidFill>
                  <a:srgbClr val="595959"/>
                </a:solidFill>
              </a:rPr>
              <a:t>sw</a:t>
            </a:r>
            <a:r>
              <a:rPr sz="1000">
                <a:solidFill>
                  <a:srgbClr val="595959"/>
                </a:solidFill>
              </a:rPr>
              <a:t> = 측정 데이터의 보정 gsw(PAR·기온 보정 없음). 생육은 전 개체 사용.</a:t>
            </a:r>
          </a:p>
        </p:txBody>
      </p:sp>
      <p:sp>
        <p:nvSpPr>
          <p:cNvPr id="27" name="Row bg"/>
          <p:cNvSpPr/>
          <p:nvPr/>
        </p:nvSpPr>
        <p:spPr>
          <a:xfrm>
            <a:off x="841248" y="1371600"/>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28" name="Row chip"/>
          <p:cNvSpPr/>
          <p:nvPr/>
        </p:nvSpPr>
        <p:spPr>
          <a:xfrm>
            <a:off x="841248" y="1371600"/>
            <a:ext cx="2148840" cy="713232"/>
          </a:xfrm>
          <a:prstGeom prst="roundRect">
            <a:avLst>
              <a:gd name="adj" fmla="val 12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① 기공</a:t>
            </a:r>
          </a:p>
        </p:txBody>
      </p:sp>
      <p:sp>
        <p:nvSpPr>
          <p:cNvPr id="29" name="Row ind"/>
          <p:cNvSpPr txBox="1"/>
          <p:nvPr/>
        </p:nvSpPr>
        <p:spPr>
          <a:xfrm>
            <a:off x="3200400" y="1371600"/>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g</a:t>
            </a:r>
            <a:r>
              <a:rPr lang="ko-KR" altLang="en-US" sz="1400" b="1" dirty="0" baseline="-25000">
                <a:solidFill>
                  <a:srgbClr val="000000"/>
                </a:solidFill>
              </a:rPr>
              <a:t>sw</a:t>
            </a:r>
          </a:p>
        </p:txBody>
      </p:sp>
      <p:sp>
        <p:nvSpPr>
          <p:cNvPr id="30" name="Row method"/>
          <p:cNvSpPr txBox="1"/>
          <p:nvPr/>
        </p:nvSpPr>
        <p:spPr>
          <a:xfrm>
            <a:off x="6858000" y="1371600"/>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LI-600 포로미터, 처리 개시 후 반복 측정 (보정 이전 값)</a:t>
            </a:r>
          </a:p>
        </p:txBody>
      </p:sp>
      <p:sp>
        <p:nvSpPr>
          <p:cNvPr id="31" name="Row bg"/>
          <p:cNvSpPr/>
          <p:nvPr/>
        </p:nvSpPr>
        <p:spPr>
          <a:xfrm>
            <a:off x="841248" y="2359152"/>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32" name="Row chip"/>
          <p:cNvSpPr/>
          <p:nvPr/>
        </p:nvSpPr>
        <p:spPr>
          <a:xfrm>
            <a:off x="841248" y="2359152"/>
            <a:ext cx="2148840" cy="713232"/>
          </a:xfrm>
          <a:prstGeom prst="roundRect">
            <a:avLst>
              <a:gd name="adj" fmla="val 12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② 명반응</a:t>
            </a:r>
          </a:p>
        </p:txBody>
      </p:sp>
      <p:sp>
        <p:nvSpPr>
          <p:cNvPr id="33" name="Row ind"/>
          <p:cNvSpPr txBox="1"/>
          <p:nvPr/>
        </p:nvSpPr>
        <p:spPr>
          <a:xfrm>
            <a:off x="3200400" y="2359152"/>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Φ</a:t>
            </a:r>
            <a:r>
              <a:rPr lang="ko-KR" altLang="en-US" sz="1400" b="1" dirty="0" baseline="-25000">
                <a:solidFill>
                  <a:srgbClr val="000000"/>
                </a:solidFill>
              </a:rPr>
              <a:t>PSII</a:t>
            </a:r>
            <a:r>
              <a:rPr lang="ko-KR" altLang="en-US" sz="1400" b="1" dirty="0">
                <a:solidFill>
                  <a:srgbClr val="000000"/>
                </a:solidFill>
              </a:rPr>
              <a:t>, F</a:t>
            </a:r>
            <a:r>
              <a:rPr lang="ko-KR" altLang="en-US" sz="1400" b="1" dirty="0" baseline="-25000">
                <a:solidFill>
                  <a:srgbClr val="000000"/>
                </a:solidFill>
              </a:rPr>
              <a:t>s</a:t>
            </a:r>
            <a:r>
              <a:rPr lang="ko-KR" altLang="en-US" sz="1400" b="1" dirty="0">
                <a:solidFill>
                  <a:srgbClr val="000000"/>
                </a:solidFill>
              </a:rPr>
              <a:t>, ETR</a:t>
            </a:r>
          </a:p>
        </p:txBody>
      </p:sp>
      <p:sp>
        <p:nvSpPr>
          <p:cNvPr id="34" name="Row method"/>
          <p:cNvSpPr txBox="1"/>
          <p:nvPr/>
        </p:nvSpPr>
        <p:spPr>
          <a:xfrm>
            <a:off x="6858000" y="2359152"/>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LI-600 명적응 형광, PAR·기온 보정 (Ali et al., 2025; Gao et al., 2024)</a:t>
            </a:r>
          </a:p>
        </p:txBody>
      </p:sp>
      <p:sp>
        <p:nvSpPr>
          <p:cNvPr id="39" name="Row bg"/>
          <p:cNvSpPr/>
          <p:nvPr/>
        </p:nvSpPr>
        <p:spPr>
          <a:xfrm>
            <a:off x="841248" y="3346704"/>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40" name="Row chip"/>
          <p:cNvSpPr/>
          <p:nvPr/>
        </p:nvSpPr>
        <p:spPr>
          <a:xfrm>
            <a:off x="841248" y="3346704"/>
            <a:ext cx="2148840" cy="713232"/>
          </a:xfrm>
          <a:prstGeom prst="roundRect">
            <a:avLst>
              <a:gd name="adj" fmla="val 12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③ 생화학적 능력</a:t>
            </a:r>
          </a:p>
        </p:txBody>
      </p:sp>
      <p:sp>
        <p:nvSpPr>
          <p:cNvPr id="41" name="Row ind"/>
          <p:cNvSpPr txBox="1"/>
          <p:nvPr/>
        </p:nvSpPr>
        <p:spPr>
          <a:xfrm>
            <a:off x="3200400" y="3346704"/>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V</a:t>
            </a:r>
            <a:r>
              <a:rPr lang="ko-KR" altLang="en-US" sz="1400" b="1" dirty="0" baseline="-25000">
                <a:solidFill>
                  <a:srgbClr val="000000"/>
                </a:solidFill>
              </a:rPr>
              <a:t>cmax</a:t>
            </a:r>
            <a:r>
              <a:rPr lang="ko-KR" altLang="en-US" sz="1400" b="1" dirty="0">
                <a:solidFill>
                  <a:srgbClr val="000000"/>
                </a:solidFill>
              </a:rPr>
              <a:t>, J</a:t>
            </a:r>
            <a:r>
              <a:rPr lang="ko-KR" altLang="en-US" sz="1400" b="1" dirty="0" baseline="-25000">
                <a:solidFill>
                  <a:srgbClr val="000000"/>
                </a:solidFill>
              </a:rPr>
              <a:t>max</a:t>
            </a:r>
            <a:r>
              <a:rPr lang="ko-KR" altLang="en-US" sz="1400" b="1" dirty="0">
                <a:solidFill>
                  <a:srgbClr val="000000"/>
                </a:solidFill>
              </a:rPr>
              <a:t>, R</a:t>
            </a:r>
            <a:r>
              <a:rPr lang="ko-KR" altLang="en-US" sz="1400" b="1" dirty="0" baseline="-25000">
                <a:solidFill>
                  <a:srgbClr val="000000"/>
                </a:solidFill>
              </a:rPr>
              <a:t>d</a:t>
            </a:r>
            <a:r>
              <a:rPr lang="ko-KR" altLang="en-US" sz="1400" b="1" dirty="0">
                <a:solidFill>
                  <a:srgbClr val="000000"/>
                </a:solidFill>
              </a:rPr>
              <a:t>, A–PPFD (LSP)</a:t>
            </a:r>
          </a:p>
        </p:txBody>
      </p:sp>
      <p:sp>
        <p:nvSpPr>
          <p:cNvPr id="42" name="Row method"/>
          <p:cNvSpPr txBox="1"/>
          <p:nvPr/>
        </p:nvSpPr>
        <p:spPr>
          <a:xfrm>
            <a:off x="6858000" y="3346704"/>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LI-6800 A-Ci (FvCB), 광-광합성 곡선 (NRH 모형, LSP)</a:t>
            </a:r>
          </a:p>
        </p:txBody>
      </p:sp>
      <p:sp>
        <p:nvSpPr>
          <p:cNvPr id="43" name="Row bg"/>
          <p:cNvSpPr/>
          <p:nvPr/>
        </p:nvSpPr>
        <p:spPr>
          <a:xfrm>
            <a:off x="841248" y="4334256"/>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44" name="Row chip"/>
          <p:cNvSpPr/>
          <p:nvPr/>
        </p:nvSpPr>
        <p:spPr>
          <a:xfrm>
            <a:off x="841248" y="4334256"/>
            <a:ext cx="2148840" cy="713232"/>
          </a:xfrm>
          <a:prstGeom prst="roundRect">
            <a:avLst>
              <a:gd name="adj" fmla="val 12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④ 생육·수량</a:t>
            </a:r>
          </a:p>
        </p:txBody>
      </p:sp>
      <p:sp>
        <p:nvSpPr>
          <p:cNvPr id="45" name="Row ind"/>
          <p:cNvSpPr txBox="1"/>
          <p:nvPr/>
        </p:nvSpPr>
        <p:spPr>
          <a:xfrm>
            <a:off x="3200400" y="4334256"/>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100립 생체중, 종실 건조중, 지상부 건물중</a:t>
            </a:r>
          </a:p>
        </p:txBody>
      </p:sp>
      <p:sp>
        <p:nvSpPr>
          <p:cNvPr id="46" name="Row method"/>
          <p:cNvSpPr txBox="1"/>
          <p:nvPr/>
        </p:nvSpPr>
        <p:spPr>
          <a:xfrm>
            <a:off x="6858000" y="4334256"/>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파괴 조사 (로메인 DAT 16, 콩 DAT 20·55)</a:t>
            </a:r>
          </a:p>
        </p:txBody>
      </p:sp>
      <p:sp>
        <p:nvSpPr>
          <p:cNvPr id="7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7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8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8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8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500"/>
                                        <p:tgtEl>
                                          <p:spTgt spid="4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500"/>
                                        <p:tgtEl>
                                          <p:spTgt spid="4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fade">
                                      <p:cBhvr>
                                        <p:cTn id="63" dur="500"/>
                                        <p:tgtEl>
                                          <p:spTgt spid="4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4"/>
                                        </p:tgtEl>
                                        <p:attrNameLst>
                                          <p:attrName>style.visibility</p:attrName>
                                        </p:attrNameLst>
                                      </p:cBhvr>
                                      <p:to>
                                        <p:strVal val="visible"/>
                                      </p:to>
                                    </p:set>
                                    <p:animEffect transition="in" filter="fade">
                                      <p:cBhvr>
                                        <p:cTn id="66" dur="500"/>
                                        <p:tgtEl>
                                          <p:spTgt spid="4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fade">
                                      <p:cBhvr>
                                        <p:cTn id="69" dur="500"/>
                                        <p:tgtEl>
                                          <p:spTgt spid="4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500"/>
                                        <p:tgtEl>
                                          <p:spTgt spid="4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로드셀·포트 무게 : 누적 관수량</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감수 관수는 실현됨 — 로메인 침수구는 과습으로 관수가 적었고 콩은 뿌리 이탈 가능성</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누적 관수량 = 일별 관수량의 합. 콩: 로드셀 관수량(mm) × 38.01 g/mm, 8/16~10/6(DAT 4~55). 로메인: 대조구는 로드셀 평균 관수량, 그 외는 관수량 시트의 포트 평균, 10/12~10/22(DAT 5~15).</a:t>
            </a:r>
          </a:p>
        </p:txBody>
      </p:sp>
      <p:pic>
        <p:nvPicPr>
          <p:cNvPr id="27" name="Picture 26" descr="image.png"/>
          <p:cNvPicPr>
            <a:picLocks noChangeAspect="1"/>
          </p:cNvPicPr>
          <p:nvPr/>
        </p:nvPicPr>
        <p:blipFill>
          <a:blip r:embed="rId5"/>
          <a:stretch>
            <a:fillRect/>
          </a:stretch>
        </p:blipFill>
        <p:spPr>
          <a:xfrm>
            <a:off x="457200" y="1280160"/>
            <a:ext cx="7040880" cy="2743200"/>
          </a:xfrm>
          <a:prstGeom prst="rect">
            <a:avLst/>
          </a:prstGeom>
        </p:spPr>
      </p:pic>
      <p:sp>
        <p:nvSpPr>
          <p:cNvPr id="28" name="Stat box"/>
          <p:cNvSpPr/>
          <p:nvPr/>
        </p:nvSpPr>
        <p:spPr>
          <a:xfrm>
            <a:off x="841248" y="4224528"/>
            <a:ext cx="3154680" cy="128016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29" name="Stat value"/>
          <p:cNvSpPr txBox="1"/>
          <p:nvPr/>
        </p:nvSpPr>
        <p:spPr>
          <a:xfrm>
            <a:off x="886968"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800" dirty="0">
                <a:solidFill>
                  <a:srgbClr val="2E6B3F"/>
                </a:solidFill>
              </a:rPr>
              <a:t>43% · 40%</a:t>
            </a:r>
          </a:p>
        </p:txBody>
      </p:sp>
      <p:sp>
        <p:nvSpPr>
          <p:cNvPr id="30" name="Stat label"/>
          <p:cNvSpPr txBox="1"/>
          <p:nvPr/>
        </p:nvSpPr>
        <p:spPr>
          <a:xfrm>
            <a:off x="914400"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건조구 누적 관수량 (로메인 · 콩, 대조구 대비)</a:t>
            </a:r>
          </a:p>
        </p:txBody>
      </p:sp>
      <p:sp>
        <p:nvSpPr>
          <p:cNvPr id="31" name="Stat box"/>
          <p:cNvSpPr/>
          <p:nvPr/>
        </p:nvSpPr>
        <p:spPr>
          <a:xfrm>
            <a:off x="4206240" y="4224528"/>
            <a:ext cx="3154680" cy="1280160"/>
          </a:xfrm>
          <a:prstGeom prst="roundRect">
            <a:avLst>
              <a:gd name="adj" fmla="val 12000"/>
            </a:avLst>
          </a:prstGeom>
          <a:solidFill>
            <a:srgbClr val="FFFFFF"/>
          </a:solidFill>
          <a:ln w="19050">
            <a:solidFill>
              <a:srgbClr val="156082"/>
            </a:solidFill>
          </a:ln>
        </p:spPr>
        <p:txBody>
          <a:bodyPr wrap="square" lIns="73152" tIns="36576" rIns="73152" bIns="36576" rtlCol="0" anchor="ctr">
            <a:noAutofit/>
          </a:bodyPr>
          <a:lstStyle/>
          <a:p>
            <a:endParaRPr lang="ko-KR"/>
          </a:p>
        </p:txBody>
      </p:sp>
      <p:sp>
        <p:nvSpPr>
          <p:cNvPr id="32" name="Stat value"/>
          <p:cNvSpPr txBox="1"/>
          <p:nvPr/>
        </p:nvSpPr>
        <p:spPr>
          <a:xfrm>
            <a:off x="4251960"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b="1" dirty="0">
                <a:solidFill>
                  <a:srgbClr val="156082"/>
                </a:solidFill>
              </a:rPr>
              <a:t>56% · 87%</a:t>
            </a:r>
          </a:p>
        </p:txBody>
      </p:sp>
      <p:sp>
        <p:nvSpPr>
          <p:cNvPr id="33" name="Stat label"/>
          <p:cNvSpPr txBox="1"/>
          <p:nvPr/>
        </p:nvSpPr>
        <p:spPr>
          <a:xfrm>
            <a:off x="4279392"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침수구 누적 관수량 (로메인 · 콩, 대조구 대비)</a:t>
            </a:r>
          </a:p>
        </p:txBody>
      </p:sp>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로메인:</a:t>
            </a:r>
            <a:r>
              <a:rPr lang="ko-KR" altLang="en-US" sz="1400" dirty="0">
                <a:solidFill>
                  <a:srgbClr val="000000"/>
                </a:solidFill>
              </a:rPr>
              <a:t> 누적 관수량은 건조 43%·침수 56%·복합 37% (대조구 대비, 10/12~10/22, 포트 무게)</a:t>
            </a:r>
          </a:p>
          <a:p>
            <a:pPr marL="201168" indent="-201168" algn="l">
              <a:spcBef>
                <a:spcPts val="1000"/>
              </a:spcBef>
              <a:buFont typeface="Arial"/>
              <a:buChar char="•"/>
            </a:pPr>
            <a:r>
              <a:rPr lang="ko-KR" altLang="en-US" sz="1400" dirty="0">
                <a:solidFill>
                  <a:srgbClr val="000000"/>
                </a:solidFill>
              </a:rPr>
              <a:t>콩:  누적 관수량은 건조 40%·침수 87%·복합 44% (대조구 대비, 8/16~10/6, 로드셀)</a:t>
            </a:r>
          </a:p>
        </p:txBody>
      </p:sp>
      <p:sp>
        <p:nvSpPr>
          <p:cNvPr id="4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46"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기공전도도 (g</a:t>
            </a:r>
            <a:r>
              <a:rPr lang="ko-KR" altLang="en-US" sz="2800" dirty="0" baseline="-25000"/>
              <a:t>sw</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8</a:t>
            </a:fld>
            <a:endParaRPr lang="ko-KR" altLang="en-US"/>
          </a:p>
        </p:txBody>
      </p:sp>
      <p:pic>
        <p:nvPicPr>
          <p:cNvPr id="14" name="Picture 13" descr="image.png"/>
          <p:cNvPicPr>
            <a:picLocks noChangeAspect="1"/>
          </p:cNvPicPr>
          <p:nvPr/>
        </p:nvPicPr>
        <p:blipFill>
          <a:blip r:embed="rId5"/>
          <a:stretch>
            <a:fillRect/>
          </a:stretch>
        </p:blipFill>
        <p:spPr>
          <a:xfrm>
            <a:off x="721559" y="1188720"/>
            <a:ext cx="6375000" cy="2550000"/>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3914231821"/>
              </p:ext>
            </p:extLst>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r>
                        <a:rPr sz="800" b="1" dirty="0">
                          <a:solidFill>
                            <a:srgbClr val="000000"/>
                          </a:solidFill>
                        </a:rPr>
                        <a:t>Treatment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r>
                        <a:rPr sz="800" b="0">
                          <a:solidFill>
                            <a:srgbClr val="000000"/>
                          </a:solidFill>
                        </a:rPr>
                        <a:t>Control</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0.363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0.347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0.264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0.155 ab</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r>
                        <a:rPr sz="80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0.224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0.248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0.113 b</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r>
                        <a:rPr lang="en-US" sz="800" b="0" dirty="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0.273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0.353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0.254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0.162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r>
                        <a:rPr lang="en-US" sz="800" b="0" dirty="0">
                          <a:solidFill>
                            <a:srgbClr val="000000"/>
                          </a:solidFill>
                        </a:rPr>
                        <a:t>Combined</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0.233 b</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0.237 a</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0.145 ab</a:t>
                      </a:r>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1">
                <a:solidFill>
                  <a:srgbClr val="000000"/>
                </a:solidFill>
              </a:rPr>
              <a:t>콩 P1:</a:t>
            </a:r>
            <a:r>
              <a:rPr sz="1400">
                <a:solidFill>
                  <a:srgbClr val="000000"/>
                </a:solidFill>
              </a:rPr>
              <a:t> 침수구 0.27이 대조구 0.36보다 낮음</a:t>
            </a:r>
          </a:p>
          <a:p>
            <a:pPr marL="201168" indent="-201168">
              <a:spcBef>
                <a:spcPts val="0"/>
              </a:spcBef>
              <a:buFont typeface="Arial"/>
              <a:buChar char="•"/>
            </a:pPr>
            <a:r>
              <a:rPr sz="1400" b="1">
                <a:solidFill>
                  <a:srgbClr val="000000"/>
                </a:solidFill>
              </a:rPr>
              <a:t>콩 P2:</a:t>
            </a:r>
            <a:r>
              <a:rPr sz="1400">
                <a:solidFill>
                  <a:srgbClr val="000000"/>
                </a:solidFill>
              </a:rPr>
              <a:t> 건조·복합구 0.22~0.23이 대조구·침수구 0.35보다 낮음</a:t>
            </a:r>
          </a:p>
          <a:p>
            <a:pPr marL="201168" indent="-201168">
              <a:spcBef>
                <a:spcPts val="0"/>
              </a:spcBef>
              <a:buFont typeface="Arial"/>
              <a:buChar char="•"/>
            </a:pPr>
            <a:r>
              <a:rPr sz="1400" b="1">
                <a:solidFill>
                  <a:srgbClr val="000000"/>
                </a:solidFill>
              </a:rPr>
              <a:t>로메인 P1:</a:t>
            </a:r>
            <a:r>
              <a:rPr sz="1400">
                <a:solidFill>
                  <a:srgbClr val="000000"/>
                </a:solidFill>
              </a:rPr>
              <a:t> 침수 중 DAT 3에 대조구의 10%까지 급감했으나 DAT 5에 89%로 회복</a:t>
            </a:r>
          </a:p>
          <a:p>
            <a:pPr marL="201168" indent="-201168">
              <a:spcBef>
                <a:spcPts val="0"/>
              </a:spcBef>
              <a:buFont typeface="Arial"/>
              <a:buChar char="•"/>
            </a:pPr>
            <a:r>
              <a:rPr sz="1400">
                <a:solidFill>
                  <a:srgbClr val="000000"/>
                </a:solidFill>
              </a:rPr>
              <a:t>로메인 P2:  건조구 0.113이 침수구 0.162보다 낮음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기공은 두 작물 모두 침수에 즉시 반응 — </a:t>
            </a:r>
            <a:r>
              <a:rPr sz="1600" b="1">
                <a:solidFill>
                  <a:srgbClr val="E97132"/>
                </a:solidFill>
              </a:rPr>
              <a:t>차이는 회복 속도에서 나타남</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표·그림: PAR·기온 보정 이전 원자료(측정 데이터의 보정 gsw) 평균, Tukey 문자(처리 + 측정일 모형). 그림: 음영 ± SE, 회색 띠 흐린 날, 빗금 침수 기간, * 당일 P&lt;0.05(Holm).</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기공전도도 회복 (g</a:t>
            </a:r>
            <a:r>
              <a:rPr lang="ko-KR" altLang="en-US" sz="2800" dirty="0" baseline="-25000"/>
              <a:t>sw</a:t>
            </a:r>
            <a:r>
              <a:rPr lang="ko-KR" altLang="en-US" sz="2800" dirty="0"/>
              <a:t>, % of control)</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9</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같은 3일 침수에도 로메인은 배수 2~3일 만에 회복, 콩은 DAT 9까지 회복되지 않음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각 처리 g</a:t>
            </a:r>
            <a:r>
              <a:rPr sz="1000" baseline="-25000">
                <a:solidFill>
                  <a:srgbClr val="595959"/>
                </a:solidFill>
              </a:rPr>
              <a:t>sw</a:t>
            </a:r>
            <a:r>
              <a:rPr sz="1000">
                <a:solidFill>
                  <a:srgbClr val="595959"/>
                </a:solidFill>
              </a:rPr>
              <a:t> ÷ 같은 날 대조구 g</a:t>
            </a:r>
            <a:r>
              <a:rPr sz="1000" baseline="-25000">
                <a:solidFill>
                  <a:srgbClr val="595959"/>
                </a:solidFill>
              </a:rPr>
              <a:t>sw</a:t>
            </a:r>
            <a:r>
              <a:rPr sz="1000">
                <a:solidFill>
                  <a:srgbClr val="595959"/>
                </a:solidFill>
              </a:rPr>
              <a:t> × 100 (PAR·기온 보정 이전 일평균). * 대조 vs 처리 P&lt;0.05(Welch t, Holm 보정). 건조·복합은 회색. 콩 DAT 10~16은 측정 없음, 콩 건조·복합은 DAT 17부터 측정.</a:t>
            </a:r>
          </a:p>
        </p:txBody>
      </p:sp>
      <p:pic>
        <p:nvPicPr>
          <p:cNvPr id="27" name="Picture 26" descr="image.png"/>
          <p:cNvPicPr>
            <a:picLocks noChangeAspect="1"/>
          </p:cNvPicPr>
          <p:nvPr/>
        </p:nvPicPr>
        <p:blipFill>
          <a:blip r:embed="rId5"/>
          <a:stretch>
            <a:fillRect/>
          </a:stretch>
        </p:blipFill>
        <p:spPr>
          <a:xfrm>
            <a:off x="457200" y="1261872"/>
            <a:ext cx="7040880" cy="3200399"/>
          </a:xfrm>
          <a:prstGeom prst="rect">
            <a:avLst/>
          </a:prstGeom>
        </p:spPr>
      </p:pic>
      <p:sp>
        <p:nvSpPr>
          <p:cNvPr id="28" name="Recovery text"/>
          <p:cNvSpPr txBox="1"/>
          <p:nvPr/>
        </p:nvSpPr>
        <p:spPr>
          <a:xfrm>
            <a:off x="841248" y="4553712"/>
            <a:ext cx="6492240" cy="109728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250" b="1" dirty="0">
                <a:solidFill>
                  <a:srgbClr val="000000"/>
                </a:solidFill>
              </a:rPr>
              <a:t>로메인:</a:t>
            </a:r>
            <a:r>
              <a:rPr lang="ko-KR" altLang="en-US" sz="1250" dirty="0">
                <a:solidFill>
                  <a:srgbClr val="000000"/>
                </a:solidFill>
              </a:rPr>
              <a:t> 침수 DAT 3에 대조구의 10%까지 낮아졌다가 DAT 5~6(89~98%)에 대조구 수준으로 회복</a:t>
            </a:r>
          </a:p>
          <a:p>
            <a:pPr marL="201168" indent="-201168" algn="l">
              <a:spcBef>
                <a:spcPts val="600"/>
              </a:spcBef>
              <a:buFont typeface="Arial"/>
              <a:buChar char="•"/>
            </a:pPr>
            <a:r>
              <a:rPr lang="ko-KR" altLang="en-US" sz="1250" b="1" dirty="0">
                <a:solidFill>
                  <a:srgbClr val="000000"/>
                </a:solidFill>
              </a:rPr>
              <a:t>콩:</a:t>
            </a:r>
            <a:r>
              <a:rPr lang="ko-KR" altLang="en-US" sz="1250" dirty="0">
                <a:solidFill>
                  <a:srgbClr val="000000"/>
                </a:solidFill>
              </a:rPr>
              <a:t> 침수 종료 6일 후(DAT 9)에도 48%였고 DAT 17 86%, DAT 23 105%로 회복</a:t>
            </a:r>
          </a:p>
        </p:txBody>
      </p:sp>
      <p:sp>
        <p:nvSpPr>
          <p:cNvPr id="29" name="Stat box"/>
          <p:cNvSpPr/>
          <p:nvPr/>
        </p:nvSpPr>
        <p:spPr>
          <a:xfrm>
            <a:off x="7863840" y="1417320"/>
            <a:ext cx="3493008" cy="187452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30" name="Stat value"/>
          <p:cNvSpPr txBox="1"/>
          <p:nvPr/>
        </p:nvSpPr>
        <p:spPr>
          <a:xfrm>
            <a:off x="7909560" y="1490472"/>
            <a:ext cx="3401568" cy="1030986"/>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3400" dirty="0">
                <a:solidFill>
                  <a:srgbClr val="2E6B3F"/>
                </a:solidFill>
              </a:rPr>
              <a:t>2~3일</a:t>
            </a:r>
          </a:p>
        </p:txBody>
      </p:sp>
      <p:sp>
        <p:nvSpPr>
          <p:cNvPr id="31" name="Stat label"/>
          <p:cNvSpPr txBox="1"/>
          <p:nvPr/>
        </p:nvSpPr>
        <p:spPr>
          <a:xfrm>
            <a:off x="7936992" y="2542032"/>
            <a:ext cx="3346704" cy="712318"/>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로메인: 배수 후 대조구 수준까지 회복</a:t>
            </a:r>
          </a:p>
        </p:txBody>
      </p:sp>
      <p:sp>
        <p:nvSpPr>
          <p:cNvPr id="32" name="Stat box"/>
          <p:cNvSpPr/>
          <p:nvPr/>
        </p:nvSpPr>
        <p:spPr>
          <a:xfrm>
            <a:off x="7863840" y="3611880"/>
            <a:ext cx="3493008" cy="1874520"/>
          </a:xfrm>
          <a:prstGeom prst="roundRect">
            <a:avLst>
              <a:gd name="adj" fmla="val 12000"/>
            </a:avLst>
          </a:prstGeom>
          <a:solidFill>
            <a:srgbClr val="FFFFFF"/>
          </a:solidFill>
          <a:ln w="19050">
            <a:solidFill>
              <a:srgbClr val="6B4226"/>
            </a:solidFill>
          </a:ln>
        </p:spPr>
        <p:txBody>
          <a:bodyPr wrap="square" lIns="73152" tIns="36576" rIns="73152" bIns="36576" rtlCol="0" anchor="ctr">
            <a:noAutofit/>
          </a:bodyPr>
          <a:lstStyle/>
          <a:p>
            <a:endParaRPr lang="ko-KR"/>
          </a:p>
        </p:txBody>
      </p:sp>
      <p:sp>
        <p:nvSpPr>
          <p:cNvPr id="33" name="Stat value"/>
          <p:cNvSpPr txBox="1"/>
          <p:nvPr/>
        </p:nvSpPr>
        <p:spPr>
          <a:xfrm>
            <a:off x="7909560" y="3685032"/>
            <a:ext cx="3401568" cy="1030986"/>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3000" dirty="0">
                <a:solidFill>
                  <a:srgbClr val="6B4226"/>
                </a:solidFill>
              </a:rPr>
              <a:t>DAT 9: 48%</a:t>
            </a:r>
          </a:p>
        </p:txBody>
      </p:sp>
      <p:sp>
        <p:nvSpPr>
          <p:cNvPr id="34" name="Stat label"/>
          <p:cNvSpPr txBox="1"/>
          <p:nvPr/>
        </p:nvSpPr>
        <p:spPr>
          <a:xfrm>
            <a:off x="7936992" y="4736592"/>
            <a:ext cx="3346704" cy="712318"/>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콩: 침수 종료 6일 후에도 미회복</a:t>
            </a:r>
          </a:p>
        </p:txBody>
      </p:sp>
      <p:sp>
        <p:nvSpPr>
          <p:cNvPr id="40"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1"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2"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43"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4"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50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9243278" cy="566928"/>
          </a:xfrm>
        </p:spPr>
        <p:txBody>
          <a:bodyPr anchor="b">
            <a:normAutofit/>
          </a:bodyPr>
          <a:lstStyle/>
          <a:p>
            <a:r>
              <a:rPr lang="ko-KR" altLang="en-US" sz="2800" dirty="0"/>
              <a:t>LI-600 : 광계 II 양자수율 (Φ</a:t>
            </a:r>
            <a:r>
              <a:rPr lang="ko-KR" altLang="en-US" sz="2800" dirty="0" baseline="-25000"/>
              <a:t>PSII</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11</a:t>
            </a:fld>
            <a:endParaRPr lang="ko-KR" altLang="en-US"/>
          </a:p>
        </p:txBody>
      </p:sp>
      <p:pic>
        <p:nvPicPr>
          <p:cNvPr id="14" name="Picture 13" descr="image.png"/>
          <p:cNvPicPr>
            <a:picLocks noChangeAspect="1"/>
          </p:cNvPicPr>
          <p:nvPr/>
        </p:nvPicPr>
        <p:blipFill>
          <a:blip r:embed="rId5"/>
          <a:stretch>
            <a:fillRect/>
          </a:stretch>
        </p:blipFill>
        <p:spPr>
          <a:xfrm>
            <a:off x="771006" y="1188720"/>
            <a:ext cx="6276107" cy="2510443"/>
          </a:xfrm>
          <a:prstGeom prst="rect">
            <a:avLst/>
          </a:prstGeom>
        </p:spPr>
      </p:pic>
      <p:graphicFrame>
        <p:nvGraphicFramePr>
          <p:cNvPr id="8" name="Table 7"/>
          <p:cNvGraphicFramePr>
            <a:graphicFrameLocks noGrp="1"/>
          </p:cNvGraphicFramePr>
          <p:nvPr/>
        </p:nvGraphicFramePr>
        <p:xfrm>
          <a:off x="457200" y="3790000"/>
          <a:ext cx="6858000" cy="1420416"/>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190000">
                <a:tc>
                  <a:txBody>
                    <a:bodyPr/>
                    <a:lstStyle/>
                    <a:p>
                      <a:pPr algn="l"/>
                      <a:r>
                        <a:rPr sz="800" b="1" dirty="0">
                          <a:solidFill>
                            <a:srgbClr val="000000"/>
                          </a:solidFill>
                        </a:rPr>
                        <a:t>Treatment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r>
                        <a:rPr sz="800" b="0">
                          <a:solidFill>
                            <a:srgbClr val="000000"/>
                          </a:solidFill>
                        </a:rPr>
                        <a:t>Control</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0.704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0.696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0.611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0.645 a</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r>
                        <a:rPr sz="80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0.609 c</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0.595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0.649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r>
                        <a:rPr lang="en-US" sz="800" b="0" dirty="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0.679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0.660 ab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0.591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0.642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r>
                        <a:rPr lang="en-US" sz="800" b="0" dirty="0">
                          <a:solidFill>
                            <a:srgbClr val="000000"/>
                          </a:solidFill>
                        </a:rPr>
                        <a:t>Combined</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0.631 bc</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0.585 a</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0.655 a</a:t>
                      </a:r>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콩 P1:  침수구 0.679가 대조구 0.704보다 낮음</a:t>
            </a:r>
          </a:p>
          <a:p>
            <a:pPr marL="201168" indent="-201168">
              <a:spcBef>
                <a:spcPts val="0"/>
              </a:spcBef>
              <a:buFont typeface="Arial"/>
              <a:buChar char="•"/>
            </a:pPr>
            <a:r>
              <a:rPr sz="1400" b="1">
                <a:solidFill>
                  <a:srgbClr val="000000"/>
                </a:solidFill>
              </a:rPr>
              <a:t>콩 P2:</a:t>
            </a:r>
            <a:r>
              <a:rPr sz="1400">
                <a:solidFill>
                  <a:srgbClr val="000000"/>
                </a:solidFill>
              </a:rPr>
              <a:t> 건조구 0.609가 가장 낮고 대조구 0.696과 차이를 보임 (복합 0.631, 침수 0.660)</a:t>
            </a:r>
          </a:p>
          <a:p>
            <a:pPr marL="201168" indent="-201168">
              <a:spcBef>
                <a:spcPts val="0"/>
              </a:spcBef>
              <a:buFont typeface="Arial"/>
              <a:buChar char="•"/>
            </a:pPr>
            <a:r>
              <a:rPr sz="1400">
                <a:solidFill>
                  <a:srgbClr val="000000"/>
                </a:solidFill>
              </a:rPr>
              <a:t>로메인:  P1 0.585~0.611, P2 0.642~0.655로 4처리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콩은 건조구에서 Φ</a:t>
            </a:r>
            <a:r>
              <a:rPr sz="1600" baseline="-25000">
                <a:solidFill>
                  <a:srgbClr val="E97132"/>
                </a:solidFill>
              </a:rPr>
              <a:t>PSII</a:t>
            </a:r>
            <a:r>
              <a:rPr sz="1600">
                <a:solidFill>
                  <a:srgbClr val="E97132"/>
                </a:solidFill>
              </a:rPr>
              <a:t>가 낮았고, 로메인은 처리 간 차이 없음</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표·그림: 측정일·PAR·기온 보정 평균, Tukey 문자. P2는 PPFD 수준을 나누지 않고 통합하여 분석. 그림: 음영 ± SE, 점선 P1/P2 경계, 회색 띠 흐린 날, * 당일 P&lt;0.05(Holm), X 처리 전.</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LI-6800 : 광합성 능력 (V</a:t>
            </a:r>
            <a:r>
              <a:rPr lang="ko-KR" altLang="en-US" sz="2800" dirty="0" baseline="-25000"/>
              <a:t>cmax</a:t>
            </a:r>
            <a:r>
              <a:rPr lang="ko-KR" altLang="en-US" sz="2800" dirty="0"/>
              <a:t>, J</a:t>
            </a:r>
            <a:r>
              <a:rPr lang="ko-KR" altLang="en-US" sz="2800" dirty="0" baseline="-25000"/>
              <a:t>max</a:t>
            </a:r>
            <a:r>
              <a:rPr lang="ko-KR" altLang="en-US" sz="2800" dirty="0"/>
              <a:t>, R</a:t>
            </a:r>
            <a:r>
              <a:rPr lang="ko-KR" altLang="en-US" sz="2800" dirty="0" baseline="-25000"/>
              <a:t>d</a:t>
            </a:r>
            <a:r>
              <a:rPr lang="ko-KR" altLang="en-US" sz="2800" dirty="0"/>
              <a:t>, A–PPFD)</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13</a:t>
            </a:fld>
            <a:endParaRPr lang="ko-KR" altLang="en-US"/>
          </a:p>
        </p:txBody>
      </p:sp>
      <p:pic>
        <p:nvPicPr>
          <p:cNvPr id="14" name="Picture 13" descr="image.png"/>
          <p:cNvPicPr>
            <a:picLocks noChangeAspect="1"/>
          </p:cNvPicPr>
          <p:nvPr/>
        </p:nvPicPr>
        <p:blipFill>
          <a:blip r:embed="rId5"/>
          <a:stretch>
            <a:fillRect/>
          </a:stretch>
        </p:blipFill>
        <p:spPr>
          <a:xfrm>
            <a:off x="777240" y="1199097"/>
            <a:ext cx="5943600" cy="2743200"/>
          </a:xfrm>
          <a:prstGeom prst="rect">
            <a:avLst/>
          </a:prstGeom>
        </p:spPr>
      </p:pic>
      <p:graphicFrame>
        <p:nvGraphicFramePr>
          <p:cNvPr id="8" name="Table 7"/>
          <p:cNvGraphicFramePr>
            <a:graphicFrameLocks noGrp="1"/>
          </p:cNvGraphicFramePr>
          <p:nvPr/>
        </p:nvGraphicFramePr>
        <p:xfrm>
          <a:off x="457200" y="4114800"/>
          <a:ext cx="6583679" cy="1399032"/>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4"/>
                    </a:ext>
                  </a:extLst>
                </a:gridCol>
                <a:gridCol w="868680">
                  <a:extLst>
                    <a:ext uri="{9D8B030D-6E8A-4147-A177-3AD203B41FA5}">
                      <a16:colId xmlns:a16="http://schemas.microsoft.com/office/drawing/2014/main" val="20004"/>
                    </a:ext>
                  </a:extLst>
                </a:gridCol>
              </a:tblGrid>
              <a:tr h="233172">
                <a:tc>
                  <a:txBody>
                    <a:bodyPr/>
                    <a:lstStyle/>
                    <a:p>
                      <a:pPr algn="l"/>
                      <a:r>
                        <a:rPr sz="1050" b="1">
                          <a:solidFill>
                            <a:srgbClr val="000000"/>
                          </a:solidFill>
                        </a:rPr>
                        <a:t>Treatment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Soy V</a:t>
                      </a:r>
                      <a:r>
                        <a:rPr sz="1050" b="1" baseline="-25000">
                          <a:solidFill>
                            <a:srgbClr val="000000"/>
                          </a:solidFill>
                        </a:rPr>
                        <a:t>cmax</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Soy J</a:t>
                      </a:r>
                      <a:r>
                        <a:rPr sz="1050" b="1" baseline="-25000">
                          <a:solidFill>
                            <a:srgbClr val="000000"/>
                          </a:solidFill>
                        </a:rPr>
                        <a:t>max</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Soy LSP</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Rom V</a:t>
                      </a:r>
                      <a:r>
                        <a:rPr sz="1050" b="1" baseline="-25000">
                          <a:solidFill>
                            <a:srgbClr val="000000"/>
                          </a:solidFill>
                        </a:rPr>
                        <a:t>cmax</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c>
                  <a:txBody>
                    <a:bodyPr/>
                    <a:lstStyle/>
                    <a:p>
                      <a:pPr algn="ctr"/>
                      <a:r>
                        <a:rPr sz="1050" b="1">
                          <a:solidFill>
                            <a:srgbClr val="000000"/>
                          </a:solidFill>
                        </a:rPr>
                        <a:t>Rom J</a:t>
                      </a:r>
                      <a:r>
                        <a:rPr sz="1050" b="1" baseline="-25000">
                          <a:solidFill>
                            <a:srgbClr val="000000"/>
                          </a:solidFill>
                        </a:rPr>
                        <a:t>max</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Rom LSP</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r>
              <a:tr h="233172">
                <a:tc>
                  <a:txBody>
                    <a:bodyPr/>
                    <a:lstStyle/>
                    <a:p>
                      <a:pPr algn="l"/>
                      <a:r>
                        <a:rPr sz="1050" b="0">
                          <a:solidFill>
                            <a:srgbClr val="000000"/>
                          </a:solidFill>
                        </a:rPr>
                        <a:t>Pre-treatment</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60</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83</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576</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98</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c>
                  <a:txBody>
                    <a:bodyPr/>
                    <a:lstStyle/>
                    <a:p>
                      <a:pPr algn="ctr"/>
                      <a:r>
                        <a:rPr sz="1050" b="0">
                          <a:solidFill>
                            <a:srgbClr val="000000"/>
                          </a:solidFill>
                        </a:rPr>
                        <a:t>173</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572</a:t>
                      </a:r>
                    </a:p>
                  </a:txBody>
                  <a:tcPr marL="54864" marR="54864" marT="18288" marB="18288" anchor="ctr">
                    <a:lnL w="12700">
                      <a:noFill/>
                    </a:lnL>
                    <a:lnR w="12700">
                      <a:noFill/>
                    </a:lnR>
                    <a:lnT w="9525" cap="flat" cmpd="sng" algn="ctr">
                      <a:solidFill>
                        <a:srgbClr val="000000"/>
                      </a:solidFill>
                      <a:prstDash val="solid"/>
                    </a:lnT>
                    <a:lnB w="12700">
                      <a:noFill/>
                    </a:lnB>
                    <a:noFill/>
                  </a:tcPr>
                </a:tc>
              </a:tr>
              <a:tr h="233172">
                <a:tc>
                  <a:txBody>
                    <a:bodyPr/>
                    <a:lstStyle/>
                    <a:p>
                      <a:pPr algn="l"/>
                      <a:r>
                        <a:rPr sz="1050" b="0">
                          <a:solidFill>
                            <a:srgbClr val="000000"/>
                          </a:solidFill>
                        </a:rPr>
                        <a:t>Control</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90 a</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150 a</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561 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104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c>
                  <a:txBody>
                    <a:bodyPr/>
                    <a:lstStyle/>
                    <a:p>
                      <a:pPr algn="ctr"/>
                      <a:r>
                        <a:rPr sz="1050" b="0">
                          <a:solidFill>
                            <a:srgbClr val="000000"/>
                          </a:solidFill>
                        </a:rPr>
                        <a:t>200 a</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1350</a:t>
                      </a:r>
                    </a:p>
                  </a:txBody>
                  <a:tcPr marL="54864" marR="54864" marT="18288" marB="18288" anchor="ctr">
                    <a:lnL w="12700">
                      <a:noFill/>
                    </a:lnL>
                    <a:lnR w="12700">
                      <a:noFill/>
                    </a:lnR>
                    <a:lnT w="12700">
                      <a:noFill/>
                    </a:lnT>
                    <a:lnB w="12700">
                      <a:noFill/>
                    </a:lnB>
                    <a:noFill/>
                  </a:tcPr>
                </a:tc>
              </a:tr>
              <a:tr h="233172">
                <a:tc>
                  <a:txBody>
                    <a:bodyPr/>
                    <a:lstStyle/>
                    <a:p>
                      <a:pPr algn="l"/>
                      <a:r>
                        <a:rPr sz="105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68 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104 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816 a</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94 ab</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c>
                  <a:txBody>
                    <a:bodyPr/>
                    <a:lstStyle/>
                    <a:p>
                      <a:pPr algn="ctr"/>
                      <a:r>
                        <a:rPr sz="1050" b="0">
                          <a:solidFill>
                            <a:srgbClr val="000000"/>
                          </a:solidFill>
                        </a:rPr>
                        <a:t>175 ab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1151</a:t>
                      </a:r>
                    </a:p>
                  </a:txBody>
                  <a:tcPr marL="54864" marR="54864" marT="18288" marB="18288" anchor="ctr">
                    <a:lnL w="12700">
                      <a:noFill/>
                    </a:lnL>
                    <a:lnR w="12700">
                      <a:noFill/>
                    </a:lnR>
                    <a:lnT w="12700">
                      <a:noFill/>
                    </a:lnT>
                    <a:lnB w="12700">
                      <a:noFill/>
                    </a:lnB>
                    <a:noFill/>
                  </a:tcPr>
                </a:tc>
              </a:tr>
              <a:tr h="233172">
                <a:tc>
                  <a:txBody>
                    <a:bodyPr/>
                    <a:lstStyle/>
                    <a:p>
                      <a:pPr algn="l"/>
                      <a:r>
                        <a:rPr sz="1050" b="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85 ab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144 a</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549 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88 ab</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c>
                  <a:txBody>
                    <a:bodyPr/>
                    <a:lstStyle/>
                    <a:p>
                      <a:pPr algn="ctr"/>
                      <a:r>
                        <a:rPr sz="1050" b="0">
                          <a:solidFill>
                            <a:srgbClr val="000000"/>
                          </a:solidFill>
                        </a:rPr>
                        <a:t>168 ab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1981</a:t>
                      </a:r>
                    </a:p>
                  </a:txBody>
                  <a:tcPr marL="54864" marR="54864" marT="18288" marB="18288" anchor="ctr">
                    <a:lnL w="12700">
                      <a:noFill/>
                    </a:lnL>
                    <a:lnR w="12700">
                      <a:noFill/>
                    </a:lnR>
                    <a:lnT w="12700">
                      <a:noFill/>
                    </a:lnT>
                    <a:lnB w="12700">
                      <a:noFill/>
                    </a:lnB>
                    <a:noFill/>
                  </a:tcPr>
                </a:tc>
              </a:tr>
              <a:tr h="233172">
                <a:tc>
                  <a:txBody>
                    <a:bodyPr/>
                    <a:lstStyle/>
                    <a:p>
                      <a:pPr algn="l"/>
                      <a:r>
                        <a:rPr sz="1050" b="0">
                          <a:solidFill>
                            <a:srgbClr val="000000"/>
                          </a:solidFill>
                        </a:rPr>
                        <a:t>Combined</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1050" b="0">
                          <a:solidFill>
                            <a:srgbClr val="000000"/>
                          </a:solidFill>
                        </a:rPr>
                        <a:t>75 ab</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1050" b="0">
                          <a:solidFill>
                            <a:srgbClr val="000000"/>
                          </a:solidFill>
                        </a:rPr>
                        <a:t>120 b</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1050" b="0">
                          <a:solidFill>
                            <a:srgbClr val="000000"/>
                          </a:solidFill>
                        </a:rPr>
                        <a:t>690 ab</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1050" b="0">
                          <a:solidFill>
                            <a:srgbClr val="000000"/>
                          </a:solidFill>
                        </a:rPr>
                        <a:t>73 b</a:t>
                      </a:r>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5"/>
                  </a:ext>
                </a:extLst>
                <a:tc>
                  <a:txBody>
                    <a:bodyPr/>
                    <a:lstStyle/>
                    <a:p>
                      <a:pPr algn="ctr"/>
                      <a:r>
                        <a:rPr sz="1050" b="0">
                          <a:solidFill>
                            <a:srgbClr val="000000"/>
                          </a:solidFill>
                        </a:rPr>
                        <a:t>142 b</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1050" b="0">
                          <a:solidFill>
                            <a:srgbClr val="000000"/>
                          </a:solidFill>
                        </a:rPr>
                        <a:t>841</a:t>
                      </a:r>
                    </a:p>
                  </a:txBody>
                  <a:tcPr marL="54864" marR="54864" marT="18288" marB="18288" anchor="ctr">
                    <a:lnL w="12700">
                      <a:noFill/>
                    </a:lnL>
                    <a:lnR w="12700">
                      <a:noFill/>
                    </a:lnR>
                    <a:lnT w="12700">
                      <a:noFill/>
                    </a:lnT>
                    <a:lnB w="28575" cap="flat" cmpd="sng" algn="ctr">
                      <a:solidFill>
                        <a:srgbClr val="000000"/>
                      </a:solidFill>
                      <a:prstDash val="solid"/>
                    </a:lnB>
                    <a:noFill/>
                  </a:tcPr>
                </a:tc>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1">
                <a:solidFill>
                  <a:srgbClr val="000000"/>
                </a:solidFill>
              </a:rPr>
              <a:t>콩:</a:t>
            </a:r>
            <a:r>
              <a:rPr sz="1400">
                <a:solidFill>
                  <a:srgbClr val="000000"/>
                </a:solidFill>
              </a:rPr>
              <a:t> 건조구의 V</a:t>
            </a:r>
            <a:r>
              <a:rPr sz="1400" baseline="-25000">
                <a:solidFill>
                  <a:srgbClr val="000000"/>
                </a:solidFill>
              </a:rPr>
              <a:t>cmax</a:t>
            </a:r>
            <a:r>
              <a:rPr sz="1400">
                <a:solidFill>
                  <a:srgbClr val="000000"/>
                </a:solidFill>
              </a:rPr>
              <a:t> 68·J</a:t>
            </a:r>
            <a:r>
              <a:rPr sz="1400" baseline="-25000">
                <a:solidFill>
                  <a:srgbClr val="000000"/>
                </a:solidFill>
              </a:rPr>
              <a:t>max</a:t>
            </a:r>
            <a:r>
              <a:rPr sz="1400">
                <a:solidFill>
                  <a:srgbClr val="000000"/>
                </a:solidFill>
              </a:rPr>
              <a:t> 104가 대조구 90·150보다 낮고, LSP는 건조구가 816으로 대조구 561보다 높음</a:t>
            </a:r>
          </a:p>
          <a:p>
            <a:pPr marL="201168" indent="-201168">
              <a:spcBef>
                <a:spcPts val="0"/>
              </a:spcBef>
              <a:buFont typeface="Arial"/>
              <a:buChar char="•"/>
            </a:pPr>
            <a:r>
              <a:rPr sz="1400">
                <a:solidFill>
                  <a:srgbClr val="000000"/>
                </a:solidFill>
              </a:rPr>
              <a:t>로메인:</a:t>
            </a:r>
            <a:r>
              <a:rPr sz="1400">
                <a:solidFill>
                  <a:srgbClr val="000000"/>
                </a:solidFill>
              </a:rPr>
              <a:t> 복합구의 V</a:t>
            </a:r>
            <a:r>
              <a:rPr sz="1400" baseline="-25000">
                <a:solidFill>
                  <a:srgbClr val="000000"/>
                </a:solidFill>
              </a:rPr>
              <a:t>cmax</a:t>
            </a:r>
            <a:r>
              <a:rPr sz="1400">
                <a:solidFill>
                  <a:srgbClr val="000000"/>
                </a:solidFill>
              </a:rPr>
              <a:t> 73·J</a:t>
            </a:r>
            <a:r>
              <a:rPr sz="1400" baseline="-25000">
                <a:solidFill>
                  <a:srgbClr val="000000"/>
                </a:solidFill>
              </a:rPr>
              <a:t>max</a:t>
            </a:r>
            <a:r>
              <a:rPr sz="1400">
                <a:solidFill>
                  <a:srgbClr val="000000"/>
                </a:solidFill>
              </a:rPr>
              <a:t> 142가 대조구 104·200보다 낮고, LSP는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 건조·복합구(9월)와 로메인 복합구(10월)에서 V</a:t>
            </a:r>
            <a:r>
              <a:rPr sz="1600" baseline="-25000">
                <a:solidFill>
                  <a:srgbClr val="E97132"/>
                </a:solidFill>
              </a:rPr>
              <a:t>cmax</a:t>
            </a:r>
            <a:r>
              <a:rPr sz="1600">
                <a:solidFill>
                  <a:srgbClr val="E97132"/>
                </a:solidFill>
              </a:rPr>
              <a:t>·J</a:t>
            </a:r>
            <a:r>
              <a:rPr sz="1600" baseline="-25000">
                <a:solidFill>
                  <a:srgbClr val="E97132"/>
                </a:solidFill>
              </a:rPr>
              <a:t>max</a:t>
            </a:r>
            <a:r>
              <a:rPr sz="1600">
                <a:solidFill>
                  <a:srgbClr val="E97132"/>
                </a:solidFill>
              </a:rPr>
              <a:t>가 낮은 경향 — 측정일 교락으로 확정은 어려움</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상자: 사분위(n≥4), 가로선: 평균 ± SE(n&lt;4), 점: 개별 곡선, 문자: Tukey(ANOVA P&lt;0.05일 때만). 곡선: NRH 모형 평균, ▼ = LSP (광포화점), 로메인 1,500 초과는 외삽(점선). 콩 9/2~9/17, 로메인 10/16~19 측정으로 처리와 측정일이 교락됨.</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9069106" cy="566928"/>
          </a:xfrm>
        </p:spPr>
        <p:txBody>
          <a:bodyPr anchor="b">
            <a:normAutofit/>
          </a:bodyPr>
          <a:lstStyle/>
          <a:p>
            <a:r>
              <a:rPr lang="ko-KR" altLang="en-US" sz="2800" dirty="0"/>
              <a:t>생육 조사 : 수량 및 지상부 생육</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14</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건물중 −16~43% 감소, 콩은 수량 감소 경향이나 유의차 없음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평균 (대조구 대비 %), 건조·침수·복합 순. 로메인 10/23(DAT 16) 처리당 8~9주, 콩 10/6(DAT 55, R6~R7) 파괴조사 n=6~9. 그림: 평균 ± SE, 문자 Tukey(ANOVA P&lt;0.05일 때만). 100립 생체중 = 시료(약 40립) 생체중 환산값, 처리 간 유의차 없음(P=0.23).</a:t>
            </a:r>
          </a:p>
        </p:txBody>
      </p:sp>
      <p:pic>
        <p:nvPicPr>
          <p:cNvPr id="27" name="Picture 26" descr="image.png"/>
          <p:cNvPicPr>
            <a:picLocks noChangeAspect="1"/>
          </p:cNvPicPr>
          <p:nvPr/>
        </p:nvPicPr>
        <p:blipFill>
          <a:blip r:embed="rId5"/>
          <a:stretch>
            <a:fillRect/>
          </a:stretch>
        </p:blipFill>
        <p:spPr>
          <a:xfrm>
            <a:off x="658368" y="1143000"/>
            <a:ext cx="6638544" cy="1982941"/>
          </a:xfrm>
          <a:prstGeom prst="rect">
            <a:avLst/>
          </a:prstGeom>
        </p:spPr>
      </p:pic>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로메인:</a:t>
            </a:r>
            <a:r>
              <a:rPr lang="ko-KR" altLang="en-US" sz="1400" dirty="0">
                <a:solidFill>
                  <a:srgbClr val="000000"/>
                </a:solidFill>
              </a:rPr>
              <a:t> 지상부 건물중이 건조 −16%, 침수 −34%, 복합 −43% 감소하고 생체중도 −29·−26·−38% 감소 (DAT 16)</a:t>
            </a:r>
          </a:p>
          <a:p>
            <a:pPr marL="201168" indent="-201168" algn="l">
              <a:spcBef>
                <a:spcPts val="1000"/>
              </a:spcBef>
              <a:buFont typeface="Arial"/>
              <a:buChar char="•"/>
            </a:pPr>
            <a:r>
              <a:rPr lang="ko-KR" altLang="en-US" sz="1400" dirty="0">
                <a:solidFill>
                  <a:srgbClr val="000000"/>
                </a:solidFill>
              </a:rPr>
              <a:t>콩:  100립 생체중은 −5·−9·−1%, 종실 건조중은 −4·−9·−18%로 감소하는 경향이나 처리 간 유의한 차이 없음 (DAT 55)</a:t>
            </a:r>
          </a:p>
        </p:txBody>
      </p:sp>
      <p:sp>
        <p:nvSpPr>
          <p:cNvPr id="46"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7"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8"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49"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50"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graphicFrame>
        <p:nvGraphicFramePr>
          <p:cNvPr id="8" name="Table 7"/>
          <p:cNvGraphicFramePr>
            <a:graphicFrameLocks noGrp="1"/>
          </p:cNvGraphicFramePr>
          <p:nvPr/>
        </p:nvGraphicFramePr>
        <p:xfrm>
          <a:off x="457200" y="3401568"/>
          <a:ext cx="7040879" cy="2098548"/>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tblGrid>
              <a:tr h="233172">
                <a:tc>
                  <a:txBody>
                    <a:bodyPr/>
                    <a:lstStyle/>
                    <a:p>
                      <a:pPr algn="l"/>
                      <a:r>
                        <a:rPr sz="800" b="1" dirty="0">
                          <a:solidFill>
                            <a:srgbClr val="000000"/>
                          </a:solidFill>
                        </a:rPr>
                        <a:t>Crop · variable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Control</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Drought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Waterlog.</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Combined</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3172">
                <a:tc>
                  <a:txBody>
                    <a:bodyPr/>
                    <a:lstStyle/>
                    <a:p>
                      <a:pPr algn="l"/>
                      <a:r>
                        <a:rPr sz="800" b="0">
                          <a:solidFill>
                            <a:srgbClr val="000000"/>
                          </a:solidFill>
                        </a:rPr>
                        <a:t>Romaine DAT 16</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3172">
                <a:tc>
                  <a:txBody>
                    <a:bodyPr/>
                    <a:lstStyle/>
                    <a:p>
                      <a:pPr algn="l"/>
                      <a:r>
                        <a:rPr sz="800" b="0">
                          <a:solidFill>
                            <a:srgbClr val="000000"/>
                          </a:solidFill>
                        </a:rPr>
                        <a:t>Shoot FW (g)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90</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63 (−29%)</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66 (−26%)</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55 (−38%)</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3172">
                <a:tc>
                  <a:txBody>
                    <a:bodyPr/>
                    <a:lstStyle/>
                    <a:p>
                      <a:pPr algn="l"/>
                      <a:r>
                        <a:rPr lang="en-US" sz="800" b="0" dirty="0">
                          <a:solidFill>
                            <a:srgbClr val="000000"/>
                          </a:solidFill>
                        </a:rPr>
                        <a:t>Shoot DW (g)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6.5</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5.4 (−16%)</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4.3 (−34%)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3.7 (−43%)</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3172">
                <a:tc>
                  <a:txBody>
                    <a:bodyPr/>
                    <a:lstStyle/>
                    <a:p>
                      <a:pPr algn="l"/>
                      <a:r>
                        <a:rPr lang="en-US" sz="800" b="0" dirty="0">
                          <a:solidFill>
                            <a:srgbClr val="000000"/>
                          </a:solidFill>
                        </a:rPr>
                        <a:t>Soybean DAT 55</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r>
                        <a:rPr lang="en-US" sz="800" b="0" dirty="0">
                          <a:solidFill>
                            <a:srgbClr val="000000"/>
                          </a:solidFill>
                        </a:rPr>
                        <a:t>Seed DW (g)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69</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66 (−4%)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63 (−9%)</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57 (−18%)</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r>
                        <a:rPr lang="en-US" sz="800" b="0" dirty="0">
                          <a:solidFill>
                            <a:srgbClr val="000000"/>
                          </a:solidFill>
                        </a:rPr>
                        <a:t>Seed no.</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354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334 (−6%)</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326 (−8%)</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300 (−15%)</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r>
                        <a:rPr lang="en-US" sz="800" b="0" dirty="0">
                          <a:solidFill>
                            <a:srgbClr val="000000"/>
                          </a:solidFill>
                        </a:rPr>
                        <a:t>Pod no.</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170</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162 (−5%)</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163 (−4%)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144 (−15%)</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r>
                        <a:rPr lang="en-US" sz="800" b="0" dirty="0">
                          <a:solidFill>
                            <a:srgbClr val="000000"/>
                          </a:solidFill>
                        </a:rPr>
                        <a:t>100-seed FW (g)</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60</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57 (−5%)</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55 (−9%)</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59 (−1%)</a:t>
                      </a:r>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4" grpId="0" animBg="1"/>
      <p:bldP spid="35" grpId="0" animBg="1"/>
      <p:bldP spid="3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종합 : 지표별 반응 (대조구 대비)</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16</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건물중 −16~43% 감소, 콩은 수량(100립 생체중) 감소 −1~9%에 그침</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 큰 감소 · ↓ 감소 · – 차이 없음. ④ 대조구 대비 %: 로메인 지상부 건물중(DAT 16), 콩 생육 = 지상부 생체중(잎+줄기), 수량 = 100립 생체중(DAT 55). 생화학은 콩 9월·로메인 10월 곡선(측정일 교락).</a:t>
            </a:r>
          </a:p>
        </p:txBody>
      </p:sp>
      <p:sp>
        <p:nvSpPr>
          <p:cNvPr id="27" name="Col head"/>
          <p:cNvSpPr/>
          <p:nvPr/>
        </p:nvSpPr>
        <p:spPr>
          <a:xfrm>
            <a:off x="2468880" y="1261872"/>
            <a:ext cx="2103120" cy="658368"/>
          </a:xfrm>
          <a:prstGeom prst="roundRect">
            <a:avLst>
              <a:gd name="adj" fmla="val 12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000000"/>
                </a:solidFill>
              </a:rPr>
              <a:t>① 기공</a:t>
            </a:r>
          </a:p>
          <a:p>
            <a:pPr marL="0" indent="0" algn="ctr">
              <a:spcBef>
                <a:spcPts val="0"/>
              </a:spcBef>
              <a:buNone/>
            </a:pPr>
            <a:r>
              <a:rPr lang="ko-KR" altLang="en-US" sz="1050" b="0" dirty="0">
                <a:solidFill>
                  <a:srgbClr val="000000"/>
                </a:solidFill>
              </a:rPr>
              <a:t>g</a:t>
            </a:r>
            <a:r>
              <a:rPr lang="ko-KR" altLang="en-US" sz="1050" b="0" dirty="0" baseline="-25000">
                <a:solidFill>
                  <a:srgbClr val="000000"/>
                </a:solidFill>
              </a:rPr>
              <a:t>sw</a:t>
            </a:r>
          </a:p>
        </p:txBody>
      </p:sp>
      <p:sp>
        <p:nvSpPr>
          <p:cNvPr id="28" name="Col head"/>
          <p:cNvSpPr/>
          <p:nvPr/>
        </p:nvSpPr>
        <p:spPr>
          <a:xfrm>
            <a:off x="4663440" y="1261872"/>
            <a:ext cx="2103120" cy="658368"/>
          </a:xfrm>
          <a:prstGeom prst="roundRect">
            <a:avLst>
              <a:gd name="adj" fmla="val 12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000000"/>
                </a:solidFill>
              </a:rPr>
              <a:t>② 명반응</a:t>
            </a:r>
          </a:p>
          <a:p>
            <a:pPr marL="0" indent="0" algn="ctr">
              <a:spcBef>
                <a:spcPts val="0"/>
              </a:spcBef>
              <a:buNone/>
            </a:pPr>
            <a:r>
              <a:rPr lang="ko-KR" altLang="en-US" sz="1050" b="0" dirty="0">
                <a:solidFill>
                  <a:srgbClr val="000000"/>
                </a:solidFill>
              </a:rPr>
              <a:t>Φ</a:t>
            </a:r>
            <a:r>
              <a:rPr lang="ko-KR" altLang="en-US" sz="1050" b="0" dirty="0" baseline="-25000">
                <a:solidFill>
                  <a:srgbClr val="000000"/>
                </a:solidFill>
              </a:rPr>
              <a:t>PSII</a:t>
            </a:r>
          </a:p>
        </p:txBody>
      </p:sp>
      <p:sp>
        <p:nvSpPr>
          <p:cNvPr id="31" name="Col head"/>
          <p:cNvSpPr/>
          <p:nvPr/>
        </p:nvSpPr>
        <p:spPr>
          <a:xfrm>
            <a:off x="6858000" y="1261872"/>
            <a:ext cx="2103120" cy="658368"/>
          </a:xfrm>
          <a:prstGeom prst="roundRect">
            <a:avLst>
              <a:gd name="adj" fmla="val 12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FFFFFF"/>
                </a:solidFill>
              </a:rPr>
              <a:t>③ 생화학</a:t>
            </a:r>
          </a:p>
          <a:p>
            <a:pPr marL="0" indent="0" algn="ctr">
              <a:spcBef>
                <a:spcPts val="0"/>
              </a:spcBef>
              <a:buNone/>
            </a:pPr>
            <a:r>
              <a:rPr lang="ko-KR" altLang="en-US" sz="1050" b="0" dirty="0">
                <a:solidFill>
                  <a:srgbClr val="FFFFFF"/>
                </a:solidFill>
              </a:rPr>
              <a:t>V</a:t>
            </a:r>
            <a:r>
              <a:rPr lang="ko-KR" altLang="en-US" sz="1050" b="0" dirty="0" baseline="-25000">
                <a:solidFill>
                  <a:srgbClr val="FFFFFF"/>
                </a:solidFill>
              </a:rPr>
              <a:t>cmax</a:t>
            </a:r>
            <a:r>
              <a:rPr lang="ko-KR" altLang="en-US" sz="1050" b="0" dirty="0">
                <a:solidFill>
                  <a:srgbClr val="FFFFFF"/>
                </a:solidFill>
              </a:rPr>
              <a:t> · J</a:t>
            </a:r>
            <a:r>
              <a:rPr lang="ko-KR" altLang="en-US" sz="1050" b="0" dirty="0" baseline="-25000">
                <a:solidFill>
                  <a:srgbClr val="FFFFFF"/>
                </a:solidFill>
              </a:rPr>
              <a:t>max</a:t>
            </a:r>
          </a:p>
        </p:txBody>
      </p:sp>
      <p:sp>
        <p:nvSpPr>
          <p:cNvPr id="32" name="Col head"/>
          <p:cNvSpPr/>
          <p:nvPr/>
        </p:nvSpPr>
        <p:spPr>
          <a:xfrm>
            <a:off x="9052560" y="1261872"/>
            <a:ext cx="2103120" cy="658368"/>
          </a:xfrm>
          <a:prstGeom prst="roundRect">
            <a:avLst>
              <a:gd name="adj" fmla="val 12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FFFFFF"/>
                </a:solidFill>
              </a:rPr>
              <a:t>④ 생육·수량</a:t>
            </a:r>
          </a:p>
          <a:p>
            <a:pPr marL="0" indent="0" algn="ctr">
              <a:spcBef>
                <a:spcPts val="0"/>
              </a:spcBef>
              <a:buNone/>
            </a:pPr>
            <a:r>
              <a:rPr lang="ko-KR" altLang="en-US" sz="1050" b="0" dirty="0">
                <a:solidFill>
                  <a:srgbClr val="FFFFFF"/>
                </a:solidFill>
              </a:rPr>
              <a:t>대조구 대비 %</a:t>
            </a:r>
          </a:p>
        </p:txBody>
      </p:sp>
      <p:sp>
        <p:nvSpPr>
          <p:cNvPr id="33" name="Row label"/>
          <p:cNvSpPr/>
          <p:nvPr/>
        </p:nvSpPr>
        <p:spPr>
          <a:xfrm>
            <a:off x="841248" y="1993392"/>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건조</a:t>
            </a:r>
          </a:p>
        </p:txBody>
      </p:sp>
      <p:sp>
        <p:nvSpPr>
          <p:cNvPr id="34" name="Cell"/>
          <p:cNvSpPr/>
          <p:nvPr/>
        </p:nvSpPr>
        <p:spPr>
          <a:xfrm>
            <a:off x="2468880" y="1993392"/>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후반</a:t>
            </a:r>
          </a:p>
          <a:p>
            <a:pPr marL="0" indent="0" algn="ctr">
              <a:spcBef>
                <a:spcPts val="0"/>
              </a:spcBef>
              <a:buNone/>
            </a:pPr>
            <a:r>
              <a:rPr lang="ko-KR" altLang="en-US" sz="1200" dirty="0">
                <a:solidFill>
                  <a:srgbClr val="7F7F7F"/>
                </a:solidFill>
              </a:rPr>
              <a:t>(DAT 16 33%)</a:t>
            </a:r>
          </a:p>
        </p:txBody>
      </p:sp>
      <p:sp>
        <p:nvSpPr>
          <p:cNvPr id="35" name="Cell"/>
          <p:cNvSpPr/>
          <p:nvPr/>
        </p:nvSpPr>
        <p:spPr>
          <a:xfrm>
            <a:off x="4663440" y="1993392"/>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38" name="Cell"/>
          <p:cNvSpPr/>
          <p:nvPr/>
        </p:nvSpPr>
        <p:spPr>
          <a:xfrm>
            <a:off x="6858000" y="1993392"/>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39" name="Cell"/>
          <p:cNvSpPr/>
          <p:nvPr/>
        </p:nvSpPr>
        <p:spPr>
          <a:xfrm>
            <a:off x="9052560" y="1993392"/>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건물중 −16%</a:t>
            </a:r>
          </a:p>
        </p:txBody>
      </p:sp>
      <p:sp>
        <p:nvSpPr>
          <p:cNvPr id="40" name="Row label"/>
          <p:cNvSpPr/>
          <p:nvPr/>
        </p:nvSpPr>
        <p:spPr>
          <a:xfrm>
            <a:off x="841248" y="2578608"/>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침수</a:t>
            </a:r>
          </a:p>
        </p:txBody>
      </p:sp>
      <p:sp>
        <p:nvSpPr>
          <p:cNvPr id="41" name="Cell"/>
          <p:cNvSpPr/>
          <p:nvPr/>
        </p:nvSpPr>
        <p:spPr>
          <a:xfrm>
            <a:off x="2468880" y="2578608"/>
            <a:ext cx="2103120" cy="548640"/>
          </a:xfrm>
          <a:prstGeom prst="roundRect">
            <a:avLst>
              <a:gd name="adj" fmla="val 10000"/>
            </a:avLst>
          </a:prstGeom>
          <a:solidFill>
            <a:srgbClr val="D9EAD3"/>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 회복</a:t>
            </a:r>
          </a:p>
          <a:p>
            <a:pPr marL="0" indent="0" algn="ctr">
              <a:spcBef>
                <a:spcPts val="0"/>
              </a:spcBef>
              <a:buNone/>
            </a:pPr>
            <a:r>
              <a:rPr lang="ko-KR" altLang="en-US" sz="950" dirty="0">
                <a:solidFill>
                  <a:srgbClr val="000000"/>
                </a:solidFill>
              </a:rPr>
              <a:t>DAT 5~6</a:t>
            </a:r>
          </a:p>
        </p:txBody>
      </p:sp>
      <p:sp>
        <p:nvSpPr>
          <p:cNvPr id="42" name="Cell"/>
          <p:cNvSpPr/>
          <p:nvPr/>
        </p:nvSpPr>
        <p:spPr>
          <a:xfrm>
            <a:off x="4663440" y="2578608"/>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45" name="Cell"/>
          <p:cNvSpPr/>
          <p:nvPr/>
        </p:nvSpPr>
        <p:spPr>
          <a:xfrm>
            <a:off x="6858000" y="257860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경향</a:t>
            </a:r>
          </a:p>
          <a:p>
            <a:pPr marL="0" indent="0" algn="ctr">
              <a:spcBef>
                <a:spcPts val="0"/>
              </a:spcBef>
              <a:buNone/>
            </a:pPr>
            <a:r>
              <a:rPr lang="ko-KR" altLang="en-US" sz="1200" dirty="0">
                <a:solidFill>
                  <a:srgbClr val="7F7F7F"/>
                </a:solidFill>
              </a:rPr>
              <a:t>(측정일 교락)</a:t>
            </a:r>
          </a:p>
        </p:txBody>
      </p:sp>
      <p:sp>
        <p:nvSpPr>
          <p:cNvPr id="46" name="Cell"/>
          <p:cNvSpPr/>
          <p:nvPr/>
        </p:nvSpPr>
        <p:spPr>
          <a:xfrm>
            <a:off x="9052560" y="2578608"/>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건물중 −34%</a:t>
            </a:r>
          </a:p>
        </p:txBody>
      </p:sp>
      <p:sp>
        <p:nvSpPr>
          <p:cNvPr id="47" name="Row label"/>
          <p:cNvSpPr/>
          <p:nvPr/>
        </p:nvSpPr>
        <p:spPr>
          <a:xfrm>
            <a:off x="841248" y="3163824"/>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복합</a:t>
            </a:r>
          </a:p>
        </p:txBody>
      </p:sp>
      <p:sp>
        <p:nvSpPr>
          <p:cNvPr id="48" name="Cell"/>
          <p:cNvSpPr/>
          <p:nvPr/>
        </p:nvSpPr>
        <p:spPr>
          <a:xfrm>
            <a:off x="2468880" y="3163824"/>
            <a:ext cx="2103120" cy="548640"/>
          </a:xfrm>
          <a:prstGeom prst="roundRect">
            <a:avLst>
              <a:gd name="adj" fmla="val 10000"/>
            </a:avLst>
          </a:prstGeom>
          <a:solidFill>
            <a:srgbClr val="D9EAD3"/>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 회복</a:t>
            </a:r>
          </a:p>
          <a:p>
            <a:pPr marL="0" indent="0" algn="ctr">
              <a:spcBef>
                <a:spcPts val="0"/>
              </a:spcBef>
              <a:buNone/>
            </a:pPr>
            <a:r>
              <a:rPr lang="ko-KR" altLang="en-US" sz="1200" dirty="0">
                <a:solidFill>
                  <a:srgbClr val="000000"/>
                </a:solidFill>
              </a:rPr>
              <a:t>DAT 6</a:t>
            </a:r>
          </a:p>
        </p:txBody>
      </p:sp>
      <p:sp>
        <p:nvSpPr>
          <p:cNvPr id="49" name="Cell"/>
          <p:cNvSpPr/>
          <p:nvPr/>
        </p:nvSpPr>
        <p:spPr>
          <a:xfrm>
            <a:off x="4663440" y="3163824"/>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52" name="Cell"/>
          <p:cNvSpPr/>
          <p:nvPr/>
        </p:nvSpPr>
        <p:spPr>
          <a:xfrm>
            <a:off x="6858000" y="316382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경향</a:t>
            </a:r>
          </a:p>
          <a:p>
            <a:pPr marL="0" indent="0" algn="ctr">
              <a:spcBef>
                <a:spcPts val="0"/>
              </a:spcBef>
              <a:buNone/>
            </a:pPr>
            <a:r>
              <a:rPr lang="ko-KR" altLang="en-US" sz="1200" dirty="0">
                <a:solidFill>
                  <a:srgbClr val="7F7F7F"/>
                </a:solidFill>
              </a:rPr>
              <a:t>(V</a:t>
            </a:r>
            <a:r>
              <a:rPr lang="ko-KR" altLang="en-US" sz="1200" dirty="0" baseline="-25000">
                <a:solidFill>
                  <a:srgbClr val="7F7F7F"/>
                </a:solidFill>
              </a:rPr>
              <a:t>cmax</a:t>
            </a:r>
            <a:r>
              <a:rPr lang="ko-KR" altLang="en-US" sz="1200" dirty="0">
                <a:solidFill>
                  <a:srgbClr val="7F7F7F"/>
                </a:solidFill>
              </a:rPr>
              <a:t> 73)</a:t>
            </a:r>
          </a:p>
        </p:txBody>
      </p:sp>
      <p:sp>
        <p:nvSpPr>
          <p:cNvPr id="53" name="Cell"/>
          <p:cNvSpPr/>
          <p:nvPr/>
        </p:nvSpPr>
        <p:spPr>
          <a:xfrm>
            <a:off x="9052560" y="3163824"/>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건물중 −43%</a:t>
            </a:r>
          </a:p>
        </p:txBody>
      </p:sp>
      <p:sp>
        <p:nvSpPr>
          <p:cNvPr id="54" name="Row label"/>
          <p:cNvSpPr/>
          <p:nvPr/>
        </p:nvSpPr>
        <p:spPr>
          <a:xfrm>
            <a:off x="841248" y="3858768"/>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건조</a:t>
            </a:r>
          </a:p>
        </p:txBody>
      </p:sp>
      <p:sp>
        <p:nvSpPr>
          <p:cNvPr id="55" name="Cell"/>
          <p:cNvSpPr/>
          <p:nvPr/>
        </p:nvSpPr>
        <p:spPr>
          <a:xfrm>
            <a:off x="246888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지속</a:t>
            </a:r>
          </a:p>
        </p:txBody>
      </p:sp>
      <p:sp>
        <p:nvSpPr>
          <p:cNvPr id="56" name="Cell"/>
          <p:cNvSpPr/>
          <p:nvPr/>
        </p:nvSpPr>
        <p:spPr>
          <a:xfrm>
            <a:off x="4663440" y="3858768"/>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 (P2)</a:t>
            </a:r>
          </a:p>
        </p:txBody>
      </p:sp>
      <p:sp>
        <p:nvSpPr>
          <p:cNvPr id="59" name="Cell"/>
          <p:cNvSpPr/>
          <p:nvPr/>
        </p:nvSpPr>
        <p:spPr>
          <a:xfrm>
            <a:off x="685800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V</a:t>
            </a:r>
            <a:r>
              <a:rPr lang="ko-KR" altLang="en-US" sz="1200" dirty="0" baseline="-25000">
                <a:solidFill>
                  <a:srgbClr val="000000"/>
                </a:solidFill>
              </a:rPr>
              <a:t>cmax</a:t>
            </a:r>
            <a:r>
              <a:rPr lang="ko-KR" altLang="en-US" sz="1200" dirty="0">
                <a:solidFill>
                  <a:srgbClr val="000000"/>
                </a:solidFill>
              </a:rPr>
              <a:t>·J</a:t>
            </a:r>
            <a:r>
              <a:rPr lang="ko-KR" altLang="en-US" sz="1200" dirty="0" baseline="-25000">
                <a:solidFill>
                  <a:srgbClr val="000000"/>
                </a:solidFill>
              </a:rPr>
              <a:t>max</a:t>
            </a:r>
          </a:p>
          <a:p>
            <a:pPr marL="0" indent="0" algn="ctr">
              <a:spcBef>
                <a:spcPts val="0"/>
              </a:spcBef>
              <a:buNone/>
            </a:pPr>
            <a:r>
              <a:rPr lang="ko-KR" altLang="en-US" sz="1200" dirty="0">
                <a:solidFill>
                  <a:srgbClr val="000000"/>
                </a:solidFill>
              </a:rPr>
              <a:t>(9월)</a:t>
            </a:r>
          </a:p>
        </p:txBody>
      </p:sp>
      <p:sp>
        <p:nvSpPr>
          <p:cNvPr id="60" name="Cell"/>
          <p:cNvSpPr/>
          <p:nvPr/>
        </p:nvSpPr>
        <p:spPr>
          <a:xfrm>
            <a:off x="905256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−35%</a:t>
            </a:r>
          </a:p>
          <a:p>
            <a:pPr marL="0" indent="0" algn="ctr">
              <a:spcBef>
                <a:spcPts val="0"/>
              </a:spcBef>
              <a:buNone/>
            </a:pPr>
            <a:r>
              <a:rPr lang="ko-KR" altLang="en-US" sz="1200" dirty="0">
                <a:solidFill>
                  <a:srgbClr val="7F7F7F"/>
                </a:solidFill>
              </a:rPr>
              <a:t>수량 −4%</a:t>
            </a:r>
          </a:p>
        </p:txBody>
      </p:sp>
      <p:sp>
        <p:nvSpPr>
          <p:cNvPr id="61" name="Row label"/>
          <p:cNvSpPr/>
          <p:nvPr/>
        </p:nvSpPr>
        <p:spPr>
          <a:xfrm>
            <a:off x="841248" y="4443984"/>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침수</a:t>
            </a:r>
          </a:p>
        </p:txBody>
      </p:sp>
      <p:sp>
        <p:nvSpPr>
          <p:cNvPr id="62" name="Cell"/>
          <p:cNvSpPr/>
          <p:nvPr/>
        </p:nvSpPr>
        <p:spPr>
          <a:xfrm>
            <a:off x="246888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DAT 9까지</a:t>
            </a:r>
          </a:p>
          <a:p>
            <a:pPr marL="0" indent="0" algn="ctr">
              <a:spcBef>
                <a:spcPts val="0"/>
              </a:spcBef>
              <a:buNone/>
            </a:pPr>
            <a:r>
              <a:rPr lang="ko-KR" altLang="en-US" sz="950" dirty="0">
                <a:solidFill>
                  <a:srgbClr val="000000"/>
                </a:solidFill>
              </a:rPr>
              <a:t>미회복</a:t>
            </a:r>
          </a:p>
        </p:txBody>
      </p:sp>
      <p:sp>
        <p:nvSpPr>
          <p:cNvPr id="63" name="Cell"/>
          <p:cNvSpPr/>
          <p:nvPr/>
        </p:nvSpPr>
        <p:spPr>
          <a:xfrm>
            <a:off x="466344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(P1)</a:t>
            </a:r>
          </a:p>
        </p:txBody>
      </p:sp>
      <p:sp>
        <p:nvSpPr>
          <p:cNvPr id="66" name="Cell"/>
          <p:cNvSpPr/>
          <p:nvPr/>
        </p:nvSpPr>
        <p:spPr>
          <a:xfrm>
            <a:off x="6858000" y="4443984"/>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67" name="Cell"/>
          <p:cNvSpPr/>
          <p:nvPr/>
        </p:nvSpPr>
        <p:spPr>
          <a:xfrm>
            <a:off x="905256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−28%</a:t>
            </a:r>
          </a:p>
          <a:p>
            <a:pPr marL="0" indent="0" algn="ctr">
              <a:spcBef>
                <a:spcPts val="0"/>
              </a:spcBef>
              <a:buNone/>
            </a:pPr>
            <a:r>
              <a:rPr lang="ko-KR" altLang="en-US" sz="950" dirty="0">
                <a:solidFill>
                  <a:srgbClr val="7F7F7F"/>
                </a:solidFill>
              </a:rPr>
              <a:t>수량 −9%</a:t>
            </a:r>
          </a:p>
        </p:txBody>
      </p:sp>
      <p:sp>
        <p:nvSpPr>
          <p:cNvPr id="68" name="Row label"/>
          <p:cNvSpPr/>
          <p:nvPr/>
        </p:nvSpPr>
        <p:spPr>
          <a:xfrm>
            <a:off x="841248" y="5029200"/>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복합</a:t>
            </a:r>
          </a:p>
        </p:txBody>
      </p:sp>
      <p:sp>
        <p:nvSpPr>
          <p:cNvPr id="69" name="Cell"/>
          <p:cNvSpPr/>
          <p:nvPr/>
        </p:nvSpPr>
        <p:spPr>
          <a:xfrm>
            <a:off x="246888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지속</a:t>
            </a:r>
          </a:p>
        </p:txBody>
      </p:sp>
      <p:sp>
        <p:nvSpPr>
          <p:cNvPr id="70" name="Cell"/>
          <p:cNvSpPr/>
          <p:nvPr/>
        </p:nvSpPr>
        <p:spPr>
          <a:xfrm>
            <a:off x="466344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(P2)</a:t>
            </a:r>
          </a:p>
        </p:txBody>
      </p:sp>
      <p:sp>
        <p:nvSpPr>
          <p:cNvPr id="73" name="Cell"/>
          <p:cNvSpPr/>
          <p:nvPr/>
        </p:nvSpPr>
        <p:spPr>
          <a:xfrm>
            <a:off x="685800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J</a:t>
            </a:r>
            <a:r>
              <a:rPr lang="ko-KR" altLang="en-US" sz="1200" dirty="0" baseline="-25000">
                <a:solidFill>
                  <a:srgbClr val="000000"/>
                </a:solidFill>
              </a:rPr>
              <a:t>max</a:t>
            </a:r>
          </a:p>
          <a:p>
            <a:pPr marL="0" indent="0" algn="ctr">
              <a:spcBef>
                <a:spcPts val="0"/>
              </a:spcBef>
              <a:buNone/>
            </a:pPr>
            <a:r>
              <a:rPr lang="ko-KR" altLang="en-US" sz="1200" dirty="0">
                <a:solidFill>
                  <a:srgbClr val="000000"/>
                </a:solidFill>
              </a:rPr>
              <a:t>(9월)</a:t>
            </a:r>
          </a:p>
        </p:txBody>
      </p:sp>
      <p:sp>
        <p:nvSpPr>
          <p:cNvPr id="74" name="Cell"/>
          <p:cNvSpPr/>
          <p:nvPr/>
        </p:nvSpPr>
        <p:spPr>
          <a:xfrm>
            <a:off x="9052560" y="5029200"/>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−19%</a:t>
            </a:r>
          </a:p>
          <a:p>
            <a:pPr marL="0" indent="0" algn="ctr">
              <a:spcBef>
                <a:spcPts val="0"/>
              </a:spcBef>
              <a:buNone/>
            </a:pPr>
            <a:r>
              <a:rPr lang="ko-KR" altLang="en-US" sz="950" dirty="0">
                <a:solidFill>
                  <a:srgbClr val="7F7F7F"/>
                </a:solidFill>
              </a:rPr>
              <a:t>수량 −1%</a:t>
            </a:r>
          </a:p>
        </p:txBody>
      </p:sp>
      <p:sp>
        <p:nvSpPr>
          <p:cNvPr id="16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66"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6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6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500"/>
                                        <p:tgtEl>
                                          <p:spTgt spid="4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500"/>
                                        <p:tgtEl>
                                          <p:spTgt spid="6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500"/>
                                        <p:tgtEl>
                                          <p:spTgt spid="6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8"/>
                                        </p:tgtEl>
                                        <p:attrNameLst>
                                          <p:attrName>style.visibility</p:attrName>
                                        </p:attrNameLst>
                                      </p:cBhvr>
                                      <p:to>
                                        <p:strVal val="visible"/>
                                      </p:to>
                                    </p:set>
                                    <p:animEffect transition="in" filter="fade">
                                      <p:cBhvr>
                                        <p:cTn id="34" dur="500"/>
                                        <p:tgtEl>
                                          <p:spTgt spid="4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500"/>
                                        <p:tgtEl>
                                          <p:spTgt spid="5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fade">
                                      <p:cBhvr>
                                        <p:cTn id="40" dur="500"/>
                                        <p:tgtEl>
                                          <p:spTgt spid="6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9"/>
                                        </p:tgtEl>
                                        <p:attrNameLst>
                                          <p:attrName>style.visibility</p:attrName>
                                        </p:attrNameLst>
                                      </p:cBhvr>
                                      <p:to>
                                        <p:strVal val="visible"/>
                                      </p:to>
                                    </p:set>
                                    <p:animEffect transition="in" filter="fade">
                                      <p:cBhvr>
                                        <p:cTn id="43" dur="500"/>
                                        <p:tgtEl>
                                          <p:spTgt spid="6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50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500"/>
                                        <p:tgtEl>
                                          <p:spTgt spid="3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fade">
                                      <p:cBhvr>
                                        <p:cTn id="54" dur="500"/>
                                        <p:tgtEl>
                                          <p:spTgt spid="4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9"/>
                                        </p:tgtEl>
                                        <p:attrNameLst>
                                          <p:attrName>style.visibility</p:attrName>
                                        </p:attrNameLst>
                                      </p:cBhvr>
                                      <p:to>
                                        <p:strVal val="visible"/>
                                      </p:to>
                                    </p:set>
                                    <p:animEffect transition="in" filter="fade">
                                      <p:cBhvr>
                                        <p:cTn id="57" dur="500"/>
                                        <p:tgtEl>
                                          <p:spTgt spid="4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6"/>
                                        </p:tgtEl>
                                        <p:attrNameLst>
                                          <p:attrName>style.visibility</p:attrName>
                                        </p:attrNameLst>
                                      </p:cBhvr>
                                      <p:to>
                                        <p:strVal val="visible"/>
                                      </p:to>
                                    </p:set>
                                    <p:animEffect transition="in" filter="fade">
                                      <p:cBhvr>
                                        <p:cTn id="60" dur="500"/>
                                        <p:tgtEl>
                                          <p:spTgt spid="5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3"/>
                                        </p:tgtEl>
                                        <p:attrNameLst>
                                          <p:attrName>style.visibility</p:attrName>
                                        </p:attrNameLst>
                                      </p:cBhvr>
                                      <p:to>
                                        <p:strVal val="visible"/>
                                      </p:to>
                                    </p:set>
                                    <p:animEffect transition="in" filter="fade">
                                      <p:cBhvr>
                                        <p:cTn id="63" dur="500"/>
                                        <p:tgtEl>
                                          <p:spTgt spid="6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70"/>
                                        </p:tgtEl>
                                        <p:attrNameLst>
                                          <p:attrName>style.visibility</p:attrName>
                                        </p:attrNameLst>
                                      </p:cBhvr>
                                      <p:to>
                                        <p:strVal val="visible"/>
                                      </p:to>
                                    </p:set>
                                    <p:animEffect transition="in" filter="fade">
                                      <p:cBhvr>
                                        <p:cTn id="66" dur="500"/>
                                        <p:tgtEl>
                                          <p:spTgt spid="70"/>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31"/>
                                        </p:tgtEl>
                                        <p:attrNameLst>
                                          <p:attrName>style.visibility</p:attrName>
                                        </p:attrNameLst>
                                      </p:cBhvr>
                                      <p:to>
                                        <p:strVal val="visible"/>
                                      </p:to>
                                    </p:set>
                                    <p:animEffect transition="in" filter="fade">
                                      <p:cBhvr>
                                        <p:cTn id="117" dur="500"/>
                                        <p:tgtEl>
                                          <p:spTgt spid="31"/>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8"/>
                                        </p:tgtEl>
                                        <p:attrNameLst>
                                          <p:attrName>style.visibility</p:attrName>
                                        </p:attrNameLst>
                                      </p:cBhvr>
                                      <p:to>
                                        <p:strVal val="visible"/>
                                      </p:to>
                                    </p:set>
                                    <p:animEffect transition="in" filter="fade">
                                      <p:cBhvr>
                                        <p:cTn id="120" dur="500"/>
                                        <p:tgtEl>
                                          <p:spTgt spid="38"/>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500"/>
                                        <p:tgtEl>
                                          <p:spTgt spid="4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2"/>
                                        </p:tgtEl>
                                        <p:attrNameLst>
                                          <p:attrName>style.visibility</p:attrName>
                                        </p:attrNameLst>
                                      </p:cBhvr>
                                      <p:to>
                                        <p:strVal val="visible"/>
                                      </p:to>
                                    </p:set>
                                    <p:animEffect transition="in" filter="fade">
                                      <p:cBhvr>
                                        <p:cTn id="126" dur="500"/>
                                        <p:tgtEl>
                                          <p:spTgt spid="52"/>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59"/>
                                        </p:tgtEl>
                                        <p:attrNameLst>
                                          <p:attrName>style.visibility</p:attrName>
                                        </p:attrNameLst>
                                      </p:cBhvr>
                                      <p:to>
                                        <p:strVal val="visible"/>
                                      </p:to>
                                    </p:set>
                                    <p:animEffect transition="in" filter="fade">
                                      <p:cBhvr>
                                        <p:cTn id="129" dur="500"/>
                                        <p:tgtEl>
                                          <p:spTgt spid="59"/>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66"/>
                                        </p:tgtEl>
                                        <p:attrNameLst>
                                          <p:attrName>style.visibility</p:attrName>
                                        </p:attrNameLst>
                                      </p:cBhvr>
                                      <p:to>
                                        <p:strVal val="visible"/>
                                      </p:to>
                                    </p:set>
                                    <p:animEffect transition="in" filter="fade">
                                      <p:cBhvr>
                                        <p:cTn id="132" dur="500"/>
                                        <p:tgtEl>
                                          <p:spTgt spid="66"/>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73"/>
                                        </p:tgtEl>
                                        <p:attrNameLst>
                                          <p:attrName>style.visibility</p:attrName>
                                        </p:attrNameLst>
                                      </p:cBhvr>
                                      <p:to>
                                        <p:strVal val="visible"/>
                                      </p:to>
                                    </p:set>
                                    <p:animEffect transition="in" filter="fade">
                                      <p:cBhvr>
                                        <p:cTn id="135" dur="500"/>
                                        <p:tgtEl>
                                          <p:spTgt spid="73"/>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32"/>
                                        </p:tgtEl>
                                        <p:attrNameLst>
                                          <p:attrName>style.visibility</p:attrName>
                                        </p:attrNameLst>
                                      </p:cBhvr>
                                      <p:to>
                                        <p:strVal val="visible"/>
                                      </p:to>
                                    </p:set>
                                    <p:animEffect transition="in" filter="fade">
                                      <p:cBhvr>
                                        <p:cTn id="140" dur="500"/>
                                        <p:tgtEl>
                                          <p:spTgt spid="32"/>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39"/>
                                        </p:tgtEl>
                                        <p:attrNameLst>
                                          <p:attrName>style.visibility</p:attrName>
                                        </p:attrNameLst>
                                      </p:cBhvr>
                                      <p:to>
                                        <p:strVal val="visible"/>
                                      </p:to>
                                    </p:set>
                                    <p:animEffect transition="in" filter="fade">
                                      <p:cBhvr>
                                        <p:cTn id="143" dur="500"/>
                                        <p:tgtEl>
                                          <p:spTgt spid="39"/>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46"/>
                                        </p:tgtEl>
                                        <p:attrNameLst>
                                          <p:attrName>style.visibility</p:attrName>
                                        </p:attrNameLst>
                                      </p:cBhvr>
                                      <p:to>
                                        <p:strVal val="visible"/>
                                      </p:to>
                                    </p:set>
                                    <p:animEffect transition="in" filter="fade">
                                      <p:cBhvr>
                                        <p:cTn id="146" dur="500"/>
                                        <p:tgtEl>
                                          <p:spTgt spid="46"/>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3"/>
                                        </p:tgtEl>
                                        <p:attrNameLst>
                                          <p:attrName>style.visibility</p:attrName>
                                        </p:attrNameLst>
                                      </p:cBhvr>
                                      <p:to>
                                        <p:strVal val="visible"/>
                                      </p:to>
                                    </p:set>
                                    <p:animEffect transition="in" filter="fade">
                                      <p:cBhvr>
                                        <p:cTn id="149" dur="500"/>
                                        <p:tgtEl>
                                          <p:spTgt spid="53"/>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60"/>
                                        </p:tgtEl>
                                        <p:attrNameLst>
                                          <p:attrName>style.visibility</p:attrName>
                                        </p:attrNameLst>
                                      </p:cBhvr>
                                      <p:to>
                                        <p:strVal val="visible"/>
                                      </p:to>
                                    </p:set>
                                    <p:animEffect transition="in" filter="fade">
                                      <p:cBhvr>
                                        <p:cTn id="152" dur="500"/>
                                        <p:tgtEl>
                                          <p:spTgt spid="60"/>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67"/>
                                        </p:tgtEl>
                                        <p:attrNameLst>
                                          <p:attrName>style.visibility</p:attrName>
                                        </p:attrNameLst>
                                      </p:cBhvr>
                                      <p:to>
                                        <p:strVal val="visible"/>
                                      </p:to>
                                    </p:set>
                                    <p:animEffect transition="in" filter="fade">
                                      <p:cBhvr>
                                        <p:cTn id="155" dur="500"/>
                                        <p:tgtEl>
                                          <p:spTgt spid="67"/>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74"/>
                                        </p:tgtEl>
                                        <p:attrNameLst>
                                          <p:attrName>style.visibility</p:attrName>
                                        </p:attrNameLst>
                                      </p:cBhvr>
                                      <p:to>
                                        <p:strVal val="visible"/>
                                      </p:to>
                                    </p:set>
                                    <p:animEffect transition="in" filter="fade">
                                      <p:cBhvr>
                                        <p:cTn id="158" dur="500"/>
                                        <p:tgtEl>
                                          <p:spTgt spid="74"/>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25"/>
                                        </p:tgtEl>
                                        <p:attrNameLst>
                                          <p:attrName>style.visibility</p:attrName>
                                        </p:attrNameLst>
                                      </p:cBhvr>
                                      <p:to>
                                        <p:strVal val="visible"/>
                                      </p:to>
                                    </p:set>
                                    <p:animEffect transition="in" filter="fade">
                                      <p:cBhvr>
                                        <p:cTn id="16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31" grpId="0" animBg="1"/>
      <p:bldP spid="32" grpId="0" animBg="1"/>
      <p:bldP spid="33" grpId="0" animBg="1"/>
      <p:bldP spid="34" grpId="0" animBg="1"/>
      <p:bldP spid="35" grpId="0" animBg="1"/>
      <p:bldP spid="38" grpId="0" animBg="1"/>
      <p:bldP spid="39" grpId="0" animBg="1"/>
      <p:bldP spid="40" grpId="0" animBg="1"/>
      <p:bldP spid="41" grpId="0" animBg="1"/>
      <p:bldP spid="42" grpId="0" animBg="1"/>
      <p:bldP spid="45" grpId="0" animBg="1"/>
      <p:bldP spid="46" grpId="0" animBg="1"/>
      <p:bldP spid="47" grpId="0" animBg="1"/>
      <p:bldP spid="48" grpId="0" animBg="1"/>
      <p:bldP spid="49" grpId="0" animBg="1"/>
      <p:bldP spid="52" grpId="0" animBg="1"/>
      <p:bldP spid="53" grpId="0" animBg="1"/>
      <p:bldP spid="54" grpId="0" animBg="1"/>
      <p:bldP spid="55" grpId="0" animBg="1"/>
      <p:bldP spid="56" grpId="0" animBg="1"/>
      <p:bldP spid="59" grpId="0" animBg="1"/>
      <p:bldP spid="60" grpId="0" animBg="1"/>
      <p:bldP spid="61" grpId="0" animBg="1"/>
      <p:bldP spid="62" grpId="0" animBg="1"/>
      <p:bldP spid="63" grpId="0" animBg="1"/>
      <p:bldP spid="66" grpId="0" animBg="1"/>
      <p:bldP spid="67" grpId="0" animBg="1"/>
      <p:bldP spid="68" grpId="0" animBg="1"/>
      <p:bldP spid="69" grpId="0" animBg="1"/>
      <p:bldP spid="70" grpId="0" animBg="1"/>
      <p:bldP spid="73" grpId="0" animBg="1"/>
      <p:bldP spid="7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고찰 : 콩 (기공 → 명반응 → 광합성 능력 → 수량)</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콩은 생리 지표에서 차이가 있었고, 수량에는 감소하는 경향이 보였지만 큰 차이가 없었다</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기공·수량 그래프의 건조·복합은 회색. Tan et al. 2018 J Plant Physiol; Haverroth et al. 2024 Plant Physiol; Buckley 2019 New Phytol; Yeung et al. 2018 PNAS; Sasidharan et al. 2018 Plant Physiol (참고문헌: 보충 자료 A6)</a:t>
            </a:r>
          </a:p>
        </p:txBody>
      </p:sp>
      <p:sp>
        <p:nvSpPr>
          <p:cNvPr id="52"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53"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54"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55" name="Nav 고찰"/>
          <p:cNvSpPr txBox="1"/>
          <p:nvPr/>
        </p:nvSpPr>
        <p:spPr>
          <a:xfrm>
            <a:off x="4956048" y="100584"/>
            <a:ext cx="1371600" cy="329184"/>
          </a:xfrm>
          <a:prstGeom prst="rect">
            <a:avLst/>
          </a:prstGeom>
          <a:noFill/>
        </p:spPr>
        <p:txBody>
          <a:bodyPr wrap="none" lIns="0" tIns="0" rIns="0" bIns="0" anchor="ctr">
            <a:spAutoFit/>
          </a:bodyPr>
          <a:lstStyle/>
          <a:p>
            <a:pPr algn="ctr"/>
            <a:r>
              <a:rPr sz="1450" b="1" u="sng">
                <a:solidFill>
                  <a:srgbClr val="1A1A1A"/>
                </a:solidFill>
              </a:rPr>
              <a:t>고찰</a:t>
            </a:r>
          </a:p>
        </p:txBody>
      </p:sp>
      <p:sp>
        <p:nvSpPr>
          <p:cNvPr id="56"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57" name="Picture 56" descr="recap_bean.png"/>
          <p:cNvPicPr>
            <a:picLocks noChangeAspect="1"/>
          </p:cNvPicPr>
          <p:nvPr/>
        </p:nvPicPr>
        <p:blipFill>
          <a:blip r:embed="rId4"/>
          <a:stretch>
            <a:fillRect/>
          </a:stretch>
        </p:blipFill>
        <p:spPr>
          <a:xfrm>
            <a:off x="502920" y="1874519"/>
            <a:ext cx="11155680" cy="3291840"/>
          </a:xfrm>
          <a:prstGeom prst="rect">
            <a:avLst/>
          </a:prstGeom>
        </p:spPr>
      </p:pic>
      <p:sp>
        <p:nvSpPr>
          <p:cNvPr id="58" name="Rounded Rectangle 57"/>
          <p:cNvSpPr/>
          <p:nvPr/>
        </p:nvSpPr>
        <p:spPr>
          <a:xfrm>
            <a:off x="718718"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① 기공</a:t>
            </a:r>
          </a:p>
          <a:p>
            <a:pPr algn="ctr"/>
            <a:r>
              <a:rPr sz="1050">
                <a:solidFill>
                  <a:srgbClr val="FFFFFF"/>
                </a:solidFill>
              </a:rPr>
              <a:t>gsw 회복</a:t>
            </a:r>
          </a:p>
        </p:txBody>
      </p:sp>
      <p:sp>
        <p:nvSpPr>
          <p:cNvPr id="59" name="Right Arrow 58"/>
          <p:cNvSpPr/>
          <p:nvPr/>
        </p:nvSpPr>
        <p:spPr>
          <a:xfrm>
            <a:off x="3251606"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451859"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② 명반응</a:t>
            </a:r>
          </a:p>
          <a:p>
            <a:pPr algn="ctr"/>
            <a:r>
              <a:rPr sz="1050">
                <a:solidFill>
                  <a:srgbClr val="FFFFFF"/>
                </a:solidFill>
              </a:rPr>
              <a:t>ΦPSII</a:t>
            </a:r>
          </a:p>
        </p:txBody>
      </p:sp>
      <p:sp>
        <p:nvSpPr>
          <p:cNvPr id="61" name="Right Arrow 60"/>
          <p:cNvSpPr/>
          <p:nvPr/>
        </p:nvSpPr>
        <p:spPr>
          <a:xfrm>
            <a:off x="5984747"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6185001"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③ 광합성 능력</a:t>
            </a:r>
          </a:p>
          <a:p>
            <a:pPr algn="ctr"/>
            <a:r>
              <a:rPr sz="1050">
                <a:solidFill>
                  <a:srgbClr val="FFFFFF"/>
                </a:solidFill>
              </a:rPr>
              <a:t>Vcmax · Jmax</a:t>
            </a:r>
          </a:p>
        </p:txBody>
      </p:sp>
      <p:sp>
        <p:nvSpPr>
          <p:cNvPr id="63" name="Right Arrow 62"/>
          <p:cNvSpPr/>
          <p:nvPr/>
        </p:nvSpPr>
        <p:spPr>
          <a:xfrm>
            <a:off x="8717889"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918143"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④ 수량</a:t>
            </a:r>
          </a:p>
          <a:p>
            <a:pPr algn="ctr"/>
            <a:r>
              <a:rPr sz="1050">
                <a:solidFill>
                  <a:srgbClr val="FFFFFF"/>
                </a:solidFill>
              </a:rPr>
              <a:t>100립 생체중</a:t>
            </a:r>
          </a:p>
        </p:txBody>
      </p:sp>
    </p:spTree>
  </p:cSld>
  <p:clrMapOvr>
    <a:masterClrMapping/>
  </p:clrMapOvr>
  <p:timing>
    <p:tnLst>
      <p:par>
        <p:cTn id="1" dur="indefinite" restart="never" nodeType="tmRoot">
          <p:childTnLst>
            <p:seq concurrent="1" nextAc="seek">
              <p:cTn id="2" dur="indefinite" nodeType="mainSeq">
                <p:childTnLst>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결론</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18</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회복이 빠르나 생육 감소, 콩은 회복이 느리나 수량 차이 작음 — 반응은 작물마다 다름</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본 성과는 농촌진흥청 공동연구사업(과제번호: RS-2026-25507435)의 지원에 의해 이루어진 것임.</a:t>
            </a:r>
          </a:p>
        </p:txBody>
      </p:sp>
      <p:sp>
        <p:nvSpPr>
          <p:cNvPr id="27" name="Num"/>
          <p:cNvSpPr/>
          <p:nvPr/>
        </p:nvSpPr>
        <p:spPr>
          <a:xfrm>
            <a:off x="841248" y="14813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1</a:t>
            </a:r>
          </a:p>
        </p:txBody>
      </p:sp>
      <p:sp>
        <p:nvSpPr>
          <p:cNvPr id="28" name="Concl"/>
          <p:cNvSpPr txBox="1"/>
          <p:nvPr/>
        </p:nvSpPr>
        <p:spPr>
          <a:xfrm>
            <a:off x="1600200" y="13716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기공 회복 속도</a:t>
            </a:r>
          </a:p>
          <a:p>
            <a:pPr marL="0" indent="0" algn="l">
              <a:spcBef>
                <a:spcPts val="300"/>
              </a:spcBef>
              <a:buNone/>
            </a:pPr>
            <a:r>
              <a:rPr lang="ko-KR" altLang="en-US" sz="1300" dirty="0">
                <a:solidFill>
                  <a:srgbClr val="000000"/>
                </a:solidFill>
              </a:rPr>
              <a:t>침수는 두 작물 모두에서 기공전도도를 먼저 낮췄다. 로메인은 배수 2~3일 후(DAT 5~6) 대조구 수준으로 회복했고, 콩은 배수 6일 후(DAT 9)에도 대조구의 48%였으며 DAT 23에 회복이 확인되었다.</a:t>
            </a:r>
          </a:p>
        </p:txBody>
      </p:sp>
      <p:sp>
        <p:nvSpPr>
          <p:cNvPr id="29" name="Num"/>
          <p:cNvSpPr/>
          <p:nvPr/>
        </p:nvSpPr>
        <p:spPr>
          <a:xfrm>
            <a:off x="841248" y="28529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2</a:t>
            </a:r>
          </a:p>
        </p:txBody>
      </p:sp>
      <p:sp>
        <p:nvSpPr>
          <p:cNvPr id="30" name="Concl"/>
          <p:cNvSpPr txBox="1"/>
          <p:nvPr/>
        </p:nvSpPr>
        <p:spPr>
          <a:xfrm>
            <a:off x="1600200" y="27432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명반응과 광합성 능력</a:t>
            </a:r>
          </a:p>
          <a:p>
            <a:pPr marL="0" indent="0" algn="l">
              <a:spcBef>
                <a:spcPts val="300"/>
              </a:spcBef>
              <a:buNone/>
            </a:pPr>
            <a:r>
              <a:rPr lang="ko-KR" altLang="en-US" sz="1300" dirty="0">
                <a:solidFill>
                  <a:srgbClr val="000000"/>
                </a:solidFill>
              </a:rPr>
              <a:t>로메인은 Φ</a:t>
            </a:r>
            <a:r>
              <a:rPr lang="ko-KR" altLang="en-US" sz="1300" dirty="0" baseline="-25000">
                <a:solidFill>
                  <a:srgbClr val="000000"/>
                </a:solidFill>
              </a:rPr>
              <a:t>PSII</a:t>
            </a:r>
            <a:r>
              <a:rPr lang="ko-KR" altLang="en-US" sz="1300" dirty="0">
                <a:solidFill>
                  <a:srgbClr val="000000"/>
                </a:solidFill>
              </a:rPr>
              <a:t>에 처리 차이가 없었고 V</a:t>
            </a:r>
            <a:r>
              <a:rPr lang="ko-KR" altLang="en-US" sz="1300" dirty="0" baseline="-25000">
                <a:solidFill>
                  <a:srgbClr val="000000"/>
                </a:solidFill>
              </a:rPr>
              <a:t>cmax</a:t>
            </a:r>
            <a:r>
              <a:rPr lang="ko-KR" altLang="en-US" sz="1300" dirty="0">
                <a:solidFill>
                  <a:srgbClr val="000000"/>
                </a:solidFill>
              </a:rPr>
              <a:t>·J</a:t>
            </a:r>
            <a:r>
              <a:rPr lang="ko-KR" altLang="en-US" sz="1300" dirty="0" baseline="-25000">
                <a:solidFill>
                  <a:srgbClr val="000000"/>
                </a:solidFill>
              </a:rPr>
              <a:t>max</a:t>
            </a:r>
            <a:r>
              <a:rPr lang="ko-KR" altLang="en-US" sz="1300" dirty="0">
                <a:solidFill>
                  <a:srgbClr val="000000"/>
                </a:solidFill>
              </a:rPr>
              <a:t>는 복합구에서 낮은 경향(측정일 교락)이었다. 콩은 건조구에서 Φ</a:t>
            </a:r>
            <a:r>
              <a:rPr lang="ko-KR" altLang="en-US" sz="1300" dirty="0" baseline="-25000">
                <a:solidFill>
                  <a:srgbClr val="000000"/>
                </a:solidFill>
              </a:rPr>
              <a:t>PSII</a:t>
            </a:r>
            <a:r>
              <a:rPr lang="ko-KR" altLang="en-US" sz="1300" dirty="0">
                <a:solidFill>
                  <a:srgbClr val="000000"/>
                </a:solidFill>
              </a:rPr>
              <a:t>(P2)와 V</a:t>
            </a:r>
            <a:r>
              <a:rPr lang="ko-KR" altLang="en-US" sz="1300" dirty="0" baseline="-25000">
                <a:solidFill>
                  <a:srgbClr val="000000"/>
                </a:solidFill>
              </a:rPr>
              <a:t>cmax</a:t>
            </a:r>
            <a:r>
              <a:rPr lang="ko-KR" altLang="en-US" sz="1300" dirty="0">
                <a:solidFill>
                  <a:srgbClr val="000000"/>
                </a:solidFill>
              </a:rPr>
              <a:t>·J</a:t>
            </a:r>
            <a:r>
              <a:rPr lang="ko-KR" altLang="en-US" sz="1300" dirty="0" baseline="-25000">
                <a:solidFill>
                  <a:srgbClr val="000000"/>
                </a:solidFill>
              </a:rPr>
              <a:t>max</a:t>
            </a:r>
            <a:r>
              <a:rPr lang="ko-KR" altLang="en-US" sz="1300" dirty="0">
                <a:solidFill>
                  <a:srgbClr val="000000"/>
                </a:solidFill>
              </a:rPr>
              <a:t>가 낮았다.</a:t>
            </a:r>
          </a:p>
        </p:txBody>
      </p:sp>
      <p:sp>
        <p:nvSpPr>
          <p:cNvPr id="31" name="Num"/>
          <p:cNvSpPr/>
          <p:nvPr/>
        </p:nvSpPr>
        <p:spPr>
          <a:xfrm>
            <a:off x="841248" y="42245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3</a:t>
            </a:r>
          </a:p>
        </p:txBody>
      </p:sp>
      <p:sp>
        <p:nvSpPr>
          <p:cNvPr id="32" name="Concl"/>
          <p:cNvSpPr txBox="1"/>
          <p:nvPr/>
        </p:nvSpPr>
        <p:spPr>
          <a:xfrm>
            <a:off x="1600200" y="41148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생육·수량</a:t>
            </a:r>
          </a:p>
          <a:p>
            <a:pPr marL="0" indent="0" algn="l">
              <a:spcBef>
                <a:spcPts val="300"/>
              </a:spcBef>
              <a:buNone/>
            </a:pPr>
            <a:r>
              <a:rPr lang="ko-KR" altLang="en-US" sz="1300" dirty="0">
                <a:solidFill>
                  <a:srgbClr val="000000"/>
                </a:solidFill>
              </a:rPr>
              <a:t>로메인은 기공이 회복되었는데도 침수 기간의 손실이 유지되어 지상부 건물중이 감소했다(건조 −16%, 침수 −34%, 복합 −43%). 콩은 수량(100립 생체중)이 1~9% 감소하는 경향이었으나 처리 간 유의한 차이는 없었다.</a:t>
            </a:r>
          </a:p>
        </p:txBody>
      </p:sp>
      <p:sp>
        <p:nvSpPr>
          <p:cNvPr id="61"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62"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63"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4"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5" name="Nav 결론"/>
          <p:cNvSpPr txBox="1"/>
          <p:nvPr/>
        </p:nvSpPr>
        <p:spPr>
          <a:xfrm>
            <a:off x="6327648" y="100584"/>
            <a:ext cx="1371600" cy="329184"/>
          </a:xfrm>
          <a:prstGeom prst="rect">
            <a:avLst/>
          </a:prstGeom>
          <a:noFill/>
        </p:spPr>
        <p:txBody>
          <a:bodyPr wrap="none" lIns="0" tIns="0" rIns="0" bIns="0" anchor="ctr">
            <a:spAutoFit/>
          </a:bodyPr>
          <a:lstStyle/>
          <a:p>
            <a:pPr algn="ctr"/>
            <a:r>
              <a:rPr sz="1450" b="1" u="sng">
                <a:solidFill>
                  <a:srgbClr val="1A1A1A"/>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양쪽 모서리가 둥근 사각형 1">
            <a:extLst>
              <a:ext uri="{FF2B5EF4-FFF2-40B4-BE49-F238E27FC236}">
                <a16:creationId xmlns:a16="http://schemas.microsoft.com/office/drawing/2014/main" id="{61F6D138-DFFC-10C1-053C-3D2B417CC93E}"/>
              </a:ext>
            </a:extLst>
          </p:cNvPr>
          <p:cNvSpPr/>
          <p:nvPr/>
        </p:nvSpPr>
        <p:spPr>
          <a:xfrm>
            <a:off x="0" y="3429000"/>
            <a:ext cx="12192000" cy="3429000"/>
          </a:xfrm>
          <a:prstGeom prst="round2SameRect">
            <a:avLst/>
          </a:prstGeom>
          <a:solidFill>
            <a:srgbClr val="0445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sz="1200"/>
          </a:p>
        </p:txBody>
      </p:sp>
      <p:sp>
        <p:nvSpPr>
          <p:cNvPr id="28" name="TextBox 27">
            <a:extLst>
              <a:ext uri="{FF2B5EF4-FFF2-40B4-BE49-F238E27FC236}">
                <a16:creationId xmlns:a16="http://schemas.microsoft.com/office/drawing/2014/main" id="{C11A0B38-A3E4-9B0E-0886-5E9788B47173}"/>
              </a:ext>
            </a:extLst>
          </p:cNvPr>
          <p:cNvSpPr txBox="1"/>
          <p:nvPr/>
        </p:nvSpPr>
        <p:spPr>
          <a:xfrm>
            <a:off x="3766530" y="2681512"/>
            <a:ext cx="4658940" cy="769441"/>
          </a:xfrm>
          <a:prstGeom prst="rect">
            <a:avLst/>
          </a:prstGeom>
          <a:noFill/>
        </p:spPr>
        <p:txBody>
          <a:bodyPr wrap="square" rtlCol="0">
            <a:spAutoFit/>
          </a:bodyPr>
          <a:lstStyle/>
          <a:p>
            <a:pPr algn="ctr"/>
            <a:r>
              <a:rPr kumimoji="1" lang="ko-KR" altLang="en-US" sz="4400" b="1" spc="-200" dirty="0">
                <a:solidFill>
                  <a:srgbClr val="04458A"/>
                </a:solidFill>
                <a:latin typeface="Malgun Gothic" panose="020B0503020000020004" pitchFamily="34" charset="-127"/>
                <a:ea typeface="Malgun Gothic" panose="020B0503020000020004" pitchFamily="34" charset="-127"/>
              </a:rPr>
              <a:t>감사합니다</a:t>
            </a:r>
            <a:endParaRPr kumimoji="1" lang="en-US" altLang="ko-Kore-KR" sz="4400" b="1" spc="-200" dirty="0">
              <a:solidFill>
                <a:srgbClr val="04458A"/>
              </a:solidFill>
              <a:latin typeface="Malgun Gothic" panose="020B0503020000020004" pitchFamily="34" charset="-127"/>
              <a:ea typeface="Malgun Gothic" panose="020B0503020000020004" pitchFamily="34" charset="-127"/>
            </a:endParaRPr>
          </a:p>
        </p:txBody>
      </p:sp>
      <p:sp>
        <p:nvSpPr>
          <p:cNvPr id="31" name="TextBox 30">
            <a:extLst>
              <a:ext uri="{FF2B5EF4-FFF2-40B4-BE49-F238E27FC236}">
                <a16:creationId xmlns:a16="http://schemas.microsoft.com/office/drawing/2014/main" id="{ABD9CEE3-88A3-FC3B-9B6B-4B8B7C7214DE}"/>
              </a:ext>
            </a:extLst>
          </p:cNvPr>
          <p:cNvSpPr txBox="1"/>
          <p:nvPr/>
        </p:nvSpPr>
        <p:spPr>
          <a:xfrm>
            <a:off x="3026229" y="3520615"/>
            <a:ext cx="6139542" cy="1048492"/>
          </a:xfrm>
          <a:prstGeom prst="rect">
            <a:avLst/>
          </a:prstGeom>
          <a:noFill/>
        </p:spPr>
        <p:txBody>
          <a:bodyPr wrap="square" rtlCol="0">
            <a:spAutoFit/>
          </a:bodyPr>
          <a:lstStyle/>
          <a:p>
            <a:pPr algn="ctr">
              <a:lnSpc>
                <a:spcPct val="150000"/>
              </a:lnSpc>
            </a:pPr>
            <a:endParaRPr kumimoji="1" lang="en-US" altLang="ko-KR" sz="2400" b="1" spc="-100" dirty="0">
              <a:solidFill>
                <a:schemeClr val="bg1"/>
              </a:solidFill>
              <a:latin typeface="Malgun Gothic" panose="020B0503020000020004" pitchFamily="34" charset="-127"/>
              <a:ea typeface="Malgun Gothic" panose="020B0503020000020004" pitchFamily="34" charset="-127"/>
            </a:endParaRPr>
          </a:p>
          <a:p>
            <a:pPr algn="ctr">
              <a:lnSpc>
                <a:spcPct val="150000"/>
              </a:lnSpc>
            </a:pPr>
            <a:r>
              <a:rPr kumimoji="1" lang="ko-KR" altLang="en-US" sz="2000" b="1" spc="-100" dirty="0">
                <a:solidFill>
                  <a:schemeClr val="bg1"/>
                </a:solidFill>
                <a:latin typeface="Malgun Gothic" panose="020B0503020000020004" pitchFamily="34" charset="-127"/>
                <a:ea typeface="Malgun Gothic" panose="020B0503020000020004" pitchFamily="34" charset="-127"/>
              </a:rPr>
              <a:t>석사과정 윤정민</a:t>
            </a:r>
            <a:endParaRPr kumimoji="1" lang="en-US" altLang="ko-Kore-KR" sz="2000" b="1" spc="-100" dirty="0">
              <a:solidFill>
                <a:schemeClr val="bg1"/>
              </a:solidFill>
              <a:latin typeface="Malgun Gothic" panose="020B0503020000020004" pitchFamily="34" charset="-127"/>
              <a:ea typeface="Malgun Gothic" panose="020B0503020000020004" pitchFamily="34" charset="-127"/>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보충 자료</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20</a:t>
            </a:fld>
            <a:endParaRPr lang="ko-KR" altLang="en-US"/>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질의응답용 보충 자료.</a:t>
            </a:r>
          </a:p>
        </p:txBody>
      </p:sp>
      <p:sp>
        <p:nvSpPr>
          <p:cNvPr id="27" name="Appendix list"/>
          <p:cNvSpPr txBox="1"/>
          <p:nvPr/>
        </p:nvSpPr>
        <p:spPr>
          <a:xfrm>
            <a:off x="1280160" y="1463040"/>
            <a:ext cx="9601200" cy="411480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600" dirty="0">
                <a:solidFill>
                  <a:srgbClr val="000000"/>
                </a:solidFill>
              </a:rPr>
              <a:t>A1. LI-600 보정: 선형 PAR + 기온</a:t>
            </a:r>
          </a:p>
          <a:p>
            <a:pPr marL="0" indent="0" algn="l">
              <a:spcBef>
                <a:spcPts val="800"/>
              </a:spcBef>
              <a:buNone/>
            </a:pPr>
            <a:r>
              <a:rPr lang="ko-KR" altLang="en-US" sz="1600" dirty="0">
                <a:solidFill>
                  <a:srgbClr val="000000"/>
                </a:solidFill>
              </a:rPr>
              <a:t>A2. LI-6800 광-광합성 곡선 (A-Q)</a:t>
            </a:r>
          </a:p>
          <a:p>
            <a:pPr marL="0" indent="0" algn="l">
              <a:spcBef>
                <a:spcPts val="800"/>
              </a:spcBef>
              <a:buNone/>
            </a:pPr>
            <a:r>
              <a:rPr lang="ko-KR" altLang="en-US" sz="1600" dirty="0">
                <a:solidFill>
                  <a:srgbClr val="000000"/>
                </a:solidFill>
              </a:rPr>
              <a:t>A3. 정상 상태 형광 (F</a:t>
            </a:r>
            <a:r>
              <a:rPr lang="ko-KR" altLang="en-US" sz="1600" dirty="0" baseline="-25000">
                <a:solidFill>
                  <a:srgbClr val="000000"/>
                </a:solidFill>
              </a:rPr>
              <a:t>s</a:t>
            </a:r>
            <a:r>
              <a:rPr lang="ko-KR" altLang="en-US" sz="1600" dirty="0">
                <a:solidFill>
                  <a:srgbClr val="000000"/>
                </a:solidFill>
              </a:rPr>
              <a:t>)</a:t>
            </a:r>
          </a:p>
          <a:p>
            <a:pPr marL="0" indent="0" algn="l">
              <a:spcBef>
                <a:spcPts val="800"/>
              </a:spcBef>
              <a:buNone/>
            </a:pPr>
            <a:r>
              <a:rPr lang="ko-KR" altLang="en-US" sz="1600" dirty="0">
                <a:solidFill>
                  <a:srgbClr val="000000"/>
                </a:solidFill>
              </a:rPr>
              <a:t>A4. 전자전달속도 (ETR)</a:t>
            </a:r>
          </a:p>
          <a:p>
            <a:pPr marL="0" indent="0" algn="l">
              <a:spcBef>
                <a:spcPts val="800"/>
              </a:spcBef>
              <a:buNone/>
            </a:pPr>
            <a:r>
              <a:rPr lang="ko-KR" altLang="en-US" sz="1600" dirty="0">
                <a:solidFill>
                  <a:srgbClr val="000000"/>
                </a:solidFill>
              </a:rPr>
              <a:t>A5. 측정 당시 일사 조건: 흐린 날 표시</a:t>
            </a:r>
          </a:p>
          <a:p>
            <a:pPr marL="0" indent="0" algn="l">
              <a:spcBef>
                <a:spcPts val="800"/>
              </a:spcBef>
              <a:buNone/>
            </a:pPr>
            <a:r>
              <a:rPr lang="ko-KR" altLang="en-US" sz="1600" dirty="0">
                <a:solidFill>
                  <a:srgbClr val="000000"/>
                </a:solidFill>
              </a:rPr>
              <a:t>A6. 참고문헌</a:t>
            </a:r>
          </a:p>
        </p:txBody>
      </p:sp>
      <p:sp>
        <p:nvSpPr>
          <p:cNvPr id="2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2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3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3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3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33"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PAR·기온 보정</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21</a:t>
            </a:fld>
            <a:endParaRPr lang="ko-KR" altLang="en-US"/>
          </a:p>
        </p:txBody>
      </p:sp>
      <p:pic>
        <p:nvPicPr>
          <p:cNvPr id="14" name="Picture 13" descr="s7.png"/>
          <p:cNvPicPr>
            <a:picLocks noChangeAspect="1"/>
          </p:cNvPicPr>
          <p:nvPr/>
        </p:nvPicPr>
        <p:blipFill>
          <a:blip r:embed="rId4"/>
          <a:stretch>
            <a:fillRect/>
          </a:stretch>
        </p:blipFill>
        <p:spPr>
          <a:xfrm>
            <a:off x="457200" y="1188720"/>
            <a:ext cx="6903720" cy="2083018"/>
          </a:xfrm>
          <a:prstGeom prst="rect">
            <a:avLst/>
          </a:prstGeom>
        </p:spPr>
      </p:pic>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0">
                <a:solidFill>
                  <a:srgbClr val="000000"/>
                </a:solidFill>
              </a:rPr>
              <a:t>이유: 같은 날에도 처리 간 PAR·기온이 달랐음 (콩 8/13 PAR 970 vs 632, 기온 33.3 vs 34.0 °C; 로메인 PAR 약 30~1,250)</a:t>
            </a:r>
          </a:p>
          <a:p>
            <a:pPr marL="201168" indent="-201168">
              <a:spcBef>
                <a:spcPts val="0"/>
              </a:spcBef>
              <a:buFont typeface="Arial"/>
              <a:buChar char="•"/>
            </a:pPr>
            <a:r>
              <a:rPr sz="1400" b="0">
                <a:solidFill>
                  <a:srgbClr val="000000"/>
                </a:solidFill>
              </a:rPr>
              <a:t>모형: y = μ + 처리 + 측정일 + β</a:t>
            </a:r>
            <a:r>
              <a:rPr sz="1400" b="0" baseline="-25000">
                <a:solidFill>
                  <a:srgbClr val="000000"/>
                </a:solidFill>
              </a:rPr>
              <a:t>1</a:t>
            </a:r>
            <a:r>
              <a:rPr sz="1400" b="0">
                <a:solidFill>
                  <a:srgbClr val="000000"/>
                </a:solidFill>
              </a:rPr>
              <a:t>·Q</a:t>
            </a:r>
            <a:r>
              <a:rPr sz="1400" b="0" baseline="-25000">
                <a:solidFill>
                  <a:srgbClr val="000000"/>
                </a:solidFill>
              </a:rPr>
              <a:t>amb</a:t>
            </a:r>
            <a:r>
              <a:rPr sz="1400" b="0">
                <a:solidFill>
                  <a:srgbClr val="000000"/>
                </a:solidFill>
              </a:rPr>
              <a:t> + β</a:t>
            </a:r>
            <a:r>
              <a:rPr sz="1400" b="0" baseline="-25000">
                <a:solidFill>
                  <a:srgbClr val="000000"/>
                </a:solidFill>
              </a:rPr>
              <a:t>2</a:t>
            </a:r>
            <a:r>
              <a:rPr sz="1400" b="0">
                <a:solidFill>
                  <a:srgbClr val="000000"/>
                </a:solidFill>
              </a:rPr>
              <a:t>·T</a:t>
            </a:r>
            <a:r>
              <a:rPr sz="1400" b="0" baseline="-25000">
                <a:solidFill>
                  <a:srgbClr val="000000"/>
                </a:solidFill>
              </a:rPr>
              <a:t>air</a:t>
            </a:r>
            <a:r>
              <a:rPr sz="1400" b="0">
                <a:solidFill>
                  <a:srgbClr val="000000"/>
                </a:solidFill>
              </a:rPr>
              <a:t> + ε (Ali et al., 2025; Gao et al., 2024)</a:t>
            </a:r>
          </a:p>
          <a:p>
            <a:pPr marL="201168" indent="-201168">
              <a:spcBef>
                <a:spcPts val="0"/>
              </a:spcBef>
              <a:buFont typeface="Arial"/>
              <a:buChar char="•"/>
            </a:pPr>
            <a:r>
              <a:rPr sz="1400" b="0">
                <a:solidFill>
                  <a:srgbClr val="000000"/>
                </a:solidFill>
              </a:rPr>
              <a:t>선형 PAR이 AIC 최소, Φ</a:t>
            </a:r>
            <a:r>
              <a:rPr sz="1400" b="0" baseline="-25000">
                <a:solidFill>
                  <a:srgbClr val="000000"/>
                </a:solidFill>
              </a:rPr>
              <a:t>PSII</a:t>
            </a:r>
            <a:r>
              <a:rPr sz="1400" b="0">
                <a:solidFill>
                  <a:srgbClr val="000000"/>
                </a:solidFill>
              </a:rPr>
              <a:t>는 PAR 100당 콩 −0.022, 로메인 −0.029 감소, 기온 기울기는 비유의</a:t>
            </a:r>
          </a:p>
          <a:p>
            <a:pPr marL="201168" indent="-201168">
              <a:spcBef>
                <a:spcPts val="0"/>
              </a:spcBef>
              <a:buFont typeface="Arial"/>
              <a:buChar char="•"/>
            </a:pPr>
            <a:r>
              <a:rPr sz="1400" b="0">
                <a:solidFill>
                  <a:srgbClr val="000000"/>
                </a:solidFill>
              </a:rPr>
              <a:t>로메인: g</a:t>
            </a:r>
            <a:r>
              <a:rPr sz="1400" b="0" baseline="-25000">
                <a:solidFill>
                  <a:srgbClr val="000000"/>
                </a:solidFill>
              </a:rPr>
              <a:t>sw</a:t>
            </a:r>
            <a:r>
              <a:rPr sz="1400" b="0">
                <a:solidFill>
                  <a:srgbClr val="000000"/>
                </a:solidFill>
              </a:rPr>
              <a:t>·Φ</a:t>
            </a:r>
            <a:r>
              <a:rPr sz="1400" b="0" baseline="-25000">
                <a:solidFill>
                  <a:srgbClr val="000000"/>
                </a:solidFill>
              </a:rPr>
              <a:t>PSII</a:t>
            </a:r>
            <a:r>
              <a:rPr sz="1400" b="0">
                <a:solidFill>
                  <a:srgbClr val="000000"/>
                </a:solidFill>
              </a:rPr>
              <a:t>·F</a:t>
            </a:r>
            <a:r>
              <a:rPr sz="1400" b="0" baseline="-25000">
                <a:solidFill>
                  <a:srgbClr val="000000"/>
                </a:solidFill>
              </a:rPr>
              <a:t>s</a:t>
            </a:r>
            <a:r>
              <a:rPr sz="1400" b="0">
                <a:solidFill>
                  <a:srgbClr val="000000"/>
                </a:solidFill>
              </a:rPr>
              <a:t>·ETR 모두 PAR만 보정과 PAR+기온 보정의 판정이 같음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큰 차이(g</a:t>
            </a:r>
            <a:r>
              <a:rPr sz="1600" baseline="-25000">
                <a:solidFill>
                  <a:srgbClr val="E97132"/>
                </a:solidFill>
              </a:rPr>
              <a:t>sw</a:t>
            </a:r>
            <a:r>
              <a:rPr sz="1600">
                <a:solidFill>
                  <a:srgbClr val="E97132"/>
                </a:solidFill>
              </a:rPr>
              <a:t>, F</a:t>
            </a:r>
            <a:r>
              <a:rPr sz="1600" baseline="-25000">
                <a:solidFill>
                  <a:srgbClr val="E97132"/>
                </a:solidFill>
              </a:rPr>
              <a:t>s</a:t>
            </a:r>
            <a:r>
              <a:rPr sz="1600">
                <a:solidFill>
                  <a:srgbClr val="E97132"/>
                </a:solidFill>
              </a:rPr>
              <a:t>, 콩 P2)는 보정에 안정적 — 작은 차이(콩 P1 Φ</a:t>
            </a:r>
            <a:r>
              <a:rPr sz="1600" baseline="-25000">
                <a:solidFill>
                  <a:srgbClr val="E97132"/>
                </a:solidFill>
              </a:rPr>
              <a:t>PSII</a:t>
            </a:r>
            <a:r>
              <a:rPr sz="1600">
                <a:solidFill>
                  <a:srgbClr val="E97132"/>
                </a:solidFill>
              </a:rPr>
              <a:t>, ETR)는 보정 방식에 민감</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그림 A: 콩 P2 개별 잎, 선 = 보정 후 PAR 기울기. B·C: 같은 날 처리별 PAR·기온. 표: 콩 P1(P2는 4처리) 처리 P, Wald F. Ali et al. (2025) J. Exp. Bot. 76:4141; Gao et al. (2024) J. Exp. Bot. 75:4904.</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LI-6800 : 광-광합성 곡선 (A-Q)</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22</a:t>
            </a:fld>
            <a:endParaRPr lang="ko-KR" altLang="en-US"/>
          </a:p>
        </p:txBody>
      </p:sp>
      <p:pic>
        <p:nvPicPr>
          <p:cNvPr id="14" name="Picture 13" descr="image.png"/>
          <p:cNvPicPr>
            <a:picLocks noChangeAspect="1"/>
          </p:cNvPicPr>
          <p:nvPr/>
        </p:nvPicPr>
        <p:blipFill>
          <a:blip r:embed="rId4"/>
          <a:stretch>
            <a:fillRect/>
          </a:stretch>
        </p:blipFill>
        <p:spPr>
          <a:xfrm>
            <a:off x="457199" y="1364948"/>
            <a:ext cx="6766560" cy="2706624"/>
          </a:xfrm>
          <a:prstGeom prst="rect">
            <a:avLst/>
          </a:prstGeom>
        </p:spPr>
      </p:pic>
      <p:sp>
        <p:nvSpPr>
          <p:cNvPr id="8" name="Card PPFD별 Dunc"/>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Header PPFD별 Dunc"/>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PPFD 1,500에서의 A</a:t>
            </a:r>
          </a:p>
        </p:txBody>
      </p:sp>
      <p:graphicFrame>
        <p:nvGraphicFramePr>
          <p:cNvPr id="10" name="Table 9"/>
          <p:cNvGraphicFramePr>
            <a:graphicFrameLocks noGrp="1"/>
          </p:cNvGraphicFramePr>
          <p:nvPr/>
        </p:nvGraphicFramePr>
        <p:xfrm>
          <a:off x="7680960" y="1783080"/>
          <a:ext cx="3749040" cy="1901952"/>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237744">
                <a:tc>
                  <a:txBody>
                    <a:bodyPr/>
                    <a:lstStyle/>
                    <a:p>
                      <a:pPr algn="l"/>
                      <a:r>
                        <a:rPr sz="1050" b="1">
                          <a:solidFill>
                            <a:srgbClr val="000000"/>
                          </a:solidFill>
                        </a:rPr>
                        <a:t>A (PPFD 1500)</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Soybean</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Romaine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7744">
                <a:tc>
                  <a:txBody>
                    <a:bodyPr/>
                    <a:lstStyle/>
                    <a:p>
                      <a:pPr algn="l"/>
                      <a:r>
                        <a:rPr sz="1050" b="0">
                          <a:solidFill>
                            <a:srgbClr val="000000"/>
                          </a:solidFill>
                        </a:rPr>
                        <a:t>Pre-treatment</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12.9</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22.6</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7744">
                <a:tc>
                  <a:txBody>
                    <a:bodyPr/>
                    <a:lstStyle/>
                    <a:p>
                      <a:pPr algn="l"/>
                      <a:r>
                        <a:rPr sz="1050" b="0">
                          <a:solidFill>
                            <a:srgbClr val="000000"/>
                          </a:solidFill>
                        </a:rPr>
                        <a:t>Control</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16.4</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19.5</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7744">
                <a:tc>
                  <a:txBody>
                    <a:bodyPr/>
                    <a:lstStyle/>
                    <a:p>
                      <a:pPr algn="l"/>
                      <a:r>
                        <a:rPr sz="105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16.7</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19.5</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7744">
                <a:tc>
                  <a:txBody>
                    <a:bodyPr/>
                    <a:lstStyle/>
                    <a:p>
                      <a:pPr algn="l"/>
                      <a:r>
                        <a:rPr sz="1050" b="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12.5</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21.2</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7744">
                <a:tc>
                  <a:txBody>
                    <a:bodyPr/>
                    <a:lstStyle/>
                    <a:p>
                      <a:pPr algn="l"/>
                      <a:r>
                        <a:rPr sz="1050" b="0">
                          <a:solidFill>
                            <a:srgbClr val="000000"/>
                          </a:solidFill>
                        </a:rPr>
                        <a:t>Combined</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1050" b="0">
                          <a:solidFill>
                            <a:srgbClr val="000000"/>
                          </a:solidFill>
                        </a:rPr>
                        <a:t>15.8</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1050" b="0">
                          <a:solidFill>
                            <a:srgbClr val="000000"/>
                          </a:solidFill>
                        </a:rPr>
                        <a:t>17.7</a:t>
                      </a:r>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7680960" y="3749039"/>
            <a:ext cx="3886200" cy="1737360"/>
          </a:xfrm>
          <a:prstGeom prst="rect">
            <a:avLst/>
          </a:prstGeom>
          <a:noFill/>
        </p:spPr>
        <p:txBody>
          <a:bodyPr wrap="square">
            <a:spAutoFit/>
          </a:bodyPr>
          <a:lstStyle/>
          <a:p>
            <a:pPr marL="201168" indent="-201168">
              <a:buFont typeface="Arial"/>
              <a:buChar char="•"/>
            </a:pPr>
            <a:r>
              <a:rPr sz="1100" b="0">
                <a:solidFill>
                  <a:srgbClr val="000000"/>
                </a:solidFill>
              </a:rPr>
              <a:t>PPFD 8개 수준 모두에서 처리 간 유의차 없음</a:t>
            </a:r>
          </a:p>
          <a:p>
            <a:pPr marL="201168" indent="-201168">
              <a:buFont typeface="Arial"/>
              <a:buChar char="•"/>
            </a:pPr>
            <a:r>
              <a:rPr sz="1100" b="0">
                <a:solidFill>
                  <a:srgbClr val="000000"/>
                </a:solidFill>
              </a:rPr>
              <a:t>처리 전 곡선은 콩에서 처리 후보다 낮고(약 13), 로메인은 처리 전 약 23으로 처리 후(18~21)보다 높음</a:t>
            </a:r>
          </a:p>
          <a:p>
            <a:pPr marL="201168" indent="-201168">
              <a:buFont typeface="Arial"/>
              <a:buChar char="•"/>
            </a:pPr>
            <a:r>
              <a:rPr sz="1100" b="0">
                <a:solidFill>
                  <a:srgbClr val="000000"/>
                </a:solidFill>
              </a:rPr>
              <a:t>콩 침수구 12.5는 대조구 16.4보다 낮은 경향, 로메인 복합구 17.7도 낮은 경향</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두 작물 모두 처리 간 A-Q 곡선 차이는 없음</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값: 평균 ± SE (µmol CO</a:t>
            </a:r>
            <a:r>
              <a:rPr sz="1000" b="0" baseline="-25000">
                <a:solidFill>
                  <a:srgbClr val="595959"/>
                </a:solidFill>
              </a:rPr>
              <a:t>2</a:t>
            </a:r>
            <a:r>
              <a:rPr sz="1000" b="0">
                <a:solidFill>
                  <a:srgbClr val="595959"/>
                </a:solidFill>
              </a:rPr>
              <a:t> m</a:t>
            </a:r>
            <a:r>
              <a:rPr sz="1000" b="0" baseline="30000">
                <a:solidFill>
                  <a:srgbClr val="595959"/>
                </a:solidFill>
              </a:rPr>
              <a:t>−2</a:t>
            </a:r>
            <a:r>
              <a:rPr sz="1000" b="0">
                <a:solidFill>
                  <a:srgbClr val="595959"/>
                </a:solidFill>
              </a:rPr>
              <a:t>·s</a:t>
            </a:r>
            <a:r>
              <a:rPr sz="1000" b="0" baseline="30000">
                <a:solidFill>
                  <a:srgbClr val="595959"/>
                </a:solidFill>
              </a:rPr>
              <a:t>−1</a:t>
            </a:r>
            <a:r>
              <a:rPr sz="1000" b="0">
                <a:solidFill>
                  <a:srgbClr val="595959"/>
                </a:solidFill>
              </a:rPr>
              <a:t>). 콩 처리 전 7/22~23(3곡선), 로메인 처리 전 10/4(3곡선), 처리 후 처리당 3곡선(10/16~19). PPFD 수준별 Tukey.</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정상 상태 형광 (F</a:t>
            </a:r>
            <a:r>
              <a:rPr lang="ko-KR" altLang="en-US" sz="2800" dirty="0" baseline="-25000"/>
              <a:t>s</a:t>
            </a:r>
            <a:r>
              <a:rPr lang="ko-KR" altLang="en-US" sz="2800" dirty="0"/>
              <a:t>)</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25</a:t>
            </a:fld>
            <a:endParaRPr lang="ko-KR" altLang="en-US"/>
          </a:p>
        </p:txBody>
      </p:sp>
      <p:pic>
        <p:nvPicPr>
          <p:cNvPr id="14" name="Picture 13" descr="image.png"/>
          <p:cNvPicPr>
            <a:picLocks noChangeAspect="1"/>
          </p:cNvPicPr>
          <p:nvPr/>
        </p:nvPicPr>
        <p:blipFill>
          <a:blip r:embed="rId4"/>
          <a:stretch>
            <a:fillRect/>
          </a:stretch>
        </p:blipFill>
        <p:spPr>
          <a:xfrm>
            <a:off x="721559" y="1188720"/>
            <a:ext cx="6375000" cy="2550000"/>
          </a:xfrm>
          <a:prstGeom prst="rect">
            <a:avLst/>
          </a:prstGeom>
        </p:spPr>
      </p:pic>
      <p:graphicFrame>
        <p:nvGraphicFramePr>
          <p:cNvPr id="8" name="Table 7"/>
          <p:cNvGraphicFramePr>
            <a:graphicFrameLocks noGrp="1"/>
          </p:cNvGraphicFramePr>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r>
                        <a:rPr sz="800" b="1" dirty="0">
                          <a:solidFill>
                            <a:srgbClr val="000000"/>
                          </a:solidFill>
                        </a:rPr>
                        <a:t>Treatment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r>
                        <a:rPr sz="800" b="0">
                          <a:solidFill>
                            <a:srgbClr val="000000"/>
                          </a:solidFill>
                        </a:rPr>
                        <a:t>Control</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129 b</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113 b</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157.3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142.1 a</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r>
                        <a:rPr sz="80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132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161.0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141.8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r>
                        <a:rPr lang="en-US" sz="800" b="0" dirty="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139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131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158.0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141.6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r>
                        <a:rPr lang="en-US" sz="800" b="0" dirty="0">
                          <a:solidFill>
                            <a:srgbClr val="000000"/>
                          </a:solidFill>
                        </a:rPr>
                        <a:t>Combined</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134 a</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161.6 a</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144.5 a</a:t>
                      </a:r>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처리 전 F</a:t>
            </a:r>
            <a:r>
              <a:rPr sz="1400" baseline="-25000">
                <a:solidFill>
                  <a:srgbClr val="000000"/>
                </a:solidFill>
              </a:rPr>
              <a:t>s</a:t>
            </a:r>
            <a:r>
              <a:rPr sz="1400">
                <a:solidFill>
                  <a:srgbClr val="000000"/>
                </a:solidFill>
              </a:rPr>
              <a:t>: 콩 118, 로메인 154</a:t>
            </a:r>
          </a:p>
          <a:p>
            <a:pPr marL="201168" indent="-201168">
              <a:spcBef>
                <a:spcPts val="700"/>
              </a:spcBef>
              <a:buFont typeface="Arial"/>
              <a:buChar char="•"/>
            </a:pPr>
            <a:r>
              <a:rPr sz="1400">
                <a:solidFill>
                  <a:srgbClr val="000000"/>
                </a:solidFill>
              </a:rPr>
              <a:t>콩 P1 침수 139 &gt; 대조구 129, P2 건조·침수·복합 131~134 &gt; 대조구 113</a:t>
            </a:r>
          </a:p>
          <a:p>
            <a:pPr marL="201168" indent="-201168">
              <a:spcBef>
                <a:spcPts val="700"/>
              </a:spcBef>
              <a:buFont typeface="Arial"/>
              <a:buChar char="•"/>
            </a:pPr>
            <a:r>
              <a:rPr sz="1400">
                <a:solidFill>
                  <a:srgbClr val="000000"/>
                </a:solidFill>
              </a:rPr>
              <a:t>로메인 P1 155~162, P2 142~145로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F</a:t>
            </a:r>
            <a:r>
              <a:rPr sz="1600" baseline="-25000">
                <a:solidFill>
                  <a:srgbClr val="E97132"/>
                </a:solidFill>
              </a:rPr>
              <a:t>s</a:t>
            </a:r>
            <a:r>
              <a:rPr sz="1600">
                <a:solidFill>
                  <a:srgbClr val="E97132"/>
                </a:solidFill>
              </a:rPr>
              <a:t> 절대값 차이는 형광 신호 크기 변화를 포함 — 생리 해석은 비율 지표(Φ</a:t>
            </a:r>
            <a:r>
              <a:rPr sz="1600" baseline="-25000">
                <a:solidFill>
                  <a:srgbClr val="E97132"/>
                </a:solidFill>
              </a:rPr>
              <a:t>PSII</a:t>
            </a:r>
            <a:r>
              <a:rPr sz="1600">
                <a:solidFill>
                  <a:srgbClr val="E97132"/>
                </a:solidFill>
              </a:rPr>
              <a:t>)로</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측정일·선형 PAR(Q</a:t>
            </a:r>
            <a:r>
              <a:rPr sz="1000" baseline="-25000">
                <a:solidFill>
                  <a:srgbClr val="595959"/>
                </a:solidFill>
              </a:rPr>
              <a:t>amb</a:t>
            </a:r>
            <a:r>
              <a:rPr sz="1000">
                <a:solidFill>
                  <a:srgbClr val="595959"/>
                </a:solidFill>
              </a:rPr>
              <a:t>)·기온(T</a:t>
            </a:r>
            <a:r>
              <a:rPr sz="1000" baseline="-25000">
                <a:solidFill>
                  <a:srgbClr val="595959"/>
                </a:solidFill>
              </a:rPr>
              <a:t>air</a:t>
            </a:r>
            <a:r>
              <a:rPr sz="1000">
                <a:solidFill>
                  <a:srgbClr val="595959"/>
                </a:solidFill>
              </a:rPr>
              <a:t>) 보정 평균, Tukey 문자. 그림(보정 일평균): 음영 ± SE, 점선 P1/P2 경계, 회색 띠 흐린 날, * 당일 P&lt;0.05(Holm), X 처리 전.</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전자전달속도 (ETR)</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26</a:t>
            </a:fld>
            <a:endParaRPr lang="ko-KR" altLang="en-US"/>
          </a:p>
        </p:txBody>
      </p:sp>
      <p:pic>
        <p:nvPicPr>
          <p:cNvPr id="14" name="Picture 13" descr="image.png"/>
          <p:cNvPicPr>
            <a:picLocks noChangeAspect="1"/>
          </p:cNvPicPr>
          <p:nvPr/>
        </p:nvPicPr>
        <p:blipFill>
          <a:blip r:embed="rId4"/>
          <a:stretch>
            <a:fillRect/>
          </a:stretch>
        </p:blipFill>
        <p:spPr>
          <a:xfrm>
            <a:off x="721559" y="1188720"/>
            <a:ext cx="6375000" cy="2550000"/>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4152298316"/>
              </p:ext>
            </p:extLst>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r>
                        <a:rPr sz="800" b="1" dirty="0">
                          <a:solidFill>
                            <a:srgbClr val="000000"/>
                          </a:solidFill>
                        </a:rPr>
                        <a:t>Treatment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r>
                        <a:rPr sz="800" b="0">
                          <a:solidFill>
                            <a:srgbClr val="000000"/>
                          </a:solidFill>
                        </a:rPr>
                        <a:t>Control</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119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190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141.7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75.6 a</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r>
                        <a:rPr sz="80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146 c</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137.8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78.3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r>
                        <a:rPr lang="en-US" sz="800" b="0" dirty="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110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180 ab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132.7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72.7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r>
                        <a:rPr lang="en-US" sz="800" b="0" dirty="0">
                          <a:solidFill>
                            <a:srgbClr val="000000"/>
                          </a:solidFill>
                        </a:rPr>
                        <a:t>Combined</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165 bc</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130.1 a</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80.4 a</a:t>
                      </a:r>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처리 전 ETR: 콩 187</a:t>
            </a:r>
          </a:p>
          <a:p>
            <a:pPr marL="201168" indent="-201168">
              <a:spcBef>
                <a:spcPts val="700"/>
              </a:spcBef>
              <a:buFont typeface="Arial"/>
              <a:buChar char="•"/>
            </a:pPr>
            <a:r>
              <a:rPr sz="1400">
                <a:solidFill>
                  <a:srgbClr val="000000"/>
                </a:solidFill>
              </a:rPr>
              <a:t>콩 P1 대조구 119 &gt; 침수 110, P2 대조구 190 &gt; 복합 165 &gt; 건조 146</a:t>
            </a:r>
          </a:p>
          <a:p>
            <a:pPr marL="201168" indent="-201168">
              <a:spcBef>
                <a:spcPts val="700"/>
              </a:spcBef>
              <a:buFont typeface="Arial"/>
              <a:buChar char="•"/>
            </a:pPr>
            <a:r>
              <a:rPr sz="1400">
                <a:solidFill>
                  <a:srgbClr val="000000"/>
                </a:solidFill>
              </a:rPr>
              <a:t>로메인 P1 대조구 142 &gt; 침수 133·복합 130 경향, P2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ETR은 광도에 비례 — 콩 P2 처리 차이는 Φ</a:t>
            </a:r>
            <a:r>
              <a:rPr sz="1600" baseline="-25000">
                <a:solidFill>
                  <a:srgbClr val="E97132"/>
                </a:solidFill>
              </a:rPr>
              <a:t>PSII</a:t>
            </a:r>
            <a:r>
              <a:rPr sz="1600">
                <a:solidFill>
                  <a:srgbClr val="E97132"/>
                </a:solidFill>
              </a:rPr>
              <a:t>와 같이 고광도에서 커짐</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측정일·선형 PAR(Q</a:t>
            </a:r>
            <a:r>
              <a:rPr sz="1000" baseline="-25000">
                <a:solidFill>
                  <a:srgbClr val="595959"/>
                </a:solidFill>
              </a:rPr>
              <a:t>amb</a:t>
            </a:r>
            <a:r>
              <a:rPr sz="1000">
                <a:solidFill>
                  <a:srgbClr val="595959"/>
                </a:solidFill>
              </a:rPr>
              <a:t>)·기온(T</a:t>
            </a:r>
            <a:r>
              <a:rPr sz="1000" baseline="-25000">
                <a:solidFill>
                  <a:srgbClr val="595959"/>
                </a:solidFill>
              </a:rPr>
              <a:t>air</a:t>
            </a:r>
            <a:r>
              <a:rPr sz="1000">
                <a:solidFill>
                  <a:srgbClr val="595959"/>
                </a:solidFill>
              </a:rPr>
              <a:t>) 보정 평균, Tukey 문자.</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A5. 측정 당시 일사 조건: 흐린 날 표시</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27</a:t>
            </a:fld>
            <a:endParaRPr lang="ko-KR" altLang="en-US"/>
          </a:p>
        </p:txBody>
      </p:sp>
      <p:sp>
        <p:nvSpPr>
          <p:cNvPr id="7" name="Rounded Rectangle 6"/>
          <p:cNvSpPr/>
          <p:nvPr/>
        </p:nvSpPr>
        <p:spPr>
          <a:xfrm>
            <a:off x="457200" y="1188720"/>
            <a:ext cx="5394960" cy="274320"/>
          </a:xfrm>
          <a:prstGeom prst="roundRect">
            <a:avLst>
              <a:gd name="adj" fmla="val 20000"/>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rPr>
              <a:t>콩</a:t>
            </a:r>
          </a:p>
        </p:txBody>
      </p:sp>
      <p:graphicFrame>
        <p:nvGraphicFramePr>
          <p:cNvPr id="8" name="Table 7"/>
          <p:cNvGraphicFramePr>
            <a:graphicFrameLocks noGrp="1"/>
          </p:cNvGraphicFramePr>
          <p:nvPr/>
        </p:nvGraphicFramePr>
        <p:xfrm>
          <a:off x="457200" y="1508760"/>
          <a:ext cx="5394960" cy="3634740"/>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2316">
                <a:tc>
                  <a:txBody>
                    <a:bodyPr/>
                    <a:lstStyle/>
                    <a:p>
                      <a:pPr algn="l"/>
                      <a:r>
                        <a:rPr sz="950" b="1">
                          <a:solidFill>
                            <a:srgbClr val="000000"/>
                          </a:solidFill>
                        </a:rPr>
                        <a:t>Date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Time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SW (W·m</a:t>
                      </a:r>
                      <a:r>
                        <a:rPr sz="950" b="1" baseline="30000">
                          <a:solidFill>
                            <a:srgbClr val="000000"/>
                          </a:solidFill>
                        </a:rPr>
                        <a:t>−2</a:t>
                      </a:r>
                      <a:r>
                        <a:rPr sz="950" b="1">
                          <a:solidFill>
                            <a:srgbClr val="000000"/>
                          </a:solidFill>
                        </a:rPr>
                        <a: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CI</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Use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2316">
                <a:tc>
                  <a:txBody>
                    <a:bodyPr/>
                    <a:lstStyle/>
                    <a:p>
                      <a:pPr algn="l"/>
                      <a:r>
                        <a:rPr sz="950" b="0">
                          <a:solidFill>
                            <a:srgbClr val="000000"/>
                          </a:solidFill>
                        </a:rPr>
                        <a:t>08/13</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10:31–11:01</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348</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0.61</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2316">
                <a:tc>
                  <a:txBody>
                    <a:bodyPr/>
                    <a:lstStyle/>
                    <a:p>
                      <a:pPr algn="l"/>
                      <a:r>
                        <a:rPr sz="950" b="0">
                          <a:solidFill>
                            <a:srgbClr val="000000"/>
                          </a:solidFill>
                        </a:rPr>
                        <a:t>08/14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10:19–10:36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312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0.66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2316">
                <a:tc>
                  <a:txBody>
                    <a:bodyPr/>
                    <a:lstStyle/>
                    <a:p>
                      <a:pPr algn="l"/>
                      <a:r>
                        <a:rPr sz="950" b="0">
                          <a:solidFill>
                            <a:srgbClr val="000000"/>
                          </a:solidFill>
                        </a:rPr>
                        <a:t>08/15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08:31–08:40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138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0.54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2316">
                <a:tc>
                  <a:txBody>
                    <a:bodyPr/>
                    <a:lstStyle/>
                    <a:p>
                      <a:pPr algn="l"/>
                      <a:r>
                        <a:rPr sz="950" b="0">
                          <a:solidFill>
                            <a:srgbClr val="000000"/>
                          </a:solidFill>
                        </a:rPr>
                        <a:t>08/16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08:43–08:57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51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0.20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42316">
                <a:tc>
                  <a:txBody>
                    <a:bodyPr/>
                    <a:lstStyle/>
                    <a:p>
                      <a:pPr algn="l"/>
                      <a:r>
                        <a:rPr sz="950" b="0">
                          <a:solidFill>
                            <a:srgbClr val="000000"/>
                          </a:solidFill>
                        </a:rPr>
                        <a:t>08/17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08:37–08:51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178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0.69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242316">
                <a:tc>
                  <a:txBody>
                    <a:bodyPr/>
                    <a:lstStyle/>
                    <a:p>
                      <a:pPr algn="l"/>
                      <a:r>
                        <a:rPr sz="950" b="0">
                          <a:solidFill>
                            <a:srgbClr val="000000"/>
                          </a:solidFill>
                        </a:rPr>
                        <a:t>08/18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08:54–09:05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243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6"/>
                  </a:ext>
                </a:extLst>
              </a:tr>
              <a:tr h="242316">
                <a:tc>
                  <a:txBody>
                    <a:bodyPr/>
                    <a:lstStyle/>
                    <a:p>
                      <a:pPr algn="l"/>
                      <a:r>
                        <a:rPr sz="950" b="0">
                          <a:solidFill>
                            <a:srgbClr val="000000"/>
                          </a:solidFill>
                        </a:rPr>
                        <a:t>08/19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09:42–10:01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0.35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7"/>
                  </a:ext>
                </a:extLst>
              </a:tr>
              <a:tr h="242316">
                <a:tc>
                  <a:txBody>
                    <a:bodyPr/>
                    <a:lstStyle/>
                    <a:p>
                      <a:pPr algn="l"/>
                      <a:r>
                        <a:rPr sz="950" b="0">
                          <a:solidFill>
                            <a:srgbClr val="000000"/>
                          </a:solidFill>
                        </a:rPr>
                        <a:t>08/20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09:32–09:45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162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0.60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8"/>
                  </a:ext>
                </a:extLst>
              </a:tr>
              <a:tr h="242316">
                <a:tc>
                  <a:txBody>
                    <a:bodyPr/>
                    <a:lstStyle/>
                    <a:p>
                      <a:pPr algn="l"/>
                      <a:r>
                        <a:rPr sz="950" b="0">
                          <a:solidFill>
                            <a:srgbClr val="000000"/>
                          </a:solidFill>
                        </a:rPr>
                        <a:t>08/21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08:18–08:25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52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0.18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9"/>
                  </a:ext>
                </a:extLst>
              </a:tr>
              <a:tr h="242316">
                <a:tc>
                  <a:txBody>
                    <a:bodyPr/>
                    <a:lstStyle/>
                    <a:p>
                      <a:pPr algn="l"/>
                      <a:r>
                        <a:rPr sz="950" b="0">
                          <a:solidFill>
                            <a:srgbClr val="000000"/>
                          </a:solidFill>
                        </a:rPr>
                        <a:t>08/29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11:39–12:32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76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0.12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0"/>
                  </a:ext>
                </a:extLst>
              </a:tr>
              <a:tr h="242316">
                <a:tc>
                  <a:txBody>
                    <a:bodyPr/>
                    <a:lstStyle/>
                    <a:p>
                      <a:pPr algn="l"/>
                      <a:r>
                        <a:rPr sz="950" b="0">
                          <a:solidFill>
                            <a:srgbClr val="000000"/>
                          </a:solidFill>
                        </a:rPr>
                        <a:t>09/04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10:25–11:02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330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1"/>
                  </a:ext>
                </a:extLst>
              </a:tr>
              <a:tr h="242316">
                <a:tc>
                  <a:txBody>
                    <a:bodyPr/>
                    <a:lstStyle/>
                    <a:p>
                      <a:pPr algn="l"/>
                      <a:r>
                        <a:rPr sz="950" b="0">
                          <a:solidFill>
                            <a:srgbClr val="000000"/>
                          </a:solidFill>
                        </a:rPr>
                        <a:t>09/11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10:16–10:43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340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2"/>
                  </a:ext>
                </a:extLst>
              </a:tr>
              <a:tr h="242316">
                <a:tc>
                  <a:txBody>
                    <a:bodyPr/>
                    <a:lstStyle/>
                    <a:p>
                      <a:pPr algn="l"/>
                      <a:r>
                        <a:rPr sz="950" b="0">
                          <a:solidFill>
                            <a:srgbClr val="000000"/>
                          </a:solidFill>
                        </a:rPr>
                        <a:t>09/25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09:19–09:59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129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0.34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3"/>
                  </a:ext>
                </a:extLst>
              </a:tr>
              <a:tr h="242316">
                <a:tc>
                  <a:txBody>
                    <a:bodyPr/>
                    <a:lstStyle/>
                    <a:p>
                      <a:pPr algn="l"/>
                      <a:r>
                        <a:rPr sz="950" b="0">
                          <a:solidFill>
                            <a:srgbClr val="000000"/>
                          </a:solidFill>
                        </a:rPr>
                        <a:t>10/02</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950" b="0">
                          <a:solidFill>
                            <a:srgbClr val="000000"/>
                          </a:solidFill>
                        </a:rPr>
                        <a:t>10:25–11:06</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950" b="0">
                          <a:solidFill>
                            <a:srgbClr val="000000"/>
                          </a:solidFill>
                        </a:rPr>
                        <a:t>338</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950" b="0">
                          <a:solidFill>
                            <a:srgbClr val="000000"/>
                          </a:solidFill>
                        </a:rPr>
                        <a:t>0.92</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14"/>
                  </a:ext>
                </a:extLst>
              </a:tr>
            </a:tbl>
          </a:graphicData>
        </a:graphic>
      </p:graphicFrame>
      <p:sp>
        <p:nvSpPr>
          <p:cNvPr id="9" name="Rounded Rectangle 8"/>
          <p:cNvSpPr/>
          <p:nvPr/>
        </p:nvSpPr>
        <p:spPr>
          <a:xfrm>
            <a:off x="6309360" y="1188720"/>
            <a:ext cx="5394960" cy="27432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rPr>
              <a:t>로메인 상추</a:t>
            </a:r>
          </a:p>
        </p:txBody>
      </p:sp>
      <p:graphicFrame>
        <p:nvGraphicFramePr>
          <p:cNvPr id="10" name="Table 9"/>
          <p:cNvGraphicFramePr>
            <a:graphicFrameLocks noGrp="1"/>
          </p:cNvGraphicFramePr>
          <p:nvPr/>
        </p:nvGraphicFramePr>
        <p:xfrm>
          <a:off x="6309360" y="1508760"/>
          <a:ext cx="5394960" cy="3634740"/>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2316">
                <a:tc>
                  <a:txBody>
                    <a:bodyPr/>
                    <a:lstStyle/>
                    <a:p>
                      <a:pPr algn="l"/>
                      <a:r>
                        <a:rPr sz="950" b="1">
                          <a:solidFill>
                            <a:srgbClr val="000000"/>
                          </a:solidFill>
                        </a:rPr>
                        <a:t>Date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Time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SW (W·m</a:t>
                      </a:r>
                      <a:r>
                        <a:rPr sz="950" b="1" baseline="30000">
                          <a:solidFill>
                            <a:srgbClr val="000000"/>
                          </a:solidFill>
                        </a:rPr>
                        <a:t>−2</a:t>
                      </a:r>
                      <a:r>
                        <a:rPr sz="950" b="1">
                          <a:solidFill>
                            <a:srgbClr val="000000"/>
                          </a:solidFill>
                        </a:rPr>
                        <a: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CI</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Use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2316">
                <a:tc>
                  <a:txBody>
                    <a:bodyPr/>
                    <a:lstStyle/>
                    <a:p>
                      <a:pPr algn="l"/>
                      <a:r>
                        <a:rPr sz="950" b="0">
                          <a:solidFill>
                            <a:srgbClr val="000000"/>
                          </a:solidFill>
                        </a:rPr>
                        <a:t>10/06</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10:20–10:22</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214</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0.50</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2316">
                <a:tc>
                  <a:txBody>
                    <a:bodyPr/>
                    <a:lstStyle/>
                    <a:p>
                      <a:pPr algn="l"/>
                      <a:r>
                        <a:rPr sz="950" b="0">
                          <a:solidFill>
                            <a:srgbClr val="000000"/>
                          </a:solidFill>
                        </a:rPr>
                        <a:t>10/08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09:29–09:36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133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0.42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2316">
                <a:tc>
                  <a:txBody>
                    <a:bodyPr/>
                    <a:lstStyle/>
                    <a:p>
                      <a:pPr algn="l"/>
                      <a:r>
                        <a:rPr sz="950" b="0">
                          <a:solidFill>
                            <a:srgbClr val="000000"/>
                          </a:solidFill>
                        </a:rPr>
                        <a:t>10/09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10:53–10:59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228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0.45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2316">
                <a:tc>
                  <a:txBody>
                    <a:bodyPr/>
                    <a:lstStyle/>
                    <a:p>
                      <a:pPr algn="l"/>
                      <a:r>
                        <a:rPr sz="950" b="0">
                          <a:solidFill>
                            <a:srgbClr val="000000"/>
                          </a:solidFill>
                        </a:rPr>
                        <a:t>10/10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09:44–09:53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354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42316">
                <a:tc>
                  <a:txBody>
                    <a:bodyPr/>
                    <a:lstStyle/>
                    <a:p>
                      <a:pPr algn="l"/>
                      <a:r>
                        <a:rPr sz="950" b="0">
                          <a:solidFill>
                            <a:srgbClr val="000000"/>
                          </a:solidFill>
                        </a:rPr>
                        <a:t>10/11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11:17–11:28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366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0.74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242316">
                <a:tc>
                  <a:txBody>
                    <a:bodyPr/>
                    <a:lstStyle/>
                    <a:p>
                      <a:pPr algn="l"/>
                      <a:r>
                        <a:rPr sz="950" b="0">
                          <a:solidFill>
                            <a:srgbClr val="000000"/>
                          </a:solidFill>
                        </a:rPr>
                        <a:t>10/12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10:36–10:57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484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6"/>
                  </a:ext>
                </a:extLst>
              </a:tr>
              <a:tr h="242316">
                <a:tc>
                  <a:txBody>
                    <a:bodyPr/>
                    <a:lstStyle/>
                    <a:p>
                      <a:pPr algn="l"/>
                      <a:r>
                        <a:rPr sz="950" b="0">
                          <a:solidFill>
                            <a:srgbClr val="000000"/>
                          </a:solidFill>
                        </a:rPr>
                        <a:t>10/13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09:33–10:06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7"/>
                  </a:ext>
                </a:extLst>
              </a:tr>
              <a:tr h="242316">
                <a:tc>
                  <a:txBody>
                    <a:bodyPr/>
                    <a:lstStyle/>
                    <a:p>
                      <a:pPr algn="l"/>
                      <a:r>
                        <a:rPr sz="950" b="0">
                          <a:solidFill>
                            <a:srgbClr val="000000"/>
                          </a:solidFill>
                        </a:rPr>
                        <a:t>10/14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09:28–09:53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378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1.10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8"/>
                  </a:ext>
                </a:extLst>
              </a:tr>
              <a:tr h="242316">
                <a:tc>
                  <a:txBody>
                    <a:bodyPr/>
                    <a:lstStyle/>
                    <a:p>
                      <a:pPr algn="l"/>
                      <a:r>
                        <a:rPr sz="950" b="0">
                          <a:solidFill>
                            <a:srgbClr val="000000"/>
                          </a:solidFill>
                        </a:rPr>
                        <a:t>10/15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09:31–09:51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342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9"/>
                  </a:ext>
                </a:extLst>
              </a:tr>
              <a:tr h="242316">
                <a:tc>
                  <a:txBody>
                    <a:bodyPr/>
                    <a:lstStyle/>
                    <a:p>
                      <a:pPr algn="l"/>
                      <a:r>
                        <a:rPr sz="950" b="0">
                          <a:solidFill>
                            <a:srgbClr val="000000"/>
                          </a:solidFill>
                        </a:rPr>
                        <a:t>10/16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09:40–09:56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334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0"/>
                  </a:ext>
                </a:extLst>
              </a:tr>
              <a:tr h="242316">
                <a:tc>
                  <a:txBody>
                    <a:bodyPr/>
                    <a:lstStyle/>
                    <a:p>
                      <a:pPr algn="l"/>
                      <a:r>
                        <a:rPr sz="950" b="0">
                          <a:solidFill>
                            <a:srgbClr val="000000"/>
                          </a:solidFill>
                        </a:rPr>
                        <a:t>10/17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08:59–09:33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260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1"/>
                  </a:ext>
                </a:extLst>
              </a:tr>
              <a:tr h="242316">
                <a:tc>
                  <a:txBody>
                    <a:bodyPr/>
                    <a:lstStyle/>
                    <a:p>
                      <a:pPr algn="l"/>
                      <a:r>
                        <a:rPr sz="950" b="0">
                          <a:solidFill>
                            <a:srgbClr val="000000"/>
                          </a:solidFill>
                        </a:rPr>
                        <a:t>10/19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08:28–09:27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134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0.60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2"/>
                  </a:ext>
                </a:extLst>
              </a:tr>
              <a:tr h="242316">
                <a:tc>
                  <a:txBody>
                    <a:bodyPr/>
                    <a:lstStyle/>
                    <a:p>
                      <a:pPr algn="l"/>
                      <a:r>
                        <a:rPr sz="950" b="0">
                          <a:solidFill>
                            <a:srgbClr val="000000"/>
                          </a:solidFill>
                        </a:rPr>
                        <a:t>10/21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09:47–10:04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21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0.05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3"/>
                  </a:ext>
                </a:extLst>
              </a:tr>
              <a:tr h="242316">
                <a:tc>
                  <a:txBody>
                    <a:bodyPr/>
                    <a:lstStyle/>
                    <a:p>
                      <a:pPr algn="l"/>
                      <a:r>
                        <a:rPr sz="950" b="0">
                          <a:solidFill>
                            <a:srgbClr val="000000"/>
                          </a:solidFill>
                        </a:rPr>
                        <a:t>10/23</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950" b="0">
                          <a:solidFill>
                            <a:srgbClr val="000000"/>
                          </a:solidFill>
                        </a:rPr>
                        <a:t>09:33–09:55</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950" b="0">
                          <a:solidFill>
                            <a:srgbClr val="000000"/>
                          </a:solidFill>
                        </a:rPr>
                        <a:t>340</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950" b="0">
                          <a:solidFill>
                            <a:srgbClr val="000000"/>
                          </a:solidFill>
                        </a:rPr>
                        <a:t>0.95</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14"/>
                  </a:ext>
                </a:extLst>
              </a:tr>
            </a:tbl>
          </a:graphicData>
        </a:graphic>
      </p:graphicFrame>
      <p:sp>
        <p:nvSpPr>
          <p:cNvPr id="11" name="Conclusion Box"/>
          <p:cNvSpPr/>
          <p:nvPr/>
        </p:nvSpPr>
        <p:spPr>
          <a:xfrm>
            <a:off x="841248" y="5715000"/>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모든 측정일을 포함하고 측정일·선형 PAR·기온으로 보정 — CI &lt; 0.5인 날은 회색 띠로 표시</a:t>
            </a:r>
          </a:p>
        </p:txBody>
      </p:sp>
      <p:sp>
        <p:nvSpPr>
          <p:cNvPr id="12" name="Footnote"/>
          <p:cNvSpPr txBox="1"/>
          <p:nvPr/>
        </p:nvSpPr>
        <p:spPr>
          <a:xfrm>
            <a:off x="457200" y="6355080"/>
            <a:ext cx="8138160" cy="310896"/>
          </a:xfrm>
          <a:prstGeom prst="rect">
            <a:avLst/>
          </a:prstGeom>
          <a:noFill/>
        </p:spPr>
        <p:txBody>
          <a:bodyPr wrap="square" lIns="45720" tIns="0" rIns="45720" bIns="0" anchor="t">
            <a:spAutoFit/>
          </a:bodyPr>
          <a:lstStyle/>
          <a:p>
            <a:r>
              <a:rPr sz="1000">
                <a:solidFill>
                  <a:srgbClr val="595959"/>
                </a:solidFill>
              </a:rPr>
              <a:t>CI = 측정 구간 평균 SW / 같은 시각대 ±10일 90분위수 SW(맑은 날 기준). 날짜별 예외 없이 한 규칙으로 통일. 로메인 10/13은 SW 자료가 4분뿐(결측).</a:t>
            </a:r>
          </a:p>
        </p:txBody>
      </p:sp>
      <p:sp>
        <p:nvSpPr>
          <p:cNvPr id="13"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4"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5"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6"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7"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18"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기상 센서 : 기온, 일적산광량 (DLI)</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저온·중간 일사 조건에서 처리되어 증발산 부하와 건조 스트레스 강도가 다름</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밭콩: CR1000X 기상 센서, 로메인: 26번 온실 환경 데이터(CR300; 10/13·10/18 결측일 제외). 로메인 DLI = 일사량(MJ) × 2.02 mol/MJ 추정. 점선 = 침수 시작일.</a:t>
            </a:r>
          </a:p>
        </p:txBody>
      </p:sp>
      <p:pic>
        <p:nvPicPr>
          <p:cNvPr id="27" name="Picture 26" descr="image.png"/>
          <p:cNvPicPr>
            <a:picLocks noChangeAspect="1"/>
          </p:cNvPicPr>
          <p:nvPr/>
        </p:nvPicPr>
        <p:blipFill>
          <a:blip r:embed="rId2"/>
          <a:stretch>
            <a:fillRect/>
          </a:stretch>
        </p:blipFill>
        <p:spPr>
          <a:xfrm>
            <a:off x="457200" y="1280160"/>
            <a:ext cx="7040880" cy="2743200"/>
          </a:xfrm>
          <a:prstGeom prst="rect">
            <a:avLst/>
          </a:prstGeom>
        </p:spPr>
      </p:pic>
      <p:sp>
        <p:nvSpPr>
          <p:cNvPr id="28" name="Stat box"/>
          <p:cNvSpPr/>
          <p:nvPr/>
        </p:nvSpPr>
        <p:spPr>
          <a:xfrm>
            <a:off x="841248" y="4224528"/>
            <a:ext cx="3154680" cy="128016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29" name="Stat value"/>
          <p:cNvSpPr txBox="1"/>
          <p:nvPr/>
        </p:nvSpPr>
        <p:spPr>
          <a:xfrm>
            <a:off x="886968"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800" dirty="0">
                <a:solidFill>
                  <a:srgbClr val="2E6B3F"/>
                </a:solidFill>
              </a:rPr>
              <a:t>18.2 vs 28.4 °C</a:t>
            </a:r>
          </a:p>
        </p:txBody>
      </p:sp>
      <p:sp>
        <p:nvSpPr>
          <p:cNvPr id="30" name="Stat label"/>
          <p:cNvSpPr txBox="1"/>
          <p:nvPr/>
        </p:nvSpPr>
        <p:spPr>
          <a:xfrm>
            <a:off x="914400"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처리 기간 평균 기온 (로메인 vs 콩 DAT 0~16)</a:t>
            </a:r>
          </a:p>
        </p:txBody>
      </p:sp>
      <p:sp>
        <p:nvSpPr>
          <p:cNvPr id="31" name="Stat box"/>
          <p:cNvSpPr/>
          <p:nvPr/>
        </p:nvSpPr>
        <p:spPr>
          <a:xfrm>
            <a:off x="4206240" y="4224528"/>
            <a:ext cx="3154680" cy="1280160"/>
          </a:xfrm>
          <a:prstGeom prst="roundRect">
            <a:avLst>
              <a:gd name="adj" fmla="val 12000"/>
            </a:avLst>
          </a:prstGeom>
          <a:solidFill>
            <a:srgbClr val="FFFFFF"/>
          </a:solidFill>
          <a:ln w="19050">
            <a:solidFill>
              <a:srgbClr val="156082"/>
            </a:solidFill>
          </a:ln>
        </p:spPr>
        <p:txBody>
          <a:bodyPr wrap="square" lIns="73152" tIns="36576" rIns="73152" bIns="36576" rtlCol="0" anchor="ctr">
            <a:noAutofit/>
          </a:bodyPr>
          <a:lstStyle/>
          <a:p>
            <a:endParaRPr lang="ko-KR"/>
          </a:p>
        </p:txBody>
      </p:sp>
      <p:sp>
        <p:nvSpPr>
          <p:cNvPr id="32" name="Stat value"/>
          <p:cNvSpPr txBox="1"/>
          <p:nvPr/>
        </p:nvSpPr>
        <p:spPr>
          <a:xfrm>
            <a:off x="4251960"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b="1" dirty="0">
                <a:solidFill>
                  <a:srgbClr val="156082"/>
                </a:solidFill>
              </a:rPr>
              <a:t>17.5 vs 22.0</a:t>
            </a:r>
          </a:p>
        </p:txBody>
      </p:sp>
      <p:sp>
        <p:nvSpPr>
          <p:cNvPr id="33" name="Stat label"/>
          <p:cNvSpPr txBox="1"/>
          <p:nvPr/>
        </p:nvSpPr>
        <p:spPr>
          <a:xfrm>
            <a:off x="4279392"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DLI (mol·m</a:t>
            </a:r>
            <a:r>
              <a:rPr lang="ko-KR" altLang="en-US" sz="1100" b="0" dirty="0" baseline="30000">
                <a:solidFill>
                  <a:srgbClr val="595959"/>
                </a:solidFill>
              </a:rPr>
              <a:t>−2</a:t>
            </a:r>
            <a:r>
              <a:rPr lang="ko-KR" altLang="en-US" sz="1100" b="0" dirty="0">
                <a:solidFill>
                  <a:srgbClr val="595959"/>
                </a:solidFill>
              </a:rPr>
              <a:t>·d</a:t>
            </a:r>
            <a:r>
              <a:rPr lang="ko-KR" altLang="en-US" sz="1100" b="0" dirty="0" baseline="30000">
                <a:solidFill>
                  <a:srgbClr val="595959"/>
                </a:solidFill>
              </a:rPr>
              <a:t>−1</a:t>
            </a:r>
            <a:r>
              <a:rPr lang="ko-KR" altLang="en-US" sz="1100" b="0" dirty="0">
                <a:solidFill>
                  <a:srgbClr val="595959"/>
                </a:solidFill>
              </a:rPr>
              <a:t>, 로메인 vs 콩 DAT 0~16)</a:t>
            </a:r>
          </a:p>
        </p:txBody>
      </p:sp>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로메인:</a:t>
            </a:r>
            <a:r>
              <a:rPr lang="ko-KR" altLang="en-US" sz="1400" dirty="0">
                <a:solidFill>
                  <a:srgbClr val="000000"/>
                </a:solidFill>
              </a:rPr>
              <a:t> 처리 기간(10/7~10/23) 평균 기온 18.2 °C, DLI 17.5 mol·m</a:t>
            </a:r>
            <a:r>
              <a:rPr lang="ko-KR" altLang="en-US" sz="1400" dirty="0" baseline="30000">
                <a:solidFill>
                  <a:srgbClr val="000000"/>
                </a:solidFill>
              </a:rPr>
              <a:t>−2</a:t>
            </a:r>
            <a:r>
              <a:rPr lang="ko-KR" altLang="en-US" sz="1400" dirty="0">
                <a:solidFill>
                  <a:srgbClr val="000000"/>
                </a:solidFill>
              </a:rPr>
              <a:t>·d</a:t>
            </a:r>
            <a:r>
              <a:rPr lang="ko-KR" altLang="en-US" sz="1400" dirty="0" baseline="30000">
                <a:solidFill>
                  <a:srgbClr val="000000"/>
                </a:solidFill>
              </a:rPr>
              <a:t>−1</a:t>
            </a:r>
            <a:r>
              <a:rPr lang="ko-KR" altLang="en-US" sz="1400" dirty="0">
                <a:solidFill>
                  <a:srgbClr val="000000"/>
                </a:solidFill>
              </a:rPr>
              <a:t>로 저온·중간 일사 조건</a:t>
            </a:r>
          </a:p>
          <a:p>
            <a:pPr marL="201168" indent="-201168" algn="l">
              <a:spcBef>
                <a:spcPts val="1000"/>
              </a:spcBef>
              <a:buFont typeface="Arial"/>
              <a:buChar char="•"/>
            </a:pPr>
            <a:r>
              <a:rPr lang="ko-KR" altLang="en-US" sz="1400" dirty="0">
                <a:solidFill>
                  <a:srgbClr val="000000"/>
                </a:solidFill>
              </a:rPr>
              <a:t>콩:  처리 초기(DAT 0~16) 평균 기온 28.4 °C, DLI 22.0 mol·m</a:t>
            </a:r>
            <a:r>
              <a:rPr lang="ko-KR" altLang="en-US" sz="1400" dirty="0" baseline="30000">
                <a:solidFill>
                  <a:srgbClr val="000000"/>
                </a:solidFill>
              </a:rPr>
              <a:t>−2</a:t>
            </a:r>
            <a:r>
              <a:rPr lang="ko-KR" altLang="en-US" sz="1400" dirty="0">
                <a:solidFill>
                  <a:srgbClr val="000000"/>
                </a:solidFill>
              </a:rPr>
              <a:t>·d</a:t>
            </a:r>
            <a:r>
              <a:rPr lang="ko-KR" altLang="en-US" sz="1400" dirty="0" baseline="30000">
                <a:solidFill>
                  <a:srgbClr val="000000"/>
                </a:solidFill>
              </a:rPr>
              <a:t>−1</a:t>
            </a:r>
            <a:r>
              <a:rPr lang="ko-KR" altLang="en-US" sz="1400" dirty="0">
                <a:solidFill>
                  <a:srgbClr val="000000"/>
                </a:solidFill>
              </a:rPr>
              <a:t>로 로메인보다 약 10 °C 높은 조건</a:t>
            </a:r>
          </a:p>
        </p:txBody>
      </p:sp>
      <p:sp>
        <p:nvSpPr>
          <p:cNvPr id="4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46"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고찰 : 로메인 상추 (기공 → 명반응 → 광합성 능력 → 건물중)</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 상추는 회복이 빨랐지만 침수 기간 동안의 손실이 유지됨</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기공·수량 그래프의 건조·복합은 회색. Körner 2015 Curr Opin Plant Biol 25:107; Tardieu et al. 2018 Annu Rev Plant Biol; Haverroth et al. 2024 Plant Physiol (참고문헌: 보충 자료 A6)</a:t>
            </a:r>
          </a:p>
        </p:txBody>
      </p:sp>
      <p:sp>
        <p:nvSpPr>
          <p:cNvPr id="52"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53"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54"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55" name="Nav 고찰"/>
          <p:cNvSpPr txBox="1"/>
          <p:nvPr/>
        </p:nvSpPr>
        <p:spPr>
          <a:xfrm>
            <a:off x="4956048" y="100584"/>
            <a:ext cx="1371600" cy="329184"/>
          </a:xfrm>
          <a:prstGeom prst="rect">
            <a:avLst/>
          </a:prstGeom>
          <a:noFill/>
        </p:spPr>
        <p:txBody>
          <a:bodyPr wrap="none" lIns="0" tIns="0" rIns="0" bIns="0" anchor="ctr">
            <a:spAutoFit/>
          </a:bodyPr>
          <a:lstStyle/>
          <a:p>
            <a:pPr algn="ctr"/>
            <a:r>
              <a:rPr sz="1450" b="1" u="sng">
                <a:solidFill>
                  <a:srgbClr val="1A1A1A"/>
                </a:solidFill>
              </a:rPr>
              <a:t>고찰</a:t>
            </a:r>
          </a:p>
        </p:txBody>
      </p:sp>
      <p:sp>
        <p:nvSpPr>
          <p:cNvPr id="56"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57" name="Picture 56" descr="recap_lettuce.png"/>
          <p:cNvPicPr>
            <a:picLocks noChangeAspect="1"/>
          </p:cNvPicPr>
          <p:nvPr/>
        </p:nvPicPr>
        <p:blipFill>
          <a:blip r:embed="rId2"/>
          <a:stretch>
            <a:fillRect/>
          </a:stretch>
        </p:blipFill>
        <p:spPr>
          <a:xfrm>
            <a:off x="502920" y="1874519"/>
            <a:ext cx="11155680" cy="3291840"/>
          </a:xfrm>
          <a:prstGeom prst="rect">
            <a:avLst/>
          </a:prstGeom>
        </p:spPr>
      </p:pic>
      <p:sp>
        <p:nvSpPr>
          <p:cNvPr id="58" name="Rounded Rectangle 57"/>
          <p:cNvSpPr/>
          <p:nvPr/>
        </p:nvSpPr>
        <p:spPr>
          <a:xfrm>
            <a:off x="718718"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① 기공</a:t>
            </a:r>
          </a:p>
          <a:p>
            <a:pPr algn="ctr"/>
            <a:r>
              <a:rPr sz="1050">
                <a:solidFill>
                  <a:srgbClr val="FFFFFF"/>
                </a:solidFill>
              </a:rPr>
              <a:t>gsw 회복</a:t>
            </a:r>
          </a:p>
        </p:txBody>
      </p:sp>
      <p:sp>
        <p:nvSpPr>
          <p:cNvPr id="59" name="Right Arrow 58"/>
          <p:cNvSpPr/>
          <p:nvPr/>
        </p:nvSpPr>
        <p:spPr>
          <a:xfrm>
            <a:off x="3251606"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451859"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② 명반응</a:t>
            </a:r>
          </a:p>
          <a:p>
            <a:pPr algn="ctr"/>
            <a:r>
              <a:rPr sz="1050">
                <a:solidFill>
                  <a:srgbClr val="FFFFFF"/>
                </a:solidFill>
              </a:rPr>
              <a:t>ΦPSII</a:t>
            </a:r>
          </a:p>
        </p:txBody>
      </p:sp>
      <p:sp>
        <p:nvSpPr>
          <p:cNvPr id="61" name="Right Arrow 60"/>
          <p:cNvSpPr/>
          <p:nvPr/>
        </p:nvSpPr>
        <p:spPr>
          <a:xfrm>
            <a:off x="5984747"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6185001"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③ 광합성 능력</a:t>
            </a:r>
          </a:p>
          <a:p>
            <a:pPr algn="ctr"/>
            <a:r>
              <a:rPr sz="1050">
                <a:solidFill>
                  <a:srgbClr val="FFFFFF"/>
                </a:solidFill>
              </a:rPr>
              <a:t>Vcmax · Jmax</a:t>
            </a:r>
          </a:p>
        </p:txBody>
      </p:sp>
      <p:sp>
        <p:nvSpPr>
          <p:cNvPr id="63" name="Right Arrow 62"/>
          <p:cNvSpPr/>
          <p:nvPr/>
        </p:nvSpPr>
        <p:spPr>
          <a:xfrm>
            <a:off x="8717889"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918143"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④ 생육</a:t>
            </a:r>
          </a:p>
          <a:p>
            <a:pPr algn="ctr"/>
            <a:r>
              <a:rPr sz="1050">
                <a:solidFill>
                  <a:srgbClr val="FFFFFF"/>
                </a:solidFill>
              </a:rPr>
              <a:t>지상부 건물중</a:t>
            </a:r>
          </a:p>
        </p:txBody>
      </p:sp>
    </p:spTree>
  </p:cSld>
  <p:clrMapOvr>
    <a:masterClrMapping/>
  </p:clrMapOvr>
  <p:timing>
    <p:tnLst>
      <p:par>
        <p:cTn id="1" dur="indefinite" restart="never" nodeType="tmRoot">
          <p:childTnLst>
            <p:seq concurrent="1" nextAc="seek">
              <p:cTn id="2" dur="indefinite" nodeType="mainSeq">
                <p:childTnLst>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A6. 참고문헌</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20</a:t>
            </a:fld>
            <a:endParaRPr lang="ko-KR" altLang="en-US"/>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질의응답용 보충 자료.</a:t>
            </a:r>
          </a:p>
        </p:txBody>
      </p:sp>
      <p:sp>
        <p:nvSpPr>
          <p:cNvPr id="27" name="Appendix list"/>
          <p:cNvSpPr txBox="1"/>
          <p:nvPr/>
        </p:nvSpPr>
        <p:spPr>
          <a:xfrm>
            <a:off x="1280160" y="1463040"/>
            <a:ext cx="9601200" cy="411480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600" dirty="0">
                <a:solidFill>
                  <a:srgbClr val="000000"/>
                </a:solidFill>
              </a:rPr>
              <a:t>Ali et al. (2025) J Exp Bot 76:4141.</a:t>
            </a:r>
          </a:p>
          <a:p>
            <a:pPr marL="0" indent="0" algn="l">
              <a:spcBef>
                <a:spcPts val="800"/>
              </a:spcBef>
              <a:buNone/>
            </a:pPr>
            <a:r>
              <a:rPr lang="ko-KR" altLang="en-US" sz="1600" dirty="0">
                <a:solidFill>
                  <a:srgbClr val="000000"/>
                </a:solidFill>
              </a:rPr>
              <a:t>Buckley TN (2019) New Phytol 224 (doi:10.1111/nph.15899).</a:t>
            </a:r>
          </a:p>
          <a:p>
            <a:pPr marL="0" indent="0" algn="l">
              <a:spcBef>
                <a:spcPts val="800"/>
              </a:spcBef>
              <a:buNone/>
            </a:pPr>
            <a:r>
              <a:rPr lang="ko-KR" altLang="en-US" sz="1600" dirty="0">
                <a:solidFill>
                  <a:srgbClr val="000000"/>
                </a:solidFill>
              </a:rPr>
              <a:t>Gao et al. (2024) J Exp Bot 75:4904.</a:t>
            </a:r>
          </a:p>
          <a:p>
            <a:pPr marL="0" indent="0" algn="l">
              <a:spcBef>
                <a:spcPts val="800"/>
              </a:spcBef>
              <a:buNone/>
            </a:pPr>
            <a:r>
              <a:rPr lang="ko-KR" altLang="en-US" sz="1600" dirty="0">
                <a:solidFill>
                  <a:srgbClr val="000000"/>
                </a:solidFill>
              </a:rPr>
              <a:t>Haverroth EJ et al. (2024) Plant Physiol 197(1):kiae336.</a:t>
            </a:r>
          </a:p>
          <a:p>
            <a:pPr marL="0" indent="0" algn="l">
              <a:spcBef>
                <a:spcPts val="800"/>
              </a:spcBef>
              <a:buNone/>
            </a:pPr>
            <a:r>
              <a:rPr lang="ko-KR" altLang="en-US" sz="1600" dirty="0">
                <a:solidFill>
                  <a:srgbClr val="000000"/>
                </a:solidFill>
              </a:rPr>
              <a:t>Hilker M et al. (2016) Biol Rev 91:1118–1133.</a:t>
            </a:r>
          </a:p>
          <a:p>
            <a:pPr marL="0" indent="0" algn="l">
              <a:spcBef>
                <a:spcPts val="800"/>
              </a:spcBef>
              <a:buNone/>
            </a:pPr>
            <a:r>
              <a:rPr lang="ko-KR" altLang="en-US" sz="1600" dirty="0">
                <a:solidFill>
                  <a:srgbClr val="000000"/>
                </a:solidFill>
              </a:rPr>
              <a:t>Körner C (2015) Curr Opin Plant Biol 25:107–114.</a:t>
            </a:r>
          </a:p>
          <a:p>
            <a:pPr marL="0" indent="0" algn="l">
              <a:spcBef>
                <a:spcPts val="800"/>
              </a:spcBef>
              <a:buNone/>
            </a:pPr>
            <a:r>
              <a:rPr lang="ko-KR" altLang="en-US" sz="1600" dirty="0">
                <a:solidFill>
                  <a:srgbClr val="000000"/>
                </a:solidFill>
              </a:rPr>
              <a:t>Sasidharan R et al. (2018) Plant Physiol 176:1106–1117.</a:t>
            </a:r>
          </a:p>
          <a:p>
            <a:pPr marL="0" indent="0" algn="l">
              <a:spcBef>
                <a:spcPts val="800"/>
              </a:spcBef>
              <a:buNone/>
            </a:pPr>
            <a:r>
              <a:rPr lang="ko-KR" altLang="en-US" sz="1600" dirty="0">
                <a:solidFill>
                  <a:srgbClr val="000000"/>
                </a:solidFill>
              </a:rPr>
              <a:t>Swain DL et al. (2018) Nat Clim Change 8:427–433.</a:t>
            </a:r>
          </a:p>
          <a:p>
            <a:pPr marL="0" indent="0" algn="l">
              <a:spcBef>
                <a:spcPts val="800"/>
              </a:spcBef>
              <a:buNone/>
            </a:pPr>
            <a:r>
              <a:rPr lang="ko-KR" altLang="en-US" sz="1600" dirty="0">
                <a:solidFill>
                  <a:srgbClr val="000000"/>
                </a:solidFill>
              </a:rPr>
              <a:t>Tan X et al. (2018) J Plant Physiol 227:20–30.</a:t>
            </a:r>
          </a:p>
          <a:p>
            <a:pPr marL="0" indent="0" algn="l">
              <a:spcBef>
                <a:spcPts val="800"/>
              </a:spcBef>
              <a:buNone/>
            </a:pPr>
            <a:r>
              <a:rPr lang="ko-KR" altLang="en-US" sz="1600" dirty="0">
                <a:solidFill>
                  <a:srgbClr val="000000"/>
                </a:solidFill>
              </a:rPr>
              <a:t>Tardieu F, Simonneau T, Muller B (2018) Annu Rev Plant Biol 69.</a:t>
            </a:r>
          </a:p>
          <a:p>
            <a:pPr marL="0" indent="0" algn="l">
              <a:spcBef>
                <a:spcPts val="800"/>
              </a:spcBef>
              <a:buNone/>
            </a:pPr>
            <a:r>
              <a:rPr lang="ko-KR" altLang="en-US" sz="1600" dirty="0">
                <a:solidFill>
                  <a:srgbClr val="000000"/>
                </a:solidFill>
              </a:rPr>
              <a:t>Yeung E et al. (2018) PNAS 115:E6085–E6094.</a:t>
            </a:r>
          </a:p>
          <a:p>
            <a:pPr marL="0" indent="0" algn="l">
              <a:spcBef>
                <a:spcPts val="800"/>
              </a:spcBef>
              <a:buNone/>
            </a:pPr>
            <a:r>
              <a:rPr lang="ko-KR" altLang="en-US" sz="1600" dirty="0">
                <a:solidFill>
                  <a:srgbClr val="000000"/>
                </a:solidFill>
              </a:rPr>
              <a:t>Zandalinas SI, Mittler R (2022) New Phytol 234:1161–1167.</a:t>
            </a:r>
          </a:p>
        </p:txBody>
      </p:sp>
      <p:sp>
        <p:nvSpPr>
          <p:cNvPr id="2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2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3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3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3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33"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847690B-9EC7-46B6-89C7-B4D0A48C43BA}">
  <we:reference id="wa200010001" version="1.0.0.1" store="en-US" storeType="OMEX"/>
  <we:alternateReferences>
    <we:reference id="wa200010001" version="1.0.0.1" store="en-US" storeType="OMEX"/>
  </we:alternateReferences>
  <we:properties>
    <we:property name="claude.fileId" value="&quot;4f520049-4b44-42da-a845-ab676c9aec6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19410</TotalTime>
  <Words>8721</Words>
  <Application>Microsoft Office PowerPoint</Application>
  <PresentationFormat>와이드스크린</PresentationFormat>
  <Paragraphs>1251</Paragraphs>
  <Slides>32</Slides>
  <Notes>25</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32</vt:i4>
      </vt:variant>
    </vt:vector>
  </HeadingPairs>
  <TitlesOfParts>
    <vt:vector size="37" baseType="lpstr">
      <vt:lpstr>맑은 고딕</vt:lpstr>
      <vt:lpstr>맑은 고딕</vt:lpstr>
      <vt:lpstr>Arial</vt:lpstr>
      <vt:lpstr>Times New Roman</vt:lpstr>
      <vt:lpstr>Office 테마</vt:lpstr>
      <vt:lpstr>침수 및 건조 복합재해에 대한 생육 및 생리 반응 비교  Comparison of Growth and Physiological Responses to Flooding, Drought, and Combined Stress</vt:lpstr>
      <vt:lpstr>연구 배경: 한 생육기 안의 침수–건조 연속 재해</vt:lpstr>
      <vt:lpstr>연구 목적: 수분 재해별 생리적 제한 단계 규명</vt:lpstr>
      <vt:lpstr>공시 작물 및 수분 처리</vt:lpstr>
      <vt:lpstr>처리 일정과 측정 시기 (DAT 기준 정렬)</vt:lpstr>
      <vt:lpstr>측정 항목: 제한 단계별 지표</vt:lpstr>
      <vt:lpstr>처리 검증: 실제 수분 조건과 한계</vt:lpstr>
      <vt:lpstr>① 기공전도도 (gsw): 침수 직후 두 작물 모두 감소</vt:lpstr>
      <vt:lpstr>① 기공 회복 속도: 상추는 빠르게, 콩은 느리게</vt:lpstr>
      <vt:lpstr>① 상추 침수 직후(DAT 3): 기공만 닫힘</vt:lpstr>
      <vt:lpstr>② ΦPSII: 콩 건조 저하는 고광도에서만, 상추는 변화 없음</vt:lpstr>
      <vt:lpstr>③ 광계 II 손상과 형광 신호 크기</vt:lpstr>
      <vt:lpstr>④ 광합성 능력 (A-Ci, A-Q 파라미터)</vt:lpstr>
      <vt:lpstr>⑤ 생육: 상추는 침수로 −40%, 콩은 초기 생식생장 지연</vt:lpstr>
      <vt:lpstr>⑤ 상추 생육 감소는 잎 생리로 설명되지 않음</vt:lpstr>
      <vt:lpstr>제한 단계 종합: 작물 × 처리</vt:lpstr>
      <vt:lpstr>고찰: 상추 생육 감소 경로와 콩 결과의 한계</vt:lpstr>
      <vt:lpstr>결론 및 향후 계획</vt:lpstr>
      <vt:lpstr>PowerPoint 프레젠테이션</vt:lpstr>
      <vt:lpstr>보충 자료</vt:lpstr>
      <vt:lpstr>A1. LI-600 보정: 선형 PAR(Qamb) + 기온(Tair)</vt:lpstr>
      <vt:lpstr>A2. LI-6800 광도별 형광 반응 ① 처리별 Fo·Fm</vt:lpstr>
      <vt:lpstr>A3. LI-6800 광도별 형광 반응 ② 통합 Fo·Fm</vt:lpstr>
      <vt:lpstr>A4. 광포화점 (LSP): NRH 모델 Q80</vt:lpstr>
      <vt:lpstr>A5. 정상 상태 형광 (Fs): 실제 값 비교</vt:lpstr>
      <vt:lpstr>A6. 전자전달속도 (ETR): 실제 값 비교</vt:lpstr>
      <vt:lpstr>A7. 측정 당시 일사 조건: 흐린 날 표시</vt:lpstr>
      <vt:lpstr>A8. LI-600 에너지 분배 (NPQ·ΦNO)</vt:lpstr>
      <vt:lpstr>A9. 원자료 전체 포함 분석: 제외·선별 자료</vt:lpstr>
      <vt:lpstr>A10. A-Ci·A-Q 파라미터: 전체 곡선 포함</vt:lpstr>
      <vt:lpstr>A11. gsw 전체 측정값 포함 (삭제 11개 복원)</vt:lpstr>
      <vt:lpstr>A12. 콩 생육: 원자료 전체 vs 이상값제거 시트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윤정민</dc:creator>
  <cp:lastModifiedBy>윤정민</cp:lastModifiedBy>
  <cp:revision>2</cp:revision>
  <dcterms:created xsi:type="dcterms:W3CDTF">2026-04-06T01:45:26Z</dcterms:created>
  <dcterms:modified xsi:type="dcterms:W3CDTF">2026-10-30T01:34:10Z</dcterms:modified>
</cp:coreProperties>
</file>