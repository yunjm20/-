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90" r:id="rId3"/>
    <p:sldId id="391" r:id="rId4"/>
    <p:sldId id="392" r:id="rId5"/>
    <p:sldId id="373" r:id="rId6"/>
    <p:sldId id="393" r:id="rId7"/>
    <p:sldId id="412" r:id="rId40"/>
    <p:sldId id="394" r:id="rId8"/>
    <p:sldId id="376" r:id="rId9"/>
    <p:sldId id="395" r:id="rId10"/>
    <p:sldId id="377" r:id="rId12"/>
    <p:sldId id="381" r:id="rId14"/>
    <p:sldId id="397" r:id="rId15"/>
    <p:sldId id="398" r:id="rId17"/>
    <p:sldId id="399" r:id="rId18"/>
    <p:sldId id="413" r:id="rId41"/>
    <p:sldId id="400" r:id="rId19"/>
    <p:sldId id="301" r:id="rId20"/>
    <p:sldId id="401" r:id="rId21"/>
    <p:sldId id="407" r:id="rId22"/>
    <p:sldId id="383" r:id="rId23"/>
    <p:sldId id="378" r:id="rId26"/>
    <p:sldId id="379" r:id="rId27"/>
    <p:sldId id="375" r:id="rId28"/>
    <p:sldId id="414" r:id="rId4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a:srgbClr val="136331"/>
    <a:srgbClr val="1E3A8A"/>
    <a:srgbClr val="991B1B"/>
    <a:srgbClr val="8D711D"/>
    <a:srgbClr val="7A5B00"/>
    <a:srgbClr val="595959"/>
    <a:srgbClr val="CC2E27"/>
    <a:srgbClr val="FFF4CC"/>
    <a:srgbClr val="1350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11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0-30T01:34:00.518" v="2957" actId="14100"/>
      <pc:docMkLst>
        <pc:docMk/>
      </pc:docMkLst>
      <pc:sldChg chg="modSp mod">
        <pc:chgData name="윤정민" userId="6b15c765-da21-42d7-95fe-61eaef7495af" providerId="ADAL" clId="{5C7C66C6-67D0-439D-9B00-412197ADBF19}" dt="2026-10-30T01:33:35.113" v="2956"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ldChg>
      <pc:sldChg chg="modSp mod">
        <pc:chgData name="윤정민" userId="6b15c765-da21-42d7-95fe-61eaef7495af" providerId="ADAL" clId="{5C7C66C6-67D0-439D-9B00-412197ADBF19}" dt="2026-10-30T01:34:00.518" v="2957" actId="14100"/>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2026-10-30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(약 10초) 안녕하십니까. 전북대학교 스마트농업AI융합학과 윤정민입니다. 오늘은 침수와 건조, 그리고 두 재해가 연속으로 발생한 복합재해 조건에서 콩과 로메인 상추의 생리 및 생육 반응을 비교한 결과를 발표하겠습니다. (발표 10분,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a:t>
            </a:fld>
            <a:endParaRPr lang="ko-KR" altLang="en-US"/>
          </a:p>
        </p:txBody>
      </p:sp>
    </p:spTree>
    <p:extLst>
      <p:ext uri="{BB962C8B-B14F-4D97-AF65-F5344CB8AC3E}">
        <p14:creationId xmlns:p14="http://schemas.microsoft.com/office/powerpoint/2010/main" val="23691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최근 집중호우와 폭염·가뭄이 짧은 간격으로 반복되면서 한 생육기 안에서 침수와 건조를 연이어 겪는 일이 늘고 있습니다. 침수는 근권 산소 결핍으로, 건조는 토양 수분 부족으로 기공을 닫게 하지만, 두 재해가 연속될 때 피해가 누적되는지, 선행 스트레스가 순화 효과를 주는지는 작물마다 다를 수 있습니다. 그런데 재해 유형별로 생리 반응이 어느 단계에서 제한되는지를 작물 간에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이 연구는 수분 재해의 영향을 네 단계로 나누어 보았습니다. 가장 먼저 반응하는 기공, 광계의 명반응, 광합성 능력, 그리고 최종적으로 생육과 수량입니다. 콩과 로메인 상추에 침수, 건조, 복합 처리를 적용하여 잎 생리 반응이 어느 단계까지 이어지는지, 기공이 얼마나 빨리 회복되는지, 생육과 수량의 감소로 이어지는지를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공시 작물은 콩 대원콩과 로메인 상추 클라우디우스이며 전북대학교 부속농장에서 재배했습니다. 상추는 정식 3주 후 영양생장기에, 콩은 개화기에 처리를 시작했습니다. 처리구는 전날 손실된 수분량, 즉 증발산량만큼 관수한 대조구, 50%만 관수한 건조구, 3일간 침지한 뒤 정상 관수한 침수구, 침수 후 50% 관수한 복합구의 네 가지입니다.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15초) 두 실험은 시기와 기간이 달라 침수 시작일을 DAT 0으로 맞추어 정렬했습니다. 로메인 상추는 처리 후 16일, 콩은 55일까지 관찰했습니다. LI-600은 초기에는 매일, 이후에는 콩은 1~2주 간격, 로메인은 이틀 간격으로 측정했고 LI-6800 광합성 곡선은 콩은 9월 중순, 로메인은 10월 중순에 측정했습니다. 결과는 침수 시작부터 종료 후 7일까지를 P1, 그 이후를 P2로 나누어 제시합니다.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앞서 제시한 네 단계에 맞추어 지표를 측정했습니다. 기공전도도와 명반응은 LI-600으로 반복 측정했고, 형광 지표는 측정 당시의 광도와 기온 차이를 선행 연구를 따라 공변량으로 보정했고, 기공전도도는 보정하지 않은 값을 사용했습니다. 광합성 능력은 LI-6800의 A-Ci와 광-광합성 곡선으로 평가했고, 생육과 수량은 파괴 조사로 측정했습니다.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결과를 보기 전에 처리가 실제로 어떻게 들어갔는지 확인했습니다. 대조구 대비 누적 관수량은 건조구가 로메인 43%, 콩 40%로 설계인 50%에 가까웠습니다. 침수구는 콩이 87%였지만 로메인은 화분이 과습한 상태가 유지되어 56%만 관수되었습니다. 복합구는 로메인 37%, 콩 44%였습니다. 다만 콩은 포트 밖으로 나간 뿌리가 있어 실제 수분 이용은 다를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첫 번째 단계인 기공입니다. 그래프와 표는 측정 광도와 기온을 보정한 값입니다. 침수 기간 동안 두 작물 모두 기공전도도가 감소했습니다. 로메인 상추는 침수 3일째 대조구의 10%까지 떨어졌다가 배수 직후 빠르게 회복했고, 콩은 침수 효과가 DAT 9까지 이어졌습니다. 건조는 두 작물 모두 후반에 기공전도도를 낮췄습니다.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각 처리구의 기공전도도를 같은 날 대조구에 대한 비율로 나타낸 그래프입니다. 건조와 복합은 회색으로 두고 침수 위주로 설명하겠습니다. 로메인 상추는 침수 3일째 10%까지 떨어졌지만 배수 후 2~3일, 즉 DAT 5~6에 대조구 수준으로 회복했습니다. 콩은 DAT 9에도 48%로 회복되지 않았고 DAT 17 이후에야 대조구에 가까워졌습니다.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두 번째 단계인 명반응입니다. P2 구간은 광도 수준을 나누지 않고 통합하여 분석했습니다. 콩에서는 P1에서 침수구가 대조구보다 약간 낮았고, P2에서는 건조구의 Φ_PSII가 0.61로 대조구 0.70보다 낮았습니다. 로메인 상추는 P1과 P2 모두 처리 간 차이가 없었습니다. 따라서 로메인에서는 기공이 닫혔는데도 명반응은 영향을 받지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세 번째 단계인 광합성 능력입니다. 콩은 9월 측정에서 건조구와 복합구의 최대 카르복실화 속도와 최대 전자전달 속도가 낮았고, 로메인 상추도 복합구에서 가장 낮은 경향을 보였습니다. 암호흡, 최대 광합성 속도, 양자수율은 두 작물 모두 처리 간 차이가 없었습니다. 다만 처리별로 측정일이 달라 측정일과 처리 효과가 섞여 있고 곡선 수도 처리당 3~4개로 적어 확정적으로 말하기는 어렵습니다.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네 번째 단계인 생육과 수량입니다. 로메인 상추는 건조구 16%, 침수구 34%, 복합구 43%의 지상부 건물중 감소를 보였습니다. 콩은 종실 생체중, 종실 건조중, 종실 수, 꼬투리 수 모두 처리 간 유의한 차이가 없었습니다. 표에 대조구 대비 감소율을 같이 적었는데, 종실 생체중은 건조 5%, 침수 5%, 복합 14% 감소했고 종실 건조중은 복합구에서 18%까지 감소하는 경향이 있었습니다. 다만 검출 한계가 약 40~50%이고 뿌리가 포트 밖으로 나간 영향이 있어 근거는 약합니다.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지금까지의 결과를 작물, 처리, 단계별로 정리한 표입니다. 로메인 상추는 기공이 침수 직후 크게 닫혔다가 며칠 만에 회복했고 명반응에는 변화가 없었지만, 건물중은 침수 34%, 복합 43% 감소했습니다. 콩은 기공 회복이 느렸고 건조구에서 명반응이 낮았지만 수량은 종실 생체중 기준 5~14% 감소하는 데 그쳤습니다. 같은 수분 재해라도 작물에 따라 영향이 나타나는 단계가 다릅니다.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60초) 먼저 콩입니다. 앞서 본 결과를 논리 순서대로 다시 정리하겠습니다. 침수 직후 기공전도도가 먼저 감소했고 DAT 9에도 대조구의 48%로 회복이 느렸습니다. 뿌리의 저산소는 아쿠아포린 기능과 뿌리 수리전도도를 떨어뜨려 잎의 수분 상태를 악화시키고 기공을 닫는 것으로 보고됩니다. 두 번째로 명반응은 건조구에서 P2에 낮아졌고, 세 번째로 광합성 능력도 건조·복합구에서 낮은 경향이었습니다. 그러나 네 번째 수량은 종실 생체중이 5~14% 감소하는 경향이었으나 큰 차이가 없었습니다. 즉 콩은 생리 지표에서는 차이가 있었지만 수량으로는 이어지지 않았습니다. 개화기 처리 후 55일의 회복 기간 동안 보상이 있었을 가능성이 있으나 이는 가설입니다.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결론입니다. 첫째, 침수는 두 작물에서 기공을 먼저 제한했고 로메인은 배수 2~3일 만에, 콩은 DAT 9 이후에 회복했습니다. 둘째, 명반응과 광합성 능력은 로메인에서 거의 변하지 않았고 콩은 건조구에서 낮았습니다. 셋째, 로메인은 기공이 회복되었는데도 침수 기간의 손실이 유지되어 건물중이 감소했고, 콩은 수량이 감소하는 경향이었지만 큰 차이는 없었습니다. 따라서 수분 스트레스에 대한 반응은 작물마다 다릅니다.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19</a:t>
            </a:fld>
            <a:endParaRPr lang="ko-KR" altLang="en-US"/>
          </a:p>
        </p:txBody>
      </p:sp>
    </p:spTree>
    <p:extLst>
      <p:ext uri="{BB962C8B-B14F-4D97-AF65-F5344CB8AC3E}">
        <p14:creationId xmlns:p14="http://schemas.microsoft.com/office/powerpoint/2010/main" val="3495583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LI-600은 야외 광에서 측정하기 때문에 같은 날에도 처리마다 측정 광도와 기온이 달랐습니다. 그래서 측정일, 선형 PAR, 기온을 공변량으로 보정했고, 로메인 상추에서는 PAR만 보정한 결과와 기온까지 보정한 결과의 유의성 판정이 모든 지표에서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20초) 두 실험은 계절이 달라 환경 조건이 크게 다릅니다. 콩의 처리 초기 평균 기온은 28.4도, 로메인 상추는 18.2도로 약 10도 낮았고 일적산광량도 로메인이 낮았습니다. 따라서 같은 50% 관수라도 증발산 부하가 달라 건조 스트레스 강도가 다르며, 두 작물의 차이는 병렬 사례로 해석하겠습니다.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60초) 다음은 로메인 상추입니다. 침수 3일째 기공전도도가 대조구의 10%까지 떨어졌지만 배수 후 2~3일 만에 대조구 수준으로 회복했습니다. 명반응은 처리 간 차이가 없었고, 광합성 능력은 복합구에서만 낮은 경향이었습니다. 그럼에도 지상부 건물중은 건조 16%, 침수 34%, 복합 43% 감소했습니다. 식물의 생장은 탄소 공급보다 조직 성장과 세포 팽압이 먼저 제한되는 경우가 많아, 침수 기간 동안 생긴 생장 손실이 회복 후에도 유지된 것으로 해석됩니다. 로메인은 영양생장기에 처리했고 수확물이 지상부라 이 손실이 곧 수량 손실입니다.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보충 자료 목록입니다.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광합성 광반응 곡선은 PPFD 8개 수준 모두에서 두 작물 모두 처리 간 유의한 차이가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정상 상태 형광 Fs의 절대값은 로메인 상추에서 처리 간 차이가 없었고, 콩에서는 침수·건조 처리구가 대조구보다 높았습니다.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전자전달속도는 측정 광도에 비례하므로 광도를 보정한 평균으로 비교했고, 로메인 상추에서는 침수구가 약 6~8% 낮은 경향을 보였지만 측정일 반복 기준으로는 유의하지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흐린 날은 제외하지 않고 측정 광도와 기온으로 보정했으며, 맑음지수 0.5 미만인 날을 그림에 회색 띠로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 인용한 참고문헌입니다.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2026-10-30</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2026-10-30</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2026-10-30</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32.png"/><Relationship Id="rId5"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CE28E-68F2-8698-8327-B6D337810C4C}"/>
              </a:ext>
            </a:extLst>
          </p:cNvPr>
          <p:cNvSpPr>
            <a:spLocks noGrp="1"/>
          </p:cNvSpPr>
          <p:nvPr>
            <p:ph type="ctrTitle"/>
          </p:nvPr>
        </p:nvSpPr>
        <p:spPr>
          <a:xfrm>
            <a:off x="1480457" y="1367249"/>
            <a:ext cx="9231086" cy="2475807"/>
          </a:xfrm>
        </p:spPr>
        <p:txBody>
          <a:bodyPr>
            <a:normAutofit/>
          </a:bodyPr>
          <a:lstStyle/>
          <a:p>
            <a:r>
              <a:rPr lang="ko-KR" altLang="en-US" sz="4000" b="1" dirty="0"/>
              <a:t>침수 및 건조 복합재해에 대한 콩과</a:t>
            </a:r>
            <a:br>
              <a:rPr lang="en-US" altLang="ko-KR" sz="4000" b="1" dirty="0"/>
            </a:br>
            <a:r>
              <a:rPr lang="ko-KR" altLang="en-US" sz="4000" b="1" dirty="0"/>
              <a:t>로메인 상추의 생육 및 생리 반응 비교</a:t>
            </a:r>
            <a:br>
              <a:rPr lang="en-US" altLang="ko-KR" sz="4000" b="1" dirty="0"/>
            </a:br>
            <a:br>
              <a:rPr lang="en-US" altLang="ko-KR" sz="1600" b="1" dirty="0"/>
            </a:br>
            <a:r>
              <a:rPr lang="en-US" altLang="ko-KR" sz="1600" b="1" dirty="0">
                <a:latin typeface="Times New Roman" panose="02020603050405020304" pitchFamily="18" charset="0"/>
                <a:cs typeface="Times New Roman" panose="02020603050405020304" pitchFamily="18" charset="0"/>
              </a:rPr>
              <a:t>Comparison of Growth and Physiological Responses of Soybean and Romaine Lettuce to Flooding, Drought, and Combined Stress</a:t>
            </a:r>
            <a:endParaRPr lang="ko-KR" altLang="en-US" sz="2700" b="1" dirty="0">
              <a:latin typeface="Times New Roman" panose="02020603050405020304" pitchFamily="18" charset="0"/>
              <a:cs typeface="Times New Roman" panose="02020603050405020304" pitchFamily="18" charset="0"/>
            </a:endParaRPr>
          </a:p>
        </p:txBody>
      </p:sp>
      <p:sp>
        <p:nvSpPr>
          <p:cNvPr id="3" name="부제목 2">
            <a:extLst>
              <a:ext uri="{FF2B5EF4-FFF2-40B4-BE49-F238E27FC236}">
                <a16:creationId xmlns:a16="http://schemas.microsoft.com/office/drawing/2014/main" id="{1CE9F5BD-D28B-5F96-2E69-88270E8FFD15}"/>
              </a:ext>
            </a:extLst>
          </p:cNvPr>
          <p:cNvSpPr>
            <a:spLocks noGrp="1"/>
          </p:cNvSpPr>
          <p:nvPr>
            <p:ph type="subTitle" idx="1"/>
          </p:nvPr>
        </p:nvSpPr>
        <p:spPr>
          <a:xfrm>
            <a:off x="1524000" y="4255580"/>
            <a:ext cx="9144000" cy="2344850"/>
          </a:xfrm>
        </p:spPr>
        <p:txBody>
          <a:bodyPr>
            <a:normAutofit/>
          </a:bodyPr>
          <a:lstStyle/>
          <a:p>
            <a:pPr>
              <a:lnSpc>
                <a:spcPct val="80000"/>
              </a:lnSpc>
            </a:pPr>
            <a:endParaRPr lang="en-US" altLang="ko-KR" sz="2000" dirty="0"/>
          </a:p>
          <a:p>
            <a:pPr>
              <a:lnSpc>
                <a:spcPct val="80000"/>
              </a:lnSpc>
            </a:pPr>
            <a:endParaRPr lang="en-US" altLang="ko-KR" sz="1800" dirty="0"/>
          </a:p>
          <a:p>
            <a:endParaRPr lang="en-US" altLang="ko-KR" sz="1800" dirty="0"/>
          </a:p>
          <a:p>
            <a:endParaRPr lang="ko-KR" altLang="en-US" sz="1800" dirty="0"/>
          </a:p>
        </p:txBody>
      </p:sp>
      <p:pic>
        <p:nvPicPr>
          <p:cNvPr id="1026" name="Picture 2" descr="폰트, 그래픽, 로고, 텍스트이(가) 표시된 사진&#10;&#10;자동 생성된 설명">
            <a:extLst>
              <a:ext uri="{FF2B5EF4-FFF2-40B4-BE49-F238E27FC236}">
                <a16:creationId xmlns:a16="http://schemas.microsoft.com/office/drawing/2014/main" id="{1F5D21A4-5CE8-CA11-3AC9-D4DA2CEE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381" y="5788448"/>
            <a:ext cx="2213666"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98A2E225-EF8F-F661-C3B4-5EE926C3C211}"/>
              </a:ext>
            </a:extLst>
          </p:cNvPr>
          <p:cNvCxnSpPr>
            <a:cxnSpLocks/>
          </p:cNvCxnSpPr>
          <p:nvPr/>
        </p:nvCxnSpPr>
        <p:spPr>
          <a:xfrm>
            <a:off x="783772" y="89376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25E478C-FA31-1F67-05B3-34C5962519CF}"/>
              </a:ext>
            </a:extLst>
          </p:cNvPr>
          <p:cNvCxnSpPr>
            <a:cxnSpLocks/>
          </p:cNvCxnSpPr>
          <p:nvPr/>
        </p:nvCxnSpPr>
        <p:spPr>
          <a:xfrm>
            <a:off x="1480457" y="4014412"/>
            <a:ext cx="9231086" cy="0"/>
          </a:xfrm>
          <a:prstGeom prst="line">
            <a:avLst/>
          </a:prstGeom>
          <a:ln w="28575"/>
        </p:spPr>
        <p:style>
          <a:lnRef idx="2">
            <a:schemeClr val="accent1"/>
          </a:lnRef>
          <a:fillRef idx="0">
            <a:schemeClr val="accent1"/>
          </a:fillRef>
          <a:effectRef idx="1">
            <a:schemeClr val="accent1"/>
          </a:effectRef>
          <a:fontRef idx="minor">
            <a:schemeClr val="tx1"/>
          </a:fontRef>
        </p:style>
      </p:cxnSp>
      <p:pic>
        <p:nvPicPr>
          <p:cNvPr id="4" name="Picture 2" descr="사)한국원예학회">
            <a:extLst>
              <a:ext uri="{FF2B5EF4-FFF2-40B4-BE49-F238E27FC236}">
                <a16:creationId xmlns:a16="http://schemas.microsoft.com/office/drawing/2014/main" id="{4869A5E8-6B1D-FCB7-158B-34C00508F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2" y="88083"/>
            <a:ext cx="317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전북대학교 로고 브랜드 시그니처 마크 상징물 다운로드 LOGO UI MI CI AI BI JPG">
            <a:extLst>
              <a:ext uri="{FF2B5EF4-FFF2-40B4-BE49-F238E27FC236}">
                <a16:creationId xmlns:a16="http://schemas.microsoft.com/office/drawing/2014/main" id="{6B76D25D-FBEA-3892-9D2A-4667E65B4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9410" y="5788448"/>
            <a:ext cx="2936590" cy="720000"/>
          </a:xfrm>
          <a:prstGeom prst="rect">
            <a:avLst/>
          </a:prstGeom>
          <a:noFill/>
          <a:extLst>
            <a:ext uri="{909E8E84-426E-40DD-AFC4-6F175D3DCCD1}">
              <a14:hiddenFill xmlns:a14="http://schemas.microsoft.com/office/drawing/2010/main">
                <a:solidFill>
                  <a:srgbClr val="FFFFFF"/>
                </a:solidFill>
              </a14:hiddenFill>
            </a:ext>
          </a:extLst>
        </p:spPr>
      </p:pic>
      <p:sp>
        <p:nvSpPr>
          <p:cNvPr id="5" name="부제목 2">
            <a:extLst>
              <a:ext uri="{FF2B5EF4-FFF2-40B4-BE49-F238E27FC236}">
                <a16:creationId xmlns:a16="http://schemas.microsoft.com/office/drawing/2014/main" id="{510EA85C-DDC4-B272-8D57-37B6606FB19D}"/>
              </a:ext>
            </a:extLst>
          </p:cNvPr>
          <p:cNvSpPr txBox="1">
            <a:spLocks/>
          </p:cNvSpPr>
          <p:nvPr/>
        </p:nvSpPr>
        <p:spPr>
          <a:xfrm>
            <a:off x="1676400" y="4407980"/>
            <a:ext cx="9144000" cy="234485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80000"/>
              </a:lnSpc>
            </a:pPr>
            <a:r>
              <a:rPr lang="ko-KR" altLang="en-US" sz="2000" dirty="0"/>
              <a:t>전북대학교</a:t>
            </a:r>
            <a:r>
              <a:rPr lang="en-US" altLang="ko-KR" sz="2000" dirty="0"/>
              <a:t> </a:t>
            </a:r>
            <a:r>
              <a:rPr lang="ko-KR" altLang="en-US" sz="2000" dirty="0" err="1"/>
              <a:t>스마트농업AI융합학과</a:t>
            </a:r>
            <a:endParaRPr lang="en-US" altLang="ko-KR" sz="2000" dirty="0"/>
          </a:p>
          <a:p>
            <a:pPr>
              <a:lnSpc>
                <a:spcPct val="80000"/>
              </a:lnSpc>
            </a:pPr>
            <a:r>
              <a:rPr lang="ko-KR" altLang="en-US" sz="1800" dirty="0"/>
              <a:t>석사과정 윤정민</a:t>
            </a:r>
            <a:endParaRPr lang="en-US" altLang="ko-KR" sz="1800" dirty="0"/>
          </a:p>
          <a:p>
            <a:endParaRPr lang="en-US" altLang="ko-KR" sz="800" dirty="0"/>
          </a:p>
          <a:p>
            <a:r>
              <a:rPr lang="en-US" altLang="ko-KR" sz="1800" dirty="0"/>
              <a:t>2026. 11. 6.</a:t>
            </a:r>
            <a:endParaRPr lang="ko-KR" altLang="en-US" sz="1800" dirty="0"/>
          </a:p>
        </p:txBody>
      </p:sp>
    </p:spTree>
    <p:extLst>
      <p:ext uri="{BB962C8B-B14F-4D97-AF65-F5344CB8AC3E}">
        <p14:creationId xmlns:p14="http://schemas.microsoft.com/office/powerpoint/2010/main" val="23968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 한 생육기 안의 침수–건조 연속 재해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Swain et al. (2018) Nat. Clim. Change 8:427–433; Zandalinas &amp; Mittler (2022) New Phytol. 234:1161–1167.</a:t>
            </a:r>
          </a:p>
        </p:txBody>
      </p:sp>
      <p:sp>
        <p:nvSpPr>
          <p:cNvPr id="27" name="Flow 1"/>
          <p:cNvSpPr/>
          <p:nvPr/>
        </p:nvSpPr>
        <p:spPr>
          <a:xfrm>
            <a:off x="841248" y="1325880"/>
            <a:ext cx="3154680" cy="868680"/>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8" name="Arrow 1"/>
          <p:cNvSpPr/>
          <p:nvPr/>
        </p:nvSpPr>
        <p:spPr>
          <a:xfrm>
            <a:off x="4069080"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29" name="Flow 2"/>
          <p:cNvSpPr/>
          <p:nvPr/>
        </p:nvSpPr>
        <p:spPr>
          <a:xfrm>
            <a:off x="4553712" y="1325880"/>
            <a:ext cx="3154680" cy="868680"/>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0" name="Arrow 2"/>
          <p:cNvSpPr/>
          <p:nvPr/>
        </p:nvSpPr>
        <p:spPr>
          <a:xfrm>
            <a:off x="7781544"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31" name="Flow 3"/>
          <p:cNvSpPr/>
          <p:nvPr/>
        </p:nvSpPr>
        <p:spPr>
          <a:xfrm>
            <a:off x="8266176" y="1325880"/>
            <a:ext cx="3081528" cy="868680"/>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32" name="Card 침수 (Waterlogging)"/>
          <p:cNvSpPr/>
          <p:nvPr/>
        </p:nvSpPr>
        <p:spPr>
          <a:xfrm>
            <a:off x="84124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3" name="Header 침수 (Waterlogging)"/>
          <p:cNvSpPr/>
          <p:nvPr/>
        </p:nvSpPr>
        <p:spPr>
          <a:xfrm>
            <a:off x="1024128" y="2578608"/>
            <a:ext cx="2926080" cy="420624"/>
          </a:xfrm>
          <a:prstGeom prst="roundRect">
            <a:avLst>
              <a:gd name="adj" fmla="val 25000"/>
            </a:avLst>
          </a:prstGeom>
          <a:solidFill>
            <a:srgbClr val="0B76A0"/>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침수 (Waterlogging)</a:t>
            </a:r>
          </a:p>
        </p:txBody>
      </p:sp>
      <p:sp>
        <p:nvSpPr>
          <p:cNvPr id="34" name="Text 침수 (Waterlogging)"/>
          <p:cNvSpPr txBox="1"/>
          <p:nvPr/>
        </p:nvSpPr>
        <p:spPr>
          <a:xfrm>
            <a:off x="102412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근권 산소 결핍 → 뿌리 호흡·양수분 흡수 저해</a:t>
            </a:r>
          </a:p>
          <a:p>
            <a:pPr marL="201168" indent="-201168" algn="l">
              <a:spcBef>
                <a:spcPts val="1000"/>
              </a:spcBef>
              <a:buFont typeface="Arial"/>
              <a:buChar char="•"/>
            </a:pPr>
            <a:r>
              <a:rPr lang="ko-KR" altLang="en-US" sz="1400" b="0" dirty="0">
                <a:solidFill>
                  <a:srgbClr val="000000"/>
                </a:solidFill>
              </a:rPr>
              <a:t>기공 닫힘 → 엽 내 CO</a:t>
            </a:r>
            <a:r>
              <a:rPr lang="ko-KR" altLang="en-US" sz="1400" b="0" baseline="-25000" dirty="0">
                <a:solidFill>
                  <a:srgbClr val="000000"/>
                </a:solidFill>
              </a:rPr>
              <a:t>2</a:t>
            </a:r>
            <a:r>
              <a:rPr lang="ko-KR" altLang="en-US" sz="1400" b="0" dirty="0">
                <a:solidFill>
                  <a:srgbClr val="000000"/>
                </a:solidFill>
              </a:rPr>
              <a:t> 공급 감소</a:t>
            </a:r>
          </a:p>
          <a:p>
            <a:pPr marL="201168" indent="-201168" algn="l">
              <a:spcBef>
                <a:spcPts val="1000"/>
              </a:spcBef>
              <a:buFont typeface="Arial"/>
              <a:buChar char="•"/>
            </a:pPr>
            <a:r>
              <a:rPr lang="ko-KR" altLang="en-US" sz="1400" b="0" dirty="0">
                <a:solidFill>
                  <a:srgbClr val="000000"/>
                </a:solidFill>
              </a:rPr>
              <a:t>배수 후에도 회복에 시간 소요</a:t>
            </a:r>
          </a:p>
        </p:txBody>
      </p:sp>
      <p:sp>
        <p:nvSpPr>
          <p:cNvPr id="35" name="Card 건조 (Drought)"/>
          <p:cNvSpPr/>
          <p:nvPr/>
        </p:nvSpPr>
        <p:spPr>
          <a:xfrm>
            <a:off x="445312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6" name="Header 건조 (Drought)"/>
          <p:cNvSpPr/>
          <p:nvPr/>
        </p:nvSpPr>
        <p:spPr>
          <a:xfrm>
            <a:off x="4636008" y="2578608"/>
            <a:ext cx="2926080" cy="420624"/>
          </a:xfrm>
          <a:prstGeom prst="roundRect">
            <a:avLst>
              <a:gd name="adj" fmla="val 25000"/>
            </a:avLst>
          </a:prstGeom>
          <a:solidFill>
            <a:srgbClr val="AF5524"/>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건조 (Drought)</a:t>
            </a:r>
          </a:p>
        </p:txBody>
      </p:sp>
      <p:sp>
        <p:nvSpPr>
          <p:cNvPr id="37" name="Text 건조 (Drought)"/>
          <p:cNvSpPr txBox="1"/>
          <p:nvPr/>
        </p:nvSpPr>
        <p:spPr>
          <a:xfrm>
            <a:off x="463600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토양 수분 감소 → 엽 수분 상태 저하</a:t>
            </a:r>
          </a:p>
          <a:p>
            <a:pPr marL="201168" indent="-201168" algn="l">
              <a:spcBef>
                <a:spcPts val="1000"/>
              </a:spcBef>
              <a:buFont typeface="Arial"/>
              <a:buChar char="•"/>
            </a:pPr>
            <a:r>
              <a:rPr lang="ko-KR" altLang="en-US" sz="1400" b="0" dirty="0">
                <a:solidFill>
                  <a:srgbClr val="000000"/>
                </a:solidFill>
              </a:rPr>
              <a:t>기공 닫힘 → 증산·광합성 감소</a:t>
            </a:r>
          </a:p>
          <a:p>
            <a:pPr marL="201168" indent="-201168" algn="l">
              <a:spcBef>
                <a:spcPts val="1000"/>
              </a:spcBef>
              <a:buFont typeface="Arial"/>
              <a:buChar char="•"/>
            </a:pPr>
            <a:r>
              <a:rPr lang="ko-KR" altLang="en-US" sz="1400" b="0" dirty="0">
                <a:solidFill>
                  <a:srgbClr val="000000"/>
                </a:solidFill>
              </a:rPr>
              <a:t>지속 시 광화학 효율 저하 가능</a:t>
            </a:r>
          </a:p>
        </p:txBody>
      </p:sp>
      <p:sp>
        <p:nvSpPr>
          <p:cNvPr id="38" name="Card 복합 (침수 → 건조)"/>
          <p:cNvSpPr/>
          <p:nvPr/>
        </p:nvSpPr>
        <p:spPr>
          <a:xfrm>
            <a:off x="806500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9" name="Header 복합 (침수 → 건조)"/>
          <p:cNvSpPr/>
          <p:nvPr/>
        </p:nvSpPr>
        <p:spPr>
          <a:xfrm>
            <a:off x="8247888" y="2578608"/>
            <a:ext cx="2926080"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복합 (침수 → 건조)</a:t>
            </a:r>
          </a:p>
        </p:txBody>
      </p:sp>
      <p:sp>
        <p:nvSpPr>
          <p:cNvPr id="40" name="Text 복합 (침수 → 건조)"/>
          <p:cNvSpPr txBox="1"/>
          <p:nvPr/>
        </p:nvSpPr>
        <p:spPr>
          <a:xfrm>
            <a:off x="824788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침수 피해 회복 전에 건조에 노출</a:t>
            </a:r>
          </a:p>
          <a:p>
            <a:pPr marL="201168" indent="-201168" algn="l">
              <a:spcBef>
                <a:spcPts val="1000"/>
              </a:spcBef>
              <a:buFont typeface="Arial"/>
              <a:buChar char="•"/>
            </a:pPr>
            <a:r>
              <a:rPr lang="ko-KR" altLang="en-US" sz="1400" b="0" dirty="0">
                <a:solidFill>
                  <a:srgbClr val="000000"/>
                </a:solidFill>
              </a:rPr>
              <a:t>피해 누적 또는 선행 스트레스에 의한 순화 가능</a:t>
            </a:r>
          </a:p>
          <a:p>
            <a:pPr marL="201168" indent="-201168" algn="l">
              <a:spcBef>
                <a:spcPts val="1000"/>
              </a:spcBef>
              <a:buFont typeface="Arial"/>
              <a:buChar char="•"/>
            </a:pPr>
            <a:r>
              <a:rPr lang="ko-KR" altLang="en-US" sz="1400" b="0" dirty="0">
                <a:solidFill>
                  <a:srgbClr val="000000"/>
                </a:solidFill>
              </a:rPr>
              <a:t>작물·생육 단계별 반응 비교 정보 부족</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 수분 재해별 생리적 제한 단계 규명</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핵심 질문: 같은 침수·건조 재해에 콩과 로메인 상추의 생리·생육 반응은 어떻게 다른가?</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본 발표의 결과는 ①→④ 순서로 제시함.</a:t>
            </a:r>
          </a:p>
        </p:txBody>
      </p:sp>
      <p:sp>
        <p:nvSpPr>
          <p:cNvPr id="27" name="Step 1"/>
          <p:cNvSpPr/>
          <p:nvPr/>
        </p:nvSpPr>
        <p:spPr>
          <a:xfrm>
            <a:off x="841248" y="1417320"/>
            <a:ext cx="1993392" cy="749808"/>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a:p>
            <a:pPr marL="0" indent="0" algn="ctr">
              <a:spcBef>
                <a:spcPts val="0"/>
              </a:spcBef>
              <a:buNone/>
            </a:pPr>
            <a:r>
              <a:rPr lang="ko-KR" altLang="en-US" sz="1100" b="0" dirty="0">
                <a:solidFill>
                  <a:srgbClr val="000000"/>
                </a:solidFill>
              </a:rPr>
              <a:t>g</a:t>
            </a:r>
            <a:r>
              <a:rPr lang="ko-KR" altLang="en-US" sz="1100" b="0" dirty="0" baseline="-25000">
                <a:solidFill>
                  <a:srgbClr val="000000"/>
                </a:solidFill>
              </a:rPr>
              <a:t>sw</a:t>
            </a:r>
          </a:p>
        </p:txBody>
      </p:sp>
      <p:sp>
        <p:nvSpPr>
          <p:cNvPr id="28" name="Step 2"/>
          <p:cNvSpPr/>
          <p:nvPr/>
        </p:nvSpPr>
        <p:spPr>
          <a:xfrm>
            <a:off x="3474720" y="2130552"/>
            <a:ext cx="1993392" cy="749808"/>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a:p>
            <a:pPr marL="0" indent="0" algn="ctr">
              <a:spcBef>
                <a:spcPts val="0"/>
              </a:spcBef>
              <a:buNone/>
            </a:pPr>
            <a:r>
              <a:rPr lang="ko-KR" altLang="en-US" sz="1100" b="0" dirty="0">
                <a:solidFill>
                  <a:srgbClr val="000000"/>
                </a:solidFill>
              </a:rPr>
              <a:t>Φ</a:t>
            </a:r>
            <a:r>
              <a:rPr lang="ko-KR" altLang="en-US" sz="1100" b="0" dirty="0" baseline="-25000">
                <a:solidFill>
                  <a:srgbClr val="000000"/>
                </a:solidFill>
              </a:rPr>
              <a:t>PSII</a:t>
            </a:r>
          </a:p>
        </p:txBody>
      </p:sp>
      <p:sp>
        <p:nvSpPr>
          <p:cNvPr id="30" name="Step 4"/>
          <p:cNvSpPr/>
          <p:nvPr/>
        </p:nvSpPr>
        <p:spPr>
          <a:xfrm>
            <a:off x="6108192" y="2843784"/>
            <a:ext cx="1993392" cy="749808"/>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광합성 능력</a:t>
            </a:r>
          </a:p>
          <a:p>
            <a:pPr marL="0" indent="0" algn="ctr">
              <a:spcBef>
                <a:spcPts val="0"/>
              </a:spcBef>
              <a:buNone/>
            </a:pPr>
            <a:r>
              <a:rPr lang="ko-KR" altLang="en-US" sz="1100" b="0" dirty="0">
                <a:solidFill>
                  <a:srgbClr val="FFFFFF"/>
                </a:solidFill>
              </a:rPr>
              <a:t>V</a:t>
            </a:r>
            <a:r>
              <a:rPr lang="ko-KR" altLang="en-US" sz="1100" b="0" dirty="0" baseline="-25000">
                <a:solidFill>
                  <a:srgbClr val="FFFFFF"/>
                </a:solidFill>
              </a:rPr>
              <a:t>cmax</a:t>
            </a:r>
            <a:r>
              <a:rPr lang="ko-KR" altLang="en-US" sz="1100" b="0" dirty="0">
                <a:solidFill>
                  <a:srgbClr val="FFFFFF"/>
                </a:solidFill>
              </a:rPr>
              <a:t> · J</a:t>
            </a:r>
            <a:r>
              <a:rPr lang="ko-KR" altLang="en-US" sz="1100" b="0" dirty="0" baseline="-25000">
                <a:solidFill>
                  <a:srgbClr val="FFFFFF"/>
                </a:solidFill>
              </a:rPr>
              <a:t>max</a:t>
            </a:r>
            <a:r>
              <a:rPr lang="ko-KR" altLang="en-US" sz="1100" b="0" dirty="0">
                <a:solidFill>
                  <a:srgbClr val="FFFFFF"/>
                </a:solidFill>
              </a:rPr>
              <a:t> · A</a:t>
            </a:r>
            <a:r>
              <a:rPr lang="ko-KR" altLang="en-US" sz="1100" b="0" dirty="0" baseline="-25000">
                <a:solidFill>
                  <a:srgbClr val="FFFFFF"/>
                </a:solidFill>
              </a:rPr>
              <a:t>max</a:t>
            </a:r>
          </a:p>
        </p:txBody>
      </p:sp>
      <p:sp>
        <p:nvSpPr>
          <p:cNvPr id="31" name="Step 5"/>
          <p:cNvSpPr/>
          <p:nvPr/>
        </p:nvSpPr>
        <p:spPr>
          <a:xfrm>
            <a:off x="8741664" y="3557015"/>
            <a:ext cx="1993392" cy="749808"/>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a:p>
            <a:pPr marL="0" indent="0" algn="ctr">
              <a:spcBef>
                <a:spcPts val="0"/>
              </a:spcBef>
              <a:buNone/>
            </a:pPr>
            <a:r>
              <a:rPr lang="ko-KR" altLang="en-US" sz="1100" b="0" dirty="0">
                <a:solidFill>
                  <a:srgbClr val="FFFFFF"/>
                </a:solidFill>
              </a:rPr>
              <a:t>수량 · 지상부 건물중</a:t>
            </a:r>
          </a:p>
        </p:txBody>
      </p:sp>
      <p:sp>
        <p:nvSpPr>
          <p:cNvPr id="33" name="Objective"/>
          <p:cNvSpPr/>
          <p:nvPr/>
        </p:nvSpPr>
        <p:spPr>
          <a:xfrm>
            <a:off x="841248" y="4498848"/>
            <a:ext cx="10515600" cy="1115568"/>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로메인 상추에 침수·건조·복합 처리를 적용하여</a:t>
            </a:r>
          </a:p>
          <a:p>
            <a:pPr marL="0" indent="0" algn="l">
              <a:spcBef>
                <a:spcPts val="400"/>
              </a:spcBef>
              <a:buNone/>
            </a:pPr>
            <a:r>
              <a:rPr lang="ko-KR" altLang="en-US" sz="1400" dirty="0">
                <a:solidFill>
                  <a:srgbClr val="000000"/>
                </a:solidFill>
              </a:rPr>
              <a:t>잎 생리 반응이 </a:t>
            </a:r>
            <a:r>
              <a:rPr lang="ko-KR" altLang="en-US" sz="1400" b="1" dirty="0">
                <a:solidFill>
                  <a:srgbClr val="000000"/>
                </a:solidFill>
              </a:rPr>
              <a:t>어느 단계까지 확대되는지</a:t>
            </a:r>
            <a:r>
              <a:rPr lang="ko-KR" altLang="en-US" sz="1400" dirty="0">
                <a:solidFill>
                  <a:srgbClr val="000000"/>
                </a:solidFill>
              </a:rPr>
              <a:t>, 기공이 </a:t>
            </a:r>
            <a:r>
              <a:rPr lang="ko-KR" altLang="en-US" sz="1400" b="1" dirty="0">
                <a:solidFill>
                  <a:srgbClr val="000000"/>
                </a:solidFill>
              </a:rPr>
              <a:t>얼마나 빨리 회복되는지</a:t>
            </a:r>
            <a:r>
              <a:rPr lang="ko-KR" altLang="en-US" sz="1400" dirty="0">
                <a:solidFill>
                  <a:srgbClr val="000000"/>
                </a:solidFill>
              </a:rPr>
              <a:t>, </a:t>
            </a:r>
            <a:r>
              <a:rPr lang="ko-KR" altLang="en-US" sz="1400" b="1" dirty="0">
                <a:solidFill>
                  <a:srgbClr val="000000"/>
                </a:solidFill>
              </a:rPr>
              <a:t>생육·수량 감소로 이어지는지</a:t>
            </a:r>
            <a:r>
              <a:rPr lang="ko-KR" altLang="en-US" sz="1400" dirty="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공시 작물 및 수분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1">
                <a:solidFill>
                  <a:srgbClr val="E97132"/>
                </a:solidFill>
              </a:rPr>
              <a:t>2작물 × 4처리</a:t>
            </a:r>
            <a:r>
              <a:rPr sz="1600" b="0">
                <a:solidFill>
                  <a:srgbClr val="E97132"/>
                </a:solidFill>
              </a:rPr>
              <a:t>: 대조구 · 건조 · 침수 · 복합(침수 후 건조), 침수 기간은 두 작물 모두 3일</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복합구는 침수 종료 후 침수구 관수량의 50%를 관수. 침수는 포트를 물통에 옮겨 3일간 잠기게 함. 콩은 처리 전부터 일부 뿌리가 포트 하단 배수구로 빠져나가 지면에 닿음.</a:t>
            </a:r>
          </a:p>
        </p:txBody>
      </p:sp>
      <p:sp>
        <p:nvSpPr>
          <p:cNvPr id="27" name="Card 상추"/>
          <p:cNvSpPr/>
          <p:nvPr/>
        </p:nvSpPr>
        <p:spPr>
          <a:xfrm>
            <a:off x="841248" y="150876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상추"/>
          <p:cNvSpPr/>
          <p:nvPr/>
        </p:nvSpPr>
        <p:spPr>
          <a:xfrm>
            <a:off x="1024128" y="1298448"/>
            <a:ext cx="452628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로메인 상추</a:t>
            </a:r>
          </a:p>
        </p:txBody>
      </p:sp>
      <p:sp>
        <p:nvSpPr>
          <p:cNvPr id="29" name="Text 상추"/>
          <p:cNvSpPr txBox="1"/>
          <p:nvPr/>
        </p:nvSpPr>
        <p:spPr>
          <a:xfrm>
            <a:off x="1024128" y="189280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Lactuca sativa</a:t>
            </a:r>
            <a:r>
              <a:rPr lang="ko-KR" altLang="en-US" sz="1300" b="0" i="0" dirty="0">
                <a:solidFill>
                  <a:srgbClr val="000000"/>
                </a:solidFill>
              </a:rPr>
              <a:t> L. cv. Claudius</a:t>
            </a:r>
          </a:p>
          <a:p>
            <a:pPr marL="201168" indent="-201168" algn="l">
              <a:spcBef>
                <a:spcPts val="600"/>
              </a:spcBef>
              <a:buFont typeface="Arial"/>
              <a:buChar char="•"/>
            </a:pPr>
            <a:r>
              <a:rPr lang="ko-KR" altLang="en-US" sz="1300" b="0" dirty="0">
                <a:solidFill>
                  <a:srgbClr val="000000"/>
                </a:solidFill>
              </a:rPr>
              <a:t>처리 개시: 정식 3주 후 (영양생장기)</a:t>
            </a:r>
          </a:p>
          <a:p>
            <a:pPr marL="201168" indent="-201168" algn="l">
              <a:spcBef>
                <a:spcPts val="600"/>
              </a:spcBef>
              <a:buFont typeface="Arial"/>
              <a:buChar char="•"/>
            </a:pPr>
            <a:r>
              <a:rPr lang="ko-KR" altLang="en-US" sz="1300" b="0" dirty="0">
                <a:solidFill>
                  <a:srgbClr val="000000"/>
                </a:solidFill>
              </a:rPr>
              <a:t>관찰: 처리 후 16일 (DAT 0~16)</a:t>
            </a:r>
          </a:p>
        </p:txBody>
      </p:sp>
      <p:sp>
        <p:nvSpPr>
          <p:cNvPr id="30" name="Card 콩"/>
          <p:cNvSpPr/>
          <p:nvPr/>
        </p:nvSpPr>
        <p:spPr>
          <a:xfrm>
            <a:off x="841248" y="361188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콩"/>
          <p:cNvSpPr/>
          <p:nvPr/>
        </p:nvSpPr>
        <p:spPr>
          <a:xfrm>
            <a:off x="1024128" y="3401568"/>
            <a:ext cx="452628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콩</a:t>
            </a:r>
          </a:p>
        </p:txBody>
      </p:sp>
      <p:sp>
        <p:nvSpPr>
          <p:cNvPr id="32" name="Text 콩"/>
          <p:cNvSpPr txBox="1"/>
          <p:nvPr/>
        </p:nvSpPr>
        <p:spPr>
          <a:xfrm>
            <a:off x="1024128" y="399592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Glycine max</a:t>
            </a:r>
            <a:r>
              <a:rPr lang="ko-KR" altLang="en-US" sz="1300" b="0" i="0" dirty="0">
                <a:solidFill>
                  <a:srgbClr val="000000"/>
                </a:solidFill>
              </a:rPr>
              <a:t> (L.) Merr. cv. Daewonkong</a:t>
            </a:r>
          </a:p>
          <a:p>
            <a:pPr marL="201168" indent="-201168" algn="l">
              <a:spcBef>
                <a:spcPts val="600"/>
              </a:spcBef>
              <a:buFont typeface="Arial"/>
              <a:buChar char="•"/>
            </a:pPr>
            <a:r>
              <a:rPr lang="ko-KR" altLang="en-US" sz="1300" b="0" dirty="0">
                <a:solidFill>
                  <a:srgbClr val="000000"/>
                </a:solidFill>
              </a:rPr>
              <a:t>처리 개시: 개화기</a:t>
            </a:r>
          </a:p>
          <a:p>
            <a:pPr marL="201168" indent="-201168" algn="l">
              <a:spcBef>
                <a:spcPts val="600"/>
              </a:spcBef>
              <a:buFont typeface="Arial"/>
              <a:buChar char="•"/>
            </a:pPr>
            <a:r>
              <a:rPr lang="ko-KR" altLang="en-US" sz="1300" b="0" dirty="0">
                <a:solidFill>
                  <a:srgbClr val="000000"/>
                </a:solidFill>
              </a:rPr>
              <a:t>관찰: 처리 후 55일 (DAT 0~55)</a:t>
            </a:r>
          </a:p>
        </p:txBody>
      </p:sp>
      <p:sp>
        <p:nvSpPr>
          <p:cNvPr id="33" name="Pot label"/>
          <p:cNvSpPr txBox="1"/>
          <p:nvPr/>
        </p:nvSpPr>
        <p:spPr>
          <a:xfrm>
            <a:off x="608076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3A3A3A"/>
                </a:solidFill>
              </a:rPr>
              <a:t>대조구</a:t>
            </a:r>
          </a:p>
        </p:txBody>
      </p:sp>
      <p:sp>
        <p:nvSpPr>
          <p:cNvPr id="34" name="Leaf"/>
          <p:cNvSpPr/>
          <p:nvPr/>
        </p:nvSpPr>
        <p:spPr>
          <a:xfrm>
            <a:off x="637336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35" name="Stem"/>
          <p:cNvSpPr/>
          <p:nvPr/>
        </p:nvSpPr>
        <p:spPr>
          <a:xfrm>
            <a:off x="666597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36" name="Soil"/>
          <p:cNvSpPr/>
          <p:nvPr/>
        </p:nvSpPr>
        <p:spPr>
          <a:xfrm flipV="1">
            <a:off x="621792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37" name="Pot"/>
          <p:cNvSpPr/>
          <p:nvPr/>
        </p:nvSpPr>
        <p:spPr>
          <a:xfrm flipV="1">
            <a:off x="615391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38" name="Pot desc"/>
          <p:cNvSpPr txBox="1"/>
          <p:nvPr/>
        </p:nvSpPr>
        <p:spPr>
          <a:xfrm>
            <a:off x="603504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100% 관수</a:t>
            </a:r>
          </a:p>
        </p:txBody>
      </p:sp>
      <p:sp>
        <p:nvSpPr>
          <p:cNvPr id="39" name="Pot label"/>
          <p:cNvSpPr txBox="1"/>
          <p:nvPr/>
        </p:nvSpPr>
        <p:spPr>
          <a:xfrm>
            <a:off x="740664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8A7F70"/>
                </a:solidFill>
              </a:rPr>
              <a:t>건조</a:t>
            </a:r>
          </a:p>
        </p:txBody>
      </p:sp>
      <p:sp>
        <p:nvSpPr>
          <p:cNvPr id="40" name="Leaf"/>
          <p:cNvSpPr/>
          <p:nvPr/>
        </p:nvSpPr>
        <p:spPr>
          <a:xfrm>
            <a:off x="769924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1" name="Stem"/>
          <p:cNvSpPr/>
          <p:nvPr/>
        </p:nvSpPr>
        <p:spPr>
          <a:xfrm>
            <a:off x="799185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2" name="Soil"/>
          <p:cNvSpPr/>
          <p:nvPr/>
        </p:nvSpPr>
        <p:spPr>
          <a:xfrm flipV="1">
            <a:off x="754380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43" name="Pot"/>
          <p:cNvSpPr/>
          <p:nvPr/>
        </p:nvSpPr>
        <p:spPr>
          <a:xfrm flipV="1">
            <a:off x="747979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44" name="Pot desc"/>
          <p:cNvSpPr txBox="1"/>
          <p:nvPr/>
        </p:nvSpPr>
        <p:spPr>
          <a:xfrm>
            <a:off x="736092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50% 관수</a:t>
            </a:r>
          </a:p>
        </p:txBody>
      </p:sp>
      <p:sp>
        <p:nvSpPr>
          <p:cNvPr id="45" name="Pot label"/>
          <p:cNvSpPr txBox="1"/>
          <p:nvPr/>
        </p:nvSpPr>
        <p:spPr>
          <a:xfrm>
            <a:off x="873252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1F4E79"/>
                </a:solidFill>
              </a:rPr>
              <a:t>침수</a:t>
            </a:r>
          </a:p>
        </p:txBody>
      </p:sp>
      <p:sp>
        <p:nvSpPr>
          <p:cNvPr id="46" name="Leaf"/>
          <p:cNvSpPr/>
          <p:nvPr/>
        </p:nvSpPr>
        <p:spPr>
          <a:xfrm>
            <a:off x="902512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7" name="Stem"/>
          <p:cNvSpPr/>
          <p:nvPr/>
        </p:nvSpPr>
        <p:spPr>
          <a:xfrm>
            <a:off x="931773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8" name="Water"/>
          <p:cNvSpPr/>
          <p:nvPr/>
        </p:nvSpPr>
        <p:spPr>
          <a:xfrm>
            <a:off x="880567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49" name="Soil"/>
          <p:cNvSpPr/>
          <p:nvPr/>
        </p:nvSpPr>
        <p:spPr>
          <a:xfrm flipV="1">
            <a:off x="886968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50" name="Pot"/>
          <p:cNvSpPr/>
          <p:nvPr/>
        </p:nvSpPr>
        <p:spPr>
          <a:xfrm flipV="1">
            <a:off x="880567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1" name="Pot desc"/>
          <p:cNvSpPr txBox="1"/>
          <p:nvPr/>
        </p:nvSpPr>
        <p:spPr>
          <a:xfrm>
            <a:off x="868680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100%</a:t>
            </a:r>
          </a:p>
        </p:txBody>
      </p:sp>
      <p:sp>
        <p:nvSpPr>
          <p:cNvPr id="52" name="Pot label"/>
          <p:cNvSpPr txBox="1"/>
          <p:nvPr/>
        </p:nvSpPr>
        <p:spPr>
          <a:xfrm>
            <a:off x="1005840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6F93B8"/>
                </a:solidFill>
              </a:rPr>
              <a:t>복합</a:t>
            </a:r>
          </a:p>
        </p:txBody>
      </p:sp>
      <p:sp>
        <p:nvSpPr>
          <p:cNvPr id="53" name="Leaf"/>
          <p:cNvSpPr/>
          <p:nvPr/>
        </p:nvSpPr>
        <p:spPr>
          <a:xfrm>
            <a:off x="1035100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54" name="Stem"/>
          <p:cNvSpPr/>
          <p:nvPr/>
        </p:nvSpPr>
        <p:spPr>
          <a:xfrm>
            <a:off x="1064361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55" name="Water"/>
          <p:cNvSpPr/>
          <p:nvPr/>
        </p:nvSpPr>
        <p:spPr>
          <a:xfrm>
            <a:off x="1013155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56" name="Soil"/>
          <p:cNvSpPr/>
          <p:nvPr/>
        </p:nvSpPr>
        <p:spPr>
          <a:xfrm flipV="1">
            <a:off x="1019556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57" name="Pot"/>
          <p:cNvSpPr/>
          <p:nvPr/>
        </p:nvSpPr>
        <p:spPr>
          <a:xfrm flipV="1">
            <a:off x="1013155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8" name="Pot desc"/>
          <p:cNvSpPr txBox="1"/>
          <p:nvPr/>
        </p:nvSpPr>
        <p:spPr>
          <a:xfrm>
            <a:off x="1001268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50%</a:t>
            </a:r>
          </a:p>
        </p:txBody>
      </p:sp>
      <p:sp>
        <p:nvSpPr>
          <p:cNvPr id="59" name="Site"/>
          <p:cNvSpPr txBox="1"/>
          <p:nvPr/>
        </p:nvSpPr>
        <p:spPr>
          <a:xfrm>
            <a:off x="6035040" y="4983480"/>
            <a:ext cx="5303520"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재배: 전북대학교 부속농장  ·  ET: 전날 손실된 수분량 (증발산량)</a:t>
            </a:r>
          </a:p>
        </p:txBody>
      </p:sp>
      <p:sp>
        <p:nvSpPr>
          <p:cNvPr id="117"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18"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119"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20"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21"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5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5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5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5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5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5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5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5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5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500"/>
                                        <p:tgtEl>
                                          <p:spTgt spid="58"/>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fade">
                                      <p:cBhvr>
                                        <p:cTn id="113" dur="500"/>
                                        <p:tgtEl>
                                          <p:spTgt spid="5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일정과 측정 시기 (DAT 기준 정렬)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5</a:t>
            </a:fld>
            <a:endParaRPr lang="ko-KR" altLang="en-US"/>
          </a:p>
        </p:txBody>
      </p:sp>
      <p:sp>
        <p:nvSpPr>
          <p:cNvPr id="7" name="TextBox 6"/>
          <p:cNvSpPr txBox="1"/>
          <p:nvPr/>
        </p:nvSpPr>
        <p:spPr>
          <a:xfrm>
            <a:off x="457200" y="1371600"/>
            <a:ext cx="1097280" cy="274320"/>
          </a:xfrm>
          <a:prstGeom prst="rect">
            <a:avLst/>
          </a:prstGeom>
          <a:noFill/>
        </p:spPr>
        <p:txBody>
          <a:bodyPr wrap="square" lIns="0" tIns="0" rIns="0" bIns="0">
            <a:spAutoFit/>
          </a:bodyPr>
          <a:lstStyle/>
          <a:p>
            <a:r>
              <a:rPr sz="1100" b="0">
                <a:solidFill>
                  <a:srgbClr val="595959"/>
                </a:solidFill>
              </a:rPr>
              <a:t>DAT (일)</a:t>
            </a:r>
          </a:p>
        </p:txBody>
      </p:sp>
      <p:sp>
        <p:nvSpPr>
          <p:cNvPr id="8" name="TextBox 7"/>
          <p:cNvSpPr txBox="1"/>
          <p:nvPr/>
        </p:nvSpPr>
        <p:spPr>
          <a:xfrm>
            <a:off x="1691640" y="1371600"/>
            <a:ext cx="457200" cy="274320"/>
          </a:xfrm>
          <a:prstGeom prst="rect">
            <a:avLst/>
          </a:prstGeom>
          <a:noFill/>
        </p:spPr>
        <p:txBody>
          <a:bodyPr wrap="square" lIns="0" tIns="0" rIns="0" bIns="0">
            <a:spAutoFit/>
          </a:bodyPr>
          <a:lstStyle/>
          <a:p>
            <a:pPr algn="ctr"/>
            <a:r>
              <a:rPr sz="1100" b="0">
                <a:solidFill>
                  <a:srgbClr val="595959"/>
                </a:solidFill>
              </a:rPr>
              <a:t>0</a:t>
            </a:r>
          </a:p>
        </p:txBody>
      </p:sp>
      <p:sp>
        <p:nvSpPr>
          <p:cNvPr id="9" name="TextBox 8"/>
          <p:cNvSpPr txBox="1"/>
          <p:nvPr/>
        </p:nvSpPr>
        <p:spPr>
          <a:xfrm>
            <a:off x="2560320" y="1371600"/>
            <a:ext cx="457200" cy="274320"/>
          </a:xfrm>
          <a:prstGeom prst="rect">
            <a:avLst/>
          </a:prstGeom>
          <a:noFill/>
        </p:spPr>
        <p:txBody>
          <a:bodyPr wrap="square" lIns="0" tIns="0" rIns="0" bIns="0">
            <a:spAutoFit/>
          </a:bodyPr>
          <a:lstStyle/>
          <a:p>
            <a:pPr algn="ctr"/>
            <a:r>
              <a:rPr sz="1100" b="0">
                <a:solidFill>
                  <a:srgbClr val="595959"/>
                </a:solidFill>
              </a:rPr>
              <a:t>5</a:t>
            </a:r>
          </a:p>
        </p:txBody>
      </p:sp>
      <p:sp>
        <p:nvSpPr>
          <p:cNvPr id="10" name="TextBox 9"/>
          <p:cNvSpPr txBox="1"/>
          <p:nvPr/>
        </p:nvSpPr>
        <p:spPr>
          <a:xfrm>
            <a:off x="3429000" y="1371600"/>
            <a:ext cx="457200" cy="274320"/>
          </a:xfrm>
          <a:prstGeom prst="rect">
            <a:avLst/>
          </a:prstGeom>
          <a:noFill/>
        </p:spPr>
        <p:txBody>
          <a:bodyPr wrap="square" lIns="0" tIns="0" rIns="0" bIns="0">
            <a:spAutoFit/>
          </a:bodyPr>
          <a:lstStyle/>
          <a:p>
            <a:pPr algn="ctr"/>
            <a:r>
              <a:rPr sz="1100" b="0">
                <a:solidFill>
                  <a:srgbClr val="595959"/>
                </a:solidFill>
              </a:rPr>
              <a:t>10</a:t>
            </a:r>
          </a:p>
        </p:txBody>
      </p:sp>
      <p:sp>
        <p:nvSpPr>
          <p:cNvPr id="11" name="TextBox 10"/>
          <p:cNvSpPr txBox="1"/>
          <p:nvPr/>
        </p:nvSpPr>
        <p:spPr>
          <a:xfrm>
            <a:off x="4297680" y="1371600"/>
            <a:ext cx="457200" cy="274320"/>
          </a:xfrm>
          <a:prstGeom prst="rect">
            <a:avLst/>
          </a:prstGeom>
          <a:noFill/>
        </p:spPr>
        <p:txBody>
          <a:bodyPr wrap="square" lIns="0" tIns="0" rIns="0" bIns="0">
            <a:spAutoFit/>
          </a:bodyPr>
          <a:lstStyle/>
          <a:p>
            <a:pPr algn="ctr"/>
            <a:r>
              <a:rPr sz="1100" b="0">
                <a:solidFill>
                  <a:srgbClr val="595959"/>
                </a:solidFill>
              </a:rPr>
              <a:t>15</a:t>
            </a:r>
          </a:p>
        </p:txBody>
      </p:sp>
      <p:sp>
        <p:nvSpPr>
          <p:cNvPr id="12" name="TextBox 11"/>
          <p:cNvSpPr txBox="1"/>
          <p:nvPr/>
        </p:nvSpPr>
        <p:spPr>
          <a:xfrm>
            <a:off x="5166360" y="1371600"/>
            <a:ext cx="457200" cy="274320"/>
          </a:xfrm>
          <a:prstGeom prst="rect">
            <a:avLst/>
          </a:prstGeom>
          <a:noFill/>
        </p:spPr>
        <p:txBody>
          <a:bodyPr wrap="square" lIns="0" tIns="0" rIns="0" bIns="0">
            <a:spAutoFit/>
          </a:bodyPr>
          <a:lstStyle/>
          <a:p>
            <a:pPr algn="ctr"/>
            <a:r>
              <a:rPr sz="1100" b="0">
                <a:solidFill>
                  <a:srgbClr val="595959"/>
                </a:solidFill>
              </a:rPr>
              <a:t>20</a:t>
            </a:r>
          </a:p>
        </p:txBody>
      </p:sp>
      <p:sp>
        <p:nvSpPr>
          <p:cNvPr id="13" name="TextBox 12"/>
          <p:cNvSpPr txBox="1"/>
          <p:nvPr/>
        </p:nvSpPr>
        <p:spPr>
          <a:xfrm>
            <a:off x="6035040" y="1371600"/>
            <a:ext cx="457200" cy="274320"/>
          </a:xfrm>
          <a:prstGeom prst="rect">
            <a:avLst/>
          </a:prstGeom>
          <a:noFill/>
        </p:spPr>
        <p:txBody>
          <a:bodyPr wrap="square" lIns="0" tIns="0" rIns="0" bIns="0">
            <a:spAutoFit/>
          </a:bodyPr>
          <a:lstStyle/>
          <a:p>
            <a:pPr algn="ctr"/>
            <a:r>
              <a:rPr sz="1100" b="0">
                <a:solidFill>
                  <a:srgbClr val="595959"/>
                </a:solidFill>
              </a:rPr>
              <a:t>25</a:t>
            </a:r>
          </a:p>
        </p:txBody>
      </p:sp>
      <p:sp>
        <p:nvSpPr>
          <p:cNvPr id="14" name="TextBox 13"/>
          <p:cNvSpPr txBox="1"/>
          <p:nvPr/>
        </p:nvSpPr>
        <p:spPr>
          <a:xfrm>
            <a:off x="6903720" y="1371600"/>
            <a:ext cx="457200" cy="274320"/>
          </a:xfrm>
          <a:prstGeom prst="rect">
            <a:avLst/>
          </a:prstGeom>
          <a:noFill/>
        </p:spPr>
        <p:txBody>
          <a:bodyPr wrap="square" lIns="0" tIns="0" rIns="0" bIns="0">
            <a:spAutoFit/>
          </a:bodyPr>
          <a:lstStyle/>
          <a:p>
            <a:pPr algn="ctr"/>
            <a:r>
              <a:rPr sz="1100" b="0">
                <a:solidFill>
                  <a:srgbClr val="595959"/>
                </a:solidFill>
              </a:rPr>
              <a:t>30</a:t>
            </a:r>
          </a:p>
        </p:txBody>
      </p:sp>
      <p:sp>
        <p:nvSpPr>
          <p:cNvPr id="15" name="TextBox 14"/>
          <p:cNvSpPr txBox="1"/>
          <p:nvPr/>
        </p:nvSpPr>
        <p:spPr>
          <a:xfrm>
            <a:off x="7772400" y="1371600"/>
            <a:ext cx="457200" cy="274320"/>
          </a:xfrm>
          <a:prstGeom prst="rect">
            <a:avLst/>
          </a:prstGeom>
          <a:noFill/>
        </p:spPr>
        <p:txBody>
          <a:bodyPr wrap="square" lIns="0" tIns="0" rIns="0" bIns="0">
            <a:spAutoFit/>
          </a:bodyPr>
          <a:lstStyle/>
          <a:p>
            <a:pPr algn="ctr"/>
            <a:r>
              <a:rPr sz="1100" b="0">
                <a:solidFill>
                  <a:srgbClr val="595959"/>
                </a:solidFill>
              </a:rPr>
              <a:t>35</a:t>
            </a:r>
          </a:p>
        </p:txBody>
      </p:sp>
      <p:sp>
        <p:nvSpPr>
          <p:cNvPr id="16" name="TextBox 15"/>
          <p:cNvSpPr txBox="1"/>
          <p:nvPr/>
        </p:nvSpPr>
        <p:spPr>
          <a:xfrm>
            <a:off x="8641080" y="1371600"/>
            <a:ext cx="457200" cy="274320"/>
          </a:xfrm>
          <a:prstGeom prst="rect">
            <a:avLst/>
          </a:prstGeom>
          <a:noFill/>
        </p:spPr>
        <p:txBody>
          <a:bodyPr wrap="square" lIns="0" tIns="0" rIns="0" bIns="0">
            <a:spAutoFit/>
          </a:bodyPr>
          <a:lstStyle/>
          <a:p>
            <a:pPr algn="ctr"/>
            <a:r>
              <a:rPr sz="1100" b="0">
                <a:solidFill>
                  <a:srgbClr val="595959"/>
                </a:solidFill>
              </a:rPr>
              <a:t>40</a:t>
            </a:r>
          </a:p>
        </p:txBody>
      </p:sp>
      <p:sp>
        <p:nvSpPr>
          <p:cNvPr id="17" name="TextBox 16"/>
          <p:cNvSpPr txBox="1"/>
          <p:nvPr/>
        </p:nvSpPr>
        <p:spPr>
          <a:xfrm>
            <a:off x="9509760" y="1371600"/>
            <a:ext cx="457200" cy="274320"/>
          </a:xfrm>
          <a:prstGeom prst="rect">
            <a:avLst/>
          </a:prstGeom>
          <a:noFill/>
        </p:spPr>
        <p:txBody>
          <a:bodyPr wrap="square" lIns="0" tIns="0" rIns="0" bIns="0">
            <a:spAutoFit/>
          </a:bodyPr>
          <a:lstStyle/>
          <a:p>
            <a:pPr algn="ctr"/>
            <a:r>
              <a:rPr sz="1100" b="0">
                <a:solidFill>
                  <a:srgbClr val="595959"/>
                </a:solidFill>
              </a:rPr>
              <a:t>45</a:t>
            </a:r>
          </a:p>
        </p:txBody>
      </p:sp>
      <p:sp>
        <p:nvSpPr>
          <p:cNvPr id="18" name="TextBox 17"/>
          <p:cNvSpPr txBox="1"/>
          <p:nvPr/>
        </p:nvSpPr>
        <p:spPr>
          <a:xfrm>
            <a:off x="10378440" y="1371600"/>
            <a:ext cx="457200" cy="274320"/>
          </a:xfrm>
          <a:prstGeom prst="rect">
            <a:avLst/>
          </a:prstGeom>
          <a:noFill/>
        </p:spPr>
        <p:txBody>
          <a:bodyPr wrap="square" lIns="0" tIns="0" rIns="0" bIns="0">
            <a:spAutoFit/>
          </a:bodyPr>
          <a:lstStyle/>
          <a:p>
            <a:pPr algn="ctr"/>
            <a:r>
              <a:rPr sz="1100" b="0">
                <a:solidFill>
                  <a:srgbClr val="595959"/>
                </a:solidFill>
              </a:rPr>
              <a:t>50</a:t>
            </a:r>
          </a:p>
        </p:txBody>
      </p:sp>
      <p:sp>
        <p:nvSpPr>
          <p:cNvPr id="19" name="TextBox 18"/>
          <p:cNvSpPr txBox="1"/>
          <p:nvPr/>
        </p:nvSpPr>
        <p:spPr>
          <a:xfrm>
            <a:off x="11247119" y="1371600"/>
            <a:ext cx="457200" cy="274320"/>
          </a:xfrm>
          <a:prstGeom prst="rect">
            <a:avLst/>
          </a:prstGeom>
          <a:noFill/>
        </p:spPr>
        <p:txBody>
          <a:bodyPr wrap="square" lIns="0" tIns="0" rIns="0" bIns="0">
            <a:spAutoFit/>
          </a:bodyPr>
          <a:lstStyle/>
          <a:p>
            <a:pPr algn="ctr"/>
            <a:r>
              <a:rPr sz="1100" b="0">
                <a:solidFill>
                  <a:srgbClr val="595959"/>
                </a:solidFill>
              </a:rPr>
              <a:t>55</a:t>
            </a:r>
          </a:p>
        </p:txBody>
      </p:sp>
      <p:cxnSp>
        <p:nvCxnSpPr>
          <p:cNvPr id="20" name="Connector 19"/>
          <p:cNvCxnSpPr/>
          <p:nvPr/>
        </p:nvCxnSpPr>
        <p:spPr>
          <a:xfrm>
            <a:off x="1920240" y="1691640"/>
            <a:ext cx="9555479" cy="0"/>
          </a:xfrm>
          <a:prstGeom prst="line">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103120"/>
            <a:ext cx="1371600" cy="457200"/>
          </a:xfrm>
          <a:prstGeom prst="rect">
            <a:avLst/>
          </a:prstGeom>
          <a:noFill/>
        </p:spPr>
        <p:txBody>
          <a:bodyPr wrap="square" lIns="0" tIns="0" rIns="0" bIns="0">
            <a:spAutoFit/>
          </a:bodyPr>
          <a:lstStyle/>
          <a:p>
            <a:r>
              <a:rPr sz="1800" b="1">
                <a:solidFill>
                  <a:srgbClr val="0B76A0"/>
                </a:solidFill>
              </a:rPr>
              <a:t>콩</a:t>
            </a:r>
          </a:p>
        </p:txBody>
      </p:sp>
      <p:sp>
        <p:nvSpPr>
          <p:cNvPr id="22" name="Rounded Rectangle 21"/>
          <p:cNvSpPr/>
          <p:nvPr/>
        </p:nvSpPr>
        <p:spPr>
          <a:xfrm>
            <a:off x="1920240" y="201168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23" name="Rounded Rectangle 22"/>
          <p:cNvSpPr/>
          <p:nvPr/>
        </p:nvSpPr>
        <p:spPr>
          <a:xfrm>
            <a:off x="2441448" y="2011680"/>
            <a:ext cx="9034272"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100" b="1">
                <a:solidFill>
                  <a:srgbClr val="FFFFFF"/>
                </a:solidFill>
              </a:rPr>
              <a:t>건조·복합 50% 관수</a:t>
            </a:r>
          </a:p>
        </p:txBody>
      </p:sp>
      <p:sp>
        <p:nvSpPr>
          <p:cNvPr id="39" name="TextBox 38"/>
          <p:cNvSpPr txBox="1"/>
          <p:nvPr/>
        </p:nvSpPr>
        <p:spPr>
          <a:xfrm>
            <a:off x="457200" y="2926080"/>
            <a:ext cx="1371600" cy="457200"/>
          </a:xfrm>
          <a:prstGeom prst="rect">
            <a:avLst/>
          </a:prstGeom>
          <a:noFill/>
        </p:spPr>
        <p:txBody>
          <a:bodyPr wrap="square" lIns="0" tIns="0" rIns="0" bIns="0">
            <a:spAutoFit/>
          </a:bodyPr>
          <a:lstStyle/>
          <a:p>
            <a:r>
              <a:rPr sz="1800" b="1">
                <a:solidFill>
                  <a:srgbClr val="2E7D32"/>
                </a:solidFill>
              </a:rPr>
              <a:t>로메인</a:t>
            </a:r>
          </a:p>
        </p:txBody>
      </p:sp>
      <p:sp>
        <p:nvSpPr>
          <p:cNvPr id="40" name="Rounded Rectangle 39"/>
          <p:cNvSpPr/>
          <p:nvPr/>
        </p:nvSpPr>
        <p:spPr>
          <a:xfrm>
            <a:off x="1920240" y="283464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42" name="Rounded Rectangle 41"/>
          <p:cNvSpPr/>
          <p:nvPr/>
        </p:nvSpPr>
        <p:spPr>
          <a:xfrm>
            <a:off x="2441447" y="2834640"/>
            <a:ext cx="2258569"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건조</a:t>
            </a:r>
            <a:r>
              <a:rPr lang="en-US" altLang="ko-KR" sz="1100" b="1" dirty="0">
                <a:solidFill>
                  <a:srgbClr val="FFFFFF"/>
                </a:solidFill>
              </a:rPr>
              <a:t>·</a:t>
            </a:r>
            <a:r>
              <a:rPr lang="ko-KR" altLang="en-US" sz="1100" b="1" dirty="0">
                <a:solidFill>
                  <a:srgbClr val="FFFFFF"/>
                </a:solidFill>
              </a:rPr>
              <a:t>복합 </a:t>
            </a:r>
            <a:r>
              <a:rPr lang="en-US" altLang="ko-KR" sz="1100" b="1" dirty="0">
                <a:solidFill>
                  <a:srgbClr val="FFFFFF"/>
                </a:solidFill>
              </a:rPr>
              <a:t>50% </a:t>
            </a:r>
            <a:r>
              <a:rPr lang="ko-KR" altLang="en-US" sz="1100" b="1" dirty="0">
                <a:solidFill>
                  <a:srgbClr val="FFFFFF"/>
                </a:solidFill>
              </a:rPr>
              <a:t>관수</a:t>
            </a:r>
          </a:p>
        </p:txBody>
      </p:sp>
      <p:sp>
        <p:nvSpPr>
          <p:cNvPr id="58" name="Conclusion Box"/>
          <p:cNvSpPr/>
          <p:nvPr/>
        </p:nvSpPr>
        <p:spPr>
          <a:xfrm>
            <a:off x="841248" y="5532120"/>
            <a:ext cx="10570464" cy="502920"/>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P1 : 침수 시작 ~ 종료 후 7일 (초기 반응·회복 시작)  ·  P2 : 이후 (회복 후기·건조 영향)</a:t>
            </a:r>
          </a:p>
        </p:txBody>
      </p:sp>
      <p:sp>
        <p:nvSpPr>
          <p:cNvPr id="59" name="Footnote"/>
          <p:cNvSpPr txBox="1"/>
          <p:nvPr/>
        </p:nvSpPr>
        <p:spPr>
          <a:xfrm>
            <a:off x="457200" y="6473952"/>
            <a:ext cx="8138160" cy="310896"/>
          </a:xfrm>
          <a:prstGeom prst="rect">
            <a:avLst/>
          </a:prstGeom>
          <a:noFill/>
        </p:spPr>
        <p:txBody>
          <a:bodyPr wrap="square" lIns="45720" tIns="0" rIns="45720" bIns="0" anchor="t">
            <a:spAutoFit/>
          </a:bodyPr>
          <a:lstStyle/>
          <a:p>
            <a:r>
              <a:rPr sz="1000" b="0" dirty="0">
                <a:solidFill>
                  <a:srgbClr val="595959"/>
                </a:solidFill>
              </a:rPr>
              <a:t>콩 침수 8/12 오전~8/15 오전, 50% 관수는 8/15부터. 로메인 침수 10/7~10/10 오전, 50% 관수 10/12부터. 침수 시작일을 DAT 0으로 맞추어 두 작물을 정렬. P1 = DAT 1~10 (침수 종료 후 7일) / P2 = 이후 (두 작물 모두 침수 종료는 DAT 3).</a:t>
            </a:r>
          </a:p>
        </p:txBody>
      </p:sp>
      <p:sp>
        <p:nvSpPr>
          <p:cNvPr id="6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62"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65" name="Rounded Rectangle 64"/>
          <p:cNvSpPr/>
          <p:nvPr/>
        </p:nvSpPr>
        <p:spPr>
          <a:xfrm>
            <a:off x="1920240" y="2505456"/>
            <a:ext cx="1824228"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6" name="Rounded Rectangle 65"/>
          <p:cNvSpPr/>
          <p:nvPr/>
        </p:nvSpPr>
        <p:spPr>
          <a:xfrm>
            <a:off x="3744468" y="2505456"/>
            <a:ext cx="7731252"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7" name="Rounded Rectangle 66"/>
          <p:cNvSpPr/>
          <p:nvPr/>
        </p:nvSpPr>
        <p:spPr>
          <a:xfrm>
            <a:off x="1920240" y="3328416"/>
            <a:ext cx="1824228"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8" name="Rounded Rectangle 67"/>
          <p:cNvSpPr/>
          <p:nvPr/>
        </p:nvSpPr>
        <p:spPr>
          <a:xfrm>
            <a:off x="3744468" y="3328416"/>
            <a:ext cx="955547"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9" name="Rounded Rectangle 68"/>
          <p:cNvSpPr/>
          <p:nvPr/>
        </p:nvSpPr>
        <p:spPr>
          <a:xfrm>
            <a:off x="1920240" y="3703320"/>
            <a:ext cx="4480560" cy="365760"/>
          </a:xfrm>
          <a:prstGeom prst="round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콩</a:t>
            </a:r>
          </a:p>
        </p:txBody>
      </p:sp>
      <p:sp>
        <p:nvSpPr>
          <p:cNvPr id="70" name="Rounded Rectangle 69"/>
          <p:cNvSpPr/>
          <p:nvPr/>
        </p:nvSpPr>
        <p:spPr>
          <a:xfrm>
            <a:off x="6537960" y="3703320"/>
            <a:ext cx="4937760" cy="365760"/>
          </a:xfrm>
          <a:prstGeom prst="roundRect">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로메인 상추</a:t>
            </a:r>
          </a:p>
        </p:txBody>
      </p:sp>
      <p:sp>
        <p:nvSpPr>
          <p:cNvPr id="71" name="Rounded Rectangle 70"/>
          <p:cNvSpPr/>
          <p:nvPr/>
        </p:nvSpPr>
        <p:spPr>
          <a:xfrm>
            <a:off x="457200" y="41148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LI-600</a:t>
            </a:r>
          </a:p>
        </p:txBody>
      </p:sp>
      <p:sp>
        <p:nvSpPr>
          <p:cNvPr id="72" name="Rounded Rectangle 71"/>
          <p:cNvSpPr/>
          <p:nvPr/>
        </p:nvSpPr>
        <p:spPr>
          <a:xfrm>
            <a:off x="1920240" y="41148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1~9)  /  P2 : 1~2주 간격</a:t>
            </a:r>
          </a:p>
        </p:txBody>
      </p:sp>
      <p:sp>
        <p:nvSpPr>
          <p:cNvPr id="73" name="Rounded Rectangle 72"/>
          <p:cNvSpPr/>
          <p:nvPr/>
        </p:nvSpPr>
        <p:spPr>
          <a:xfrm>
            <a:off x="6537960" y="41148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1~10)  /  P2 : 이틀 간격</a:t>
            </a:r>
          </a:p>
        </p:txBody>
      </p:sp>
      <p:sp>
        <p:nvSpPr>
          <p:cNvPr id="74" name="Rounded Rectangle 73"/>
          <p:cNvSpPr/>
          <p:nvPr/>
        </p:nvSpPr>
        <p:spPr>
          <a:xfrm>
            <a:off x="457200" y="45720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LI-6800</a:t>
            </a:r>
          </a:p>
        </p:txBody>
      </p:sp>
      <p:sp>
        <p:nvSpPr>
          <p:cNvPr id="75" name="Rounded Rectangle 74"/>
          <p:cNvSpPr/>
          <p:nvPr/>
        </p:nvSpPr>
        <p:spPr>
          <a:xfrm>
            <a:off x="1920240" y="45720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P2 : 9월 중순  /  (9/2~9/17, DAT 21~36)</a:t>
            </a:r>
          </a:p>
        </p:txBody>
      </p:sp>
      <p:sp>
        <p:nvSpPr>
          <p:cNvPr id="76" name="Rounded Rectangle 75"/>
          <p:cNvSpPr/>
          <p:nvPr/>
        </p:nvSpPr>
        <p:spPr>
          <a:xfrm>
            <a:off x="6537960" y="45720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P1~P2 : 10월 중순  /  (10/16~10/19, DAT 9~12)</a:t>
            </a:r>
          </a:p>
        </p:txBody>
      </p:sp>
      <p:sp>
        <p:nvSpPr>
          <p:cNvPr id="77" name="Rounded Rectangle 76"/>
          <p:cNvSpPr/>
          <p:nvPr/>
        </p:nvSpPr>
        <p:spPr>
          <a:xfrm>
            <a:off x="457200" y="50292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생육 조사</a:t>
            </a:r>
          </a:p>
        </p:txBody>
      </p:sp>
      <p:sp>
        <p:nvSpPr>
          <p:cNvPr id="78" name="Rounded Rectangle 77"/>
          <p:cNvSpPr/>
          <p:nvPr/>
        </p:nvSpPr>
        <p:spPr>
          <a:xfrm>
            <a:off x="1920240" y="50292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9/1 (DAT 20), 10/6 (DAT 55)</a:t>
            </a:r>
          </a:p>
        </p:txBody>
      </p:sp>
      <p:sp>
        <p:nvSpPr>
          <p:cNvPr id="79" name="Rounded Rectangle 78"/>
          <p:cNvSpPr/>
          <p:nvPr/>
        </p:nvSpPr>
        <p:spPr>
          <a:xfrm>
            <a:off x="6537960" y="50292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10/23 (DAT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측정 항목: 제한 단계별 지표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통계: 침수 × 관수 이원 ANOVA·Tukey (형광 지표는 PAR·기온 공변량 보정 평균)</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P1 = 침수 시작~종료 후 7일(DAT 1~10), P2 = 이후. 형광 지표(Φ</a:t>
            </a:r>
            <a:r>
              <a:rPr sz="1000" baseline="-25000">
                <a:solidFill>
                  <a:srgbClr val="595959"/>
                </a:solidFill>
              </a:rPr>
              <a:t>PSII</a:t>
            </a:r>
            <a:r>
              <a:rPr sz="1000">
                <a:solidFill>
                  <a:srgbClr val="595959"/>
                </a:solidFill>
              </a:rPr>
              <a:t>, F</a:t>
            </a:r>
            <a:r>
              <a:rPr sz="1000" baseline="-25000">
                <a:solidFill>
                  <a:srgbClr val="595959"/>
                </a:solidFill>
              </a:rPr>
              <a:t>s</a:t>
            </a:r>
            <a:r>
              <a:rPr sz="1000">
                <a:solidFill>
                  <a:srgbClr val="595959"/>
                </a:solidFill>
              </a:rPr>
              <a:t>, ETR) = PAR·기온 공변량 보정 평균, 혼합모형(처리 고정, 측정일 임의효과; Ali et al., 2025; Gao et al., 2024), g</a:t>
            </a:r>
            <a:r>
              <a:rPr sz="1000" baseline="-25000">
                <a:solidFill>
                  <a:srgbClr val="595959"/>
                </a:solidFill>
              </a:rPr>
              <a:t>sw</a:t>
            </a:r>
            <a:r>
              <a:rPr sz="1000">
                <a:solidFill>
                  <a:srgbClr val="595959"/>
                </a:solidFill>
              </a:rPr>
              <a:t> = 온도 보정 gsw (Rizzo &amp; Bailey, 2026; PAR·기온 공변량 보정 없음). 생육은 전 개체 사용.</a:t>
            </a:r>
          </a:p>
        </p:txBody>
      </p:sp>
      <p:sp>
        <p:nvSpPr>
          <p:cNvPr id="27" name="Row bg"/>
          <p:cNvSpPr/>
          <p:nvPr/>
        </p:nvSpPr>
        <p:spPr>
          <a:xfrm>
            <a:off x="841248" y="1371600"/>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28" name="Row chip"/>
          <p:cNvSpPr/>
          <p:nvPr/>
        </p:nvSpPr>
        <p:spPr>
          <a:xfrm>
            <a:off x="841248" y="1371600"/>
            <a:ext cx="2148840" cy="713232"/>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p:txBody>
      </p:sp>
      <p:sp>
        <p:nvSpPr>
          <p:cNvPr id="29" name="Row ind"/>
          <p:cNvSpPr txBox="1"/>
          <p:nvPr/>
        </p:nvSpPr>
        <p:spPr>
          <a:xfrm>
            <a:off x="3200400" y="1371600"/>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g</a:t>
            </a:r>
            <a:r>
              <a:rPr lang="ko-KR" altLang="en-US" sz="1400" b="1" dirty="0" baseline="-25000">
                <a:solidFill>
                  <a:srgbClr val="000000"/>
                </a:solidFill>
              </a:rPr>
              <a:t>sw</a:t>
            </a:r>
          </a:p>
        </p:txBody>
      </p:sp>
      <p:sp>
        <p:nvSpPr>
          <p:cNvPr id="30" name="Row method"/>
          <p:cNvSpPr txBox="1"/>
          <p:nvPr/>
        </p:nvSpPr>
        <p:spPr>
          <a:xfrm>
            <a:off x="6858000" y="1371600"/>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포로미터, 처리 개시 후 반복 측정, 보정 gsw (Rizzo &amp; Bailey, 2026)</a:t>
            </a:r>
          </a:p>
        </p:txBody>
      </p:sp>
      <p:sp>
        <p:nvSpPr>
          <p:cNvPr id="31" name="Row bg"/>
          <p:cNvSpPr/>
          <p:nvPr/>
        </p:nvSpPr>
        <p:spPr>
          <a:xfrm>
            <a:off x="841248" y="2359152"/>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32" name="Row chip"/>
          <p:cNvSpPr/>
          <p:nvPr/>
        </p:nvSpPr>
        <p:spPr>
          <a:xfrm>
            <a:off x="841248" y="2359152"/>
            <a:ext cx="2148840" cy="713232"/>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p:txBody>
      </p:sp>
      <p:sp>
        <p:nvSpPr>
          <p:cNvPr id="33" name="Row ind"/>
          <p:cNvSpPr txBox="1"/>
          <p:nvPr/>
        </p:nvSpPr>
        <p:spPr>
          <a:xfrm>
            <a:off x="3200400" y="2359152"/>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Φ</a:t>
            </a:r>
            <a:r>
              <a:rPr lang="ko-KR" altLang="en-US" sz="1400" b="1" dirty="0" baseline="-25000">
                <a:solidFill>
                  <a:srgbClr val="000000"/>
                </a:solidFill>
              </a:rPr>
              <a:t>PSII</a:t>
            </a:r>
            <a:r>
              <a:rPr lang="ko-KR" altLang="en-US" sz="1400" b="1" dirty="0">
                <a:solidFill>
                  <a:srgbClr val="000000"/>
                </a:solidFill>
              </a:rPr>
              <a:t>, F</a:t>
            </a:r>
            <a:r>
              <a:rPr lang="ko-KR" altLang="en-US" sz="1400" b="1" dirty="0" baseline="-25000">
                <a:solidFill>
                  <a:srgbClr val="000000"/>
                </a:solidFill>
              </a:rPr>
              <a:t>s</a:t>
            </a:r>
            <a:r>
              <a:rPr lang="ko-KR" altLang="en-US" sz="1400" b="1" dirty="0">
                <a:solidFill>
                  <a:srgbClr val="000000"/>
                </a:solidFill>
              </a:rPr>
              <a:t>, ETR</a:t>
            </a:r>
          </a:p>
        </p:txBody>
      </p:sp>
      <p:sp>
        <p:nvSpPr>
          <p:cNvPr id="34" name="Row method"/>
          <p:cNvSpPr txBox="1"/>
          <p:nvPr/>
        </p:nvSpPr>
        <p:spPr>
          <a:xfrm>
            <a:off x="6858000" y="2359152"/>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명적응 형광, PAR·기온 보정 (Ali et al., 2025; Gao et al., 2024)</a:t>
            </a:r>
          </a:p>
        </p:txBody>
      </p:sp>
      <p:sp>
        <p:nvSpPr>
          <p:cNvPr id="39" name="Row bg"/>
          <p:cNvSpPr/>
          <p:nvPr/>
        </p:nvSpPr>
        <p:spPr>
          <a:xfrm>
            <a:off x="841248" y="3346704"/>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0" name="Row chip"/>
          <p:cNvSpPr/>
          <p:nvPr/>
        </p:nvSpPr>
        <p:spPr>
          <a:xfrm>
            <a:off x="841248" y="3346704"/>
            <a:ext cx="2148840" cy="713232"/>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광합성 능력</a:t>
            </a:r>
          </a:p>
        </p:txBody>
      </p:sp>
      <p:sp>
        <p:nvSpPr>
          <p:cNvPr id="41" name="Row ind"/>
          <p:cNvSpPr txBox="1"/>
          <p:nvPr/>
        </p:nvSpPr>
        <p:spPr>
          <a:xfrm>
            <a:off x="3200400" y="3346704"/>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V</a:t>
            </a:r>
            <a:r>
              <a:rPr lang="ko-KR" altLang="en-US" sz="1400" b="1" dirty="0" baseline="-25000">
                <a:solidFill>
                  <a:srgbClr val="000000"/>
                </a:solidFill>
              </a:rPr>
              <a:t>cmax</a:t>
            </a:r>
            <a:r>
              <a:rPr lang="ko-KR" altLang="en-US" sz="1400" b="1" dirty="0">
                <a:solidFill>
                  <a:srgbClr val="000000"/>
                </a:solidFill>
              </a:rPr>
              <a:t>, J</a:t>
            </a:r>
            <a:r>
              <a:rPr lang="ko-KR" altLang="en-US" sz="1400" b="1" dirty="0" baseline="-25000">
                <a:solidFill>
                  <a:srgbClr val="000000"/>
                </a:solidFill>
              </a:rPr>
              <a:t>max</a:t>
            </a:r>
            <a:r>
              <a:rPr lang="ko-KR" altLang="en-US" sz="1400" b="1" dirty="0">
                <a:solidFill>
                  <a:srgbClr val="000000"/>
                </a:solidFill>
              </a:rPr>
              <a:t>, R</a:t>
            </a:r>
            <a:r>
              <a:rPr lang="ko-KR" altLang="en-US" sz="1400" b="1" dirty="0" baseline="-25000">
                <a:solidFill>
                  <a:srgbClr val="000000"/>
                </a:solidFill>
              </a:rPr>
              <a:t>d</a:t>
            </a:r>
            <a:r>
              <a:rPr lang="ko-KR" altLang="en-US" sz="1400" b="1" dirty="0">
                <a:solidFill>
                  <a:srgbClr val="000000"/>
                </a:solidFill>
              </a:rPr>
              <a:t>, A</a:t>
            </a:r>
            <a:r>
              <a:rPr lang="ko-KR" altLang="en-US" sz="1400" b="1" dirty="0" baseline="-25000">
                <a:solidFill>
                  <a:srgbClr val="000000"/>
                </a:solidFill>
              </a:rPr>
              <a:t>max</a:t>
            </a:r>
            <a:r>
              <a:rPr lang="ko-KR" altLang="en-US" sz="1400" b="1" dirty="0">
                <a:solidFill>
                  <a:srgbClr val="000000"/>
                </a:solidFill>
              </a:rPr>
              <a:t>, α</a:t>
            </a:r>
          </a:p>
        </p:txBody>
      </p:sp>
      <p:sp>
        <p:nvSpPr>
          <p:cNvPr id="42" name="Row method"/>
          <p:cNvSpPr txBox="1"/>
          <p:nvPr/>
        </p:nvSpPr>
        <p:spPr>
          <a:xfrm>
            <a:off x="6858000" y="3346704"/>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LI-6800 A-Ci (FvCB), 광-광합성 곡선 (NRH 모형)</a:t>
            </a:r>
          </a:p>
        </p:txBody>
      </p:sp>
      <p:sp>
        <p:nvSpPr>
          <p:cNvPr id="43" name="Row bg"/>
          <p:cNvSpPr/>
          <p:nvPr/>
        </p:nvSpPr>
        <p:spPr>
          <a:xfrm>
            <a:off x="841248" y="4334256"/>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4" name="Row chip"/>
          <p:cNvSpPr/>
          <p:nvPr/>
        </p:nvSpPr>
        <p:spPr>
          <a:xfrm>
            <a:off x="841248" y="4334256"/>
            <a:ext cx="2148840" cy="713232"/>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p:txBody>
      </p:sp>
      <p:sp>
        <p:nvSpPr>
          <p:cNvPr id="45" name="Row ind"/>
          <p:cNvSpPr txBox="1"/>
          <p:nvPr/>
        </p:nvSpPr>
        <p:spPr>
          <a:xfrm>
            <a:off x="3200400" y="4334256"/>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종실 생체중·건조중, 지상부 건물중</a:t>
            </a:r>
          </a:p>
        </p:txBody>
      </p:sp>
      <p:sp>
        <p:nvSpPr>
          <p:cNvPr id="46" name="Row method"/>
          <p:cNvSpPr txBox="1"/>
          <p:nvPr/>
        </p:nvSpPr>
        <p:spPr>
          <a:xfrm>
            <a:off x="6858000" y="4334256"/>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파괴 조사 (로메인 DAT 16, 콩 DAT 20·55)</a:t>
            </a:r>
          </a:p>
        </p:txBody>
      </p:sp>
      <p:sp>
        <p:nvSpPr>
          <p:cNvPr id="7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7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8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8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8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500"/>
                                        <p:tgtEl>
                                          <p:spTgt spid="4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로드셀·포트 무게 : 누적 관수량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감수 관수는 실현됨 — 로메인 침수구는 과습으로 관수가 적었고 콩은 뿌리 이탈 가능성</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누적 관수량 = 일별 관수량의 합. 콩: 로드셀 관수량(mm) × 38.01 g/mm, 8/16~10/6(DAT 4~55). 로메인: 대조구는 로드셀 평균 관수량, 그 외는 관수량 시트의 포트 평균, 10/12~10/22(DAT 5~15).</a:t>
            </a:r>
          </a:p>
        </p:txBody>
      </p:sp>
      <p:pic>
        <p:nvPicPr>
          <p:cNvPr id="27" name="Picture 26" descr="image.png"/>
          <p:cNvPicPr>
            <a:picLocks noChangeAspect="1"/>
          </p:cNvPicPr>
          <p:nvPr/>
        </p:nvPicPr>
        <p:blipFill>
          <a:blip r:embed="rId5"/>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43% · 40%</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건조구 누적 관수량 (로메인 · 콩, 대조구 대비)</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56% · 87%</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침수구 누적 관수량 (로메인 · 콩, 대조구 대비)</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건조·복합구는 설계대로 관수가 줄었고, 침수구는 과습으로 대조구보다 관수가 적었음</a:t>
            </a:r>
          </a:p>
          <a:p>
            <a:pPr marL="201168" indent="-201168" algn="l">
              <a:spcBef>
                <a:spcPts val="1000"/>
              </a:spcBef>
              <a:buFont typeface="Arial"/>
              <a:buChar char="•"/>
            </a:pPr>
            <a:r>
              <a:rPr lang="ko-KR" altLang="en-US" sz="1400" dirty="0">
                <a:solidFill>
                  <a:srgbClr val="000000"/>
                </a:solidFill>
              </a:rPr>
              <a:t>콩:  건조·복합구는 설계대로 관수가 줄었고, 침수구는 대조구보다 약간 적었음</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(g</a:t>
            </a:r>
            <a:r>
              <a:rPr lang="ko-KR" altLang="en-US" sz="2800" dirty="0" baseline="-25000"/>
              <a:t>sw</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8</a:t>
            </a:fld>
            <a:endParaRPr lang="ko-KR" altLang="en-US"/>
          </a:p>
        </p:txBody>
      </p:sp>
      <p:pic>
        <p:nvPicPr>
          <p:cNvPr id="14" name="Picture 13" descr="image.png"/>
          <p:cNvPicPr>
            <a:picLocks noChangeAspect="1"/>
          </p:cNvPicPr>
          <p:nvPr/>
        </p:nvPicPr>
        <p:blipFill>
          <a:blip r:embed="rId5"/>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914231821"/>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0.363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0.347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0.264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0.155 ab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0.224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0.248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0.113 b</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0.273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0.353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0.254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0.162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0.233 b</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0.237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0.145 ab</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 P1:</a:t>
            </a:r>
            <a:r>
              <a:rPr sz="1400">
                <a:solidFill>
                  <a:srgbClr val="000000"/>
                </a:solidFill>
              </a:rPr>
              <a:t> 침수구가 대조구보다 낮았음</a:t>
            </a:r>
          </a:p>
          <a:p>
            <a:pPr marL="201168" indent="-201168">
              <a:spcBef>
                <a:spcPts val="0"/>
              </a:spcBef>
              <a:buFont typeface="Arial"/>
              <a:buChar char="•"/>
            </a:pPr>
            <a:r>
              <a:rPr sz="1400" b="1">
                <a:solidFill>
                  <a:srgbClr val="000000"/>
                </a:solidFill>
              </a:rPr>
              <a:t>콩 P2:</a:t>
            </a:r>
            <a:r>
              <a:rPr sz="1400">
                <a:solidFill>
                  <a:srgbClr val="000000"/>
                </a:solidFill>
              </a:rPr>
              <a:t> 건조·복합구가 대조구·침수구보다 낮았음</a:t>
            </a:r>
          </a:p>
          <a:p>
            <a:pPr marL="201168" indent="-201168">
              <a:spcBef>
                <a:spcPts val="0"/>
              </a:spcBef>
              <a:buFont typeface="Arial"/>
              <a:buChar char="•"/>
            </a:pPr>
            <a:r>
              <a:rPr sz="1400" b="1">
                <a:solidFill>
                  <a:srgbClr val="000000"/>
                </a:solidFill>
              </a:rPr>
              <a:t>로메인 P1:</a:t>
            </a:r>
            <a:r>
              <a:rPr sz="1400">
                <a:solidFill>
                  <a:srgbClr val="000000"/>
                </a:solidFill>
              </a:rPr>
              <a:t> 침수 중 크게 감소했다가 배수 후 대조구 수준으로 회복</a:t>
            </a:r>
          </a:p>
          <a:p>
            <a:pPr marL="201168" indent="-201168">
              <a:spcBef>
                <a:spcPts val="0"/>
              </a:spcBef>
              <a:buFont typeface="Arial"/>
              <a:buChar char="•"/>
            </a:pPr>
            <a:r>
              <a:rPr sz="1400">
                <a:solidFill>
                  <a:srgbClr val="000000"/>
                </a:solidFill>
              </a:rPr>
              <a:t>로메인 P2:  건조구가 침수구보다 낮았음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기공은 두 작물 모두 침수에 즉시 반응 — </a:t>
            </a:r>
            <a:r>
              <a:rPr sz="1600" b="1">
                <a:solidFill>
                  <a:srgbClr val="E97132"/>
                </a:solidFill>
              </a:rPr>
              <a:t>차이는 회복 속도에서 나타남</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PAR·기온 보정 이전 원자료(온도 보정 gsw, Rizzo &amp; Bailey 2026) 평균, Tukey 문자(처리 + 측정일 모형). 그림: 음영 ± SE, 회색 띠 흐린 날, 빗금 침수 기간, * 당일 P&lt;0.05(Holm).</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회복 (g</a:t>
            </a:r>
            <a:r>
              <a:rPr lang="ko-KR" altLang="en-US" sz="2800" dirty="0" baseline="-25000"/>
              <a:t>sw</a:t>
            </a:r>
            <a:r>
              <a:rPr lang="ko-KR" altLang="en-US" sz="2800" dirty="0"/>
              <a:t>, % of control)</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9</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같은 3일 침수에도 로메인은 배수 2~3일 만에 회복, 콩은 DAT 9까지 회복되지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각 처리 g</a:t>
            </a:r>
            <a:r>
              <a:rPr sz="1000" baseline="-25000">
                <a:solidFill>
                  <a:srgbClr val="595959"/>
                </a:solidFill>
              </a:rPr>
              <a:t>sw</a:t>
            </a:r>
            <a:r>
              <a:rPr sz="1000">
                <a:solidFill>
                  <a:srgbClr val="595959"/>
                </a:solidFill>
              </a:rPr>
              <a:t> ÷ 같은 날 대조구 g</a:t>
            </a:r>
            <a:r>
              <a:rPr sz="1000" baseline="-25000">
                <a:solidFill>
                  <a:srgbClr val="595959"/>
                </a:solidFill>
              </a:rPr>
              <a:t>sw</a:t>
            </a:r>
            <a:r>
              <a:rPr sz="1000">
                <a:solidFill>
                  <a:srgbClr val="595959"/>
                </a:solidFill>
              </a:rPr>
              <a:t> × 100 (PAR·기온 보정 이전 일평균). * 대조 vs 처리 P&lt;0.05(Welch t, Holm 보정). 건조·복합은 회색. 콩 DAT 10~16은 측정 없음, 콩 건조·복합은 DAT 17부터 측정.</a:t>
            </a:r>
          </a:p>
        </p:txBody>
      </p:sp>
      <p:pic>
        <p:nvPicPr>
          <p:cNvPr id="27" name="Picture 26" descr="image.png"/>
          <p:cNvPicPr>
            <a:picLocks noChangeAspect="1"/>
          </p:cNvPicPr>
          <p:nvPr/>
        </p:nvPicPr>
        <p:blipFill>
          <a:blip r:embed="rId5"/>
          <a:stretch>
            <a:fillRect/>
          </a:stretch>
        </p:blipFill>
        <p:spPr>
          <a:xfrm>
            <a:off x="457200" y="1261872"/>
            <a:ext cx="7040880" cy="3200399"/>
          </a:xfrm>
          <a:prstGeom prst="rect">
            <a:avLst/>
          </a:prstGeom>
        </p:spPr>
      </p:pic>
      <p:sp>
        <p:nvSpPr>
          <p:cNvPr id="28" name="Recovery text"/>
          <p:cNvSpPr txBox="1"/>
          <p:nvPr/>
        </p:nvSpPr>
        <p:spPr>
          <a:xfrm>
            <a:off x="841248" y="4553712"/>
            <a:ext cx="6492240" cy="109728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250" b="1" dirty="0">
                <a:solidFill>
                  <a:srgbClr val="000000"/>
                </a:solidFill>
              </a:rPr>
              <a:t>로메인:</a:t>
            </a:r>
            <a:r>
              <a:rPr lang="ko-KR" altLang="en-US" sz="1250" dirty="0">
                <a:solidFill>
                  <a:srgbClr val="000000"/>
                </a:solidFill>
              </a:rPr>
              <a:t> 침수 중 급감했으나 배수 직후 빠르게 대조구 수준으로 회복</a:t>
            </a:r>
          </a:p>
          <a:p>
            <a:pPr marL="201168" indent="-201168" algn="l">
              <a:spcBef>
                <a:spcPts val="600"/>
              </a:spcBef>
              <a:buFont typeface="Arial"/>
              <a:buChar char="•"/>
            </a:pPr>
            <a:r>
              <a:rPr lang="ko-KR" altLang="en-US" sz="1250" b="1" dirty="0">
                <a:solidFill>
                  <a:srgbClr val="000000"/>
                </a:solidFill>
              </a:rPr>
              <a:t>콩:</a:t>
            </a:r>
            <a:r>
              <a:rPr lang="ko-KR" altLang="en-US" sz="1250" dirty="0">
                <a:solidFill>
                  <a:srgbClr val="000000"/>
                </a:solidFill>
              </a:rPr>
              <a:t> 침수 종료 후에도 한동안 낮았고 이후 서서히 회복</a:t>
            </a:r>
          </a:p>
        </p:txBody>
      </p:sp>
      <p:sp>
        <p:nvSpPr>
          <p:cNvPr id="29" name="Stat box"/>
          <p:cNvSpPr/>
          <p:nvPr/>
        </p:nvSpPr>
        <p:spPr>
          <a:xfrm>
            <a:off x="7863840" y="1417320"/>
            <a:ext cx="3493008" cy="187452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30" name="Stat value"/>
          <p:cNvSpPr txBox="1"/>
          <p:nvPr/>
        </p:nvSpPr>
        <p:spPr>
          <a:xfrm>
            <a:off x="7909560" y="149047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400" dirty="0">
                <a:solidFill>
                  <a:srgbClr val="2E6B3F"/>
                </a:solidFill>
              </a:rPr>
              <a:t>2~3일</a:t>
            </a:r>
          </a:p>
        </p:txBody>
      </p:sp>
      <p:sp>
        <p:nvSpPr>
          <p:cNvPr id="31" name="Stat label"/>
          <p:cNvSpPr txBox="1"/>
          <p:nvPr/>
        </p:nvSpPr>
        <p:spPr>
          <a:xfrm>
            <a:off x="7936992" y="254203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로메인: 배수 후 대조구 수준까지 회복</a:t>
            </a:r>
          </a:p>
        </p:txBody>
      </p:sp>
      <p:sp>
        <p:nvSpPr>
          <p:cNvPr id="32" name="Stat box"/>
          <p:cNvSpPr/>
          <p:nvPr/>
        </p:nvSpPr>
        <p:spPr>
          <a:xfrm>
            <a:off x="7863840" y="3611880"/>
            <a:ext cx="3493008" cy="187452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3" name="Stat value"/>
          <p:cNvSpPr txBox="1"/>
          <p:nvPr/>
        </p:nvSpPr>
        <p:spPr>
          <a:xfrm>
            <a:off x="7909560" y="368503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000" dirty="0">
                <a:solidFill>
                  <a:srgbClr val="6B4226"/>
                </a:solidFill>
              </a:rPr>
              <a:t>DAT 9: 48%</a:t>
            </a:r>
          </a:p>
        </p:txBody>
      </p:sp>
      <p:sp>
        <p:nvSpPr>
          <p:cNvPr id="34" name="Stat label"/>
          <p:cNvSpPr txBox="1"/>
          <p:nvPr/>
        </p:nvSpPr>
        <p:spPr>
          <a:xfrm>
            <a:off x="7936992" y="473659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콩: 침수 종료 6일 후에도 미회복</a:t>
            </a:r>
          </a:p>
        </p:txBody>
      </p:sp>
      <p:sp>
        <p:nvSpPr>
          <p:cNvPr id="4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2"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243278" cy="566928"/>
          </a:xfrm>
        </p:spPr>
        <p:txBody>
          <a:bodyPr anchor="b">
            <a:normAutofit/>
          </a:bodyPr>
          <a:lstStyle/>
          <a:p>
            <a:r>
              <a:rPr lang="ko-KR" altLang="en-US" sz="2800" dirty="0"/>
              <a:t>LI-600 : 광계 II 양자수율 (Φ</a:t>
            </a:r>
            <a:r>
              <a:rPr lang="ko-KR" altLang="en-US" sz="2800" dirty="0" baseline="-25000"/>
              <a:t>PSII</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11</a:t>
            </a:fld>
            <a:endParaRPr lang="ko-KR" altLang="en-US"/>
          </a:p>
        </p:txBody>
      </p:sp>
      <p:pic>
        <p:nvPicPr>
          <p:cNvPr id="14" name="Picture 13" descr="image.png"/>
          <p:cNvPicPr>
            <a:picLocks noChangeAspect="1"/>
          </p:cNvPicPr>
          <p:nvPr/>
        </p:nvPicPr>
        <p:blipFill>
          <a:blip r:embed="rId5"/>
          <a:stretch>
            <a:fillRect/>
          </a:stretch>
        </p:blipFill>
        <p:spPr>
          <a:xfrm>
            <a:off x="771006" y="1188720"/>
            <a:ext cx="6276107" cy="2510443"/>
          </a:xfrm>
          <a:prstGeom prst="rect">
            <a:avLst/>
          </a:prstGeom>
        </p:spPr>
      </p:pic>
      <p:graphicFrame>
        <p:nvGraphicFramePr>
          <p:cNvPr id="8" name="Table 7"/>
          <p:cNvGraphicFramePr>
            <a:graphicFrameLocks noGrp="1"/>
          </p:cNvGraphicFramePr>
          <p:nvPr/>
        </p:nvGraphicFramePr>
        <p:xfrm>
          <a:off x="457200" y="3790000"/>
          <a:ext cx="6858000" cy="1420416"/>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0.702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0.697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0.612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0.645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0.612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0.595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0.649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0.679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0.660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0.630 bc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0.585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0.656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P1:  침수구가 대조구보다 약간 낮았음</a:t>
            </a:r>
          </a:p>
          <a:p>
            <a:pPr marL="201168" indent="-201168">
              <a:spcBef>
                <a:spcPts val="0"/>
              </a:spcBef>
              <a:buFont typeface="Arial"/>
              <a:buChar char="•"/>
            </a:pPr>
            <a:r>
              <a:rPr sz="1400" b="1">
                <a:solidFill>
                  <a:srgbClr val="000000"/>
                </a:solidFill>
              </a:rPr>
              <a:t>콩 P2:</a:t>
            </a:r>
            <a:r>
              <a:rPr sz="1400">
                <a:solidFill>
                  <a:srgbClr val="000000"/>
                </a:solidFill>
              </a:rPr>
              <a:t> 건조구가 가장 낮았음</a:t>
            </a:r>
          </a:p>
          <a:p>
            <a:pPr marL="201168" indent="-201168">
              <a:spcBef>
                <a:spcPts val="0"/>
              </a:spcBef>
              <a:buFont typeface="Arial"/>
              <a:buChar char="•"/>
            </a:pPr>
            <a:r>
              <a:rPr sz="1400">
                <a:solidFill>
                  <a:srgbClr val="000000"/>
                </a:solidFill>
              </a:rPr>
              <a:t>로메인:  P1·P2 모두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건조구에서 Φ</a:t>
            </a:r>
            <a:r>
              <a:rPr sz="1600" baseline="-25000">
                <a:solidFill>
                  <a:srgbClr val="E97132"/>
                </a:solidFill>
              </a:rPr>
              <a:t>PSII</a:t>
            </a:r>
            <a:r>
              <a:rPr sz="1600">
                <a:solidFill>
                  <a:srgbClr val="E97132"/>
                </a:solidFill>
              </a:rPr>
              <a:t>가 낮았고, 로메인은 처리 간 차이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PAR·기온 공변량 보정 평균(혼합모형, 측정일 임의효과), Tukey 문자. P2는 PPFD 수준을 나누지 않고 통합하여 분석. 그림: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광합성 능력 (V</a:t>
            </a:r>
            <a:r>
              <a:rPr lang="ko-KR" altLang="en-US" sz="2800" dirty="0" baseline="-25000"/>
              <a:t>cmax</a:t>
            </a:r>
            <a:r>
              <a:rPr lang="ko-KR" altLang="en-US" sz="2800" dirty="0"/>
              <a:t>, J</a:t>
            </a:r>
            <a:r>
              <a:rPr lang="ko-KR" altLang="en-US" sz="2800" dirty="0" baseline="-25000"/>
              <a:t>max</a:t>
            </a:r>
            <a:r>
              <a:rPr lang="ko-KR" altLang="en-US" sz="2800" dirty="0"/>
              <a:t>, R</a:t>
            </a:r>
            <a:r>
              <a:rPr lang="ko-KR" altLang="en-US" sz="2800" dirty="0" baseline="-25000"/>
              <a:t>d</a:t>
            </a:r>
            <a:r>
              <a:rPr lang="ko-KR" altLang="en-US" sz="2800" dirty="0"/>
              <a:t>, A</a:t>
            </a:r>
            <a:r>
              <a:rPr lang="ko-KR" altLang="en-US" sz="2800" dirty="0" baseline="-25000"/>
              <a:t>max</a:t>
            </a:r>
            <a:r>
              <a:rPr lang="ko-KR" altLang="en-US" sz="2800" dirty="0"/>
              <a:t>, α)</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13</a:t>
            </a:fld>
            <a:endParaRPr lang="ko-KR" altLang="en-US"/>
          </a:p>
        </p:txBody>
      </p:sp>
      <p:pic>
        <p:nvPicPr>
          <p:cNvPr id="14" name="Picture 13" descr="image.png"/>
          <p:cNvPicPr>
            <a:picLocks noChangeAspect="1"/>
          </p:cNvPicPr>
          <p:nvPr/>
        </p:nvPicPr>
        <p:blipFill>
          <a:blip r:embed="rId5"/>
          <a:stretch>
            <a:fillRect/>
          </a:stretch>
        </p:blipFill>
        <p:spPr>
          <a:xfrm>
            <a:off x="792032" y="1199097"/>
            <a:ext cx="6188336" cy="2697480"/>
          </a:xfrm>
          <a:prstGeom prst="rect">
            <a:avLst/>
          </a:prstGeom>
        </p:spPr>
      </p:pic>
      <p:graphicFrame>
        <p:nvGraphicFramePr>
          <p:cNvPr id="8" name="Table 7"/>
          <p:cNvGraphicFramePr>
            <a:graphicFrameLocks noGrp="1"/>
          </p:cNvGraphicFramePr>
          <p:nvPr/>
        </p:nvGraphicFramePr>
        <p:xfrm>
          <a:off x="365760" y="3931920"/>
          <a:ext cx="3438144" cy="1399032"/>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603504">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4"/>
                    </a:ext>
                  </a:extLst>
                </a:gridCol>
              </a:tblGrid>
              <a:tr h="233172">
                <a:tc>
                  <a:txBody>
                    <a:bodyPr/>
                    <a:lstStyle/>
                    <a:p>
                      <a:pPr algn="l">
                        <a:lnSpc>
                          <a:spcPct val="100000"/>
                        </a:lnSpc>
                        <a:spcBef>
                          <a:spcPts val="0"/>
                        </a:spcBef>
                        <a:spcAft>
                          <a:spcPts val="0"/>
                        </a:spcAft>
                      </a:pPr>
                      <a:r>
                        <a:rPr sz="1000" b="1">
                          <a:solidFill>
                            <a:srgbClr val="000000"/>
                          </a:solidFill>
                        </a:rPr>
                        <a:t>Soybean</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V</a:t>
                      </a:r>
                      <a:r>
                        <a:rPr sz="1000" b="1" baseline="-25000">
                          <a:solidFill>
                            <a:srgbClr val="000000"/>
                          </a:solidFill>
                        </a:rPr>
                        <a:t>cmax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J</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R</a:t>
                      </a:r>
                      <a:r>
                        <a:rPr sz="1000" b="1" baseline="-25000">
                          <a:solidFill>
                            <a:srgbClr val="000000"/>
                          </a:solidFill>
                        </a:rPr>
                        <a:t>d</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A</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α</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1000" b="0">
                          <a:solidFill>
                            <a:srgbClr val="000000"/>
                          </a:solidFill>
                        </a:rPr>
                        <a:t>Pre-treat.</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60</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83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1.44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15.4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0.047</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1000" b="0">
                          <a:solidFill>
                            <a:srgbClr val="000000"/>
                          </a:solidFill>
                        </a:rPr>
                        <a:t>Control</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90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150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1.44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18.5</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0.049</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sz="1000" b="0">
                          <a:solidFill>
                            <a:srgbClr val="000000"/>
                          </a:solidFill>
                        </a:rPr>
                        <a:t>Drought</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68 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19.4</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0.043</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sz="1000" b="0">
                          <a:solidFill>
                            <a:srgbClr val="000000"/>
                          </a:solidFill>
                        </a:rPr>
                        <a:t>Waterlog.</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85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144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1.16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17.2</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0.046</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sz="1000" b="0">
                          <a:solidFill>
                            <a:srgbClr val="000000"/>
                          </a:solidFill>
                        </a:rPr>
                        <a:t>Combined</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75 ab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120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0.86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18.6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0.048</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a:t>
            </a:r>
            <a:r>
              <a:rPr sz="1400">
                <a:solidFill>
                  <a:srgbClr val="000000"/>
                </a:solidFill>
              </a:rPr>
              <a:t> 건조구에서 V</a:t>
            </a:r>
            <a:r>
              <a:rPr sz="1400" baseline="-25000">
                <a:solidFill>
                  <a:srgbClr val="000000"/>
                </a:solidFill>
              </a:rPr>
              <a:t>cmax</a:t>
            </a:r>
            <a:r>
              <a:rPr sz="1400">
                <a:solidFill>
                  <a:srgbClr val="000000"/>
                </a:solidFill>
              </a:rPr>
              <a:t>·J</a:t>
            </a:r>
            <a:r>
              <a:rPr sz="1400" baseline="-25000">
                <a:solidFill>
                  <a:srgbClr val="000000"/>
                </a:solidFill>
              </a:rPr>
              <a:t>max</a:t>
            </a:r>
            <a:r>
              <a:rPr sz="1400">
                <a:solidFill>
                  <a:srgbClr val="000000"/>
                </a:solidFill>
              </a:rPr>
              <a:t>가 낮았고 A</a:t>
            </a:r>
            <a:r>
              <a:rPr sz="1400" baseline="-25000">
                <a:solidFill>
                  <a:srgbClr val="000000"/>
                </a:solidFill>
              </a:rPr>
              <a:t>max</a:t>
            </a:r>
            <a:r>
              <a:rPr sz="1400">
                <a:solidFill>
                  <a:srgbClr val="000000"/>
                </a:solidFill>
              </a:rPr>
              <a:t>·α는 처리 간 차이 없음</a:t>
            </a:r>
          </a:p>
          <a:p>
            <a:pPr marL="201168" indent="-201168">
              <a:spcBef>
                <a:spcPts val="0"/>
              </a:spcBef>
              <a:buFont typeface="Arial"/>
              <a:buChar char="•"/>
            </a:pPr>
            <a:r>
              <a:rPr sz="1400">
                <a:solidFill>
                  <a:srgbClr val="000000"/>
                </a:solidFill>
              </a:rPr>
              <a:t>로메인:</a:t>
            </a:r>
            <a:r>
              <a:rPr sz="1400">
                <a:solidFill>
                  <a:srgbClr val="000000"/>
                </a:solidFill>
              </a:rPr>
              <a:t> 복합구에서 V</a:t>
            </a:r>
            <a:r>
              <a:rPr sz="1400" baseline="-25000">
                <a:solidFill>
                  <a:srgbClr val="000000"/>
                </a:solidFill>
              </a:rPr>
              <a:t>cmax</a:t>
            </a:r>
            <a:r>
              <a:rPr sz="1400">
                <a:solidFill>
                  <a:srgbClr val="000000"/>
                </a:solidFill>
              </a:rPr>
              <a:t>·J</a:t>
            </a:r>
            <a:r>
              <a:rPr sz="1400" baseline="-25000">
                <a:solidFill>
                  <a:srgbClr val="000000"/>
                </a:solidFill>
              </a:rPr>
              <a:t>max</a:t>
            </a:r>
            <a:r>
              <a:rPr sz="1400">
                <a:solidFill>
                  <a:srgbClr val="000000"/>
                </a:solidFill>
              </a:rPr>
              <a:t>가 낮은 경향이고 A</a:t>
            </a:r>
            <a:r>
              <a:rPr sz="1400" baseline="-25000">
                <a:solidFill>
                  <a:srgbClr val="000000"/>
                </a:solidFill>
              </a:rPr>
              <a:t>max</a:t>
            </a:r>
            <a:r>
              <a:rPr sz="1400">
                <a:solidFill>
                  <a:srgbClr val="000000"/>
                </a:solidFill>
              </a:rPr>
              <a:t>·α는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 건조·복합구(9월)와 로메인 복합구(10월)에서 V</a:t>
            </a:r>
            <a:r>
              <a:rPr sz="1600" baseline="-25000">
                <a:solidFill>
                  <a:srgbClr val="E97132"/>
                </a:solidFill>
              </a:rPr>
              <a:t>cmax</a:t>
            </a:r>
            <a:r>
              <a:rPr sz="1600">
                <a:solidFill>
                  <a:srgbClr val="E97132"/>
                </a:solidFill>
              </a:rPr>
              <a:t>·J</a:t>
            </a:r>
            <a:r>
              <a:rPr sz="1600" baseline="-25000">
                <a:solidFill>
                  <a:srgbClr val="E97132"/>
                </a:solidFill>
              </a:rPr>
              <a:t>max</a:t>
            </a:r>
            <a:r>
              <a:rPr sz="1600">
                <a:solidFill>
                  <a:srgbClr val="E97132"/>
                </a:solidFill>
              </a:rPr>
              <a:t>가 낮은 경향 — 측정일 교락으로 확정은 어려움</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상자: 사분위(n≥4), 가로선: 평균 ± SE(n&lt;4), 점: 개별 곡선, 문자: Tukey(ANOVA P&lt;0.05일 때만), x: 처리 전. 콩 9/2~9/17, 로메인 10/16~19 측정으로 처리와 측정일이 교락됨.</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20" name="Table P2"/>
          <p:cNvGraphicFramePr>
            <a:graphicFrameLocks noGrp="1"/>
          </p:cNvGraphicFramePr>
          <p:nvPr/>
        </p:nvGraphicFramePr>
        <p:xfrm>
          <a:off x="3840480" y="3931920"/>
          <a:ext cx="3438144" cy="1399032"/>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603504">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4"/>
                    </a:ext>
                  </a:extLst>
                </a:gridCol>
              </a:tblGrid>
              <a:tr h="233172">
                <a:tc>
                  <a:txBody>
                    <a:bodyPr/>
                    <a:lstStyle/>
                    <a:p>
                      <a:pPr algn="l">
                        <a:lnSpc>
                          <a:spcPct val="100000"/>
                        </a:lnSpc>
                        <a:spcBef>
                          <a:spcPts val="0"/>
                        </a:spcBef>
                        <a:spcAft>
                          <a:spcPts val="0"/>
                        </a:spcAft>
                      </a:pPr>
                      <a:r>
                        <a:rPr sz="1000" b="1">
                          <a:solidFill>
                            <a:srgbClr val="000000"/>
                          </a:solidFill>
                        </a:rPr>
                        <a:t>Romaine</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V</a:t>
                      </a:r>
                      <a:r>
                        <a:rPr sz="1000" b="1" baseline="-25000">
                          <a:solidFill>
                            <a:srgbClr val="000000"/>
                          </a:solidFill>
                        </a:rPr>
                        <a:t>cmax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J</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R</a:t>
                      </a:r>
                      <a:r>
                        <a:rPr sz="1000" b="1" baseline="-25000">
                          <a:solidFill>
                            <a:srgbClr val="000000"/>
                          </a:solidFill>
                        </a:rPr>
                        <a:t>d</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A</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α</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1000" b="0">
                          <a:solidFill>
                            <a:srgbClr val="000000"/>
                          </a:solidFill>
                        </a:rPr>
                        <a:t>Pre-treat.</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98</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173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1.70</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26.4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0.063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1000" b="0">
                          <a:solidFill>
                            <a:srgbClr val="000000"/>
                          </a:solidFill>
                        </a:rPr>
                        <a:t>Control</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200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1.94</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26.1</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0.065</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sz="1000" b="0">
                          <a:solidFill>
                            <a:srgbClr val="000000"/>
                          </a:solidFill>
                        </a:rPr>
                        <a:t>Drought</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94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175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2.06</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25.0</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0.067</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sz="1000" b="0">
                          <a:solidFill>
                            <a:srgbClr val="000000"/>
                          </a:solidFill>
                        </a:rPr>
                        <a:t>Waterlog.</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88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168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1.91</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28.9</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0.059</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sz="1000" b="0">
                          <a:solidFill>
                            <a:srgbClr val="000000"/>
                          </a:solidFill>
                        </a:rPr>
                        <a:t>Combined</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73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142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1.76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21.6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0.063</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069106" cy="566928"/>
          </a:xfrm>
        </p:spPr>
        <p:txBody>
          <a:bodyPr anchor="b">
            <a:normAutofit/>
          </a:bodyPr>
          <a:lstStyle/>
          <a:p>
            <a:r>
              <a:rPr lang="ko-KR" altLang="en-US" sz="2800" dirty="0"/>
              <a:t>생육 조사 : 수량 및 지상부 생육</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수량 감소 경향이나 유의차 없음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평균 (대조구 대비 %), 건조·침수·복합 순. 로메인 10/23(DAT 16) 처리당 8~9주, 콩 10/6(DAT 55, R6~R7) 파괴조사 n=6~9. 그림: 평균 ± SE, 문자 Tukey(ANOVA P&lt;0.05일 때만). 종실 생체중 = 개체당 종실 전체 생체중, 처리 간 유의차 없음.</a:t>
            </a:r>
          </a:p>
        </p:txBody>
      </p:sp>
      <p:pic>
        <p:nvPicPr>
          <p:cNvPr id="27" name="Picture 26" descr="image.png"/>
          <p:cNvPicPr>
            <a:picLocks noChangeAspect="1"/>
          </p:cNvPicPr>
          <p:nvPr/>
        </p:nvPicPr>
        <p:blipFill>
          <a:blip r:embed="rId5"/>
          <a:stretch>
            <a:fillRect/>
          </a:stretch>
        </p:blipFill>
        <p:spPr>
          <a:xfrm>
            <a:off x="658368" y="1143000"/>
            <a:ext cx="6638544" cy="1982941"/>
          </a:xfrm>
          <a:prstGeom prst="rect">
            <a:avLst/>
          </a:prstGeom>
        </p:spPr>
      </p:pic>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지상부 건물중이 모든 처리에서 감소했고 복합구에서 가장 크게 감소</a:t>
            </a:r>
          </a:p>
          <a:p>
            <a:pPr marL="201168" indent="-201168" algn="l">
              <a:spcBef>
                <a:spcPts val="1000"/>
              </a:spcBef>
              <a:buFont typeface="Arial"/>
              <a:buChar char="•"/>
            </a:pPr>
            <a:r>
              <a:rPr lang="ko-KR" altLang="en-US" sz="1400" dirty="0">
                <a:solidFill>
                  <a:srgbClr val="000000"/>
                </a:solidFill>
              </a:rPr>
              <a:t>콩:  종실 생체중·건조중이 감소하는 경향이나 처리 간 유의한 차이는 없음</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8" name="Table 7"/>
          <p:cNvGraphicFramePr>
            <a:graphicFrameLocks noGrp="1"/>
          </p:cNvGraphicFramePr>
          <p:nvPr/>
        </p:nvGraphicFramePr>
        <p:xfrm>
          <a:off x="457200" y="3401568"/>
          <a:ext cx="7040879" cy="2098548"/>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233172">
                <a:tc>
                  <a:txBody>
                    <a:bodyPr/>
                    <a:lstStyle/>
                    <a:p>
                      <a:pPr algn="l">
                        <a:lnSpc>
                          <a:spcPct val="100000"/>
                        </a:lnSpc>
                        <a:spcBef>
                          <a:spcPts val="0"/>
                        </a:spcBef>
                        <a:spcAft>
                          <a:spcPts val="0"/>
                        </a:spcAft>
                      </a:pPr>
                      <a:r>
                        <a:rPr sz="800" b="1" dirty="0">
                          <a:solidFill>
                            <a:srgbClr val="000000"/>
                          </a:solidFill>
                        </a:rPr>
                        <a:t>Crop · variable</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Control</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Drought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Waterlog.</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Combined</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800" b="0">
                          <a:solidFill>
                            <a:srgbClr val="000000"/>
                          </a:solidFill>
                        </a:rPr>
                        <a:t>Romaine DAT 16</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800" b="0">
                          <a:solidFill>
                            <a:srgbClr val="000000"/>
                          </a:solidFill>
                        </a:rPr>
                        <a:t>Shoot FW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90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63 b (−29%)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66 b (−26%)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55 b (−38%)</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lang="en-US" sz="800" b="0" dirty="0">
                          <a:solidFill>
                            <a:srgbClr val="000000"/>
                          </a:solidFill>
                        </a:rPr>
                        <a:t>Shoot DW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6.5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5.4 ab (−16%)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4.3 bc (−34%)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3.7 c (−43%)</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lang="en-US" sz="800" b="0" dirty="0">
                          <a:solidFill>
                            <a:srgbClr val="000000"/>
                          </a:solidFill>
                        </a:rPr>
                        <a:t>Soybean DAT 55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FW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186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176 (−5%)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177 (−5%)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161 (−14%)</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DW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66 (−4%)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63 (−9%)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57 (−18%)</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no.</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354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334 (−6%)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326 (−8%)</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300 (−15%)</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Pod no.</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170</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162 (−5%)</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163 (−4%)</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144 (−15%)</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4" grpId="0" animBg="1"/>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종합 : 지표별 반응 (대조구 대비)</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종실 생체중 −5~14% 감소 경향</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 큰 감소 · ↓ 감소 · – 차이 없음. ④ 대조구 대비 %: 로메인 지상부 건물중(DAT 16), 콩 생육 = 지상부 생체중(잎+줄기), 수량 = 종실 생체중(DAT 55). 광합성 능력은 콩 9월·로메인 10월 측정(측정일 교락).</a:t>
            </a:r>
          </a:p>
        </p:txBody>
      </p:sp>
      <p:sp>
        <p:nvSpPr>
          <p:cNvPr id="27" name="Col head"/>
          <p:cNvSpPr/>
          <p:nvPr/>
        </p:nvSpPr>
        <p:spPr>
          <a:xfrm>
            <a:off x="2468880" y="1261872"/>
            <a:ext cx="2103120" cy="658368"/>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① 기공</a:t>
            </a:r>
          </a:p>
          <a:p>
            <a:pPr marL="0" indent="0" algn="ctr">
              <a:spcBef>
                <a:spcPts val="0"/>
              </a:spcBef>
              <a:buNone/>
            </a:pPr>
            <a:r>
              <a:rPr lang="ko-KR" altLang="en-US" sz="1050" b="0" dirty="0">
                <a:solidFill>
                  <a:srgbClr val="000000"/>
                </a:solidFill>
              </a:rPr>
              <a:t>g</a:t>
            </a:r>
            <a:r>
              <a:rPr lang="ko-KR" altLang="en-US" sz="1050" b="0" dirty="0" baseline="-25000">
                <a:solidFill>
                  <a:srgbClr val="000000"/>
                </a:solidFill>
              </a:rPr>
              <a:t>sw</a:t>
            </a:r>
          </a:p>
        </p:txBody>
      </p:sp>
      <p:sp>
        <p:nvSpPr>
          <p:cNvPr id="28" name="Col head"/>
          <p:cNvSpPr/>
          <p:nvPr/>
        </p:nvSpPr>
        <p:spPr>
          <a:xfrm>
            <a:off x="4663440" y="1261872"/>
            <a:ext cx="2103120" cy="658368"/>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② 명반응</a:t>
            </a:r>
          </a:p>
          <a:p>
            <a:pPr marL="0" indent="0" algn="ctr">
              <a:spcBef>
                <a:spcPts val="0"/>
              </a:spcBef>
              <a:buNone/>
            </a:pPr>
            <a:r>
              <a:rPr lang="ko-KR" altLang="en-US" sz="1050" b="0" dirty="0">
                <a:solidFill>
                  <a:srgbClr val="000000"/>
                </a:solidFill>
              </a:rPr>
              <a:t>Φ</a:t>
            </a:r>
            <a:r>
              <a:rPr lang="ko-KR" altLang="en-US" sz="1050" b="0" dirty="0" baseline="-25000">
                <a:solidFill>
                  <a:srgbClr val="000000"/>
                </a:solidFill>
              </a:rPr>
              <a:t>PSII</a:t>
            </a:r>
          </a:p>
        </p:txBody>
      </p:sp>
      <p:sp>
        <p:nvSpPr>
          <p:cNvPr id="31" name="Col head"/>
          <p:cNvSpPr/>
          <p:nvPr/>
        </p:nvSpPr>
        <p:spPr>
          <a:xfrm>
            <a:off x="6858000" y="1261872"/>
            <a:ext cx="2103120" cy="658368"/>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③ 광합성</a:t>
            </a:r>
          </a:p>
          <a:p>
            <a:pPr marL="0" indent="0" algn="ctr">
              <a:spcBef>
                <a:spcPts val="0"/>
              </a:spcBef>
              <a:buNone/>
            </a:pPr>
            <a:r>
              <a:rPr lang="ko-KR" altLang="en-US" sz="1050" b="0" dirty="0">
                <a:solidFill>
                  <a:srgbClr val="FFFFFF"/>
                </a:solidFill>
              </a:rPr>
              <a:t>V</a:t>
            </a:r>
            <a:r>
              <a:rPr lang="ko-KR" altLang="en-US" sz="1050" b="0" dirty="0" baseline="-25000">
                <a:solidFill>
                  <a:srgbClr val="FFFFFF"/>
                </a:solidFill>
              </a:rPr>
              <a:t>cmax</a:t>
            </a:r>
            <a:r>
              <a:rPr lang="ko-KR" altLang="en-US" sz="1050" b="0" dirty="0">
                <a:solidFill>
                  <a:srgbClr val="FFFFFF"/>
                </a:solidFill>
              </a:rPr>
              <a:t> · J</a:t>
            </a:r>
            <a:r>
              <a:rPr lang="ko-KR" altLang="en-US" sz="1050" b="0" dirty="0" baseline="-25000">
                <a:solidFill>
                  <a:srgbClr val="FFFFFF"/>
                </a:solidFill>
              </a:rPr>
              <a:t>max</a:t>
            </a:r>
          </a:p>
        </p:txBody>
      </p:sp>
      <p:sp>
        <p:nvSpPr>
          <p:cNvPr id="32" name="Col head"/>
          <p:cNvSpPr/>
          <p:nvPr/>
        </p:nvSpPr>
        <p:spPr>
          <a:xfrm>
            <a:off x="9052560" y="1261872"/>
            <a:ext cx="2103120" cy="658368"/>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④ 생육·수량</a:t>
            </a:r>
          </a:p>
          <a:p>
            <a:pPr marL="0" indent="0" algn="ctr">
              <a:spcBef>
                <a:spcPts val="0"/>
              </a:spcBef>
              <a:buNone/>
            </a:pPr>
            <a:r>
              <a:rPr lang="ko-KR" altLang="en-US" sz="1050" b="0" dirty="0">
                <a:solidFill>
                  <a:srgbClr val="FFFFFF"/>
                </a:solidFill>
              </a:rPr>
              <a:t>대조구 대비 %</a:t>
            </a:r>
          </a:p>
        </p:txBody>
      </p:sp>
      <p:sp>
        <p:nvSpPr>
          <p:cNvPr id="33" name="Row label"/>
          <p:cNvSpPr/>
          <p:nvPr/>
        </p:nvSpPr>
        <p:spPr>
          <a:xfrm>
            <a:off x="841248" y="1993392"/>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건조</a:t>
            </a:r>
          </a:p>
        </p:txBody>
      </p:sp>
      <p:sp>
        <p:nvSpPr>
          <p:cNvPr id="34" name="Cell"/>
          <p:cNvSpPr/>
          <p:nvPr/>
        </p:nvSpPr>
        <p:spPr>
          <a:xfrm>
            <a:off x="246888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후반</a:t>
            </a:r>
          </a:p>
          <a:p>
            <a:pPr marL="0" indent="0" algn="ctr">
              <a:spcBef>
                <a:spcPts val="0"/>
              </a:spcBef>
              <a:buNone/>
            </a:pPr>
            <a:r>
              <a:rPr lang="ko-KR" altLang="en-US" sz="1200" dirty="0">
                <a:solidFill>
                  <a:srgbClr val="7F7F7F"/>
                </a:solidFill>
              </a:rPr>
              <a:t>(DAT 16 33%)</a:t>
            </a:r>
          </a:p>
        </p:txBody>
      </p:sp>
      <p:sp>
        <p:nvSpPr>
          <p:cNvPr id="35" name="Cell"/>
          <p:cNvSpPr/>
          <p:nvPr/>
        </p:nvSpPr>
        <p:spPr>
          <a:xfrm>
            <a:off x="466344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8" name="Cell"/>
          <p:cNvSpPr/>
          <p:nvPr/>
        </p:nvSpPr>
        <p:spPr>
          <a:xfrm>
            <a:off x="685800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9" name="Cell"/>
          <p:cNvSpPr/>
          <p:nvPr/>
        </p:nvSpPr>
        <p:spPr>
          <a:xfrm>
            <a:off x="905256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건물중 −16%</a:t>
            </a:r>
          </a:p>
        </p:txBody>
      </p:sp>
      <p:sp>
        <p:nvSpPr>
          <p:cNvPr id="40" name="Row label"/>
          <p:cNvSpPr/>
          <p:nvPr/>
        </p:nvSpPr>
        <p:spPr>
          <a:xfrm>
            <a:off x="841248" y="2578608"/>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침수</a:t>
            </a:r>
          </a:p>
        </p:txBody>
      </p:sp>
      <p:sp>
        <p:nvSpPr>
          <p:cNvPr id="41" name="Cell"/>
          <p:cNvSpPr/>
          <p:nvPr/>
        </p:nvSpPr>
        <p:spPr>
          <a:xfrm>
            <a:off x="2468880" y="2578608"/>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950" dirty="0">
                <a:solidFill>
                  <a:srgbClr val="000000"/>
                </a:solidFill>
              </a:rPr>
              <a:t>DAT 5~6</a:t>
            </a:r>
          </a:p>
        </p:txBody>
      </p:sp>
      <p:sp>
        <p:nvSpPr>
          <p:cNvPr id="42" name="Cell"/>
          <p:cNvSpPr/>
          <p:nvPr/>
        </p:nvSpPr>
        <p:spPr>
          <a:xfrm>
            <a:off x="4663440" y="2578608"/>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45" name="Cell"/>
          <p:cNvSpPr/>
          <p:nvPr/>
        </p:nvSpPr>
        <p:spPr>
          <a:xfrm>
            <a:off x="6858000" y="257860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(측정일 교락)</a:t>
            </a:r>
          </a:p>
        </p:txBody>
      </p:sp>
      <p:sp>
        <p:nvSpPr>
          <p:cNvPr id="46" name="Cell"/>
          <p:cNvSpPr/>
          <p:nvPr/>
        </p:nvSpPr>
        <p:spPr>
          <a:xfrm>
            <a:off x="9052560" y="257860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−34%</a:t>
            </a:r>
          </a:p>
        </p:txBody>
      </p:sp>
      <p:sp>
        <p:nvSpPr>
          <p:cNvPr id="47" name="Row label"/>
          <p:cNvSpPr/>
          <p:nvPr/>
        </p:nvSpPr>
        <p:spPr>
          <a:xfrm>
            <a:off x="841248" y="3163824"/>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복합</a:t>
            </a:r>
          </a:p>
        </p:txBody>
      </p:sp>
      <p:sp>
        <p:nvSpPr>
          <p:cNvPr id="48" name="Cell"/>
          <p:cNvSpPr/>
          <p:nvPr/>
        </p:nvSpPr>
        <p:spPr>
          <a:xfrm>
            <a:off x="2468880" y="3163824"/>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1200" dirty="0">
                <a:solidFill>
                  <a:srgbClr val="000000"/>
                </a:solidFill>
              </a:rPr>
              <a:t>DAT 6</a:t>
            </a:r>
          </a:p>
        </p:txBody>
      </p:sp>
      <p:sp>
        <p:nvSpPr>
          <p:cNvPr id="49" name="Cell"/>
          <p:cNvSpPr/>
          <p:nvPr/>
        </p:nvSpPr>
        <p:spPr>
          <a:xfrm>
            <a:off x="4663440" y="316382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52" name="Cell"/>
          <p:cNvSpPr/>
          <p:nvPr/>
        </p:nvSpPr>
        <p:spPr>
          <a:xfrm>
            <a:off x="6858000" y="316382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(V</a:t>
            </a:r>
            <a:r>
              <a:rPr lang="ko-KR" altLang="en-US" sz="1200" dirty="0" baseline="-25000">
                <a:solidFill>
                  <a:srgbClr val="7F7F7F"/>
                </a:solidFill>
              </a:rPr>
              <a:t>cmax</a:t>
            </a:r>
            <a:r>
              <a:rPr lang="ko-KR" altLang="en-US" sz="1200" dirty="0">
                <a:solidFill>
                  <a:srgbClr val="7F7F7F"/>
                </a:solidFill>
              </a:rPr>
              <a:t> 73)</a:t>
            </a:r>
          </a:p>
        </p:txBody>
      </p:sp>
      <p:sp>
        <p:nvSpPr>
          <p:cNvPr id="53" name="Cell"/>
          <p:cNvSpPr/>
          <p:nvPr/>
        </p:nvSpPr>
        <p:spPr>
          <a:xfrm>
            <a:off x="9052560" y="3163824"/>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−43%</a:t>
            </a:r>
          </a:p>
        </p:txBody>
      </p:sp>
      <p:sp>
        <p:nvSpPr>
          <p:cNvPr id="54" name="Row label"/>
          <p:cNvSpPr/>
          <p:nvPr/>
        </p:nvSpPr>
        <p:spPr>
          <a:xfrm>
            <a:off x="841248" y="3858768"/>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건조</a:t>
            </a:r>
          </a:p>
        </p:txBody>
      </p:sp>
      <p:sp>
        <p:nvSpPr>
          <p:cNvPr id="55" name="Cell"/>
          <p:cNvSpPr/>
          <p:nvPr/>
        </p:nvSpPr>
        <p:spPr>
          <a:xfrm>
            <a:off x="246888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56" name="Cell"/>
          <p:cNvSpPr/>
          <p:nvPr/>
        </p:nvSpPr>
        <p:spPr>
          <a:xfrm>
            <a:off x="4663440" y="385876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 (P2)</a:t>
            </a:r>
          </a:p>
        </p:txBody>
      </p:sp>
      <p:sp>
        <p:nvSpPr>
          <p:cNvPr id="59" name="Cell"/>
          <p:cNvSpPr/>
          <p:nvPr/>
        </p:nvSpPr>
        <p:spPr>
          <a:xfrm>
            <a:off x="685800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V</a:t>
            </a:r>
            <a:r>
              <a:rPr lang="ko-KR" altLang="en-US" sz="1200" dirty="0" baseline="-25000">
                <a:solidFill>
                  <a:srgbClr val="000000"/>
                </a:solidFill>
              </a:rPr>
              <a:t>cmax</a:t>
            </a:r>
            <a:r>
              <a:rPr lang="ko-KR" altLang="en-US" sz="1200" dirty="0">
                <a:solidFill>
                  <a:srgbClr val="000000"/>
                </a:solidFill>
              </a:rPr>
              <a:t>·J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60" name="Cell"/>
          <p:cNvSpPr/>
          <p:nvPr/>
        </p:nvSpPr>
        <p:spPr>
          <a:xfrm>
            <a:off x="905256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−35%</a:t>
            </a:r>
          </a:p>
          <a:p>
            <a:pPr marL="0" indent="0" algn="ctr">
              <a:spcBef>
                <a:spcPts val="0"/>
              </a:spcBef>
              <a:buNone/>
            </a:pPr>
            <a:r>
              <a:rPr lang="ko-KR" altLang="en-US" sz="1200" dirty="0">
                <a:solidFill>
                  <a:srgbClr val="7F7F7F"/>
                </a:solidFill>
              </a:rPr>
              <a:t>수량 −5%</a:t>
            </a:r>
          </a:p>
        </p:txBody>
      </p:sp>
      <p:sp>
        <p:nvSpPr>
          <p:cNvPr id="61" name="Row label"/>
          <p:cNvSpPr/>
          <p:nvPr/>
        </p:nvSpPr>
        <p:spPr>
          <a:xfrm>
            <a:off x="841248" y="4443984"/>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침수</a:t>
            </a:r>
          </a:p>
        </p:txBody>
      </p:sp>
      <p:sp>
        <p:nvSpPr>
          <p:cNvPr id="62" name="Cell"/>
          <p:cNvSpPr/>
          <p:nvPr/>
        </p:nvSpPr>
        <p:spPr>
          <a:xfrm>
            <a:off x="246888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DAT 9까지</a:t>
            </a:r>
          </a:p>
          <a:p>
            <a:pPr marL="0" indent="0" algn="ctr">
              <a:spcBef>
                <a:spcPts val="0"/>
              </a:spcBef>
              <a:buNone/>
            </a:pPr>
            <a:r>
              <a:rPr lang="ko-KR" altLang="en-US" sz="950" dirty="0">
                <a:solidFill>
                  <a:srgbClr val="000000"/>
                </a:solidFill>
              </a:rPr>
              <a:t>미회복</a:t>
            </a:r>
          </a:p>
        </p:txBody>
      </p:sp>
      <p:sp>
        <p:nvSpPr>
          <p:cNvPr id="63" name="Cell"/>
          <p:cNvSpPr/>
          <p:nvPr/>
        </p:nvSpPr>
        <p:spPr>
          <a:xfrm>
            <a:off x="466344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(P1)</a:t>
            </a:r>
          </a:p>
        </p:txBody>
      </p:sp>
      <p:sp>
        <p:nvSpPr>
          <p:cNvPr id="66" name="Cell"/>
          <p:cNvSpPr/>
          <p:nvPr/>
        </p:nvSpPr>
        <p:spPr>
          <a:xfrm>
            <a:off x="685800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67" name="Cell"/>
          <p:cNvSpPr/>
          <p:nvPr/>
        </p:nvSpPr>
        <p:spPr>
          <a:xfrm>
            <a:off x="905256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−28%</a:t>
            </a:r>
          </a:p>
          <a:p>
            <a:pPr marL="0" indent="0" algn="ctr">
              <a:spcBef>
                <a:spcPts val="0"/>
              </a:spcBef>
              <a:buNone/>
            </a:pPr>
            <a:r>
              <a:rPr lang="ko-KR" altLang="en-US" sz="950" dirty="0">
                <a:solidFill>
                  <a:srgbClr val="7F7F7F"/>
                </a:solidFill>
              </a:rPr>
              <a:t>수량 −5%</a:t>
            </a:r>
          </a:p>
        </p:txBody>
      </p:sp>
      <p:sp>
        <p:nvSpPr>
          <p:cNvPr id="68" name="Row label"/>
          <p:cNvSpPr/>
          <p:nvPr/>
        </p:nvSpPr>
        <p:spPr>
          <a:xfrm>
            <a:off x="841248" y="5029200"/>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복합</a:t>
            </a:r>
          </a:p>
        </p:txBody>
      </p:sp>
      <p:sp>
        <p:nvSpPr>
          <p:cNvPr id="69" name="Cell"/>
          <p:cNvSpPr/>
          <p:nvPr/>
        </p:nvSpPr>
        <p:spPr>
          <a:xfrm>
            <a:off x="246888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70" name="Cell"/>
          <p:cNvSpPr/>
          <p:nvPr/>
        </p:nvSpPr>
        <p:spPr>
          <a:xfrm>
            <a:off x="466344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(P2)</a:t>
            </a:r>
          </a:p>
        </p:txBody>
      </p:sp>
      <p:sp>
        <p:nvSpPr>
          <p:cNvPr id="73" name="Cell"/>
          <p:cNvSpPr/>
          <p:nvPr/>
        </p:nvSpPr>
        <p:spPr>
          <a:xfrm>
            <a:off x="685800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74" name="Cell"/>
          <p:cNvSpPr/>
          <p:nvPr/>
        </p:nvSpPr>
        <p:spPr>
          <a:xfrm>
            <a:off x="9052560" y="5029200"/>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−19%</a:t>
            </a:r>
          </a:p>
          <a:p>
            <a:pPr marL="0" indent="0" algn="ctr">
              <a:spcBef>
                <a:spcPts val="0"/>
              </a:spcBef>
              <a:buNone/>
            </a:pPr>
            <a:r>
              <a:rPr lang="ko-KR" altLang="en-US" sz="950" dirty="0">
                <a:solidFill>
                  <a:srgbClr val="7F7F7F"/>
                </a:solidFill>
              </a:rPr>
              <a:t>수량 −14%</a:t>
            </a:r>
          </a:p>
        </p:txBody>
      </p:sp>
      <p:sp>
        <p:nvSpPr>
          <p:cNvPr id="16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66"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6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6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500"/>
                                        <p:tgtEl>
                                          <p:spTgt spid="6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500"/>
                                        <p:tgtEl>
                                          <p:spTgt spid="5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500"/>
                                        <p:tgtEl>
                                          <p:spTgt spid="3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500"/>
                                        <p:tgtEl>
                                          <p:spTgt spid="5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animEffect transition="in" filter="fade">
                                      <p:cBhvr>
                                        <p:cTn id="129" dur="500"/>
                                        <p:tgtEl>
                                          <p:spTgt spid="5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5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animEffect transition="in" filter="fade">
                                      <p:cBhvr>
                                        <p:cTn id="135" dur="500"/>
                                        <p:tgtEl>
                                          <p:spTgt spid="7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500"/>
                                        <p:tgtEl>
                                          <p:spTgt spid="3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6"/>
                                        </p:tgtEl>
                                        <p:attrNameLst>
                                          <p:attrName>style.visibility</p:attrName>
                                        </p:attrNameLst>
                                      </p:cBhvr>
                                      <p:to>
                                        <p:strVal val="visible"/>
                                      </p:to>
                                    </p:set>
                                    <p:animEffect transition="in" filter="fade">
                                      <p:cBhvr>
                                        <p:cTn id="146" dur="500"/>
                                        <p:tgtEl>
                                          <p:spTgt spid="4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50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60"/>
                                        </p:tgtEl>
                                        <p:attrNameLst>
                                          <p:attrName>style.visibility</p:attrName>
                                        </p:attrNameLst>
                                      </p:cBhvr>
                                      <p:to>
                                        <p:strVal val="visible"/>
                                      </p:to>
                                    </p:set>
                                    <p:animEffect transition="in" filter="fade">
                                      <p:cBhvr>
                                        <p:cTn id="152" dur="500"/>
                                        <p:tgtEl>
                                          <p:spTgt spid="60"/>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500"/>
                                        <p:tgtEl>
                                          <p:spTgt spid="67"/>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4"/>
                                        </p:tgtEl>
                                        <p:attrNameLst>
                                          <p:attrName>style.visibility</p:attrName>
                                        </p:attrNameLst>
                                      </p:cBhvr>
                                      <p:to>
                                        <p:strVal val="visible"/>
                                      </p:to>
                                    </p:set>
                                    <p:animEffect transition="in" filter="fade">
                                      <p:cBhvr>
                                        <p:cTn id="158" dur="500"/>
                                        <p:tgtEl>
                                          <p:spTgt spid="74"/>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fade">
                                      <p:cBhvr>
                                        <p:cTn id="1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1" grpId="0" animBg="1"/>
      <p:bldP spid="32" grpId="0" animBg="1"/>
      <p:bldP spid="33" grpId="0" animBg="1"/>
      <p:bldP spid="34" grpId="0" animBg="1"/>
      <p:bldP spid="35" grpId="0" animBg="1"/>
      <p:bldP spid="38" grpId="0" animBg="1"/>
      <p:bldP spid="39" grpId="0" animBg="1"/>
      <p:bldP spid="40" grpId="0" animBg="1"/>
      <p:bldP spid="41" grpId="0" animBg="1"/>
      <p:bldP spid="42" grpId="0" animBg="1"/>
      <p:bldP spid="45" grpId="0" animBg="1"/>
      <p:bldP spid="46" grpId="0" animBg="1"/>
      <p:bldP spid="47" grpId="0" animBg="1"/>
      <p:bldP spid="48" grpId="0" animBg="1"/>
      <p:bldP spid="49" grpId="0" animBg="1"/>
      <p:bldP spid="52" grpId="0" animBg="1"/>
      <p:bldP spid="53" grpId="0" animBg="1"/>
      <p:bldP spid="54" grpId="0" animBg="1"/>
      <p:bldP spid="55" grpId="0" animBg="1"/>
      <p:bldP spid="56" grpId="0" animBg="1"/>
      <p:bldP spid="59" grpId="0" animBg="1"/>
      <p:bldP spid="60" grpId="0" animBg="1"/>
      <p:bldP spid="61" grpId="0" animBg="1"/>
      <p:bldP spid="62" grpId="0" animBg="1"/>
      <p:bldP spid="63" grpId="0" animBg="1"/>
      <p:bldP spid="66" grpId="0" animBg="1"/>
      <p:bldP spid="67" grpId="0" animBg="1"/>
      <p:bldP spid="68" grpId="0" animBg="1"/>
      <p:bldP spid="69" grpId="0" animBg="1"/>
      <p:bldP spid="70" grpId="0" animBg="1"/>
      <p:bldP spid="73" grpId="0" animBg="1"/>
      <p:bldP spid="7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콩 (기공 → 명반응 → 광합성 능력 → 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생리 지표에서 차이가 있었고, 수량에는 감소하는 경향이 보였지만 큰 차이가 없었다</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Tan et al. 2018 J Plant Physiol; Haverroth et al. 2024 Plant Physiol; Buckley 2019 New Phytol; Yeung et al. 2018 PNAS; Sasidharan et al. 2018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bean.png"/>
          <p:cNvPicPr>
            <a:picLocks noChangeAspect="1"/>
          </p:cNvPicPr>
          <p:nvPr/>
        </p:nvPicPr>
        <p:blipFill>
          <a:blip r:embed="rId4"/>
          <a:stretch>
            <a:fillRect/>
          </a:stretch>
        </p:blipFill>
        <p:spPr>
          <a:xfrm>
            <a:off x="502920" y="1874519"/>
            <a:ext cx="11155680" cy="3291840"/>
          </a:xfrm>
          <a:prstGeom prst="rect">
            <a:avLst/>
          </a:prstGeom>
        </p:spPr>
      </p:pic>
      <p:sp>
        <p:nvSpPr>
          <p:cNvPr id="58" name="Rounded Rectangle 57"/>
          <p:cNvSpPr/>
          <p:nvPr/>
        </p:nvSpPr>
        <p:spPr>
          <a:xfrm>
            <a:off x="939600"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472488"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730752"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626364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520787"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9053675"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31082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수량</a:t>
            </a:r>
          </a:p>
          <a:p>
            <a:pPr algn="ctr"/>
            <a:r>
              <a:rPr sz="1050">
                <a:solidFill>
                  <a:srgbClr val="FFFFFF"/>
                </a:solidFill>
              </a:rPr>
              <a:t>종실 생체중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결론</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18</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회복이 빠르나 생육 감소, 콩은 회복이 느리나 수량 차이 작음 — 반응은 작물마다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본 성과는 농촌진흥청 공동연구사업(과제번호: RS-2026-25507435)의 지원에 의해 이루어진 것임.</a:t>
            </a:r>
          </a:p>
        </p:txBody>
      </p:sp>
      <p:sp>
        <p:nvSpPr>
          <p:cNvPr id="27" name="Num"/>
          <p:cNvSpPr/>
          <p:nvPr/>
        </p:nvSpPr>
        <p:spPr>
          <a:xfrm>
            <a:off x="841248" y="14813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1</a:t>
            </a:r>
          </a:p>
        </p:txBody>
      </p:sp>
      <p:sp>
        <p:nvSpPr>
          <p:cNvPr id="28" name="Concl"/>
          <p:cNvSpPr txBox="1"/>
          <p:nvPr/>
        </p:nvSpPr>
        <p:spPr>
          <a:xfrm>
            <a:off x="1600200" y="13716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기공 회복 속도</a:t>
            </a:r>
          </a:p>
          <a:p>
            <a:pPr marL="0" indent="0" algn="l">
              <a:spcBef>
                <a:spcPts val="300"/>
              </a:spcBef>
              <a:buNone/>
            </a:pPr>
            <a:r>
              <a:rPr lang="ko-KR" altLang="en-US" sz="1300" dirty="0">
                <a:solidFill>
                  <a:srgbClr val="000000"/>
                </a:solidFill>
              </a:rPr>
              <a:t>침수는 두 작물 모두에서 기공전도도를 먼저 낮췄다. 로메인은 배수 2~3일 후(DAT 5~6) 대조구 수준으로 회복했고, 콩은 배수 6일 후(DAT 9)에도 대조구의 48%였으며 DAT 23에 회복이 확인되었다.</a:t>
            </a:r>
          </a:p>
        </p:txBody>
      </p:sp>
      <p:sp>
        <p:nvSpPr>
          <p:cNvPr id="29" name="Num"/>
          <p:cNvSpPr/>
          <p:nvPr/>
        </p:nvSpPr>
        <p:spPr>
          <a:xfrm>
            <a:off x="841248" y="28529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2</a:t>
            </a:r>
          </a:p>
        </p:txBody>
      </p:sp>
      <p:sp>
        <p:nvSpPr>
          <p:cNvPr id="30" name="Concl"/>
          <p:cNvSpPr txBox="1"/>
          <p:nvPr/>
        </p:nvSpPr>
        <p:spPr>
          <a:xfrm>
            <a:off x="1600200" y="27432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명반응과 광합성 능력</a:t>
            </a:r>
          </a:p>
          <a:p>
            <a:pPr marL="0" indent="0" algn="l">
              <a:spcBef>
                <a:spcPts val="300"/>
              </a:spcBef>
              <a:buNone/>
            </a:pPr>
            <a:r>
              <a:rPr lang="ko-KR" altLang="en-US" sz="1300" dirty="0">
                <a:solidFill>
                  <a:srgbClr val="000000"/>
                </a:solidFill>
              </a:rPr>
              <a:t>로메인은 Φ</a:t>
            </a:r>
            <a:r>
              <a:rPr lang="ko-KR" altLang="en-US" sz="1300" dirty="0" baseline="-25000">
                <a:solidFill>
                  <a:srgbClr val="000000"/>
                </a:solidFill>
              </a:rPr>
              <a:t>PSII</a:t>
            </a:r>
            <a:r>
              <a:rPr lang="ko-KR" altLang="en-US" sz="1300" dirty="0">
                <a:solidFill>
                  <a:srgbClr val="000000"/>
                </a:solidFill>
              </a:rPr>
              <a:t>에 처리 차이가 없었고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는 복합구에서 낮은 경향(측정일 교락)이었다. 콩은 건조구에서 Φ</a:t>
            </a:r>
            <a:r>
              <a:rPr lang="ko-KR" altLang="en-US" sz="1300" dirty="0" baseline="-25000">
                <a:solidFill>
                  <a:srgbClr val="000000"/>
                </a:solidFill>
              </a:rPr>
              <a:t>PSII</a:t>
            </a:r>
            <a:r>
              <a:rPr lang="ko-KR" altLang="en-US" sz="1300" dirty="0">
                <a:solidFill>
                  <a:srgbClr val="000000"/>
                </a:solidFill>
              </a:rPr>
              <a:t>(P2)와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가 낮았다.</a:t>
            </a:r>
          </a:p>
        </p:txBody>
      </p:sp>
      <p:sp>
        <p:nvSpPr>
          <p:cNvPr id="31" name="Num"/>
          <p:cNvSpPr/>
          <p:nvPr/>
        </p:nvSpPr>
        <p:spPr>
          <a:xfrm>
            <a:off x="841248" y="42245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3</a:t>
            </a:r>
          </a:p>
        </p:txBody>
      </p:sp>
      <p:sp>
        <p:nvSpPr>
          <p:cNvPr id="32" name="Concl"/>
          <p:cNvSpPr txBox="1"/>
          <p:nvPr/>
        </p:nvSpPr>
        <p:spPr>
          <a:xfrm>
            <a:off x="1600200" y="41148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생육·수량</a:t>
            </a:r>
          </a:p>
          <a:p>
            <a:pPr marL="0" indent="0" algn="l">
              <a:spcBef>
                <a:spcPts val="300"/>
              </a:spcBef>
              <a:buNone/>
            </a:pPr>
            <a:r>
              <a:rPr lang="ko-KR" altLang="en-US" sz="1300" dirty="0">
                <a:solidFill>
                  <a:srgbClr val="000000"/>
                </a:solidFill>
              </a:rPr>
              <a:t>로메인은 기공이 회복되었는데도 침수 기간의 손실이 유지되어 지상부 건물중이 감소했다(건조 −16%, 침수 −34%, 복합 −43%). 콩은 종실 생체중이 5~14% 감소하는 경향이었으나 처리 간 유의한 차이는 없었다.</a:t>
            </a:r>
          </a:p>
        </p:txBody>
      </p:sp>
      <p:sp>
        <p:nvSpPr>
          <p:cNvPr id="61"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5" name="Nav 결론"/>
          <p:cNvSpPr txBox="1"/>
          <p:nvPr/>
        </p:nvSpPr>
        <p:spPr>
          <a:xfrm>
            <a:off x="6327648" y="100584"/>
            <a:ext cx="1371600" cy="329184"/>
          </a:xfrm>
          <a:prstGeom prst="rect">
            <a:avLst/>
          </a:prstGeom>
          <a:noFill/>
        </p:spPr>
        <p:txBody>
          <a:bodyPr wrap="none" lIns="0" tIns="0" rIns="0" bIns="0" anchor="ctr">
            <a:spAutoFit/>
          </a:bodyPr>
          <a:lstStyle/>
          <a:p>
            <a:pPr algn="ctr"/>
            <a:r>
              <a:rPr sz="1450" b="1" u="sng">
                <a:solidFill>
                  <a:srgbClr val="1A1A1A"/>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양쪽 모서리가 둥근 사각형 1">
            <a:extLst>
              <a:ext uri="{FF2B5EF4-FFF2-40B4-BE49-F238E27FC236}">
                <a16:creationId xmlns:a16="http://schemas.microsoft.com/office/drawing/2014/main" id="{61F6D138-DFFC-10C1-053C-3D2B417CC93E}"/>
              </a:ext>
            </a:extLst>
          </p:cNvPr>
          <p:cNvSpPr/>
          <p:nvPr/>
        </p:nvSpPr>
        <p:spPr>
          <a:xfrm>
            <a:off x="0" y="3429000"/>
            <a:ext cx="12192000" cy="3429000"/>
          </a:xfrm>
          <a:prstGeom prst="round2SameRect">
            <a:avLst/>
          </a:prstGeom>
          <a:solidFill>
            <a:srgbClr val="0445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200"/>
          </a:p>
        </p:txBody>
      </p:sp>
      <p:sp>
        <p:nvSpPr>
          <p:cNvPr id="28" name="TextBox 27">
            <a:extLst>
              <a:ext uri="{FF2B5EF4-FFF2-40B4-BE49-F238E27FC236}">
                <a16:creationId xmlns:a16="http://schemas.microsoft.com/office/drawing/2014/main" id="{C11A0B38-A3E4-9B0E-0886-5E9788B47173}"/>
              </a:ext>
            </a:extLst>
          </p:cNvPr>
          <p:cNvSpPr txBox="1"/>
          <p:nvPr/>
        </p:nvSpPr>
        <p:spPr>
          <a:xfrm>
            <a:off x="3766530" y="2681512"/>
            <a:ext cx="4658940" cy="769441"/>
          </a:xfrm>
          <a:prstGeom prst="rect">
            <a:avLst/>
          </a:prstGeom>
          <a:noFill/>
        </p:spPr>
        <p:txBody>
          <a:bodyPr wrap="square" rtlCol="0">
            <a:spAutoFit/>
          </a:bodyPr>
          <a:lstStyle/>
          <a:p>
            <a:pPr algn="ctr"/>
            <a:r>
              <a:rPr kumimoji="1" lang="ko-KR" altLang="en-US" sz="4400" b="1" spc="-200" dirty="0">
                <a:solidFill>
                  <a:srgbClr val="04458A"/>
                </a:solidFill>
                <a:latin typeface="Malgun Gothic" panose="020B0503020000020004" pitchFamily="34" charset="-127"/>
                <a:ea typeface="Malgun Gothic" panose="020B0503020000020004" pitchFamily="34" charset="-127"/>
              </a:rPr>
              <a:t>감사합니다</a:t>
            </a:r>
            <a:endParaRPr kumimoji="1" lang="en-US" altLang="ko-Kore-KR" sz="4400" b="1" spc="-200" dirty="0">
              <a:solidFill>
                <a:srgbClr val="04458A"/>
              </a:solidFill>
              <a:latin typeface="Malgun Gothic" panose="020B0503020000020004" pitchFamily="34" charset="-127"/>
              <a:ea typeface="Malgun Gothic" panose="020B0503020000020004" pitchFamily="34" charset="-127"/>
            </a:endParaRPr>
          </a:p>
        </p:txBody>
      </p:sp>
      <p:sp>
        <p:nvSpPr>
          <p:cNvPr id="31" name="TextBox 30">
            <a:extLst>
              <a:ext uri="{FF2B5EF4-FFF2-40B4-BE49-F238E27FC236}">
                <a16:creationId xmlns:a16="http://schemas.microsoft.com/office/drawing/2014/main" id="{ABD9CEE3-88A3-FC3B-9B6B-4B8B7C7214DE}"/>
              </a:ext>
            </a:extLst>
          </p:cNvPr>
          <p:cNvSpPr txBox="1"/>
          <p:nvPr/>
        </p:nvSpPr>
        <p:spPr>
          <a:xfrm>
            <a:off x="3026229" y="3520615"/>
            <a:ext cx="6139542" cy="1048492"/>
          </a:xfrm>
          <a:prstGeom prst="rect">
            <a:avLst/>
          </a:prstGeom>
          <a:noFill/>
        </p:spPr>
        <p:txBody>
          <a:bodyPr wrap="square" rtlCol="0">
            <a:spAutoFit/>
          </a:bodyPr>
          <a:lstStyle/>
          <a:p>
            <a:pPr algn="ctr">
              <a:lnSpc>
                <a:spcPct val="150000"/>
              </a:lnSpc>
            </a:pPr>
            <a:endParaRPr kumimoji="1" lang="en-US" altLang="ko-KR" sz="2400" b="1" spc="-100" dirty="0">
              <a:solidFill>
                <a:schemeClr val="bg1"/>
              </a:solidFill>
              <a:latin typeface="Malgun Gothic" panose="020B0503020000020004" pitchFamily="34" charset="-127"/>
              <a:ea typeface="Malgun Gothic" panose="020B0503020000020004" pitchFamily="34" charset="-127"/>
            </a:endParaRPr>
          </a:p>
          <a:p>
            <a:pPr algn="ctr">
              <a:lnSpc>
                <a:spcPct val="150000"/>
              </a:lnSpc>
            </a:pPr>
            <a:r>
              <a:rPr kumimoji="1" lang="ko-KR" altLang="en-US" sz="2000" b="1" spc="-100" dirty="0">
                <a:solidFill>
                  <a:schemeClr val="bg1"/>
                </a:solidFill>
                <a:latin typeface="Malgun Gothic" panose="020B0503020000020004" pitchFamily="34" charset="-127"/>
                <a:ea typeface="Malgun Gothic" panose="020B0503020000020004" pitchFamily="34" charset="-127"/>
              </a:rPr>
              <a:t>석사과정 윤정민</a:t>
            </a:r>
            <a:endParaRPr kumimoji="1" lang="en-US" altLang="ko-Kore-KR" sz="2000" b="1" spc="-100" dirty="0">
              <a:solidFill>
                <a:schemeClr val="bg1"/>
              </a:solidFill>
              <a:latin typeface="Malgun Gothic" panose="020B0503020000020004" pitchFamily="34" charset="-127"/>
              <a:ea typeface="Malgun Gothic" panose="020B0503020000020004" pitchFamily="34"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보충 자료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A1. LI-600 보정: 선형 PAR + 기온</a:t>
            </a:r>
          </a:p>
          <a:p>
            <a:pPr marL="0" indent="0" algn="l">
              <a:spcBef>
                <a:spcPts val="800"/>
              </a:spcBef>
              <a:buNone/>
            </a:pPr>
            <a:r>
              <a:rPr lang="ko-KR" altLang="en-US" sz="1600" dirty="0">
                <a:solidFill>
                  <a:srgbClr val="000000"/>
                </a:solidFill>
              </a:rPr>
              <a:t>A2. LI-6800 광-광합성 곡선 (A-Q)</a:t>
            </a:r>
          </a:p>
          <a:p>
            <a:pPr marL="0" indent="0" algn="l">
              <a:spcBef>
                <a:spcPts val="800"/>
              </a:spcBef>
              <a:buNone/>
            </a:pPr>
            <a:r>
              <a:rPr lang="ko-KR" altLang="en-US" sz="1600" dirty="0">
                <a:solidFill>
                  <a:srgbClr val="000000"/>
                </a:solidFill>
              </a:rPr>
              <a:t>A3. 정상 상태 형광 (F</a:t>
            </a:r>
            <a:r>
              <a:rPr lang="ko-KR" altLang="en-US" sz="1600" dirty="0" baseline="-25000">
                <a:solidFill>
                  <a:srgbClr val="000000"/>
                </a:solidFill>
              </a:rPr>
              <a:t>s</a:t>
            </a:r>
            <a:r>
              <a:rPr lang="ko-KR" altLang="en-US" sz="1600" dirty="0">
                <a:solidFill>
                  <a:srgbClr val="000000"/>
                </a:solidFill>
              </a:rPr>
              <a:t>)</a:t>
            </a:r>
          </a:p>
          <a:p>
            <a:pPr marL="0" indent="0" algn="l">
              <a:spcBef>
                <a:spcPts val="800"/>
              </a:spcBef>
              <a:buNone/>
            </a:pPr>
            <a:r>
              <a:rPr lang="ko-KR" altLang="en-US" sz="1600" dirty="0">
                <a:solidFill>
                  <a:srgbClr val="000000"/>
                </a:solidFill>
              </a:rPr>
              <a:t>A4. 전자전달속도 (ETR)</a:t>
            </a:r>
          </a:p>
          <a:p>
            <a:pPr marL="0" indent="0" algn="l">
              <a:spcBef>
                <a:spcPts val="800"/>
              </a:spcBef>
              <a:buNone/>
            </a:pPr>
            <a:r>
              <a:rPr lang="ko-KR" altLang="en-US" sz="1600" dirty="0">
                <a:solidFill>
                  <a:srgbClr val="000000"/>
                </a:solidFill>
              </a:rPr>
              <a:t>A5. 측정 당시 일사 조건: 흐린 날 표시</a:t>
            </a:r>
          </a:p>
          <a:p>
            <a:pPr marL="0" indent="0" algn="l">
              <a:spcBef>
                <a:spcPts val="800"/>
              </a:spcBef>
              <a:buNone/>
            </a:pPr>
            <a:r>
              <a:rPr lang="ko-KR" altLang="en-US" sz="1600" dirty="0">
                <a:solidFill>
                  <a:srgbClr val="000000"/>
                </a:solidFill>
              </a:rPr>
              <a:t>A6. 참고문헌</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PAR·기온 보정</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21</a:t>
            </a:fld>
            <a:endParaRPr lang="ko-KR" altLang="en-US"/>
          </a:p>
        </p:txBody>
      </p:sp>
      <p:pic>
        <p:nvPicPr>
          <p:cNvPr id="14" name="Picture 13" descr="s7.png"/>
          <p:cNvPicPr>
            <a:picLocks noChangeAspect="1"/>
          </p:cNvPicPr>
          <p:nvPr/>
        </p:nvPicPr>
        <p:blipFill>
          <a:blip r:embed="rId4"/>
          <a:stretch>
            <a:fillRect/>
          </a:stretch>
        </p:blipFill>
        <p:spPr>
          <a:xfrm>
            <a:off x="457200" y="1188720"/>
            <a:ext cx="6903720" cy="2083018"/>
          </a:xfrm>
          <a:prstGeom prst="rect">
            <a:avLst/>
          </a:prstGeom>
        </p:spPr>
      </p:pic>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0">
                <a:solidFill>
                  <a:srgbClr val="000000"/>
                </a:solidFill>
              </a:rPr>
              <a:t>이유: 같은 날에도 처리 간 측정 PAR·기온이 달랐음</a:t>
            </a:r>
          </a:p>
          <a:p>
            <a:pPr marL="201168" indent="-201168">
              <a:spcBef>
                <a:spcPts val="0"/>
              </a:spcBef>
              <a:buFont typeface="Arial"/>
              <a:buChar char="•"/>
            </a:pPr>
            <a:r>
              <a:rPr sz="1400" b="0">
                <a:solidFill>
                  <a:srgbClr val="000000"/>
                </a:solidFill>
              </a:rPr>
              <a:t>모형: y = μ + 처리 + β</a:t>
            </a:r>
            <a:r>
              <a:rPr sz="1400" b="0" baseline="-25000">
                <a:solidFill>
                  <a:srgbClr val="000000"/>
                </a:solidFill>
              </a:rPr>
              <a:t>1</a:t>
            </a:r>
            <a:r>
              <a:rPr sz="1400" b="0">
                <a:solidFill>
                  <a:srgbClr val="000000"/>
                </a:solidFill>
              </a:rPr>
              <a:t>·Q</a:t>
            </a:r>
            <a:r>
              <a:rPr sz="1400" b="0" baseline="-25000">
                <a:solidFill>
                  <a:srgbClr val="000000"/>
                </a:solidFill>
              </a:rPr>
              <a:t>amb</a:t>
            </a:r>
            <a:r>
              <a:rPr sz="1400" b="0">
                <a:solidFill>
                  <a:srgbClr val="000000"/>
                </a:solidFill>
              </a:rPr>
              <a:t> + β</a:t>
            </a:r>
            <a:r>
              <a:rPr sz="1400" b="0" baseline="-25000">
                <a:solidFill>
                  <a:srgbClr val="000000"/>
                </a:solidFill>
              </a:rPr>
              <a:t>2</a:t>
            </a:r>
            <a:r>
              <a:rPr sz="1400" b="0">
                <a:solidFill>
                  <a:srgbClr val="000000"/>
                </a:solidFill>
              </a:rPr>
              <a:t>·T</a:t>
            </a:r>
            <a:r>
              <a:rPr sz="1400" b="0" baseline="-25000">
                <a:solidFill>
                  <a:srgbClr val="000000"/>
                </a:solidFill>
              </a:rPr>
              <a:t>air</a:t>
            </a:r>
            <a:r>
              <a:rPr sz="1400" b="0">
                <a:solidFill>
                  <a:srgbClr val="000000"/>
                </a:solidFill>
              </a:rPr>
              <a:t> + 측정일(임의효과) + ε (Ali et al., 2025; Gao et al., 2024)</a:t>
            </a:r>
          </a:p>
          <a:p>
            <a:pPr marL="201168" indent="-201168">
              <a:spcBef>
                <a:spcPts val="0"/>
              </a:spcBef>
              <a:buFont typeface="Arial"/>
              <a:buChar char="•"/>
            </a:pPr>
            <a:r>
              <a:rPr sz="1400" b="0">
                <a:solidFill>
                  <a:srgbClr val="000000"/>
                </a:solidFill>
              </a:rPr>
              <a:t>PAR과 기온을 양적(선형) 공변량으로 넣어 처리별 보정 평균(BLUE)을 산출, Φ</a:t>
            </a:r>
            <a:r>
              <a:rPr sz="1400" b="0" baseline="-25000">
                <a:solidFill>
                  <a:srgbClr val="000000"/>
                </a:solidFill>
              </a:rPr>
              <a:t>PSII</a:t>
            </a:r>
            <a:r>
              <a:rPr sz="1400" b="0">
                <a:solidFill>
                  <a:srgbClr val="000000"/>
                </a:solidFill>
              </a:rPr>
              <a:t>는 PAR이 높을수록 낮아짐</a:t>
            </a:r>
          </a:p>
          <a:p>
            <a:pPr marL="201168" indent="-201168">
              <a:spcBef>
                <a:spcPts val="0"/>
              </a:spcBef>
              <a:buFont typeface="Arial"/>
              <a:buChar char="•"/>
            </a:pPr>
            <a:r>
              <a:rPr sz="1400" b="0">
                <a:solidFill>
                  <a:srgbClr val="000000"/>
                </a:solidFill>
              </a:rPr>
              <a:t>기공전도도(g</a:t>
            </a:r>
            <a:r>
              <a:rPr sz="1400" b="0" baseline="-25000">
                <a:solidFill>
                  <a:srgbClr val="000000"/>
                </a:solidFill>
              </a:rPr>
              <a:t>sw</a:t>
            </a:r>
            <a:r>
              <a:rPr sz="1400" b="0">
                <a:solidFill>
                  <a:srgbClr val="000000"/>
                </a:solidFill>
              </a:rPr>
              <a:t>)는 PAR·기온 보정 없이 온도 보정 gsw(Rizzo &amp; Bailey, 2026)를 사용</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큰 차이(g</a:t>
            </a:r>
            <a:r>
              <a:rPr sz="1600" baseline="-25000">
                <a:solidFill>
                  <a:srgbClr val="E97132"/>
                </a:solidFill>
              </a:rPr>
              <a:t>sw</a:t>
            </a:r>
            <a:r>
              <a:rPr sz="1600">
                <a:solidFill>
                  <a:srgbClr val="E97132"/>
                </a:solidFill>
              </a:rPr>
              <a:t>, F</a:t>
            </a:r>
            <a:r>
              <a:rPr sz="1600" baseline="-25000">
                <a:solidFill>
                  <a:srgbClr val="E97132"/>
                </a:solidFill>
              </a:rPr>
              <a:t>s</a:t>
            </a:r>
            <a:r>
              <a:rPr sz="1600">
                <a:solidFill>
                  <a:srgbClr val="E97132"/>
                </a:solidFill>
              </a:rPr>
              <a:t>, 콩 P2)는 보정에 안정적 — 작은 차이(콩 P1 Φ</a:t>
            </a:r>
            <a:r>
              <a:rPr sz="1600" baseline="-25000">
                <a:solidFill>
                  <a:srgbClr val="E97132"/>
                </a:solidFill>
              </a:rPr>
              <a:t>PSII</a:t>
            </a:r>
            <a:r>
              <a:rPr sz="1600">
                <a:solidFill>
                  <a:srgbClr val="E97132"/>
                </a:solidFill>
              </a:rPr>
              <a:t>, ETR)는 보정 방식에 민감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그림 A: 콩 P2 개별 잎, 선 = 보정 후 PAR 기울기. B·C: 같은 날 처리별 PAR·기온. 표: 콩 P1(P2는 4처리) 처리 P, Wald F. Ali et al. (2025) J. Exp. Bot. 76:4141; Gao et al. (2024) J. Exp. Bot. 75:4904.</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광-광합성 곡선 (A-Q)</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22</a:t>
            </a:fld>
            <a:endParaRPr lang="ko-KR" altLang="en-US"/>
          </a:p>
        </p:txBody>
      </p:sp>
      <p:pic>
        <p:nvPicPr>
          <p:cNvPr id="14" name="Picture 13" descr="image.png"/>
          <p:cNvPicPr>
            <a:picLocks noChangeAspect="1"/>
          </p:cNvPicPr>
          <p:nvPr/>
        </p:nvPicPr>
        <p:blipFill>
          <a:blip r:embed="rId4"/>
          <a:stretch>
            <a:fillRect/>
          </a:stretch>
        </p:blipFill>
        <p:spPr>
          <a:xfrm>
            <a:off x="457199" y="1364948"/>
            <a:ext cx="6766560" cy="2706624"/>
          </a:xfrm>
          <a:prstGeom prst="rect">
            <a:avLst/>
          </a:prstGeom>
        </p:spPr>
      </p:pic>
      <p:sp>
        <p:nvSpPr>
          <p:cNvPr id="8" name="Card PPFD별 Dunc"/>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PPFD별 Dunc"/>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PPFD 1,500에서의 A</a:t>
            </a:r>
          </a:p>
        </p:txBody>
      </p:sp>
      <p:graphicFrame>
        <p:nvGraphicFramePr>
          <p:cNvPr id="10" name="Table 9"/>
          <p:cNvGraphicFramePr>
            <a:graphicFrameLocks noGrp="1"/>
          </p:cNvGraphicFramePr>
          <p:nvPr/>
        </p:nvGraphicFramePr>
        <p:xfrm>
          <a:off x="7680960" y="1783080"/>
          <a:ext cx="3749040" cy="190195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37744">
                <a:tc>
                  <a:txBody>
                    <a:bodyPr/>
                    <a:lstStyle/>
                    <a:p>
                      <a:pPr algn="l">
                        <a:lnSpc>
                          <a:spcPct val="100000"/>
                        </a:lnSpc>
                        <a:spcBef>
                          <a:spcPts val="0"/>
                        </a:spcBef>
                        <a:spcAft>
                          <a:spcPts val="0"/>
                        </a:spcAft>
                      </a:pPr>
                      <a:r>
                        <a:rPr sz="1050" b="1">
                          <a:solidFill>
                            <a:srgbClr val="000000"/>
                          </a:solidFill>
                        </a:rPr>
                        <a:t>A (PPFD 1500)</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Soybean</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Romaine</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sz="1050" b="0">
                          <a:solidFill>
                            <a:srgbClr val="000000"/>
                          </a:solidFill>
                        </a:rPr>
                        <a:t>Pre-treatment</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12.9</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22.6</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sz="1050" b="0">
                          <a:solidFill>
                            <a:srgbClr val="000000"/>
                          </a:solidFill>
                        </a:rPr>
                        <a:t>Control</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16.4</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sz="1050" b="0">
                          <a:solidFill>
                            <a:srgbClr val="000000"/>
                          </a:solidFill>
                        </a:rPr>
                        <a:t>Drought</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16.7</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7744">
                <a:tc>
                  <a:txBody>
                    <a:bodyPr/>
                    <a:lstStyle/>
                    <a:p>
                      <a:pPr algn="l">
                        <a:lnSpc>
                          <a:spcPct val="100000"/>
                        </a:lnSpc>
                        <a:spcBef>
                          <a:spcPts val="0"/>
                        </a:spcBef>
                        <a:spcAft>
                          <a:spcPts val="0"/>
                        </a:spcAft>
                      </a:pPr>
                      <a:r>
                        <a:rPr sz="1050" b="0">
                          <a:solidFill>
                            <a:srgbClr val="000000"/>
                          </a:solidFill>
                        </a:rPr>
                        <a:t>Waterlogging</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12.5</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21.2</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7744">
                <a:tc>
                  <a:txBody>
                    <a:bodyPr/>
                    <a:lstStyle/>
                    <a:p>
                      <a:pPr algn="l">
                        <a:lnSpc>
                          <a:spcPct val="100000"/>
                        </a:lnSpc>
                        <a:spcBef>
                          <a:spcPts val="0"/>
                        </a:spcBef>
                        <a:spcAft>
                          <a:spcPts val="0"/>
                        </a:spcAft>
                      </a:pPr>
                      <a:r>
                        <a:rPr sz="1050" b="0">
                          <a:solidFill>
                            <a:srgbClr val="000000"/>
                          </a:solidFill>
                        </a:rPr>
                        <a:t>Combined</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15.8</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17.7</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60" y="3749039"/>
            <a:ext cx="3886200" cy="1737360"/>
          </a:xfrm>
          <a:prstGeom prst="rect">
            <a:avLst/>
          </a:prstGeom>
          <a:noFill/>
        </p:spPr>
        <p:txBody>
          <a:bodyPr wrap="square">
            <a:spAutoFit/>
          </a:bodyPr>
          <a:lstStyle/>
          <a:p>
            <a:pPr marL="201168" indent="-201168">
              <a:buFont typeface="Arial"/>
              <a:buChar char="•"/>
            </a:pPr>
            <a:r>
              <a:rPr sz="1100" b="0">
                <a:solidFill>
                  <a:srgbClr val="000000"/>
                </a:solidFill>
              </a:rPr>
              <a:t>모든 PPFD 수준에서 처리 간 유의차 없음</a:t>
            </a:r>
          </a:p>
          <a:p>
            <a:pPr marL="201168" indent="-201168">
              <a:buFont typeface="Arial"/>
              <a:buChar char="•"/>
            </a:pPr>
            <a:r>
              <a:rPr sz="1100" b="0">
                <a:solidFill>
                  <a:srgbClr val="000000"/>
                </a:solidFill>
              </a:rPr>
              <a:t>콩은 처리 전 곡선이 처리 후보다 낮고, 로메인은 처리 전 곡선이 처리 후보다 높음</a:t>
            </a:r>
          </a:p>
          <a:p>
            <a:pPr marL="201168" indent="-201168">
              <a:buFont typeface="Arial"/>
              <a:buChar char="•"/>
            </a:pPr>
            <a:r>
              <a:rPr sz="1100" b="0">
                <a:solidFill>
                  <a:srgbClr val="000000"/>
                </a:solidFill>
              </a:rPr>
              <a:t>콩 침수구와 로메인 복합구가 낮은 경향</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처리 간 A-Q 곡선 차이는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값: 평균 ± SE (µmol CO</a:t>
            </a:r>
            <a:r>
              <a:rPr sz="1000" b="0" baseline="-25000">
                <a:solidFill>
                  <a:srgbClr val="595959"/>
                </a:solidFill>
              </a:rPr>
              <a:t>2</a:t>
            </a:r>
            <a:r>
              <a:rPr sz="1000" b="0">
                <a:solidFill>
                  <a:srgbClr val="595959"/>
                </a:solidFill>
              </a:rPr>
              <a:t> m</a:t>
            </a:r>
            <a:r>
              <a:rPr sz="1000" b="0" baseline="30000">
                <a:solidFill>
                  <a:srgbClr val="595959"/>
                </a:solidFill>
              </a:rPr>
              <a:t>−2</a:t>
            </a:r>
            <a:r>
              <a:rPr sz="1000" b="0">
                <a:solidFill>
                  <a:srgbClr val="595959"/>
                </a:solidFill>
              </a:rPr>
              <a:t>·s</a:t>
            </a:r>
            <a:r>
              <a:rPr sz="1000" b="0" baseline="30000">
                <a:solidFill>
                  <a:srgbClr val="595959"/>
                </a:solidFill>
              </a:rPr>
              <a:t>−1</a:t>
            </a:r>
            <a:r>
              <a:rPr sz="1000" b="0">
                <a:solidFill>
                  <a:srgbClr val="595959"/>
                </a:solidFill>
              </a:rPr>
              <a:t>). 콩 처리 전 7/22~23(3곡선), 로메인 처리 전 10/4(3곡선), 처리 후 처리당 3곡선(10/16~19). PPFD 수준별 Tukey.</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정상 상태 형광 (F</a:t>
            </a:r>
            <a:r>
              <a:rPr lang="ko-KR" altLang="en-US" sz="2800" dirty="0" baseline="-25000"/>
              <a:t>s</a:t>
            </a:r>
            <a:r>
              <a:rPr lang="ko-KR" altLang="en-US" sz="2800" dirty="0"/>
              <a:t>)</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25</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129.1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113.3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157.0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142.3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130.2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161.1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141.9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139.0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130.0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158.1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141.5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133.4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161.6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144.3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P1 침수구, P2 건조·침수·복합구가 대조구보다 높음</a:t>
            </a:r>
          </a:p>
          <a:p>
            <a:pPr marL="201168" indent="-201168">
              <a:spcBef>
                <a:spcPts val="700"/>
              </a:spcBef>
              <a:buFont typeface="Arial"/>
              <a:buChar char="•"/>
            </a:pPr>
            <a:r>
              <a:rPr sz="1400">
                <a:solidFill>
                  <a:srgbClr val="000000"/>
                </a:solidFill>
              </a:rPr>
              <a:t>로메인: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F</a:t>
            </a:r>
            <a:r>
              <a:rPr sz="1600" baseline="-25000">
                <a:solidFill>
                  <a:srgbClr val="E97132"/>
                </a:solidFill>
              </a:rPr>
              <a:t>s</a:t>
            </a:r>
            <a:r>
              <a:rPr sz="1600">
                <a:solidFill>
                  <a:srgbClr val="E97132"/>
                </a:solidFill>
              </a:rPr>
              <a:t> 절대값 차이는 형광 신호 크기 변화를 포함 — 생리 해석은 비율 지표(Φ</a:t>
            </a:r>
            <a:r>
              <a:rPr sz="1600" baseline="-25000">
                <a:solidFill>
                  <a:srgbClr val="E97132"/>
                </a:solidFill>
              </a:rPr>
              <a:t>PSII</a:t>
            </a:r>
            <a:r>
              <a:rPr sz="1600">
                <a:solidFill>
                  <a:srgbClr val="E97132"/>
                </a:solidFill>
              </a:rPr>
              <a:t>)로</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공변량 보정 평균(혼합모형, 측정일 임의효과), Tukey 문자. 그림(보정 일평균):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전자전달속도 (ETR)</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26</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52298316"/>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120.0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189.6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141.7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75.8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143.8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137.9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78.5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110.0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178.0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132.7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72.6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164.2 bc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130.0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80.2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대조구가 높고 건조구가 가장 낮음</a:t>
            </a:r>
          </a:p>
          <a:p>
            <a:pPr marL="201168" indent="-201168">
              <a:spcBef>
                <a:spcPts val="700"/>
              </a:spcBef>
              <a:buFont typeface="Arial"/>
              <a:buChar char="•"/>
            </a:pPr>
            <a:r>
              <a:rPr sz="1400">
                <a:solidFill>
                  <a:srgbClr val="000000"/>
                </a:solidFill>
              </a:rPr>
              <a:t>로메인: P1 대조구가 높은 경향, P2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ETR은 측정 광도에 비례 — 콩 P2에서 건조구의 ETR이 가장 낮음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공변량 보정 평균(혼합모형, 측정일 임의효과),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A5. 측정 당시 일사 조건: 흐린 날 표시</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27</a:t>
            </a:fld>
            <a:endParaRPr lang="ko-KR" altLang="en-US"/>
          </a:p>
        </p:txBody>
      </p:sp>
      <p:sp>
        <p:nvSpPr>
          <p:cNvPr id="7" name="Rounded Rectangle 6"/>
          <p:cNvSpPr/>
          <p:nvPr/>
        </p:nvSpPr>
        <p:spPr>
          <a:xfrm>
            <a:off x="457200" y="1188720"/>
            <a:ext cx="5394960" cy="274320"/>
          </a:xfrm>
          <a:prstGeom prst="roundRect">
            <a:avLst>
              <a:gd name="adj" fmla="val 20000"/>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콩</a:t>
            </a:r>
          </a:p>
        </p:txBody>
      </p:sp>
      <p:graphicFrame>
        <p:nvGraphicFramePr>
          <p:cNvPr id="8" name="Table 7"/>
          <p:cNvGraphicFramePr>
            <a:graphicFrameLocks noGrp="1"/>
          </p:cNvGraphicFramePr>
          <p:nvPr/>
        </p:nvGraphicFramePr>
        <p:xfrm>
          <a:off x="45720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08/13</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10:31–11:01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348</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0.61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08/14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10:19–10:36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08/15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08:31–08:40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08/16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08:43–08:57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08/17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08:37–08:51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08/18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08:54–09:05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08/19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09:42–10:01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08/20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09:32–09:45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162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08/21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08:18–08:25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08/29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11:39–12:32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76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09/04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10:25–11:02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09/11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10:16–10:43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09/25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09:19–09:59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10/02</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10:25–11:06</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338</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0.92</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9" name="Rounded Rectangle 8"/>
          <p:cNvSpPr/>
          <p:nvPr/>
        </p:nvSpPr>
        <p:spPr>
          <a:xfrm>
            <a:off x="6309360" y="1188720"/>
            <a:ext cx="5394960" cy="27432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로메인 상추</a:t>
            </a:r>
          </a:p>
        </p:txBody>
      </p:sp>
      <p:graphicFrame>
        <p:nvGraphicFramePr>
          <p:cNvPr id="10" name="Table 9"/>
          <p:cNvGraphicFramePr>
            <a:graphicFrameLocks noGrp="1"/>
          </p:cNvGraphicFramePr>
          <p:nvPr/>
        </p:nvGraphicFramePr>
        <p:xfrm>
          <a:off x="630936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10/06</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10:20–10:22</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214</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0.50</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10/08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09:29–09:36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10/09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10:53–10:59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10/10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09:44–09:53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10/11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11:17–11:28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0.74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10/12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10:36–10:57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484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10/13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09:33–10:06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10/14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09:28–09:53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10/15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09:31–09:51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10/16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09:40–09:56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10/17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08:59–09:33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10/19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08:28–09:27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10/21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09:47–10:04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10/23</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09:33–09:55</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0.95</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11" name="Conclusion Box"/>
          <p:cNvSpPr/>
          <p:nvPr/>
        </p:nvSpPr>
        <p:spPr>
          <a:xfrm>
            <a:off x="841248" y="571500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모든 측정일을 포함하고 측정일·선형 PAR·기온으로 보정 — CI &lt; 0.5인 날은 회색 띠로 표시</a:t>
            </a:r>
          </a:p>
        </p:txBody>
      </p:sp>
      <p:sp>
        <p:nvSpPr>
          <p:cNvPr id="12" name="Footnote"/>
          <p:cNvSpPr txBox="1"/>
          <p:nvPr/>
        </p:nvSpPr>
        <p:spPr>
          <a:xfrm>
            <a:off x="457200" y="6355080"/>
            <a:ext cx="8138160" cy="310896"/>
          </a:xfrm>
          <a:prstGeom prst="rect">
            <a:avLst/>
          </a:prstGeom>
          <a:noFill/>
        </p:spPr>
        <p:txBody>
          <a:bodyPr wrap="square" lIns="45720" tIns="0" rIns="45720" bIns="0" anchor="t">
            <a:spAutoFit/>
          </a:bodyPr>
          <a:lstStyle/>
          <a:p>
            <a:r>
              <a:rPr sz="1000">
                <a:solidFill>
                  <a:srgbClr val="595959"/>
                </a:solidFill>
              </a:rPr>
              <a:t>CI = 측정 구간 평균 SW / 같은 시각대 ±10일 90분위수 SW(맑은 날 기준). 날짜별 예외 없이 한 규칙으로 통일. 로메인 10/13은 SW 자료가 4분뿐(결측).</a:t>
            </a:r>
          </a:p>
        </p:txBody>
      </p:sp>
      <p:sp>
        <p:nvSpPr>
          <p:cNvPr id="13"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4"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5"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6"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7"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18"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기상 센서 : 기온, 일적산광량 (DLI)</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저온·중간 일사 조건에서 처리되어 증발산 부하와 건조 스트레스 강도가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밭콩: CR1000X 기상 센서, 로메인: 26번 온실 환경 데이터(CR300; 10/13·10/18 결측일 제외). 로메인 DLI = 일사량(MJ) × 2.02 mol/MJ 추정. 점선 = 침수 시작일.</a:t>
            </a:r>
          </a:p>
        </p:txBody>
      </p:sp>
      <p:pic>
        <p:nvPicPr>
          <p:cNvPr id="27" name="Picture 26" descr="image.png"/>
          <p:cNvPicPr>
            <a:picLocks noChangeAspect="1"/>
          </p:cNvPicPr>
          <p:nvPr/>
        </p:nvPicPr>
        <p:blipFill>
          <a:blip r:embed="rId2"/>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18.2 vs 28.4 °C</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처리 기간 평균 기온 (로메인 vs 콩 DAT 0~16)</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17.5 vs 22.0</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DLI (mol·m</a:t>
            </a:r>
            <a:r>
              <a:rPr lang="ko-KR" altLang="en-US" sz="1100" b="0" dirty="0" baseline="30000">
                <a:solidFill>
                  <a:srgbClr val="595959"/>
                </a:solidFill>
              </a:rPr>
              <a:t>−2</a:t>
            </a:r>
            <a:r>
              <a:rPr lang="ko-KR" altLang="en-US" sz="1100" b="0" dirty="0">
                <a:solidFill>
                  <a:srgbClr val="595959"/>
                </a:solidFill>
              </a:rPr>
              <a:t>·d</a:t>
            </a:r>
            <a:r>
              <a:rPr lang="ko-KR" altLang="en-US" sz="1100" b="0" dirty="0" baseline="30000">
                <a:solidFill>
                  <a:srgbClr val="595959"/>
                </a:solidFill>
              </a:rPr>
              <a:t>−1</a:t>
            </a:r>
            <a:r>
              <a:rPr lang="ko-KR" altLang="en-US" sz="1100" b="0" dirty="0">
                <a:solidFill>
                  <a:srgbClr val="595959"/>
                </a:solidFill>
              </a:rPr>
              <a:t>, 로메인 vs 콩 DAT 0~16)</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처리 기간 동안 저온·중간 일사 조건</a:t>
            </a:r>
          </a:p>
          <a:p>
            <a:pPr marL="201168" indent="-201168" algn="l">
              <a:spcBef>
                <a:spcPts val="1000"/>
              </a:spcBef>
              <a:buFont typeface="Arial"/>
              <a:buChar char="•"/>
            </a:pPr>
            <a:r>
              <a:rPr lang="ko-KR" altLang="en-US" sz="1400" dirty="0">
                <a:solidFill>
                  <a:srgbClr val="000000"/>
                </a:solidFill>
              </a:rPr>
              <a:t>콩:  처리 초기에 로메인보다 고온·고일사 조건</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로메인 상추 (기공 → 명반응 → 광합성 능력 → 건물중)</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 상추는 회복이 빨랐지만 침수 기간 동안의 손실이 유지됨</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Körner 2015 Curr Opin Plant Biol 25:107; Tardieu et al. 2018 Annu Rev Plant Biol; Haverroth et al. 2024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lettuce.png"/>
          <p:cNvPicPr>
            <a:picLocks noChangeAspect="1"/>
          </p:cNvPicPr>
          <p:nvPr/>
        </p:nvPicPr>
        <p:blipFill>
          <a:blip r:embed="rId2"/>
          <a:stretch>
            <a:fillRect/>
          </a:stretch>
        </p:blipFill>
        <p:spPr>
          <a:xfrm>
            <a:off x="502920" y="1874519"/>
            <a:ext cx="11155680" cy="3291840"/>
          </a:xfrm>
          <a:prstGeom prst="rect">
            <a:avLst/>
          </a:prstGeom>
        </p:spPr>
      </p:pic>
      <p:sp>
        <p:nvSpPr>
          <p:cNvPr id="58" name="Rounded Rectangle 57"/>
          <p:cNvSpPr/>
          <p:nvPr/>
        </p:nvSpPr>
        <p:spPr>
          <a:xfrm>
            <a:off x="939600"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472488"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730752"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626364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520787"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9053675"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31082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생육</a:t>
            </a:r>
          </a:p>
          <a:p>
            <a:pPr algn="ctr"/>
            <a:r>
              <a:rPr sz="1050">
                <a:solidFill>
                  <a:srgbClr val="FFFFFF"/>
                </a:solidFill>
              </a:rPr>
              <a:t>지상부 건물중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A6. 참고문헌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Ali et al. (2025) J Exp Bot 76:4141.</a:t>
            </a:r>
          </a:p>
          <a:p>
            <a:pPr marL="0" indent="0" algn="l">
              <a:spcBef>
                <a:spcPts val="800"/>
              </a:spcBef>
              <a:buNone/>
            </a:pPr>
            <a:r>
              <a:rPr lang="ko-KR" altLang="en-US" sz="1600" dirty="0">
                <a:solidFill>
                  <a:srgbClr val="000000"/>
                </a:solidFill>
              </a:rPr>
              <a:t>Buckley TN (2019) New Phytol 224 (doi:10.1111/nph.15899).</a:t>
            </a:r>
          </a:p>
          <a:p>
            <a:pPr marL="0" indent="0" algn="l">
              <a:spcBef>
                <a:spcPts val="800"/>
              </a:spcBef>
              <a:buNone/>
            </a:pPr>
            <a:r>
              <a:rPr lang="ko-KR" altLang="en-US" sz="1600" dirty="0">
                <a:solidFill>
                  <a:srgbClr val="000000"/>
                </a:solidFill>
              </a:rPr>
              <a:t>Gao et al. (2024) J Exp Bot 75:4904.</a:t>
            </a:r>
          </a:p>
          <a:p>
            <a:pPr marL="0" indent="0" algn="l">
              <a:spcBef>
                <a:spcPts val="800"/>
              </a:spcBef>
              <a:buNone/>
            </a:pPr>
            <a:r>
              <a:rPr lang="ko-KR" altLang="en-US" sz="1600" dirty="0">
                <a:solidFill>
                  <a:srgbClr val="000000"/>
                </a:solidFill>
              </a:rPr>
              <a:t>Haverroth EJ et al. (2024) Plant Physiol 197(1):kiae336.</a:t>
            </a:r>
          </a:p>
          <a:p>
            <a:pPr marL="0" indent="0" algn="l">
              <a:spcBef>
                <a:spcPts val="800"/>
              </a:spcBef>
              <a:buNone/>
            </a:pPr>
            <a:r>
              <a:rPr lang="ko-KR" altLang="en-US" sz="1600" dirty="0">
                <a:solidFill>
                  <a:srgbClr val="000000"/>
                </a:solidFill>
              </a:rPr>
              <a:t>Hilker M et al. (2016) Biol Rev 91:1118–1133.</a:t>
            </a:r>
          </a:p>
          <a:p>
            <a:pPr marL="0" indent="0" algn="l">
              <a:spcBef>
                <a:spcPts val="800"/>
              </a:spcBef>
              <a:buNone/>
            </a:pPr>
            <a:r>
              <a:rPr lang="ko-KR" altLang="en-US" sz="1600" dirty="0">
                <a:solidFill>
                  <a:srgbClr val="000000"/>
                </a:solidFill>
              </a:rPr>
              <a:t>Körner C (2015) Curr Opin Plant Biol 25:107–114.</a:t>
            </a:r>
          </a:p>
          <a:p>
            <a:pPr marL="0" indent="0" algn="l">
              <a:spcBef>
                <a:spcPts val="800"/>
              </a:spcBef>
              <a:buNone/>
            </a:pPr>
            <a:r>
              <a:rPr lang="ko-KR" altLang="en-US" sz="1600" dirty="0">
                <a:solidFill>
                  <a:srgbClr val="000000"/>
                </a:solidFill>
              </a:rPr>
              <a:t>Rizzo KT, Bailey BN (2026) Plant Cell Environ 49:1412–1423.</a:t>
            </a:r>
          </a:p>
          <a:p>
            <a:pPr marL="0" indent="0" algn="l">
              <a:spcBef>
                <a:spcPts val="800"/>
              </a:spcBef>
              <a:buNone/>
            </a:pPr>
            <a:r>
              <a:rPr lang="ko-KR" altLang="en-US" sz="1600" dirty="0">
                <a:solidFill>
                  <a:srgbClr val="000000"/>
                </a:solidFill>
              </a:rPr>
              <a:t>Sasidharan R et al. (2018) Plant Physiol 176:1106–1117.</a:t>
            </a:r>
          </a:p>
          <a:p>
            <a:pPr marL="0" indent="0" algn="l">
              <a:spcBef>
                <a:spcPts val="800"/>
              </a:spcBef>
              <a:buNone/>
            </a:pPr>
            <a:r>
              <a:rPr lang="ko-KR" altLang="en-US" sz="1600" dirty="0">
                <a:solidFill>
                  <a:srgbClr val="000000"/>
                </a:solidFill>
              </a:rPr>
              <a:t>Swain DL et al. (2018) Nat Clim Change 8:427–433.</a:t>
            </a:r>
          </a:p>
          <a:p>
            <a:pPr marL="0" indent="0" algn="l">
              <a:spcBef>
                <a:spcPts val="800"/>
              </a:spcBef>
              <a:buNone/>
            </a:pPr>
            <a:r>
              <a:rPr lang="ko-KR" altLang="en-US" sz="1600" dirty="0">
                <a:solidFill>
                  <a:srgbClr val="000000"/>
                </a:solidFill>
              </a:rPr>
              <a:t>Tan X et al. (2018) J Plant Physiol 227:20–30.</a:t>
            </a:r>
          </a:p>
          <a:p>
            <a:pPr marL="0" indent="0" algn="l">
              <a:spcBef>
                <a:spcPts val="800"/>
              </a:spcBef>
              <a:buNone/>
            </a:pPr>
            <a:r>
              <a:rPr lang="ko-KR" altLang="en-US" sz="1600" dirty="0">
                <a:solidFill>
                  <a:srgbClr val="000000"/>
                </a:solidFill>
              </a:rPr>
              <a:t>Tardieu F, Simonneau T, Muller B (2018) Annu Rev Plant Biol 69.</a:t>
            </a:r>
          </a:p>
          <a:p>
            <a:pPr marL="0" indent="0" algn="l">
              <a:spcBef>
                <a:spcPts val="800"/>
              </a:spcBef>
              <a:buNone/>
            </a:pPr>
            <a:r>
              <a:rPr lang="ko-KR" altLang="en-US" sz="1600" dirty="0">
                <a:solidFill>
                  <a:srgbClr val="000000"/>
                </a:solidFill>
              </a:rPr>
              <a:t>Yeung E et al. (2018) PNAS 115:E6085–E6094.</a:t>
            </a:r>
          </a:p>
          <a:p>
            <a:pPr marL="0" indent="0" algn="l">
              <a:spcBef>
                <a:spcPts val="800"/>
              </a:spcBef>
              <a:buNone/>
            </a:pPr>
            <a:r>
              <a:rPr lang="ko-KR" altLang="en-US" sz="1600" dirty="0">
                <a:solidFill>
                  <a:srgbClr val="000000"/>
                </a:solidFill>
              </a:rPr>
              <a:t>Zandalinas SI, Mittler R (2022) New Phytol 234:1161–1167.</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19410</TotalTime>
  <Words>8721</Words>
  <Application>Microsoft Office PowerPoint</Application>
  <PresentationFormat>와이드스크린</PresentationFormat>
  <Paragraphs>1251</Paragraphs>
  <Slides>32</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맑은 고딕</vt:lpstr>
      <vt:lpstr>맑은 고딕</vt:lpstr>
      <vt:lpstr>Arial</vt:lpstr>
      <vt:lpstr>Times New Roman</vt:lpstr>
      <vt:lpstr>Office 테마</vt:lpstr>
      <vt:lpstr>침수 및 건조 복합재해에 대한 생육 및 생리 반응 비교  Comparison of Growth and Physiological Responses to Flooding, Drought, and Combined Stress</vt:lpstr>
      <vt:lpstr>연구 배경: 한 생육기 안의 침수–건조 연속 재해</vt:lpstr>
      <vt:lpstr>연구 목적: 수분 재해별 생리적 제한 단계 규명</vt:lpstr>
      <vt:lpstr>공시 작물 및 수분 처리</vt:lpstr>
      <vt:lpstr>처리 일정과 측정 시기 (DAT 기준 정렬)</vt:lpstr>
      <vt:lpstr>측정 항목: 제한 단계별 지표</vt:lpstr>
      <vt:lpstr>처리 검증: 실제 수분 조건과 한계</vt:lpstr>
      <vt:lpstr>① 기공전도도 (gsw): 침수 직후 두 작물 모두 감소</vt:lpstr>
      <vt:lpstr>① 기공 회복 속도: 상추는 빠르게, 콩은 느리게</vt:lpstr>
      <vt:lpstr>① 상추 침수 직후(DAT 3): 기공만 닫힘</vt:lpstr>
      <vt:lpstr>② ΦPSII: 콩 건조 저하는 고광도에서만, 상추는 변화 없음</vt:lpstr>
      <vt:lpstr>③ 광계 II 손상과 형광 신호 크기</vt:lpstr>
      <vt:lpstr>④ 광합성 능력 (A-Ci, A-Q 파라미터)</vt:lpstr>
      <vt:lpstr>⑤ 생육: 상추는 침수로 −40%, 콩은 초기 생식생장 지연</vt:lpstr>
      <vt:lpstr>⑤ 상추 생육 감소는 잎 생리로 설명되지 않음</vt:lpstr>
      <vt:lpstr>제한 단계 종합: 작물 × 처리</vt:lpstr>
      <vt:lpstr>고찰: 상추 생육 감소 경로와 콩 결과의 한계</vt:lpstr>
      <vt:lpstr>결론 및 향후 계획</vt:lpstr>
      <vt:lpstr>PowerPoint 프레젠테이션</vt:lpstr>
      <vt:lpstr>보충 자료</vt:lpstr>
      <vt:lpstr>A1. LI-600 보정: 선형 PAR(Qamb) + 기온(Tair)</vt:lpstr>
      <vt:lpstr>A2. LI-6800 광도별 형광 반응 ① 처리별 Fo·Fm</vt:lpstr>
      <vt:lpstr>A3. LI-6800 광도별 형광 반응 ② 통합 Fo·Fm</vt:lpstr>
      <vt:lpstr>A4. 광포화점 (LSP): NRH 모델 Q80</vt:lpstr>
      <vt:lpstr>A5. 정상 상태 형광 (Fs): 실제 값 비교</vt:lpstr>
      <vt:lpstr>A6. 전자전달속도 (ETR): 실제 값 비교</vt:lpstr>
      <vt:lpstr>A7. 측정 당시 일사 조건: 흐린 날 표시</vt:lpstr>
      <vt:lpstr>A8. LI-600 에너지 분배 (NPQ·ΦNO)</vt:lpstr>
      <vt:lpstr>A9. 원자료 전체 포함 분석: 제외·선별 자료</vt:lpstr>
      <vt:lpstr>A10. A-Ci·A-Q 파라미터: 전체 곡선 포함</vt:lpstr>
      <vt:lpstr>A11. gsw 전체 측정값 포함 (삭제 11개 복원)</vt:lpstr>
      <vt:lpstr>A12. 콩 생육: 원자료 전체 vs 이상값제거 시트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2</cp:revision>
  <dcterms:created xsi:type="dcterms:W3CDTF">2026-04-06T01:45:26Z</dcterms:created>
  <dcterms:modified xsi:type="dcterms:W3CDTF">2026-10-30T01:34:10Z</dcterms:modified>
</cp:coreProperties>
</file>