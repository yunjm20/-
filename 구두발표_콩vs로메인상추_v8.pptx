
<file path=[Content_Types].xml><?xml version="1.0" encoding="utf-8"?>
<Types xmlns="http://schemas.openxmlformats.org/package/2006/content-types">
  <Default Extension="jpeg" ContentType="image/jpeg"/>
  <Default Extension="png" ContentType="image/png"/>
  <Default Extension="png&amp;w=3840&amp;q=75"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415" r:id="rId3"/>
    <p:sldId id="416" r:id="rId4"/>
    <p:sldId id="392" r:id="rId5"/>
    <p:sldId id="373" r:id="rId6"/>
    <p:sldId id="393" r:id="rId7"/>
    <p:sldId id="412" r:id="rId8"/>
    <p:sldId id="394" r:id="rId9"/>
    <p:sldId id="376" r:id="rId10"/>
    <p:sldId id="377" r:id="rId11"/>
    <p:sldId id="417" r:id="rId12"/>
    <p:sldId id="381" r:id="rId13"/>
    <p:sldId id="397" r:id="rId14"/>
    <p:sldId id="398" r:id="rId15"/>
    <p:sldId id="399" r:id="rId16"/>
    <p:sldId id="413" r:id="rId17"/>
    <p:sldId id="400" r:id="rId18"/>
    <p:sldId id="301" r:id="rId19"/>
    <p:sldId id="401" r:id="rId20"/>
    <p:sldId id="407" r:id="rId21"/>
    <p:sldId id="383" r:id="rId22"/>
    <p:sldId id="378" r:id="rId23"/>
    <p:sldId id="379" r:id="rId24"/>
    <p:sldId id="375" r:id="rId25"/>
    <p:sldId id="414" r:id="rId2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5738"/>
    <a:srgbClr val="76502F"/>
    <a:srgbClr val="7E5635"/>
    <a:srgbClr val="7A5431"/>
    <a:srgbClr val="6B4226"/>
    <a:srgbClr val="0F9ED5"/>
    <a:srgbClr val="136331"/>
    <a:srgbClr val="1E3A8A"/>
    <a:srgbClr val="991B1B"/>
    <a:srgbClr val="8D71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82E6A3-3933-46C6-8CCE-9C72A2FAB6E1}" v="21" dt="2026-11-02T01:50:44.181"/>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7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1-02T02:01:37.186" v="4089" actId="1076"/>
      <pc:docMkLst>
        <pc:docMk/>
      </pc:docMkLst>
      <pc:sldChg chg="modSp mod">
        <pc:chgData name="윤정민" userId="6b15c765-da21-42d7-95fe-61eaef7495af" providerId="ADAL" clId="{5C7C66C6-67D0-439D-9B00-412197ADBF19}" dt="2026-11-02T01:41:39.204" v="3411" actId="1036"/>
        <pc:sldMkLst>
          <pc:docMk/>
          <pc:sldMk cId="0" sldId="373"/>
        </pc:sldMkLst>
        <pc:spChg chg="mod">
          <ac:chgData name="윤정민" userId="6b15c765-da21-42d7-95fe-61eaef7495af" providerId="ADAL" clId="{5C7C66C6-67D0-439D-9B00-412197ADBF19}" dt="2026-11-02T01:33:34.153" v="3296" actId="11530"/>
          <ac:spMkLst>
            <pc:docMk/>
            <pc:sldMk cId="0" sldId="373"/>
            <ac:spMk id="22" creationId="{00000000-0000-0000-0000-000000000000}"/>
          </ac:spMkLst>
        </pc:spChg>
        <pc:spChg chg="mod">
          <ac:chgData name="윤정민" userId="6b15c765-da21-42d7-95fe-61eaef7495af" providerId="ADAL" clId="{5C7C66C6-67D0-439D-9B00-412197ADBF19}" dt="2026-11-02T01:33:34.153" v="3296" actId="11530"/>
          <ac:spMkLst>
            <pc:docMk/>
            <pc:sldMk cId="0" sldId="373"/>
            <ac:spMk id="23" creationId="{00000000-0000-0000-0000-000000000000}"/>
          </ac:spMkLst>
        </pc:spChg>
        <pc:spChg chg="mod">
          <ac:chgData name="윤정민" userId="6b15c765-da21-42d7-95fe-61eaef7495af" providerId="ADAL" clId="{5C7C66C6-67D0-439D-9B00-412197ADBF19}" dt="2026-11-02T01:33:34.153" v="3296" actId="11530"/>
          <ac:spMkLst>
            <pc:docMk/>
            <pc:sldMk cId="0" sldId="373"/>
            <ac:spMk id="40" creationId="{00000000-0000-0000-0000-000000000000}"/>
          </ac:spMkLst>
        </pc:spChg>
        <pc:spChg chg="mod">
          <ac:chgData name="윤정민" userId="6b15c765-da21-42d7-95fe-61eaef7495af" providerId="ADAL" clId="{5C7C66C6-67D0-439D-9B00-412197ADBF19}" dt="2026-11-02T01:33:34.153" v="3296" actId="11530"/>
          <ac:spMkLst>
            <pc:docMk/>
            <pc:sldMk cId="0" sldId="373"/>
            <ac:spMk id="42" creationId="{00000000-0000-0000-0000-000000000000}"/>
          </ac:spMkLst>
        </pc:spChg>
        <pc:spChg chg="mod">
          <ac:chgData name="윤정민" userId="6b15c765-da21-42d7-95fe-61eaef7495af" providerId="ADAL" clId="{5C7C66C6-67D0-439D-9B00-412197ADBF19}" dt="2026-11-02T01:41:39.204" v="3411" actId="1036"/>
          <ac:spMkLst>
            <pc:docMk/>
            <pc:sldMk cId="0" sldId="373"/>
            <ac:spMk id="58"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5"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6"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7"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8" creationId="{00000000-0000-0000-0000-000000000000}"/>
          </ac:spMkLst>
        </pc:spChg>
        <pc:spChg chg="mod">
          <ac:chgData name="윤정민" userId="6b15c765-da21-42d7-95fe-61eaef7495af" providerId="ADAL" clId="{5C7C66C6-67D0-439D-9B00-412197ADBF19}" dt="2026-11-02T01:33:48.438" v="3298" actId="11530"/>
          <ac:spMkLst>
            <pc:docMk/>
            <pc:sldMk cId="0" sldId="373"/>
            <ac:spMk id="69"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0"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1"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4"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7" creationId="{00000000-0000-0000-0000-000000000000}"/>
          </ac:spMkLst>
        </pc:spChg>
      </pc:sldChg>
      <pc:sldChg chg="addSp delSp modSp mod">
        <pc:chgData name="윤정민" userId="6b15c765-da21-42d7-95fe-61eaef7495af" providerId="ADAL" clId="{5C7C66C6-67D0-439D-9B00-412197ADBF19}" dt="2026-11-02T01:39:06.673" v="3390" actId="14100"/>
        <pc:sldMkLst>
          <pc:docMk/>
          <pc:sldMk cId="0" sldId="376"/>
        </pc:sldMkLst>
        <pc:spChg chg="mod">
          <ac:chgData name="윤정민" userId="6b15c765-da21-42d7-95fe-61eaef7495af" providerId="ADAL" clId="{5C7C66C6-67D0-439D-9B00-412197ADBF19}" dt="2026-11-02T01:33:12.325" v="3295" actId="20577"/>
          <ac:spMkLst>
            <pc:docMk/>
            <pc:sldMk cId="0" sldId="376"/>
            <ac:spMk id="2" creationId="{00000000-0000-0000-0000-000000000000}"/>
          </ac:spMkLst>
        </pc:spChg>
        <pc:spChg chg="add mod">
          <ac:chgData name="윤정민" userId="6b15c765-da21-42d7-95fe-61eaef7495af" providerId="ADAL" clId="{5C7C66C6-67D0-439D-9B00-412197ADBF19}" dt="2026-11-02T01:39:06.673" v="3390" actId="14100"/>
          <ac:spMkLst>
            <pc:docMk/>
            <pc:sldMk cId="0" sldId="376"/>
            <ac:spMk id="9" creationId="{94A385AD-D659-736C-4E2F-D511B8D61E1C}"/>
          </ac:spMkLst>
        </pc:spChg>
        <pc:spChg chg="del">
          <ac:chgData name="윤정민" userId="6b15c765-da21-42d7-95fe-61eaef7495af" providerId="ADAL" clId="{5C7C66C6-67D0-439D-9B00-412197ADBF19}" dt="2026-11-02T01:38:18.750" v="3383" actId="478"/>
          <ac:spMkLst>
            <pc:docMk/>
            <pc:sldMk cId="0" sldId="376"/>
            <ac:spMk id="13" creationId="{00000000-0000-0000-0000-000000000000}"/>
          </ac:spMkLst>
        </pc:spChg>
        <pc:spChg chg="mod">
          <ac:chgData name="윤정민" userId="6b15c765-da21-42d7-95fe-61eaef7495af" providerId="ADAL" clId="{5C7C66C6-67D0-439D-9B00-412197ADBF19}" dt="2026-11-02T01:36:25.485" v="3328" actId="164"/>
          <ac:spMkLst>
            <pc:docMk/>
            <pc:sldMk cId="0" sldId="376"/>
            <ac:spMk id="30" creationId="{00000000-0000-0000-0000-000000000000}"/>
          </ac:spMkLst>
        </pc:spChg>
        <pc:spChg chg="mod">
          <ac:chgData name="윤정민" userId="6b15c765-da21-42d7-95fe-61eaef7495af" providerId="ADAL" clId="{5C7C66C6-67D0-439D-9B00-412197ADBF19}" dt="2026-11-02T01:37:05.822" v="3338" actId="113"/>
          <ac:spMkLst>
            <pc:docMk/>
            <pc:sldMk cId="0" sldId="376"/>
            <ac:spMk id="31" creationId="{00000000-0000-0000-0000-000000000000}"/>
          </ac:spMkLst>
        </pc:spChg>
        <pc:spChg chg="mod">
          <ac:chgData name="윤정민" userId="6b15c765-da21-42d7-95fe-61eaef7495af" providerId="ADAL" clId="{5C7C66C6-67D0-439D-9B00-412197ADBF19}" dt="2026-11-02T01:36:30.358" v="3332" actId="1076"/>
          <ac:spMkLst>
            <pc:docMk/>
            <pc:sldMk cId="0" sldId="376"/>
            <ac:spMk id="32" creationId="{00000000-0000-0000-0000-000000000000}"/>
          </ac:spMkLst>
        </pc:spChg>
        <pc:spChg chg="mod">
          <ac:chgData name="윤정민" userId="6b15c765-da21-42d7-95fe-61eaef7495af" providerId="ADAL" clId="{5C7C66C6-67D0-439D-9B00-412197ADBF19}" dt="2026-11-02T01:36:23.780" v="3327" actId="164"/>
          <ac:spMkLst>
            <pc:docMk/>
            <pc:sldMk cId="0" sldId="376"/>
            <ac:spMk id="33" creationId="{00000000-0000-0000-0000-000000000000}"/>
          </ac:spMkLst>
        </pc:spChg>
        <pc:spChg chg="mod">
          <ac:chgData name="윤정민" userId="6b15c765-da21-42d7-95fe-61eaef7495af" providerId="ADAL" clId="{5C7C66C6-67D0-439D-9B00-412197ADBF19}" dt="2026-11-02T01:37:05.822" v="3338" actId="113"/>
          <ac:spMkLst>
            <pc:docMk/>
            <pc:sldMk cId="0" sldId="376"/>
            <ac:spMk id="34" creationId="{00000000-0000-0000-0000-000000000000}"/>
          </ac:spMkLst>
        </pc:spChg>
        <pc:spChg chg="mod">
          <ac:chgData name="윤정민" userId="6b15c765-da21-42d7-95fe-61eaef7495af" providerId="ADAL" clId="{5C7C66C6-67D0-439D-9B00-412197ADBF19}" dt="2026-11-02T01:36:23.780" v="3327" actId="164"/>
          <ac:spMkLst>
            <pc:docMk/>
            <pc:sldMk cId="0" sldId="376"/>
            <ac:spMk id="35" creationId="{00000000-0000-0000-0000-000000000000}"/>
          </ac:spMkLst>
        </pc:spChg>
        <pc:grpChg chg="add mod">
          <ac:chgData name="윤정민" userId="6b15c765-da21-42d7-95fe-61eaef7495af" providerId="ADAL" clId="{5C7C66C6-67D0-439D-9B00-412197ADBF19}" dt="2026-11-02T01:36:28.232" v="3330" actId="1076"/>
          <ac:grpSpMkLst>
            <pc:docMk/>
            <pc:sldMk cId="0" sldId="376"/>
            <ac:grpSpMk id="5" creationId="{81741FFE-9ABA-B3CC-3766-4D49424A24AF}"/>
          </ac:grpSpMkLst>
        </pc:grpChg>
        <pc:grpChg chg="add mod">
          <ac:chgData name="윤정민" userId="6b15c765-da21-42d7-95fe-61eaef7495af" providerId="ADAL" clId="{5C7C66C6-67D0-439D-9B00-412197ADBF19}" dt="2026-11-02T01:36:37.672" v="3333" actId="1076"/>
          <ac:grpSpMkLst>
            <pc:docMk/>
            <pc:sldMk cId="0" sldId="376"/>
            <ac:grpSpMk id="7" creationId="{6DFFF5F8-0689-8718-2088-863FA9323D0A}"/>
          </ac:grpSpMkLst>
        </pc:grpChg>
      </pc:sldChg>
      <pc:sldChg chg="addSp delSp modSp mod">
        <pc:chgData name="윤정민" userId="6b15c765-da21-42d7-95fe-61eaef7495af" providerId="ADAL" clId="{5C7C66C6-67D0-439D-9B00-412197ADBF19}" dt="2026-11-02T01:54:57.767" v="3994"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pChg chg="add del mod">
          <ac:chgData name="윤정민" userId="6b15c765-da21-42d7-95fe-61eaef7495af" providerId="ADAL" clId="{5C7C66C6-67D0-439D-9B00-412197ADBF19}" dt="2026-11-02T01:38:35.950" v="3386"/>
          <ac:spMkLst>
            <pc:docMk/>
            <pc:sldMk cId="0" sldId="377"/>
            <ac:spMk id="5" creationId="{75D2F8DE-52D4-C32C-79F2-F83861A8649C}"/>
          </ac:spMkLst>
        </pc:spChg>
        <pc:spChg chg="del mod">
          <ac:chgData name="윤정민" userId="6b15c765-da21-42d7-95fe-61eaef7495af" providerId="ADAL" clId="{5C7C66C6-67D0-439D-9B00-412197ADBF19}" dt="2026-11-02T01:42:08.979" v="3414" actId="478"/>
          <ac:spMkLst>
            <pc:docMk/>
            <pc:sldMk cId="0" sldId="377"/>
            <ac:spMk id="9" creationId="{00000000-0000-0000-0000-000000000000}"/>
          </ac:spMkLst>
        </pc:spChg>
        <pc:spChg chg="del">
          <ac:chgData name="윤정민" userId="6b15c765-da21-42d7-95fe-61eaef7495af" providerId="ADAL" clId="{5C7C66C6-67D0-439D-9B00-412197ADBF19}" dt="2026-11-02T01:42:08.062" v="3413" actId="478"/>
          <ac:spMkLst>
            <pc:docMk/>
            <pc:sldMk cId="0" sldId="377"/>
            <ac:spMk id="10" creationId="{00000000-0000-0000-0000-000000000000}"/>
          </ac:spMkLst>
        </pc:spChg>
        <pc:spChg chg="mod">
          <ac:chgData name="윤정민" userId="6b15c765-da21-42d7-95fe-61eaef7495af" providerId="ADAL" clId="{5C7C66C6-67D0-439D-9B00-412197ADBF19}" dt="2026-11-02T01:54:57.767" v="3994" actId="14100"/>
          <ac:spMkLst>
            <pc:docMk/>
            <pc:sldMk cId="0" sldId="377"/>
            <ac:spMk id="11" creationId="{00000000-0000-0000-0000-000000000000}"/>
          </ac:spMkLst>
        </pc:spChg>
        <pc:spChg chg="del">
          <ac:chgData name="윤정민" userId="6b15c765-da21-42d7-95fe-61eaef7495af" providerId="ADAL" clId="{5C7C66C6-67D0-439D-9B00-412197ADBF19}" dt="2026-11-02T01:43:10.609" v="3475" actId="478"/>
          <ac:spMkLst>
            <pc:docMk/>
            <pc:sldMk cId="0" sldId="377"/>
            <ac:spMk id="13" creationId="{00000000-0000-0000-0000-000000000000}"/>
          </ac:spMkLst>
        </pc:spChg>
      </pc:sldChg>
      <pc:sldChg chg="delSp modSp mod">
        <pc:chgData name="윤정민" userId="6b15c765-da21-42d7-95fe-61eaef7495af" providerId="ADAL" clId="{5C7C66C6-67D0-439D-9B00-412197ADBF19}" dt="2026-11-02T01:58:58.269" v="4009" actId="1076"/>
        <pc:sldMkLst>
          <pc:docMk/>
          <pc:sldMk cId="0" sldId="381"/>
        </pc:sldMkLst>
        <pc:spChg chg="mod">
          <ac:chgData name="윤정민" userId="6b15c765-da21-42d7-95fe-61eaef7495af" providerId="ADAL" clId="{5C7C66C6-67D0-439D-9B00-412197ADBF19}" dt="2026-11-02T01:42:46.218" v="3451" actId="113"/>
          <ac:spMkLst>
            <pc:docMk/>
            <pc:sldMk cId="0" sldId="381"/>
            <ac:spMk id="2" creationId="{00000000-0000-0000-0000-000000000000}"/>
          </ac:spMkLst>
        </pc:spChg>
        <pc:spChg chg="mod">
          <ac:chgData name="윤정민" userId="6b15c765-da21-42d7-95fe-61eaef7495af" providerId="ADAL" clId="{5C7C66C6-67D0-439D-9B00-412197ADBF19}" dt="2026-11-02T01:42:46.218" v="3451" actId="113"/>
          <ac:spMkLst>
            <pc:docMk/>
            <pc:sldMk cId="0" sldId="381"/>
            <ac:spMk id="4" creationId="{ED96D3AE-CC3D-A909-29AD-1EF41A97CFCC}"/>
          </ac:spMkLst>
        </pc:spChg>
        <pc:spChg chg="del mod">
          <ac:chgData name="윤정민" userId="6b15c765-da21-42d7-95fe-61eaef7495af" providerId="ADAL" clId="{5C7C66C6-67D0-439D-9B00-412197ADBF19}" dt="2026-11-02T01:42:42.510" v="3448" actId="478"/>
          <ac:spMkLst>
            <pc:docMk/>
            <pc:sldMk cId="0" sldId="381"/>
            <ac:spMk id="9" creationId="{00000000-0000-0000-0000-000000000000}"/>
          </ac:spMkLst>
        </pc:spChg>
        <pc:spChg chg="del">
          <ac:chgData name="윤정민" userId="6b15c765-da21-42d7-95fe-61eaef7495af" providerId="ADAL" clId="{5C7C66C6-67D0-439D-9B00-412197ADBF19}" dt="2026-11-02T01:42:43.027" v="3449" actId="478"/>
          <ac:spMkLst>
            <pc:docMk/>
            <pc:sldMk cId="0" sldId="381"/>
            <ac:spMk id="10" creationId="{00000000-0000-0000-0000-000000000000}"/>
          </ac:spMkLst>
        </pc:spChg>
        <pc:spChg chg="mod">
          <ac:chgData name="윤정민" userId="6b15c765-da21-42d7-95fe-61eaef7495af" providerId="ADAL" clId="{5C7C66C6-67D0-439D-9B00-412197ADBF19}" dt="2026-11-02T01:42:54.425" v="3472" actId="20577"/>
          <ac:spMkLst>
            <pc:docMk/>
            <pc:sldMk cId="0" sldId="381"/>
            <ac:spMk id="11" creationId="{00000000-0000-0000-0000-000000000000}"/>
          </ac:spMkLst>
        </pc:spChg>
        <pc:spChg chg="mod">
          <ac:chgData name="윤정민" userId="6b15c765-da21-42d7-95fe-61eaef7495af" providerId="ADAL" clId="{5C7C66C6-67D0-439D-9B00-412197ADBF19}" dt="2026-11-02T01:42:46.218" v="3451" actId="113"/>
          <ac:spMkLst>
            <pc:docMk/>
            <pc:sldMk cId="0" sldId="381"/>
            <ac:spMk id="12" creationId="{00000000-0000-0000-0000-000000000000}"/>
          </ac:spMkLst>
        </pc:spChg>
        <pc:spChg chg="del mod">
          <ac:chgData name="윤정민" userId="6b15c765-da21-42d7-95fe-61eaef7495af" providerId="ADAL" clId="{5C7C66C6-67D0-439D-9B00-412197ADBF19}" dt="2026-11-02T01:42:58.464" v="3473" actId="478"/>
          <ac:spMkLst>
            <pc:docMk/>
            <pc:sldMk cId="0" sldId="381"/>
            <ac:spMk id="13" creationId="{00000000-0000-0000-0000-000000000000}"/>
          </ac:spMkLst>
        </pc:spChg>
        <pc:spChg chg="mod">
          <ac:chgData name="윤정민" userId="6b15c765-da21-42d7-95fe-61eaef7495af" providerId="ADAL" clId="{5C7C66C6-67D0-439D-9B00-412197ADBF19}" dt="2026-11-02T01:42:46.218" v="3451" actId="113"/>
          <ac:spMkLst>
            <pc:docMk/>
            <pc:sldMk cId="0" sldId="381"/>
            <ac:spMk id="15" creationId="{00000000-0000-0000-0000-000000000000}"/>
          </ac:spMkLst>
        </pc:spChg>
        <pc:spChg chg="mod">
          <ac:chgData name="윤정민" userId="6b15c765-da21-42d7-95fe-61eaef7495af" providerId="ADAL" clId="{5C7C66C6-67D0-439D-9B00-412197ADBF19}" dt="2026-11-02T01:42:46.218" v="3451" actId="113"/>
          <ac:spMkLst>
            <pc:docMk/>
            <pc:sldMk cId="0" sldId="381"/>
            <ac:spMk id="16" creationId="{00000000-0000-0000-0000-000000000000}"/>
          </ac:spMkLst>
        </pc:spChg>
        <pc:spChg chg="mod">
          <ac:chgData name="윤정민" userId="6b15c765-da21-42d7-95fe-61eaef7495af" providerId="ADAL" clId="{5C7C66C6-67D0-439D-9B00-412197ADBF19}" dt="2026-11-02T01:42:46.218" v="3451" actId="113"/>
          <ac:spMkLst>
            <pc:docMk/>
            <pc:sldMk cId="0" sldId="381"/>
            <ac:spMk id="17" creationId="{00000000-0000-0000-0000-000000000000}"/>
          </ac:spMkLst>
        </pc:spChg>
        <pc:spChg chg="mod">
          <ac:chgData name="윤정민" userId="6b15c765-da21-42d7-95fe-61eaef7495af" providerId="ADAL" clId="{5C7C66C6-67D0-439D-9B00-412197ADBF19}" dt="2026-11-02T01:42:46.218" v="3451" actId="113"/>
          <ac:spMkLst>
            <pc:docMk/>
            <pc:sldMk cId="0" sldId="381"/>
            <ac:spMk id="18" creationId="{00000000-0000-0000-0000-000000000000}"/>
          </ac:spMkLst>
        </pc:spChg>
        <pc:spChg chg="mod">
          <ac:chgData name="윤정민" userId="6b15c765-da21-42d7-95fe-61eaef7495af" providerId="ADAL" clId="{5C7C66C6-67D0-439D-9B00-412197ADBF19}" dt="2026-11-02T01:42:46.218" v="3451" actId="113"/>
          <ac:spMkLst>
            <pc:docMk/>
            <pc:sldMk cId="0" sldId="381"/>
            <ac:spMk id="19" creationId="{00000000-0000-0000-0000-000000000000}"/>
          </ac:spMkLst>
        </pc:spChg>
        <pc:graphicFrameChg chg="mod">
          <ac:chgData name="윤정민" userId="6b15c765-da21-42d7-95fe-61eaef7495af" providerId="ADAL" clId="{5C7C66C6-67D0-439D-9B00-412197ADBF19}" dt="2026-11-02T01:58:58.269" v="4009" actId="1076"/>
          <ac:graphicFrameMkLst>
            <pc:docMk/>
            <pc:sldMk cId="0" sldId="381"/>
            <ac:graphicFrameMk id="8" creationId="{00000000-0000-0000-0000-000000000000}"/>
          </ac:graphicFrameMkLst>
        </pc:graphicFrameChg>
        <pc:graphicFrameChg chg="mod">
          <ac:chgData name="윤정민" userId="6b15c765-da21-42d7-95fe-61eaef7495af" providerId="ADAL" clId="{5C7C66C6-67D0-439D-9B00-412197ADBF19}" dt="2026-11-02T01:58:58.269" v="4009" actId="1076"/>
          <ac:graphicFrameMkLst>
            <pc:docMk/>
            <pc:sldMk cId="0" sldId="381"/>
            <ac:graphicFrameMk id="20" creationId="{00000000-0000-0000-0000-000000000000}"/>
          </ac:graphicFrameMkLst>
        </pc:graphicFrameChg>
        <pc:picChg chg="mod">
          <ac:chgData name="윤정민" userId="6b15c765-da21-42d7-95fe-61eaef7495af" providerId="ADAL" clId="{5C7C66C6-67D0-439D-9B00-412197ADBF19}" dt="2026-11-02T01:58:53.277" v="4008" actId="1076"/>
          <ac:picMkLst>
            <pc:docMk/>
            <pc:sldMk cId="0" sldId="381"/>
            <ac:picMk id="14" creationId="{00000000-0000-0000-0000-000000000000}"/>
          </ac:picMkLst>
        </pc:picChg>
      </pc:sldChg>
      <pc:sldChg chg="addSp delSp modSp mod delAnim">
        <pc:chgData name="윤정민" userId="6b15c765-da21-42d7-95fe-61eaef7495af" providerId="ADAL" clId="{5C7C66C6-67D0-439D-9B00-412197ADBF19}" dt="2026-11-02T01:51:23.175" v="3868" actId="20577"/>
        <pc:sldMkLst>
          <pc:docMk/>
          <pc:sldMk cId="0" sldId="392"/>
        </pc:sldMkLst>
        <pc:spChg chg="add mod">
          <ac:chgData name="윤정민" userId="6b15c765-da21-42d7-95fe-61eaef7495af" providerId="ADAL" clId="{5C7C66C6-67D0-439D-9B00-412197ADBF19}" dt="2026-11-02T01:51:23.175" v="3868" actId="20577"/>
          <ac:spMkLst>
            <pc:docMk/>
            <pc:sldMk cId="0" sldId="392"/>
            <ac:spMk id="5" creationId="{98AB2F6A-CBE5-269A-804E-6B9AC06A28C0}"/>
          </ac:spMkLst>
        </pc:spChg>
        <pc:spChg chg="del">
          <ac:chgData name="윤정민" userId="6b15c765-da21-42d7-95fe-61eaef7495af" providerId="ADAL" clId="{5C7C66C6-67D0-439D-9B00-412197ADBF19}" dt="2026-11-02T01:32:11.956" v="3223" actId="478"/>
          <ac:spMkLst>
            <pc:docMk/>
            <pc:sldMk cId="0" sldId="392"/>
            <ac:spMk id="25" creationId="{00000000-0000-0000-0000-000000000000}"/>
          </ac:spMkLst>
        </pc:spChg>
      </pc:sldChg>
      <pc:sldChg chg="modSp mod">
        <pc:chgData name="윤정민" userId="6b15c765-da21-42d7-95fe-61eaef7495af" providerId="ADAL" clId="{5C7C66C6-67D0-439D-9B00-412197ADBF19}" dt="2026-11-02T01:52:29.640" v="3884" actId="14100"/>
        <pc:sldMkLst>
          <pc:docMk/>
          <pc:sldMk cId="0" sldId="393"/>
        </pc:sldMkLst>
        <pc:spChg chg="mod">
          <ac:chgData name="윤정민" userId="6b15c765-da21-42d7-95fe-61eaef7495af" providerId="ADAL" clId="{5C7C66C6-67D0-439D-9B00-412197ADBF19}" dt="2026-11-02T01:52:29.640" v="3884" actId="14100"/>
          <ac:spMkLst>
            <pc:docMk/>
            <pc:sldMk cId="0" sldId="393"/>
            <ac:spMk id="16" creationId="{8047BECD-13AC-34B4-648E-3F786D1CA844}"/>
          </ac:spMkLst>
        </pc:spChg>
        <pc:spChg chg="mod">
          <ac:chgData name="윤정민" userId="6b15c765-da21-42d7-95fe-61eaef7495af" providerId="ADAL" clId="{5C7C66C6-67D0-439D-9B00-412197ADBF19}" dt="2026-11-02T01:34:30.488" v="3320" actId="1076"/>
          <ac:spMkLst>
            <pc:docMk/>
            <pc:sldMk cId="0" sldId="393"/>
            <ac:spMk id="17" creationId="{2CEDB320-84EB-5AE7-2DBA-8591CC594407}"/>
          </ac:spMkLst>
        </pc:spChg>
        <pc:spChg chg="mod">
          <ac:chgData name="윤정민" userId="6b15c765-da21-42d7-95fe-61eaef7495af" providerId="ADAL" clId="{5C7C66C6-67D0-439D-9B00-412197ADBF19}" dt="2026-11-02T01:34:20.566" v="3318" actId="14100"/>
          <ac:spMkLst>
            <pc:docMk/>
            <pc:sldMk cId="0" sldId="393"/>
            <ac:spMk id="18" creationId="{95189CE0-F7CA-C1ED-F747-0D0B0B86823B}"/>
          </ac:spMkLst>
        </pc:spChg>
        <pc:spChg chg="mod">
          <ac:chgData name="윤정민" userId="6b15c765-da21-42d7-95fe-61eaef7495af" providerId="ADAL" clId="{5C7C66C6-67D0-439D-9B00-412197ADBF19}" dt="2026-11-02T01:27:24.880" v="2969" actId="20577"/>
          <ac:spMkLst>
            <pc:docMk/>
            <pc:sldMk cId="0" sldId="393"/>
            <ac:spMk id="42" creationId="{00000000-0000-0000-0000-000000000000}"/>
          </ac:spMkLst>
        </pc:spChg>
      </pc:sldChg>
      <pc:sldChg chg="delSp modSp mod delAnim">
        <pc:chgData name="윤정민" userId="6b15c765-da21-42d7-95fe-61eaef7495af" providerId="ADAL" clId="{5C7C66C6-67D0-439D-9B00-412197ADBF19}" dt="2026-11-02T01:54:31.042" v="3993" actId="1076"/>
        <pc:sldMkLst>
          <pc:docMk/>
          <pc:sldMk cId="0" sldId="394"/>
        </pc:sldMkLst>
        <pc:spChg chg="mod">
          <ac:chgData name="윤정민" userId="6b15c765-da21-42d7-95fe-61eaef7495af" providerId="ADAL" clId="{5C7C66C6-67D0-439D-9B00-412197ADBF19}" dt="2026-11-02T01:54:20.491" v="3992" actId="20577"/>
          <ac:spMkLst>
            <pc:docMk/>
            <pc:sldMk cId="0" sldId="394"/>
            <ac:spMk id="2" creationId="{00000000-0000-0000-0000-000000000000}"/>
          </ac:spMkLst>
        </pc:spChg>
        <pc:spChg chg="mod">
          <ac:chgData name="윤정민" userId="6b15c765-da21-42d7-95fe-61eaef7495af" providerId="ADAL" clId="{5C7C66C6-67D0-439D-9B00-412197ADBF19}" dt="2026-11-02T01:54:31.042" v="3993" actId="1076"/>
          <ac:spMkLst>
            <pc:docMk/>
            <pc:sldMk cId="0" sldId="394"/>
            <ac:spMk id="5" creationId="{0F15D703-4D61-BD63-2766-9017B752BD5F}"/>
          </ac:spMkLst>
        </pc:spChg>
        <pc:spChg chg="del">
          <ac:chgData name="윤정민" userId="6b15c765-da21-42d7-95fe-61eaef7495af" providerId="ADAL" clId="{5C7C66C6-67D0-439D-9B00-412197ADBF19}" dt="2026-11-02T01:35:15.975" v="3322" actId="478"/>
          <ac:spMkLst>
            <pc:docMk/>
            <pc:sldMk cId="0" sldId="394"/>
            <ac:spMk id="25" creationId="{00000000-0000-0000-0000-000000000000}"/>
          </ac:spMkLst>
        </pc:spChg>
        <pc:spChg chg="del">
          <ac:chgData name="윤정민" userId="6b15c765-da21-42d7-95fe-61eaef7495af" providerId="ADAL" clId="{5C7C66C6-67D0-439D-9B00-412197ADBF19}" dt="2026-11-02T01:32:39.031" v="3291" actId="478"/>
          <ac:spMkLst>
            <pc:docMk/>
            <pc:sldMk cId="0" sldId="394"/>
            <ac:spMk id="26" creationId="{00000000-0000-0000-0000-000000000000}"/>
          </ac:spMkLst>
        </pc:spChg>
        <pc:spChg chg="del">
          <ac:chgData name="윤정민" userId="6b15c765-da21-42d7-95fe-61eaef7495af" providerId="ADAL" clId="{5C7C66C6-67D0-439D-9B00-412197ADBF19}" dt="2026-11-02T01:42:16.979" v="3427" actId="478"/>
          <ac:spMkLst>
            <pc:docMk/>
            <pc:sldMk cId="0" sldId="394"/>
            <ac:spMk id="34" creationId="{00000000-0000-0000-0000-000000000000}"/>
          </ac:spMkLst>
        </pc:spChg>
        <pc:spChg chg="del">
          <ac:chgData name="윤정민" userId="6b15c765-da21-42d7-95fe-61eaef7495af" providerId="ADAL" clId="{5C7C66C6-67D0-439D-9B00-412197ADBF19}" dt="2026-11-02T01:42:16.273" v="3426" actId="478"/>
          <ac:spMkLst>
            <pc:docMk/>
            <pc:sldMk cId="0" sldId="394"/>
            <ac:spMk id="35" creationId="{00000000-0000-0000-0000-000000000000}"/>
          </ac:spMkLst>
        </pc:spChg>
        <pc:spChg chg="mod">
          <ac:chgData name="윤정민" userId="6b15c765-da21-42d7-95fe-61eaef7495af" providerId="ADAL" clId="{5C7C66C6-67D0-439D-9B00-412197ADBF19}" dt="2026-11-02T01:42:26.285" v="3445" actId="403"/>
          <ac:spMkLst>
            <pc:docMk/>
            <pc:sldMk cId="0" sldId="394"/>
            <ac:spMk id="36" creationId="{00000000-0000-0000-0000-000000000000}"/>
          </ac:spMkLst>
        </pc:spChg>
      </pc:sldChg>
      <pc:sldChg chg="addSp delSp modSp mod delAnim">
        <pc:chgData name="윤정민" userId="6b15c765-da21-42d7-95fe-61eaef7495af" providerId="ADAL" clId="{5C7C66C6-67D0-439D-9B00-412197ADBF19}" dt="2026-11-02T02:00:14.540" v="4084" actId="20577"/>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pChg chg="add mod">
          <ac:chgData name="윤정민" userId="6b15c765-da21-42d7-95fe-61eaef7495af" providerId="ADAL" clId="{5C7C66C6-67D0-439D-9B00-412197ADBF19}" dt="2026-11-02T02:00:14.540" v="4084" actId="20577"/>
          <ac:spMkLst>
            <pc:docMk/>
            <pc:sldMk cId="0" sldId="397"/>
            <ac:spMk id="5" creationId="{1D033586-424C-359C-062B-77D0EF336D1B}"/>
          </ac:spMkLst>
        </pc:spChg>
        <pc:spChg chg="del">
          <ac:chgData name="윤정민" userId="6b15c765-da21-42d7-95fe-61eaef7495af" providerId="ADAL" clId="{5C7C66C6-67D0-439D-9B00-412197ADBF19}" dt="2026-11-02T01:48:11.479" v="3481" actId="478"/>
          <ac:spMkLst>
            <pc:docMk/>
            <pc:sldMk cId="0" sldId="397"/>
            <ac:spMk id="26" creationId="{00000000-0000-0000-0000-000000000000}"/>
          </ac:spMkLst>
        </pc:spChg>
        <pc:spChg chg="del">
          <ac:chgData name="윤정민" userId="6b15c765-da21-42d7-95fe-61eaef7495af" providerId="ADAL" clId="{5C7C66C6-67D0-439D-9B00-412197ADBF19}" dt="2026-11-02T01:47:51.666" v="3476" actId="478"/>
          <ac:spMkLst>
            <pc:docMk/>
            <pc:sldMk cId="0" sldId="397"/>
            <ac:spMk id="34" creationId="{00000000-0000-0000-0000-000000000000}"/>
          </ac:spMkLst>
        </pc:spChg>
        <pc:spChg chg="del">
          <ac:chgData name="윤정민" userId="6b15c765-da21-42d7-95fe-61eaef7495af" providerId="ADAL" clId="{5C7C66C6-67D0-439D-9B00-412197ADBF19}" dt="2026-11-02T01:47:52.102" v="3477" actId="478"/>
          <ac:spMkLst>
            <pc:docMk/>
            <pc:sldMk cId="0" sldId="397"/>
            <ac:spMk id="35" creationId="{00000000-0000-0000-0000-000000000000}"/>
          </ac:spMkLst>
        </pc:spChg>
        <pc:spChg chg="mod">
          <ac:chgData name="윤정민" userId="6b15c765-da21-42d7-95fe-61eaef7495af" providerId="ADAL" clId="{5C7C66C6-67D0-439D-9B00-412197ADBF19}" dt="2026-11-02T01:48:19.965" v="3497" actId="1035"/>
          <ac:spMkLst>
            <pc:docMk/>
            <pc:sldMk cId="0" sldId="397"/>
            <ac:spMk id="36" creationId="{00000000-0000-0000-0000-000000000000}"/>
          </ac:spMkLst>
        </pc:spChg>
        <pc:graphicFrameChg chg="mod">
          <ac:chgData name="윤정민" userId="6b15c765-da21-42d7-95fe-61eaef7495af" providerId="ADAL" clId="{5C7C66C6-67D0-439D-9B00-412197ADBF19}" dt="2026-11-02T01:48:04.830" v="3480"/>
          <ac:graphicFrameMkLst>
            <pc:docMk/>
            <pc:sldMk cId="0" sldId="397"/>
            <ac:graphicFrameMk id="8" creationId="{00000000-0000-0000-0000-000000000000}"/>
          </ac:graphicFrameMkLst>
        </pc:graphicFrameChg>
      </pc:sldChg>
      <pc:sldChg chg="addSp delSp modSp mod">
        <pc:chgData name="윤정민" userId="6b15c765-da21-42d7-95fe-61eaef7495af" providerId="ADAL" clId="{5C7C66C6-67D0-439D-9B00-412197ADBF19}" dt="2026-11-02T02:01:37.186" v="4089" actId="1076"/>
        <pc:sldMkLst>
          <pc:docMk/>
          <pc:sldMk cId="0" sldId="398"/>
        </pc:sldMkLst>
        <pc:spChg chg="add del mod">
          <ac:chgData name="윤정민" userId="6b15c765-da21-42d7-95fe-61eaef7495af" providerId="ADAL" clId="{5C7C66C6-67D0-439D-9B00-412197ADBF19}" dt="2026-11-02T01:48:52.147" v="3501"/>
          <ac:spMkLst>
            <pc:docMk/>
            <pc:sldMk cId="0" sldId="398"/>
            <ac:spMk id="5" creationId="{7E15454B-F059-5B92-7BCC-CBDD5A160EBB}"/>
          </ac:spMkLst>
        </pc:spChg>
        <pc:spChg chg="add mod">
          <ac:chgData name="윤정민" userId="6b15c765-da21-42d7-95fe-61eaef7495af" providerId="ADAL" clId="{5C7C66C6-67D0-439D-9B00-412197ADBF19}" dt="2026-11-02T02:01:37.186" v="4089" actId="1076"/>
          <ac:spMkLst>
            <pc:docMk/>
            <pc:sldMk cId="0" sldId="398"/>
            <ac:spMk id="7" creationId="{71BA781D-4F2A-A482-9BAC-AA3150E40E32}"/>
          </ac:spMkLst>
        </pc:spChg>
        <pc:spChg chg="del">
          <ac:chgData name="윤정민" userId="6b15c765-da21-42d7-95fe-61eaef7495af" providerId="ADAL" clId="{5C7C66C6-67D0-439D-9B00-412197ADBF19}" dt="2026-11-02T01:48:36.791" v="3498" actId="478"/>
          <ac:spMkLst>
            <pc:docMk/>
            <pc:sldMk cId="0" sldId="398"/>
            <ac:spMk id="26" creationId="{00000000-0000-0000-0000-000000000000}"/>
          </ac:spMkLst>
        </pc:spChg>
      </pc:sldChg>
      <pc:sldChg chg="delSp mod">
        <pc:chgData name="윤정민" userId="6b15c765-da21-42d7-95fe-61eaef7495af" providerId="ADAL" clId="{5C7C66C6-67D0-439D-9B00-412197ADBF19}" dt="2026-11-02T01:56:56.279" v="3996" actId="478"/>
        <pc:sldMkLst>
          <pc:docMk/>
          <pc:sldMk cId="0" sldId="399"/>
        </pc:sldMkLst>
        <pc:spChg chg="del">
          <ac:chgData name="윤정민" userId="6b15c765-da21-42d7-95fe-61eaef7495af" providerId="ADAL" clId="{5C7C66C6-67D0-439D-9B00-412197ADBF19}" dt="2026-11-02T01:56:56.279" v="3996" actId="478"/>
          <ac:spMkLst>
            <pc:docMk/>
            <pc:sldMk cId="0" sldId="399"/>
            <ac:spMk id="26" creationId="{00000000-0000-0000-0000-000000000000}"/>
          </ac:spMkLst>
        </pc:spChg>
      </pc:sldChg>
      <pc:sldChg chg="addSp delSp modSp mod delAnim">
        <pc:chgData name="윤정민" userId="6b15c765-da21-42d7-95fe-61eaef7495af" providerId="ADAL" clId="{5C7C66C6-67D0-439D-9B00-412197ADBF19}" dt="2026-11-02T01:53:53.772" v="3987" actId="14100"/>
        <pc:sldMkLst>
          <pc:docMk/>
          <pc:sldMk cId="0" sldId="412"/>
        </pc:sldMkLst>
        <pc:spChg chg="add mod">
          <ac:chgData name="윤정민" userId="6b15c765-da21-42d7-95fe-61eaef7495af" providerId="ADAL" clId="{5C7C66C6-67D0-439D-9B00-412197ADBF19}" dt="2026-11-02T01:28:34.985" v="3016" actId="20577"/>
          <ac:spMkLst>
            <pc:docMk/>
            <pc:sldMk cId="0" sldId="412"/>
            <ac:spMk id="5" creationId="{293BF952-5CBE-9DFF-EDF4-EEBCECA32F62}"/>
          </ac:spMkLst>
        </pc:spChg>
        <pc:spChg chg="add del mod">
          <ac:chgData name="윤정민" userId="6b15c765-da21-42d7-95fe-61eaef7495af" providerId="ADAL" clId="{5C7C66C6-67D0-439D-9B00-412197ADBF19}" dt="2026-11-02T01:30:55.648" v="3196" actId="478"/>
          <ac:spMkLst>
            <pc:docMk/>
            <pc:sldMk cId="0" sldId="412"/>
            <ac:spMk id="7" creationId="{A5AA356F-985F-908B-053A-75484418798F}"/>
          </ac:spMkLst>
        </pc:spChg>
        <pc:spChg chg="add mod">
          <ac:chgData name="윤정민" userId="6b15c765-da21-42d7-95fe-61eaef7495af" providerId="ADAL" clId="{5C7C66C6-67D0-439D-9B00-412197ADBF19}" dt="2026-11-02T01:53:53.772" v="3987" actId="14100"/>
          <ac:spMkLst>
            <pc:docMk/>
            <pc:sldMk cId="0" sldId="412"/>
            <ac:spMk id="8" creationId="{E2D85033-6542-1444-4923-ED97A1BC94D0}"/>
          </ac:spMkLst>
        </pc:spChg>
        <pc:spChg chg="add mod">
          <ac:chgData name="윤정민" userId="6b15c765-da21-42d7-95fe-61eaef7495af" providerId="ADAL" clId="{5C7C66C6-67D0-439D-9B00-412197ADBF19}" dt="2026-11-02T01:53:12.291" v="3969" actId="20577"/>
          <ac:spMkLst>
            <pc:docMk/>
            <pc:sldMk cId="0" sldId="412"/>
            <ac:spMk id="9" creationId="{0797C480-80C3-A5FA-E06F-4EC67AFFAD20}"/>
          </ac:spMkLst>
        </pc:spChg>
        <pc:spChg chg="add del mod">
          <ac:chgData name="윤정민" userId="6b15c765-da21-42d7-95fe-61eaef7495af" providerId="ADAL" clId="{5C7C66C6-67D0-439D-9B00-412197ADBF19}" dt="2026-11-02T01:50:44.471" v="3787"/>
          <ac:spMkLst>
            <pc:docMk/>
            <pc:sldMk cId="0" sldId="412"/>
            <ac:spMk id="10" creationId="{D676E7F6-AA0B-8BEF-F480-6E5F5688964D}"/>
          </ac:spMkLst>
        </pc:spChg>
        <pc:spChg chg="del">
          <ac:chgData name="윤정민" userId="6b15c765-da21-42d7-95fe-61eaef7495af" providerId="ADAL" clId="{5C7C66C6-67D0-439D-9B00-412197ADBF19}" dt="2026-11-02T01:30:56.529" v="3197" actId="478"/>
          <ac:spMkLst>
            <pc:docMk/>
            <pc:sldMk cId="0" sldId="412"/>
            <ac:spMk id="25" creationId="{00000000-0000-0000-0000-000000000000}"/>
          </ac:spMkLst>
        </pc:spChg>
        <pc:spChg chg="del">
          <ac:chgData name="윤정민" userId="6b15c765-da21-42d7-95fe-61eaef7495af" providerId="ADAL" clId="{5C7C66C6-67D0-439D-9B00-412197ADBF19}" dt="2026-11-02T01:28:42.616" v="3017" actId="478"/>
          <ac:spMkLst>
            <pc:docMk/>
            <pc:sldMk cId="0" sldId="412"/>
            <ac:spMk id="26" creationId="{00000000-0000-0000-0000-000000000000}"/>
          </ac:spMkLst>
        </pc:spChg>
        <pc:spChg chg="mod">
          <ac:chgData name="윤정민" userId="6b15c765-da21-42d7-95fe-61eaef7495af" providerId="ADAL" clId="{5C7C66C6-67D0-439D-9B00-412197ADBF19}" dt="2026-11-02T01:27:56.897" v="2970" actId="113"/>
          <ac:spMkLst>
            <pc:docMk/>
            <pc:sldMk cId="0" sldId="412"/>
            <ac:spMk id="36" creationId="{00000000-0000-0000-0000-000000000000}"/>
          </ac:spMkLst>
        </pc:spChg>
      </pc:sldChg>
      <pc:sldChg chg="delSp mod">
        <pc:chgData name="윤정민" userId="6b15c765-da21-42d7-95fe-61eaef7495af" providerId="ADAL" clId="{5C7C66C6-67D0-439D-9B00-412197ADBF19}" dt="2026-11-02T01:56:50.006" v="3995" actId="478"/>
        <pc:sldMkLst>
          <pc:docMk/>
          <pc:sldMk cId="0" sldId="413"/>
        </pc:sldMkLst>
        <pc:spChg chg="del">
          <ac:chgData name="윤정민" userId="6b15c765-da21-42d7-95fe-61eaef7495af" providerId="ADAL" clId="{5C7C66C6-67D0-439D-9B00-412197ADBF19}" dt="2026-11-02T01:56:50.006" v="3995" actId="478"/>
          <ac:spMkLst>
            <pc:docMk/>
            <pc:sldMk cId="0" sldId="413"/>
            <ac:spMk id="26" creationId="{00000000-0000-0000-0000-000000000000}"/>
          </ac:spMkLst>
        </pc:spChg>
      </pc:sldChg>
      <pc:sldChg chg="ord">
        <pc:chgData name="윤정민" userId="6b15c765-da21-42d7-95fe-61eaef7495af" providerId="ADAL" clId="{5C7C66C6-67D0-439D-9B00-412197ADBF19}" dt="2026-11-02T01:26:16.622" v="2959"/>
        <pc:sldMkLst>
          <pc:docMk/>
          <pc:sldMk cId="0" sldId="416"/>
        </pc:sldMkLst>
      </pc:sldChg>
      <pc:sldChg chg="delSp modSp mod">
        <pc:chgData name="윤정민" userId="6b15c765-da21-42d7-95fe-61eaef7495af" providerId="ADAL" clId="{5C7C66C6-67D0-439D-9B00-412197ADBF19}" dt="2026-11-02T01:58:20.869" v="4006" actId="14100"/>
        <pc:sldMkLst>
          <pc:docMk/>
          <pc:sldMk cId="0" sldId="417"/>
        </pc:sldMkLst>
        <pc:spChg chg="del">
          <ac:chgData name="윤정민" userId="6b15c765-da21-42d7-95fe-61eaef7495af" providerId="ADAL" clId="{5C7C66C6-67D0-439D-9B00-412197ADBF19}" dt="2026-11-02T01:43:00.903" v="3474" actId="478"/>
          <ac:spMkLst>
            <pc:docMk/>
            <pc:sldMk cId="0" sldId="417"/>
            <ac:spMk id="13" creationId="{00000000-0000-0000-0000-000000000000}"/>
          </ac:spMkLst>
        </pc:spChg>
        <pc:graphicFrameChg chg="mod modGraphic">
          <ac:chgData name="윤정민" userId="6b15c765-da21-42d7-95fe-61eaef7495af" providerId="ADAL" clId="{5C7C66C6-67D0-439D-9B00-412197ADBF19}" dt="2026-11-02T01:58:20.869" v="4006" actId="14100"/>
          <ac:graphicFrameMkLst>
            <pc:docMk/>
            <pc:sldMk cId="0" sldId="417"/>
            <ac:graphicFrameMk id="8" creationId="{00000000-0000-0000-0000-000000000000}"/>
          </ac:graphicFrameMkLst>
        </pc:graphicFrameChg>
        <pc:graphicFrameChg chg="mod modGraphic">
          <ac:chgData name="윤정민" userId="6b15c765-da21-42d7-95fe-61eaef7495af" providerId="ADAL" clId="{5C7C66C6-67D0-439D-9B00-412197ADBF19}" dt="2026-11-02T01:58:18.483" v="4005" actId="14100"/>
          <ac:graphicFrameMkLst>
            <pc:docMk/>
            <pc:sldMk cId="0" sldId="417"/>
            <ac:graphicFrameMk id="2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2026-11-02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최근에는 집중호우와 폭염·가뭄이 짧은 간격으로 반복되면서 한 작물이 한 생육기 안에서 침수와 건조를 연이어 겪는 복합재해가 늘고 있습니다. 2025년 7월 중순에도 남부지방에 집중호우가 내린 뒤 폭염이 이어졌습니다. 왼쪽 그림처럼 침수는 뿌리의 산소 결핍으로 기공을 닫게 하고 배수 후에도 회복에 시간이 걸립니다. 가운데 그림처럼 건조는 토양 수분 부족으로 엽의 수분 상태를 떨어뜨려 증산과 광합성을 줄입니다. 오른쪽 그림처럼 두 재해가 이어지면 피해가 누적될 수도, 앞선 스트레스가 순화 효과를 줄 수도 있는데, 작물과 생육 단계별로 어떻게 다른지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이 연구는 수분 재해의 영향을 단계별로 나누어 보았습니다. 잎에서는 수분 스트레스에 가장 먼저 기공이 닫혀 이산화탄소 공급이 줄고, 그 뒤 두 경로가 병렬로 영향을 받습니다. 하나는 틸라코이드 막의 PSII 전자전달, 즉 명반응이고, 다른 하나는 루비스코 카르복실화와 재생 능력, 즉 광합성 능력입니다. 이 세 단계의 영향이 누적되어 생육과 수량 감소로 이어지는지를 콩과 상추에 침수, 건조, 복합 처리를 적용하여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상추는 처리 후 16일, 콩은 55일까지 관찰했습니다. LI-600은 초기에는 매일, 이후에는 콩은 1~2주 간격, 상추는 이틀 간격으로 측정했고 LI-6800 광합성 곡선은 콩은 9월 중순, 상추는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25초) 두 실험은 계절이 달라 환경 조건이 크게 다릅니다. 콩의 처리 초기 평균 기온은 28.4도, 상추는 18.2도로 약 10도 낮았고 일적산광량도 상추가 낮았습니다. 표에는 같은 기간의 최고·최저 기온과 평균 상대습도를 정리했는데, 기온과 일사 외의 환경도 두 실험이 다릅니다. 따라서 같은 50% 관수라도 증발산 부하가 달라 건조 스트레스 강도가 다르며, 두 작물의 비교는 병렬 사례로 해석하겠습니다.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누적 관수량으로 확인했습니다. 대조구 대비 건조구는 상추 43%, 콩 40%로 설계인 50%에 가까웠고, 복합구도 각각 37%, 44%였습니다. 주목할 점은 침수구입니다. 콩은 침수구가 대조구의 87%로 대조구와 큰 차이가 없어 3일 침수가 콩에는 큰 타격을 주지 못한 것으로 추정됩니다. 반대로 상추는 침수구가 56%로 대조구와 차이가 커서, 침수가 상추의 생육에 직접적인 타격을 입혔을 가능성이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70초) 첫 번째 단계인 기공입니다. 위 그래프는 기공전도도의 일별 변화이고, 아래 그래프는 각 처리를 같은 날 대조구에 대한 비율로 나타낸 것입니다. 두 작물 모두 침수 기간 동안 기공전도도가 크게 감소했습니다. 상추는 침수 3일째에 대조구의 10%까지 떨어졌다가 배수 직후 DAT 5~6에 대조구 수준으로 회복했습니다. 반면 콩은 침수가 끝나고 6일이 지난 DAT 9에도 대조구의 48%였고 DAT 23에 대조구 수준으로 돌아왔습니다. P2에서는 건조와 복합 처리가 두 작물 모두 후반에 기공전도도를 낮췄습니다. 건조와 복합은 회색으로 두고 침수 위주로 설명했습니다.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두 번째 단계인 명반응의 광화학 효율 ΦPSII입니다. P2 구간은 광도 수준을 나누지 않고 통합하여 분석했습니다. 콩은 P1에서 침수구가 대조구보다 약간 낮았고, P2에서는 건조구가 가장 낮았습니다. 상추는 P1과 P2 모두 처리 간 차이가 없었습니다. 이어서 이 에너지가 어디로 소산되었는지 ΦNPQ와 ΦNO로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흡수한 빛에너지가 광화학이 아닌 곳으로 어떻게 소산되었는지 보여주는 ΦNPQ와 ΦNO입니다. ΦNPQ는 조절된 열소산, ΦNO는 조절되지 않는 소산으로 광계 손상의 위험을 나타냅니다. 상추는 두 지표 모두 처리 간 차이가 없었습니다. 콩은 ΦNPQ가 P2에서 건조구와 복합구에서 높은 경향이었고, ΦNO는 P2에서 건조, 침수, 복합 처리가 모두 대조구보다 높았으며 P1에서도 침수구가 높았습니다. ΦPSII가 낮아진 것과 함께 보면 콩은 명반응에 타격을 입은 것으로 추정됩니다.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 능력입니다. 콩은 9월 측정에서 건조구와 복합구의 최대 카르복실화 속도와 최대 전자전달 속도가 낮았고, 상추도 복합구에서 가장 낮은 경향을 보였습니다. 암호흡, 최대 광합성 속도, 양자수율은 두 작물 모두 처리 간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25초) 지금까지의 결과를 작물, 처리, 단계별로 정리한 표입니다. 상추는 기공이 침수 직후 크게 닫혔다가 며칠 만에 회복했고 명반응에는 변화가 없었지만, 건물중은 침수 34%, 복합 43% 감소했습니다. 콩은 기공 회복이 느렸고 건조구에서 ΦPSII가 낮고 ΦNPQ와 ΦNO가 높아 명반응에 타격을 입은 것으로 보이지만, 수량은 종실 생체중 기준 5~14%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65초)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명반응에서는 건조구에서 ΦPSII가 낮아졌고 ΦNPQ와 ΦNO가 높아져, 광화학에 쓰이지 못한 에너지가 열소산과 조절되지 않는 소산으로 빠져나간 것으로 보입니다. 세 번째로 광합성 능력도 건조·복합구에서 낮은 경향이었습니다. 그러나 네 번째 수량은 종실 생체중이 5~14% 감소하는 경향이었으나 큰 차이가 없었습니다. 한편 대조구와 침수구의 차이가 크지 않았다는 점에서 3일 침수는 콩에 큰 타격을 주지 못한 것으로 추정됩니다. 개화기 처리 후 55일의 회복 기간 동안 보상이 있었을 가능성도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다음은 상추입니다. 침수 3일째 기공전도도가 대조구의 10%까지 떨어졌지만 배수 후 2~3일 만에 대조구 수준으로 회복했습니다. 명반응 지표인 ΦPSII, ΦNPQ, ΦNO는 모두 처리 간 차이가 없었고, 광합성 능력은 복합구에서만 낮은 경향이었습니다. 그럼에도 지상부 건물중은 건조 16%, 침수 34%, 복합 43% 감소했습니다. 대조구와 침수구의 차이가 크다는 점에서 침수가 상추의 생육에 직접적인 타격을 입혔을 가능성이 있습니다. 식물의 생장은 탄소 공급보다 조직 성장과 세포 팽압이 먼저 제한되는 경우가 많아, 침수 기간에 생긴 생장 손실이 회복 후에도 유지된 것으로 해석됩니다.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상추는 배수 2~3일 만에, 콩은 DAT 9 이후에 회복했습니다. 둘째, 상추는 명반응에 변화가 없었고, 콩은 건조구에서 ΦPSII가 낮고 ΦNPQ와 ΦNO가 높아 명반응에 타격을 입은 것으로 추정됩니다. 셋째, 상추는 대조구와 침수구의 차이가 커 침수가 생육에 직접 타격을 입혔을 가능성이 있고 건물중이 감소했습니다. 콩은 대조구와 침수구의 차이가 작아 3일 침수의 타격이 작았던 것으로 보이며 수량은 감소하는 경향이었지만 큰 차이는 없었습니다. 따라서 수분 스트레스에 대한 반응은 작물마다 다르며, 피해를 진단할 때는 잎 생리 지표와 생장 지표를 함께 봐야 합니다.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18</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보충 자료 목록입니다.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Ali 등과 Gao 등의 방법에 따라 PAR과 기온을 양적 공변량으로, 측정일을 임의효과로 넣은 혼합모형으로 처리별 보정 평균을 구했습니다. 기공전도도는 온도 보정 gsw를 그대로 사용했습니다.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정상 상태 형광 Fs의 절대값은 상추에서 처리 간 차이가 없었고, 콩에서는 침수·건조 처리구가 대조구보다 높았습니다.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전자전달속도는 측정 광도에 비례하므로 광도를 보정한 평균으로 비교했고, 상추에서는 침수구가 약 6~8% 낮은 경향을 보였지만 측정일 반복 기준으로는 유의하지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발표에 인용한 참고문헌입니다.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2026-11-02</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2026-11-02</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2026-11-02</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amp;w=3840&amp;q=75"/></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ko-KR" sz="4400" b="1" dirty="0"/>
              <a:t>침수 및 건조 복합재해에 대한 </a:t>
            </a:r>
            <a:br>
              <a:rPr lang="en-US" altLang="ko-KR" sz="4400" b="1" dirty="0"/>
            </a:br>
            <a:r>
              <a:rPr lang="ko-KR" altLang="ko-KR" sz="4400" b="1" dirty="0"/>
              <a:t>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2026. 11. 4.</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7" name="Flow 1"/>
          <p:cNvSpPr/>
          <p:nvPr/>
        </p:nvSpPr>
        <p:spPr>
          <a:xfrm>
            <a:off x="1123614" y="1188720"/>
            <a:ext cx="3017520" cy="713232"/>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9" name="Flow 2"/>
          <p:cNvSpPr/>
          <p:nvPr/>
        </p:nvSpPr>
        <p:spPr>
          <a:xfrm>
            <a:off x="4580046" y="1188720"/>
            <a:ext cx="3017520" cy="713232"/>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1" name="Flow 3"/>
          <p:cNvSpPr/>
          <p:nvPr/>
        </p:nvSpPr>
        <p:spPr>
          <a:xfrm>
            <a:off x="8051840" y="1188720"/>
            <a:ext cx="3017520" cy="713232"/>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63" name="Picture 62" descr="triptych.png"/>
          <p:cNvPicPr>
            <a:picLocks noChangeAspect="1"/>
          </p:cNvPicPr>
          <p:nvPr/>
        </p:nvPicPr>
        <p:blipFill>
          <a:blip r:embed="rId4"/>
          <a:stretch>
            <a:fillRect/>
          </a:stretch>
        </p:blipFill>
        <p:spPr>
          <a:xfrm>
            <a:off x="978408" y="1965960"/>
            <a:ext cx="10241280" cy="3071794"/>
          </a:xfrm>
          <a:prstGeom prst="rect">
            <a:avLst/>
          </a:prstGeom>
        </p:spPr>
      </p:pic>
      <p:sp>
        <p:nvSpPr>
          <p:cNvPr id="64" name="TextBox 63"/>
          <p:cNvSpPr txBox="1"/>
          <p:nvPr/>
        </p:nvSpPr>
        <p:spPr>
          <a:xfrm>
            <a:off x="1032174" y="5105010"/>
            <a:ext cx="3200400" cy="640080"/>
          </a:xfrm>
          <a:prstGeom prst="rect">
            <a:avLst/>
          </a:prstGeom>
          <a:noFill/>
        </p:spPr>
        <p:txBody>
          <a:bodyPr wrap="square">
            <a:spAutoFit/>
          </a:bodyPr>
          <a:lstStyle/>
          <a:p>
            <a:pPr algn="ctr"/>
            <a:r>
              <a:rPr sz="1200" b="1">
                <a:solidFill>
                  <a:srgbClr val="333333"/>
                </a:solidFill>
              </a:rPr>
              <a:t>근권 산소 결핍 → 기공 닫힘</a:t>
            </a:r>
          </a:p>
          <a:p>
            <a:pPr algn="ctr"/>
            <a:r>
              <a:rPr sz="1200">
                <a:solidFill>
                  <a:srgbClr val="333333"/>
                </a:solidFill>
              </a:rPr>
              <a:t>엽 내 CO</a:t>
            </a:r>
            <a:r>
              <a:rPr sz="1200" baseline="-25000">
                <a:solidFill>
                  <a:srgbClr val="333333"/>
                </a:solidFill>
              </a:rPr>
              <a:t>2</a:t>
            </a:r>
            <a:r>
              <a:rPr sz="1200">
                <a:solidFill>
                  <a:srgbClr val="333333"/>
                </a:solidFill>
              </a:rPr>
              <a:t> 공급 감소, 회복 지연</a:t>
            </a:r>
          </a:p>
        </p:txBody>
      </p:sp>
      <p:sp>
        <p:nvSpPr>
          <p:cNvPr id="65" name="TextBox 64"/>
          <p:cNvSpPr txBox="1"/>
          <p:nvPr/>
        </p:nvSpPr>
        <p:spPr>
          <a:xfrm>
            <a:off x="4488606" y="5105010"/>
            <a:ext cx="3200400" cy="640080"/>
          </a:xfrm>
          <a:prstGeom prst="rect">
            <a:avLst/>
          </a:prstGeom>
          <a:noFill/>
        </p:spPr>
        <p:txBody>
          <a:bodyPr wrap="square">
            <a:spAutoFit/>
          </a:bodyPr>
          <a:lstStyle/>
          <a:p>
            <a:pPr algn="ctr"/>
            <a:r>
              <a:rPr sz="1200" b="1">
                <a:solidFill>
                  <a:srgbClr val="333333"/>
                </a:solidFill>
              </a:rPr>
              <a:t>토양 수분 부족 → 엽 수분 저하</a:t>
            </a:r>
          </a:p>
          <a:p>
            <a:pPr algn="ctr"/>
            <a:r>
              <a:rPr sz="1200">
                <a:solidFill>
                  <a:srgbClr val="333333"/>
                </a:solidFill>
              </a:rPr>
              <a:t>증산·광합성 감소</a:t>
            </a:r>
          </a:p>
        </p:txBody>
      </p:sp>
      <p:sp>
        <p:nvSpPr>
          <p:cNvPr id="66" name="TextBox 65"/>
          <p:cNvSpPr txBox="1"/>
          <p:nvPr/>
        </p:nvSpPr>
        <p:spPr>
          <a:xfrm>
            <a:off x="7960400" y="5105010"/>
            <a:ext cx="3200400" cy="640080"/>
          </a:xfrm>
          <a:prstGeom prst="rect">
            <a:avLst/>
          </a:prstGeom>
          <a:noFill/>
        </p:spPr>
        <p:txBody>
          <a:bodyPr wrap="square">
            <a:spAutoFit/>
          </a:bodyPr>
          <a:lstStyle/>
          <a:p>
            <a:pPr algn="ctr"/>
            <a:r>
              <a:rPr sz="1200" b="1">
                <a:solidFill>
                  <a:srgbClr val="333333"/>
                </a:solidFill>
              </a:rPr>
              <a:t>침수 회복 전 건조 노출</a:t>
            </a:r>
          </a:p>
          <a:p>
            <a:pPr algn="ctr"/>
            <a:r>
              <a:rPr sz="1200">
                <a:solidFill>
                  <a:srgbClr val="333333"/>
                </a:solidFill>
              </a:rPr>
              <a:t>피해 누적 또는 순화 가능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9"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err="1">
                <a:solidFill>
                  <a:srgbClr val="E97132"/>
                </a:solidFill>
              </a:rPr>
              <a:t>핵심 질문: 같은 침수·건조 재해에 콩과 상추의 생리·생육 반응은 어떻게 다른가?</a:t>
            </a:r>
          </a:p>
        </p:txBody>
      </p:sp>
      <p:sp>
        <p:nvSpPr>
          <p:cNvPr id="27" name="Step 1"/>
          <p:cNvSpPr/>
          <p:nvPr/>
        </p:nvSpPr>
        <p:spPr>
          <a:xfrm>
            <a:off x="7406640" y="1188720"/>
            <a:ext cx="1691640" cy="786384"/>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기공</a:t>
            </a:r>
          </a:p>
          <a:p>
            <a:pPr marL="0" indent="0" algn="ctr">
              <a:spcBef>
                <a:spcPts val="0"/>
              </a:spcBef>
              <a:buNone/>
            </a:pPr>
            <a:r>
              <a:rPr lang="ko-KR" altLang="en-US" sz="1100" b="0" dirty="0">
                <a:solidFill>
                  <a:srgbClr val="000000"/>
                </a:solidFill>
              </a:rPr>
              <a:t>g</a:t>
            </a:r>
            <a:r>
              <a:rPr lang="ko-KR" altLang="en-US" sz="1100" b="0" baseline="-25000" dirty="0">
                <a:solidFill>
                  <a:srgbClr val="000000"/>
                </a:solidFill>
              </a:rPr>
              <a:t>sw</a:t>
            </a:r>
          </a:p>
        </p:txBody>
      </p:sp>
      <p:sp>
        <p:nvSpPr>
          <p:cNvPr id="28" name="Step 2"/>
          <p:cNvSpPr/>
          <p:nvPr/>
        </p:nvSpPr>
        <p:spPr>
          <a:xfrm>
            <a:off x="7406640" y="2084832"/>
            <a:ext cx="1691640" cy="786384"/>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명반응</a:t>
            </a:r>
          </a:p>
          <a:p>
            <a:pPr marL="0" indent="0" algn="ctr">
              <a:spcBef>
                <a:spcPts val="0"/>
              </a:spcBef>
              <a:buNone/>
            </a:pPr>
            <a:r>
              <a:rPr lang="ko-KR" altLang="en-US" sz="1100" b="0" dirty="0">
                <a:solidFill>
                  <a:srgbClr val="000000"/>
                </a:solidFill>
              </a:rPr>
              <a:t>Φ</a:t>
            </a:r>
            <a:r>
              <a:rPr lang="ko-KR" altLang="en-US" sz="1100" b="0" baseline="-25000" dirty="0">
                <a:solidFill>
                  <a:srgbClr val="000000"/>
                </a:solidFill>
              </a:rPr>
              <a:t>PSII</a:t>
            </a:r>
            <a:r>
              <a:rPr lang="ko-KR" altLang="en-US" sz="1100" b="0" dirty="0">
                <a:solidFill>
                  <a:srgbClr val="000000"/>
                </a:solidFill>
              </a:rPr>
              <a:t> · Φ</a:t>
            </a:r>
            <a:r>
              <a:rPr lang="ko-KR" altLang="en-US" sz="1100" b="0" baseline="-25000" dirty="0">
                <a:solidFill>
                  <a:srgbClr val="000000"/>
                </a:solidFill>
              </a:rPr>
              <a:t>NPQ</a:t>
            </a:r>
            <a:r>
              <a:rPr lang="ko-KR" altLang="en-US" sz="1100" b="0" dirty="0">
                <a:solidFill>
                  <a:srgbClr val="000000"/>
                </a:solidFill>
              </a:rPr>
              <a:t> · Φ</a:t>
            </a:r>
            <a:r>
              <a:rPr lang="ko-KR" altLang="en-US" sz="1100" b="0" baseline="-25000" dirty="0">
                <a:solidFill>
                  <a:srgbClr val="000000"/>
                </a:solidFill>
              </a:rPr>
              <a:t>NO</a:t>
            </a:r>
          </a:p>
        </p:txBody>
      </p:sp>
      <p:sp>
        <p:nvSpPr>
          <p:cNvPr id="30" name="Step 4"/>
          <p:cNvSpPr/>
          <p:nvPr/>
        </p:nvSpPr>
        <p:spPr>
          <a:xfrm>
            <a:off x="7406640" y="2980944"/>
            <a:ext cx="1691640" cy="786384"/>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광합성 능력</a:t>
            </a:r>
          </a:p>
          <a:p>
            <a:pPr marL="0" indent="0" algn="ctr">
              <a:spcBef>
                <a:spcPts val="0"/>
              </a:spcBef>
              <a:buNone/>
            </a:pPr>
            <a:r>
              <a:rPr lang="ko-KR" altLang="en-US" sz="1100" b="0" dirty="0">
                <a:solidFill>
                  <a:srgbClr val="FFFFFF"/>
                </a:solidFill>
              </a:rPr>
              <a:t>V</a:t>
            </a:r>
            <a:r>
              <a:rPr lang="ko-KR" altLang="en-US" sz="1100" b="0" baseline="-25000" dirty="0">
                <a:solidFill>
                  <a:srgbClr val="FFFFFF"/>
                </a:solidFill>
              </a:rPr>
              <a:t>cmax</a:t>
            </a:r>
            <a:r>
              <a:rPr lang="ko-KR" altLang="en-US" sz="1100" b="0" dirty="0">
                <a:solidFill>
                  <a:srgbClr val="FFFFFF"/>
                </a:solidFill>
              </a:rPr>
              <a:t> · J</a:t>
            </a:r>
            <a:r>
              <a:rPr lang="ko-KR" altLang="en-US" sz="1100" b="0" baseline="-25000" dirty="0">
                <a:solidFill>
                  <a:srgbClr val="FFFFFF"/>
                </a:solidFill>
              </a:rPr>
              <a:t>max</a:t>
            </a:r>
            <a:r>
              <a:rPr lang="ko-KR" altLang="en-US" sz="1100" b="0" dirty="0">
                <a:solidFill>
                  <a:srgbClr val="FFFFFF"/>
                </a:solidFill>
              </a:rPr>
              <a:t> · A</a:t>
            </a:r>
            <a:r>
              <a:rPr lang="ko-KR" altLang="en-US" sz="1100" b="0" baseline="-25000" dirty="0">
                <a:solidFill>
                  <a:srgbClr val="FFFFFF"/>
                </a:solidFill>
              </a:rPr>
              <a:t>max</a:t>
            </a:r>
          </a:p>
        </p:txBody>
      </p:sp>
      <p:sp>
        <p:nvSpPr>
          <p:cNvPr id="31" name="Step 5"/>
          <p:cNvSpPr/>
          <p:nvPr/>
        </p:nvSpPr>
        <p:spPr>
          <a:xfrm>
            <a:off x="7406640" y="3877056"/>
            <a:ext cx="1691640" cy="786384"/>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err="1">
                <a:solidFill>
                  <a:srgbClr val="FFFFFF"/>
                </a:solidFill>
              </a:rPr>
              <a:t>생육·수량</a:t>
            </a:r>
            <a:endParaRPr lang="ko-KR" altLang="en-US" sz="1500" b="1" dirty="0">
              <a:solidFill>
                <a:srgbClr val="FFFFFF"/>
              </a:solidFill>
            </a:endParaRP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846320"/>
            <a:ext cx="10515600" cy="868680"/>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46" name="Picture 45" descr="mechanism.png"/>
          <p:cNvPicPr>
            <a:picLocks noChangeAspect="1"/>
          </p:cNvPicPr>
          <p:nvPr/>
        </p:nvPicPr>
        <p:blipFill>
          <a:blip r:embed="rId4"/>
          <a:stretch>
            <a:fillRect/>
          </a:stretch>
        </p:blipFill>
        <p:spPr>
          <a:xfrm>
            <a:off x="841248" y="1188720"/>
            <a:ext cx="6400800" cy="3575898"/>
          </a:xfrm>
          <a:prstGeom prst="rect">
            <a:avLst/>
          </a:prstGeom>
        </p:spPr>
      </p:pic>
      <p:sp>
        <p:nvSpPr>
          <p:cNvPr id="47" name="TextBox 46"/>
          <p:cNvSpPr txBox="1"/>
          <p:nvPr/>
        </p:nvSpPr>
        <p:spPr>
          <a:xfrm>
            <a:off x="9189720" y="1188720"/>
            <a:ext cx="2240280" cy="786384"/>
          </a:xfrm>
          <a:prstGeom prst="rect">
            <a:avLst/>
          </a:prstGeom>
          <a:noFill/>
        </p:spPr>
        <p:txBody>
          <a:bodyPr wrap="square" lIns="45720" tIns="18288" rIns="45720" bIns="18288" anchor="ctr">
            <a:spAutoFit/>
          </a:bodyPr>
          <a:lstStyle/>
          <a:p>
            <a:pPr algn="l"/>
            <a:r>
              <a:rPr sz="1050">
                <a:solidFill>
                  <a:srgbClr val="333333"/>
                </a:solidFill>
              </a:rPr>
              <a:t>수분 스트레스에 가장 먼저 반응해 닫히고, 엽 내 CO</a:t>
            </a:r>
            <a:r>
              <a:rPr sz="1050" baseline="-25000">
                <a:solidFill>
                  <a:srgbClr val="333333"/>
                </a:solidFill>
              </a:rPr>
              <a:t>2</a:t>
            </a:r>
            <a:r>
              <a:rPr sz="1050">
                <a:solidFill>
                  <a:srgbClr val="333333"/>
                </a:solidFill>
              </a:rPr>
              <a:t> 공급이 감소</a:t>
            </a:r>
          </a:p>
        </p:txBody>
      </p:sp>
      <p:sp>
        <p:nvSpPr>
          <p:cNvPr id="48" name="TextBox 47"/>
          <p:cNvSpPr txBox="1"/>
          <p:nvPr/>
        </p:nvSpPr>
        <p:spPr>
          <a:xfrm>
            <a:off x="9189720" y="2217183"/>
            <a:ext cx="2240280" cy="521681"/>
          </a:xfrm>
          <a:prstGeom prst="rect">
            <a:avLst/>
          </a:prstGeom>
          <a:noFill/>
        </p:spPr>
        <p:txBody>
          <a:bodyPr wrap="square" lIns="45720" tIns="18288" rIns="45720" bIns="18288" anchor="ctr">
            <a:spAutoFit/>
          </a:bodyPr>
          <a:lstStyle/>
          <a:p>
            <a:pPr algn="l"/>
            <a:r>
              <a:rPr sz="1050" b="0" dirty="0" err="1">
                <a:solidFill>
                  <a:srgbClr val="333333"/>
                </a:solidFill>
              </a:rPr>
              <a:t>틸라코이드</a:t>
            </a:r>
            <a:r>
              <a:rPr sz="1050" b="0" dirty="0">
                <a:solidFill>
                  <a:srgbClr val="333333"/>
                </a:solidFill>
              </a:rPr>
              <a:t> 막 PSII </a:t>
            </a:r>
            <a:r>
              <a:rPr sz="1050" b="0" dirty="0" err="1">
                <a:solidFill>
                  <a:srgbClr val="333333"/>
                </a:solidFill>
              </a:rPr>
              <a:t>전자전달</a:t>
            </a:r>
            <a:r>
              <a:rPr sz="1050" b="0" dirty="0">
                <a:solidFill>
                  <a:srgbClr val="333333"/>
                </a:solidFill>
              </a:rPr>
              <a:t> </a:t>
            </a:r>
            <a:r>
              <a:rPr sz="1050" b="0" dirty="0" err="1">
                <a:solidFill>
                  <a:srgbClr val="333333"/>
                </a:solidFill>
              </a:rPr>
              <a:t>저해</a:t>
            </a:r>
            <a:r>
              <a:rPr sz="1050" b="0" dirty="0">
                <a:solidFill>
                  <a:srgbClr val="333333"/>
                </a:solidFill>
              </a:rPr>
              <a:t>: </a:t>
            </a:r>
            <a:r>
              <a:rPr sz="1050" b="0" dirty="0" err="1">
                <a:solidFill>
                  <a:srgbClr val="333333"/>
                </a:solidFill>
              </a:rPr>
              <a:t>광화학</a:t>
            </a:r>
            <a:r>
              <a:rPr sz="1050" b="0" dirty="0">
                <a:solidFill>
                  <a:srgbClr val="333333"/>
                </a:solidFill>
              </a:rPr>
              <a:t> </a:t>
            </a:r>
            <a:r>
              <a:rPr sz="1050" b="0" dirty="0" err="1">
                <a:solidFill>
                  <a:srgbClr val="333333"/>
                </a:solidFill>
              </a:rPr>
              <a:t>효율</a:t>
            </a:r>
            <a:r>
              <a:rPr sz="1050" b="0" dirty="0">
                <a:solidFill>
                  <a:srgbClr val="333333"/>
                </a:solidFill>
              </a:rPr>
              <a:t>(Φ</a:t>
            </a:r>
            <a:r>
              <a:rPr sz="1050" b="0" baseline="-25000" dirty="0">
                <a:solidFill>
                  <a:srgbClr val="333333"/>
                </a:solidFill>
              </a:rPr>
              <a:t>PSII</a:t>
            </a:r>
            <a:r>
              <a:rPr sz="1050" b="0" dirty="0">
                <a:solidFill>
                  <a:srgbClr val="333333"/>
                </a:solidFill>
              </a:rPr>
              <a:t>)과 </a:t>
            </a:r>
            <a:r>
              <a:rPr sz="1050" b="0" dirty="0" err="1">
                <a:solidFill>
                  <a:srgbClr val="333333"/>
                </a:solidFill>
              </a:rPr>
              <a:t>에너지</a:t>
            </a:r>
            <a:r>
              <a:rPr sz="1050" b="0" dirty="0">
                <a:solidFill>
                  <a:srgbClr val="333333"/>
                </a:solidFill>
              </a:rPr>
              <a:t> </a:t>
            </a:r>
            <a:r>
              <a:rPr sz="1050" b="0" dirty="0" err="1">
                <a:solidFill>
                  <a:srgbClr val="333333"/>
                </a:solidFill>
              </a:rPr>
              <a:t>소산</a:t>
            </a:r>
            <a:r>
              <a:rPr sz="1050" b="0" dirty="0">
                <a:solidFill>
                  <a:srgbClr val="333333"/>
                </a:solidFill>
              </a:rPr>
              <a:t>(Φ</a:t>
            </a:r>
            <a:r>
              <a:rPr sz="1050" b="0" baseline="-25000" dirty="0">
                <a:solidFill>
                  <a:srgbClr val="333333"/>
                </a:solidFill>
              </a:rPr>
              <a:t>NPQ</a:t>
            </a:r>
            <a:r>
              <a:rPr sz="1050" b="0" dirty="0">
                <a:solidFill>
                  <a:srgbClr val="333333"/>
                </a:solidFill>
              </a:rPr>
              <a:t>·Φ</a:t>
            </a:r>
            <a:r>
              <a:rPr sz="1050" b="0" baseline="-25000" dirty="0">
                <a:solidFill>
                  <a:srgbClr val="333333"/>
                </a:solidFill>
              </a:rPr>
              <a:t>NO</a:t>
            </a:r>
            <a:r>
              <a:rPr sz="1050" b="0" dirty="0">
                <a:solidFill>
                  <a:srgbClr val="333333"/>
                </a:solidFill>
              </a:rPr>
              <a:t>) </a:t>
            </a:r>
            <a:r>
              <a:rPr sz="1050" b="0" dirty="0" err="1">
                <a:solidFill>
                  <a:srgbClr val="333333"/>
                </a:solidFill>
              </a:rPr>
              <a:t>변화</a:t>
            </a:r>
            <a:endParaRPr sz="1050" b="0" dirty="0">
              <a:solidFill>
                <a:srgbClr val="333333"/>
              </a:solidFill>
            </a:endParaRPr>
          </a:p>
        </p:txBody>
      </p:sp>
      <p:sp>
        <p:nvSpPr>
          <p:cNvPr id="49" name="TextBox 48"/>
          <p:cNvSpPr txBox="1"/>
          <p:nvPr/>
        </p:nvSpPr>
        <p:spPr>
          <a:xfrm>
            <a:off x="9189720" y="3194086"/>
            <a:ext cx="2240280" cy="360099"/>
          </a:xfrm>
          <a:prstGeom prst="rect">
            <a:avLst/>
          </a:prstGeom>
          <a:noFill/>
        </p:spPr>
        <p:txBody>
          <a:bodyPr wrap="square" lIns="45720" tIns="18288" rIns="45720" bIns="18288" anchor="ctr">
            <a:spAutoFit/>
          </a:bodyPr>
          <a:lstStyle/>
          <a:p>
            <a:pPr algn="l"/>
            <a:r>
              <a:rPr sz="1050" b="0" dirty="0" err="1">
                <a:solidFill>
                  <a:srgbClr val="333333"/>
                </a:solidFill>
              </a:rPr>
              <a:t>루비스코</a:t>
            </a:r>
            <a:r>
              <a:rPr sz="1050" b="0" dirty="0">
                <a:solidFill>
                  <a:srgbClr val="333333"/>
                </a:solidFill>
              </a:rPr>
              <a:t> </a:t>
            </a:r>
            <a:r>
              <a:rPr sz="1050" b="0" dirty="0" err="1">
                <a:solidFill>
                  <a:srgbClr val="333333"/>
                </a:solidFill>
              </a:rPr>
              <a:t>카르복실화와</a:t>
            </a:r>
            <a:r>
              <a:rPr sz="1050" b="0" dirty="0">
                <a:solidFill>
                  <a:srgbClr val="333333"/>
                </a:solidFill>
              </a:rPr>
              <a:t> RuBP </a:t>
            </a:r>
            <a:r>
              <a:rPr sz="1050" b="0" dirty="0" err="1">
                <a:solidFill>
                  <a:srgbClr val="333333"/>
                </a:solidFill>
              </a:rPr>
              <a:t>재생</a:t>
            </a:r>
            <a:r>
              <a:rPr sz="1050" b="0" dirty="0">
                <a:solidFill>
                  <a:srgbClr val="333333"/>
                </a:solidFill>
              </a:rPr>
              <a:t> </a:t>
            </a:r>
            <a:r>
              <a:rPr sz="1050" b="0" dirty="0" err="1">
                <a:solidFill>
                  <a:srgbClr val="333333"/>
                </a:solidFill>
              </a:rPr>
              <a:t>능력</a:t>
            </a:r>
            <a:r>
              <a:rPr sz="1050" b="0" dirty="0">
                <a:solidFill>
                  <a:srgbClr val="333333"/>
                </a:solidFill>
              </a:rPr>
              <a:t> </a:t>
            </a:r>
            <a:r>
              <a:rPr sz="1050" b="0" dirty="0" err="1">
                <a:solidFill>
                  <a:srgbClr val="333333"/>
                </a:solidFill>
              </a:rPr>
              <a:t>저하</a:t>
            </a:r>
            <a:endParaRPr sz="1050" b="0" dirty="0">
              <a:solidFill>
                <a:srgbClr val="333333"/>
              </a:solidFill>
            </a:endParaRPr>
          </a:p>
        </p:txBody>
      </p:sp>
      <p:sp>
        <p:nvSpPr>
          <p:cNvPr id="50" name="TextBox 49"/>
          <p:cNvSpPr txBox="1"/>
          <p:nvPr/>
        </p:nvSpPr>
        <p:spPr>
          <a:xfrm>
            <a:off x="9189720" y="4090198"/>
            <a:ext cx="2240280" cy="360099"/>
          </a:xfrm>
          <a:prstGeom prst="rect">
            <a:avLst/>
          </a:prstGeom>
          <a:noFill/>
        </p:spPr>
        <p:txBody>
          <a:bodyPr wrap="square" lIns="45720" tIns="18288" rIns="45720" bIns="18288" anchor="ctr">
            <a:spAutoFit/>
          </a:bodyPr>
          <a:lstStyle/>
          <a:p>
            <a:pPr algn="l"/>
            <a:r>
              <a:rPr lang="ko-KR" altLang="en-US" sz="1050" dirty="0">
                <a:solidFill>
                  <a:srgbClr val="333333"/>
                </a:solidFill>
              </a:rPr>
              <a:t>생리 반응</a:t>
            </a:r>
            <a:r>
              <a:rPr sz="1050" b="0" dirty="0">
                <a:solidFill>
                  <a:srgbClr val="333333"/>
                </a:solidFill>
              </a:rPr>
              <a:t>의 </a:t>
            </a:r>
            <a:r>
              <a:rPr sz="1050" b="0" dirty="0" err="1">
                <a:solidFill>
                  <a:srgbClr val="333333"/>
                </a:solidFill>
              </a:rPr>
              <a:t>영향이</a:t>
            </a:r>
            <a:r>
              <a:rPr sz="1050" b="0" dirty="0">
                <a:solidFill>
                  <a:srgbClr val="333333"/>
                </a:solidFill>
              </a:rPr>
              <a:t> </a:t>
            </a:r>
            <a:r>
              <a:rPr sz="1050" b="0" dirty="0" err="1">
                <a:solidFill>
                  <a:srgbClr val="333333"/>
                </a:solidFill>
              </a:rPr>
              <a:t>누적되어</a:t>
            </a:r>
            <a:r>
              <a:rPr sz="1050" b="0" dirty="0">
                <a:solidFill>
                  <a:srgbClr val="333333"/>
                </a:solidFill>
              </a:rPr>
              <a:t> </a:t>
            </a:r>
            <a:r>
              <a:rPr sz="1050" b="0" dirty="0" err="1">
                <a:solidFill>
                  <a:srgbClr val="333333"/>
                </a:solidFill>
              </a:rPr>
              <a:t>생육·수량</a:t>
            </a:r>
            <a:r>
              <a:rPr sz="1050" b="0" dirty="0">
                <a:solidFill>
                  <a:srgbClr val="333333"/>
                </a:solidFill>
              </a:rPr>
              <a:t> </a:t>
            </a:r>
            <a:r>
              <a:rPr sz="1050" b="0" dirty="0" err="1">
                <a:solidFill>
                  <a:srgbClr val="333333"/>
                </a:solidFill>
              </a:rPr>
              <a:t>감소로</a:t>
            </a:r>
            <a:r>
              <a:rPr sz="1050" b="0" dirty="0">
                <a:solidFill>
                  <a:srgbClr val="333333"/>
                </a:solidFill>
              </a:rPr>
              <a:t> </a:t>
            </a:r>
            <a:r>
              <a:rPr sz="1050" b="0" dirty="0" err="1">
                <a:solidFill>
                  <a:srgbClr val="333333"/>
                </a:solidFill>
              </a:rPr>
              <a:t>이어지는지</a:t>
            </a:r>
            <a:r>
              <a:rPr sz="1050" b="0" dirty="0">
                <a:solidFill>
                  <a:srgbClr val="333333"/>
                </a:solidFill>
              </a:rPr>
              <a:t> </a:t>
            </a:r>
            <a:r>
              <a:rPr sz="1050" b="0" dirty="0" err="1">
                <a:solidFill>
                  <a:srgbClr val="333333"/>
                </a:solidFill>
              </a:rPr>
              <a:t>평가</a:t>
            </a:r>
            <a:endParaRPr sz="1050" b="0" dirty="0">
              <a:solidFill>
                <a:srgbClr val="333333"/>
              </a:solidFill>
            </a:endParaRPr>
          </a:p>
        </p:txBody>
      </p:sp>
      <p:sp>
        <p:nvSpPr>
          <p:cNvPr id="5" name="직사각형 4">
            <a:extLst>
              <a:ext uri="{FF2B5EF4-FFF2-40B4-BE49-F238E27FC236}">
                <a16:creationId xmlns:a16="http://schemas.microsoft.com/office/drawing/2014/main" id="{DE28C391-4D99-77A8-5C05-07B40EBAFB4A}"/>
              </a:ext>
            </a:extLst>
          </p:cNvPr>
          <p:cNvSpPr/>
          <p:nvPr/>
        </p:nvSpPr>
        <p:spPr>
          <a:xfrm>
            <a:off x="11704320" y="1975104"/>
            <a:ext cx="1532709" cy="13428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재료 및 방법으로 변경</a:t>
            </a:r>
            <a:endParaRPr lang="en-US" altLang="ko-KR" sz="1200" dirty="0"/>
          </a:p>
          <a:p>
            <a:pPr algn="ctr"/>
            <a:r>
              <a:rPr lang="ko-KR" altLang="en-US" sz="1200" dirty="0"/>
              <a:t>아니면 서론에 두고 어느 지표가 빨리 파괴되는지</a:t>
            </a:r>
            <a:r>
              <a:rPr lang="en-US" altLang="ko-KR" sz="1200" dirty="0"/>
              <a:t>, </a:t>
            </a:r>
            <a:r>
              <a:rPr lang="ko-KR" altLang="en-US" sz="1200" dirty="0"/>
              <a:t>회복되는지 등 알아보려고 한다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정식일 </a:t>
            </a:r>
            <a:r>
              <a:rPr lang="en-US" altLang="ko-KR" sz="1300" b="0" dirty="0">
                <a:solidFill>
                  <a:srgbClr val="000000"/>
                </a:solidFill>
              </a:rPr>
              <a:t>: 26. 9. 15.</a:t>
            </a:r>
          </a:p>
          <a:p>
            <a:pPr marL="201168" indent="-201168" algn="l">
              <a:spcBef>
                <a:spcPts val="600"/>
              </a:spcBef>
              <a:buFont typeface="Arial"/>
              <a:buChar char="•"/>
            </a:pPr>
            <a:r>
              <a:rPr lang="ko-KR" altLang="en-US" sz="1300" b="0" dirty="0">
                <a:solidFill>
                  <a:srgbClr val="000000"/>
                </a:solidFill>
              </a:rPr>
              <a:t>처리 개시 : </a:t>
            </a:r>
            <a:r>
              <a:rPr lang="en-US" altLang="ko-KR" sz="1300" b="0" dirty="0">
                <a:solidFill>
                  <a:srgbClr val="000000"/>
                </a:solidFill>
              </a:rPr>
              <a:t>26. 10. 7.</a:t>
            </a:r>
            <a:endParaRPr lang="ko-KR" altLang="en-US" sz="1300" b="0" dirty="0">
              <a:solidFill>
                <a:srgbClr val="000000"/>
              </a:solidFill>
            </a:endParaRPr>
          </a:p>
          <a:p>
            <a:pPr marL="201168" indent="-201168" algn="l">
              <a:spcBef>
                <a:spcPts val="600"/>
              </a:spcBef>
              <a:buFont typeface="Arial"/>
              <a:buChar char="•"/>
            </a:pPr>
            <a:r>
              <a:rPr lang="ko-KR" altLang="en-US" sz="1300" b="0" dirty="0">
                <a:solidFill>
                  <a:srgbClr val="000000"/>
                </a:solidFill>
              </a:rPr>
              <a:t>관찰 :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a:t>
            </a:r>
            <a:r>
              <a:rPr lang="ko-KR" altLang="en-US" sz="1300" b="0" i="0" dirty="0" err="1">
                <a:solidFill>
                  <a:srgbClr val="000000"/>
                </a:solidFill>
              </a:rPr>
              <a:t>Daewonkong</a:t>
            </a:r>
            <a:endParaRPr lang="ko-KR" altLang="en-US" sz="1300" b="0" i="0" dirty="0">
              <a:solidFill>
                <a:srgbClr val="000000"/>
              </a:solidFill>
            </a:endParaRPr>
          </a:p>
          <a:p>
            <a:pPr marL="201168" indent="-201168" algn="l">
              <a:spcBef>
                <a:spcPts val="600"/>
              </a:spcBef>
              <a:buFont typeface="Arial"/>
              <a:buChar char="•"/>
            </a:pPr>
            <a:r>
              <a:rPr lang="ko-KR" altLang="en-US" sz="1300" b="0" dirty="0">
                <a:solidFill>
                  <a:srgbClr val="000000"/>
                </a:solidFill>
              </a:rPr>
              <a:t>파종일 </a:t>
            </a:r>
            <a:r>
              <a:rPr lang="en-US" altLang="ko-KR" sz="1300" b="0" dirty="0">
                <a:solidFill>
                  <a:srgbClr val="000000"/>
                </a:solidFill>
              </a:rPr>
              <a:t>: 26. 6. 26.</a:t>
            </a:r>
          </a:p>
          <a:p>
            <a:pPr marL="201168" indent="-201168" algn="l">
              <a:spcBef>
                <a:spcPts val="600"/>
              </a:spcBef>
              <a:buFont typeface="Arial"/>
              <a:buChar char="•"/>
            </a:pPr>
            <a:r>
              <a:rPr lang="ko-KR" altLang="en-US" sz="1300" b="0" dirty="0">
                <a:solidFill>
                  <a:srgbClr val="000000"/>
                </a:solidFill>
              </a:rPr>
              <a:t>처리 개시 : </a:t>
            </a:r>
            <a:r>
              <a:rPr lang="en-US" altLang="ko-KR" sz="1300" b="0" dirty="0">
                <a:solidFill>
                  <a:srgbClr val="000000"/>
                </a:solidFill>
              </a:rPr>
              <a:t>26. 8. 12. (R1)</a:t>
            </a:r>
            <a:endParaRPr lang="ko-KR" altLang="en-US" sz="1300" b="0" dirty="0">
              <a:solidFill>
                <a:srgbClr val="000000"/>
              </a:solidFill>
            </a:endParaRPr>
          </a:p>
          <a:p>
            <a:pPr marL="201168" indent="-201168" algn="l">
              <a:spcBef>
                <a:spcPts val="600"/>
              </a:spcBef>
              <a:buFont typeface="Arial"/>
              <a:buChar char="•"/>
            </a:pPr>
            <a:r>
              <a:rPr lang="ko-KR" altLang="en-US" sz="1300" b="0" dirty="0">
                <a:solidFill>
                  <a:srgbClr val="000000"/>
                </a:solidFill>
              </a:rPr>
              <a:t>관찰 : 처리 후 55일 (DAT 0~55)</a:t>
            </a:r>
          </a:p>
        </p:txBody>
      </p:sp>
      <p:sp>
        <p:nvSpPr>
          <p:cNvPr id="33" name="Pot label"/>
          <p:cNvSpPr txBox="1"/>
          <p:nvPr/>
        </p:nvSpPr>
        <p:spPr>
          <a:xfrm>
            <a:off x="608076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침수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a:t>
            </a:r>
            <a:r>
              <a:rPr lang="ko-KR" altLang="en-US" sz="1150" b="0">
                <a:solidFill>
                  <a:srgbClr val="000000"/>
                </a:solidFill>
              </a:rPr>
              <a:t>일 침수 </a:t>
            </a:r>
            <a:r>
              <a:rPr lang="ko-KR" altLang="en-US" sz="1150" b="0" dirty="0">
                <a:solidFill>
                  <a:srgbClr val="000000"/>
                </a:solidFill>
              </a:rPr>
              <a:t>→</a:t>
            </a:r>
          </a:p>
          <a:p>
            <a:pPr marL="0" indent="0" algn="ctr">
              <a:spcBef>
                <a:spcPts val="0"/>
              </a:spcBef>
              <a:buNone/>
            </a:pPr>
            <a:r>
              <a:rPr lang="ko-KR" altLang="en-US" sz="1150" b="0" dirty="0">
                <a:solidFill>
                  <a:srgbClr val="000000"/>
                </a:solidFill>
              </a:rPr>
              <a:t>ET 50%</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7" name="그림 6">
            <a:extLst>
              <a:ext uri="{FF2B5EF4-FFF2-40B4-BE49-F238E27FC236}">
                <a16:creationId xmlns:a16="http://schemas.microsoft.com/office/drawing/2014/main" id="{92F3155C-81E1-9801-E207-EE433DDEBFEA}"/>
              </a:ext>
            </a:extLst>
          </p:cNvPr>
          <p:cNvPicPr>
            <a:picLocks noChangeAspect="1"/>
          </p:cNvPicPr>
          <p:nvPr/>
        </p:nvPicPr>
        <p:blipFill>
          <a:blip r:embed="rId4">
            <a:extLst>
              <a:ext uri="{28A0092B-C50C-407E-A947-70E740481C1C}">
                <a14:useLocalDpi xmlns:a14="http://schemas.microsoft.com/office/drawing/2010/main" val="0"/>
              </a:ext>
            </a:extLst>
          </a:blip>
          <a:srcRect l="3749" t="18150" r="3281" b="13259"/>
          <a:stretch>
            <a:fillRect/>
          </a:stretch>
        </p:blipFill>
        <p:spPr>
          <a:xfrm>
            <a:off x="6042333" y="1965954"/>
            <a:ext cx="5365896" cy="1957698"/>
          </a:xfrm>
          <a:prstGeom prst="rect">
            <a:avLst/>
          </a:prstGeom>
        </p:spPr>
      </p:pic>
      <p:sp>
        <p:nvSpPr>
          <p:cNvPr id="5" name="직사각형 4">
            <a:extLst>
              <a:ext uri="{FF2B5EF4-FFF2-40B4-BE49-F238E27FC236}">
                <a16:creationId xmlns:a16="http://schemas.microsoft.com/office/drawing/2014/main" id="{98AB2F6A-CBE5-269A-804E-6B9AC06A28C0}"/>
              </a:ext>
            </a:extLst>
          </p:cNvPr>
          <p:cNvSpPr/>
          <p:nvPr/>
        </p:nvSpPr>
        <p:spPr>
          <a:xfrm>
            <a:off x="6252754" y="4828032"/>
            <a:ext cx="5155475" cy="945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t>침수 및 관수 어떻게 했는지 설명</a:t>
            </a:r>
            <a:r>
              <a:rPr lang="en-US" altLang="ko-KR" sz="1400" dirty="0"/>
              <a:t>:</a:t>
            </a:r>
          </a:p>
          <a:p>
            <a:pPr algn="ctr"/>
            <a:r>
              <a:rPr lang="ko-KR" altLang="en-US" sz="1400" dirty="0"/>
              <a:t>전날 증산한만큼 다음날 관수</a:t>
            </a:r>
            <a:r>
              <a:rPr lang="en-US" altLang="ko-KR" sz="1400" dirty="0"/>
              <a:t>, </a:t>
            </a:r>
            <a:r>
              <a:rPr lang="ko-KR" altLang="en-US" sz="1400" dirty="0"/>
              <a:t>침수는 </a:t>
            </a:r>
            <a:r>
              <a:rPr lang="en-US" altLang="ko-KR" sz="1400" dirty="0"/>
              <a:t>72</a:t>
            </a:r>
            <a:r>
              <a:rPr lang="ko-KR" altLang="en-US" sz="1400" dirty="0"/>
              <a:t>시간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8" grpId="0" animBg="1"/>
      <p:bldP spid="39" grpId="0" animBg="1"/>
      <p:bldP spid="44" grpId="0" animBg="1"/>
      <p:bldP spid="45" grpId="0" animBg="1"/>
      <p:bldP spid="51" grpId="0" animBg="1"/>
      <p:bldP spid="52" grpId="0" animBg="1"/>
      <p:bldP spid="5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276999"/>
          </a:xfrm>
          <a:prstGeom prst="rect">
            <a:avLst/>
          </a:prstGeom>
          <a:noFill/>
        </p:spPr>
        <p:txBody>
          <a:bodyPr wrap="square" lIns="0" tIns="0" rIns="0" bIns="0">
            <a:spAutoFit/>
          </a:bodyPr>
          <a:lstStyle/>
          <a:p>
            <a:r>
              <a:rPr sz="1800" b="1">
                <a:solidFill>
                  <a:srgbClr val="6B4226"/>
                </a:solidFill>
              </a:rPr>
              <a:t>콩</a:t>
            </a:r>
          </a:p>
        </p:txBody>
      </p:sp>
      <p:sp>
        <p:nvSpPr>
          <p:cNvPr id="22" name="Rounded Rectangle 21"/>
          <p:cNvSpPr/>
          <p:nvPr/>
        </p:nvSpPr>
        <p:spPr>
          <a:xfrm>
            <a:off x="1920240" y="2011680"/>
            <a:ext cx="521207" cy="4572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ect">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처리 기간</a:t>
            </a:r>
            <a:endParaRPr sz="1100" b="1" dirty="0">
              <a:solidFill>
                <a:srgbClr val="FFFFFF"/>
              </a:solidFill>
            </a:endParaRPr>
          </a:p>
        </p:txBody>
      </p:sp>
      <p:sp>
        <p:nvSpPr>
          <p:cNvPr id="39" name="TextBox 38"/>
          <p:cNvSpPr txBox="1"/>
          <p:nvPr/>
        </p:nvSpPr>
        <p:spPr>
          <a:xfrm>
            <a:off x="457200" y="2926080"/>
            <a:ext cx="1371600" cy="276999"/>
          </a:xfrm>
          <a:prstGeom prst="rect">
            <a:avLst/>
          </a:prstGeom>
          <a:noFill/>
        </p:spPr>
        <p:txBody>
          <a:bodyPr wrap="square" lIns="0" tIns="0" rIns="0" bIns="0">
            <a:spAutoFit/>
          </a:bodyPr>
          <a:lstStyle/>
          <a:p>
            <a:r>
              <a:rPr lang="ko-KR" altLang="en-US" b="1" dirty="0">
                <a:solidFill>
                  <a:srgbClr val="2E7D32"/>
                </a:solidFill>
              </a:rPr>
              <a:t>상추</a:t>
            </a:r>
            <a:endParaRPr sz="1800" b="1" dirty="0">
              <a:solidFill>
                <a:srgbClr val="2E7D32"/>
              </a:solidFill>
            </a:endParaRPr>
          </a:p>
        </p:txBody>
      </p:sp>
      <p:sp>
        <p:nvSpPr>
          <p:cNvPr id="40" name="Rounded Rectangle 39"/>
          <p:cNvSpPr/>
          <p:nvPr/>
        </p:nvSpPr>
        <p:spPr>
          <a:xfrm>
            <a:off x="1920240" y="2834640"/>
            <a:ext cx="521207" cy="4572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ect">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처리 기간</a:t>
            </a:r>
          </a:p>
        </p:txBody>
      </p:sp>
      <p:sp>
        <p:nvSpPr>
          <p:cNvPr id="58" name="Conclusion Box"/>
          <p:cNvSpPr/>
          <p:nvPr/>
        </p:nvSpPr>
        <p:spPr>
          <a:xfrm>
            <a:off x="841248" y="5749838"/>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824228" cy="20116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P1</a:t>
            </a:r>
          </a:p>
        </p:txBody>
      </p:sp>
      <p:sp>
        <p:nvSpPr>
          <p:cNvPr id="66" name="Rounded Rectangle 65"/>
          <p:cNvSpPr/>
          <p:nvPr/>
        </p:nvSpPr>
        <p:spPr>
          <a:xfrm>
            <a:off x="3744468" y="2505456"/>
            <a:ext cx="7731252" cy="201168"/>
          </a:xfrm>
          <a:prstGeom prst="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P2</a:t>
            </a:r>
          </a:p>
        </p:txBody>
      </p:sp>
      <p:sp>
        <p:nvSpPr>
          <p:cNvPr id="67" name="Rounded Rectangle 66"/>
          <p:cNvSpPr/>
          <p:nvPr/>
        </p:nvSpPr>
        <p:spPr>
          <a:xfrm>
            <a:off x="1920240" y="3328416"/>
            <a:ext cx="1824228" cy="20116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P1</a:t>
            </a:r>
          </a:p>
        </p:txBody>
      </p:sp>
      <p:sp>
        <p:nvSpPr>
          <p:cNvPr id="68" name="Rounded Rectangle 67"/>
          <p:cNvSpPr/>
          <p:nvPr/>
        </p:nvSpPr>
        <p:spPr>
          <a:xfrm>
            <a:off x="3744468" y="3328416"/>
            <a:ext cx="955547" cy="201168"/>
          </a:xfrm>
          <a:prstGeom prst="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P2</a:t>
            </a:r>
          </a:p>
        </p:txBody>
      </p:sp>
      <p:sp>
        <p:nvSpPr>
          <p:cNvPr id="69" name="Rounded Rectangle 68"/>
          <p:cNvSpPr/>
          <p:nvPr/>
        </p:nvSpPr>
        <p:spPr>
          <a:xfrm>
            <a:off x="3423780" y="3703320"/>
            <a:ext cx="396000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00" b="1">
                <a:solidFill>
                  <a:srgbClr val="FFFFFF"/>
                </a:solidFill>
              </a:rPr>
              <a:t>콩</a:t>
            </a:r>
          </a:p>
        </p:txBody>
      </p:sp>
      <p:sp>
        <p:nvSpPr>
          <p:cNvPr id="70" name="Rounded Rectangle 69"/>
          <p:cNvSpPr/>
          <p:nvPr/>
        </p:nvSpPr>
        <p:spPr>
          <a:xfrm>
            <a:off x="7515720" y="3703320"/>
            <a:ext cx="396000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00" b="1" dirty="0" err="1">
                <a:solidFill>
                  <a:srgbClr val="FFFFFF"/>
                </a:solidFill>
              </a:rPr>
              <a:t>상추</a:t>
            </a:r>
            <a:endParaRPr sz="1200" b="1" dirty="0">
              <a:solidFill>
                <a:srgbClr val="FFFFFF"/>
              </a:solidFill>
            </a:endParaRPr>
          </a:p>
        </p:txBody>
      </p:sp>
      <p:sp>
        <p:nvSpPr>
          <p:cNvPr id="71" name="Rounded Rectangle 70"/>
          <p:cNvSpPr/>
          <p:nvPr/>
        </p:nvSpPr>
        <p:spPr>
          <a:xfrm>
            <a:off x="192024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FFFFF"/>
                </a:solidFill>
              </a:rPr>
              <a:t>LI-600</a:t>
            </a:r>
          </a:p>
        </p:txBody>
      </p:sp>
      <p:sp>
        <p:nvSpPr>
          <p:cNvPr id="72" name="Rounded Rectangle 71"/>
          <p:cNvSpPr/>
          <p:nvPr/>
        </p:nvSpPr>
        <p:spPr>
          <a:xfrm>
            <a:off x="3423780" y="41148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P1 : </a:t>
            </a:r>
            <a:r>
              <a:rPr sz="1150" b="0" dirty="0" err="1">
                <a:solidFill>
                  <a:srgbClr val="1F2D3A"/>
                </a:solidFill>
              </a:rPr>
              <a:t>매일</a:t>
            </a:r>
            <a:r>
              <a:rPr sz="1150" b="0" dirty="0">
                <a:solidFill>
                  <a:srgbClr val="1F2D3A"/>
                </a:solidFill>
              </a:rPr>
              <a:t> (DAT 1~</a:t>
            </a:r>
            <a:r>
              <a:rPr lang="en-US" sz="1150" b="0" dirty="0">
                <a:solidFill>
                  <a:srgbClr val="1F2D3A"/>
                </a:solidFill>
              </a:rPr>
              <a:t>10</a:t>
            </a:r>
            <a:r>
              <a:rPr sz="1150" b="0" dirty="0">
                <a:solidFill>
                  <a:srgbClr val="1F2D3A"/>
                </a:solidFill>
              </a:rPr>
              <a:t>)  /  P2 : 1~2주 </a:t>
            </a:r>
            <a:r>
              <a:rPr sz="1150" b="0" dirty="0" err="1">
                <a:solidFill>
                  <a:srgbClr val="1F2D3A"/>
                </a:solidFill>
              </a:rPr>
              <a:t>간격</a:t>
            </a:r>
            <a:endParaRPr sz="1150" b="0" dirty="0">
              <a:solidFill>
                <a:srgbClr val="1F2D3A"/>
              </a:solidFill>
            </a:endParaRPr>
          </a:p>
        </p:txBody>
      </p:sp>
      <p:sp>
        <p:nvSpPr>
          <p:cNvPr id="73" name="Rounded Rectangle 72"/>
          <p:cNvSpPr/>
          <p:nvPr/>
        </p:nvSpPr>
        <p:spPr>
          <a:xfrm>
            <a:off x="7515720" y="41148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a:solidFill>
                  <a:srgbClr val="1F2D3A"/>
                </a:solidFill>
              </a:rPr>
              <a:t>P1 : 매일 (DAT 1~10)  /  P2 : 이틀 간격</a:t>
            </a:r>
          </a:p>
        </p:txBody>
      </p:sp>
      <p:sp>
        <p:nvSpPr>
          <p:cNvPr id="74" name="Rounded Rectangle 73"/>
          <p:cNvSpPr/>
          <p:nvPr/>
        </p:nvSpPr>
        <p:spPr>
          <a:xfrm>
            <a:off x="192024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FFFFF"/>
                </a:solidFill>
              </a:rPr>
              <a:t>LI-6800</a:t>
            </a:r>
          </a:p>
        </p:txBody>
      </p:sp>
      <p:sp>
        <p:nvSpPr>
          <p:cNvPr id="75" name="Rounded Rectangle 74"/>
          <p:cNvSpPr/>
          <p:nvPr/>
        </p:nvSpPr>
        <p:spPr>
          <a:xfrm>
            <a:off x="3423780" y="45720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9/2~9/17, DAT 21~36</a:t>
            </a:r>
          </a:p>
        </p:txBody>
      </p:sp>
      <p:sp>
        <p:nvSpPr>
          <p:cNvPr id="76" name="Rounded Rectangle 75"/>
          <p:cNvSpPr/>
          <p:nvPr/>
        </p:nvSpPr>
        <p:spPr>
          <a:xfrm>
            <a:off x="7515720" y="45720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10/16~10/19, DAT 9~1</a:t>
            </a:r>
            <a:r>
              <a:rPr lang="en-US" altLang="ko-KR" sz="1150" b="0" dirty="0">
                <a:solidFill>
                  <a:srgbClr val="1F2D3A"/>
                </a:solidFill>
              </a:rPr>
              <a:t>2</a:t>
            </a:r>
            <a:endParaRPr sz="1150" b="0" dirty="0">
              <a:solidFill>
                <a:srgbClr val="1F2D3A"/>
              </a:solidFill>
            </a:endParaRPr>
          </a:p>
        </p:txBody>
      </p:sp>
      <p:sp>
        <p:nvSpPr>
          <p:cNvPr id="77" name="Rounded Rectangle 76"/>
          <p:cNvSpPr/>
          <p:nvPr/>
        </p:nvSpPr>
        <p:spPr>
          <a:xfrm>
            <a:off x="192024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FFFFF"/>
                </a:solidFill>
              </a:rPr>
              <a:t>생육 조사</a:t>
            </a:r>
          </a:p>
        </p:txBody>
      </p:sp>
      <p:sp>
        <p:nvSpPr>
          <p:cNvPr id="78" name="Rounded Rectangle 77"/>
          <p:cNvSpPr/>
          <p:nvPr/>
        </p:nvSpPr>
        <p:spPr>
          <a:xfrm>
            <a:off x="3423780" y="50292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10/6 (DAT 55)</a:t>
            </a:r>
          </a:p>
        </p:txBody>
      </p:sp>
      <p:sp>
        <p:nvSpPr>
          <p:cNvPr id="79" name="Rounded Rectangle 78"/>
          <p:cNvSpPr/>
          <p:nvPr/>
        </p:nvSpPr>
        <p:spPr>
          <a:xfrm>
            <a:off x="7515720" y="50292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a:solidFill>
                  <a:srgbClr val="1F2D3A"/>
                </a:solidFill>
              </a:rPr>
              <a:t>10/23 (DAT 16)</a:t>
            </a:r>
          </a:p>
        </p:txBody>
      </p:sp>
      <p:pic>
        <p:nvPicPr>
          <p:cNvPr id="5" name="그림 4" descr="LI-6800 Portable Photosynthesis System | LI-COR">
            <a:extLst>
              <a:ext uri="{FF2B5EF4-FFF2-40B4-BE49-F238E27FC236}">
                <a16:creationId xmlns:a16="http://schemas.microsoft.com/office/drawing/2014/main" id="{A30E5B42-BC1B-8BD5-4F88-7EA44E6BF7CF}"/>
              </a:ext>
            </a:extLst>
          </p:cNvPr>
          <p:cNvPicPr>
            <a:picLocks noChangeAspect="1"/>
          </p:cNvPicPr>
          <p:nvPr/>
        </p:nvPicPr>
        <p:blipFill>
          <a:blip r:embed="rId4"/>
          <a:stretch>
            <a:fillRect/>
          </a:stretch>
        </p:blipFill>
        <p:spPr>
          <a:xfrm>
            <a:off x="249468" y="4697495"/>
            <a:ext cx="1598382" cy="747576"/>
          </a:xfrm>
          <a:prstGeom prst="rect">
            <a:avLst/>
          </a:prstGeom>
        </p:spPr>
      </p:pic>
      <p:pic>
        <p:nvPicPr>
          <p:cNvPr id="24" name="그림 23" descr="쏠단SOLDAN">
            <a:extLst>
              <a:ext uri="{FF2B5EF4-FFF2-40B4-BE49-F238E27FC236}">
                <a16:creationId xmlns:a16="http://schemas.microsoft.com/office/drawing/2014/main" id="{F9DBD302-26CB-DB06-D5A6-DC7738374A9E}"/>
              </a:ext>
            </a:extLst>
          </p:cNvPr>
          <p:cNvPicPr>
            <a:picLocks noChangeAspect="1"/>
          </p:cNvPicPr>
          <p:nvPr/>
        </p:nvPicPr>
        <p:blipFill>
          <a:blip r:embed="rId5"/>
          <a:srcRect/>
          <a:stretch>
            <a:fillRect/>
          </a:stretch>
        </p:blipFill>
        <p:spPr>
          <a:xfrm rot="808707">
            <a:off x="494207" y="3639655"/>
            <a:ext cx="1163996" cy="11639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baseline="-25000" dirty="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a:t>
            </a:r>
            <a:r>
              <a:rPr lang="en-US" altLang="ko-KR" sz="1250" b="0" dirty="0">
                <a:solidFill>
                  <a:srgbClr val="595959"/>
                </a:solidFill>
              </a:rPr>
              <a:t>,</a:t>
            </a:r>
            <a:r>
              <a:rPr lang="ko-KR" altLang="en-US" sz="1250" b="0" dirty="0">
                <a:solidFill>
                  <a:srgbClr val="595959"/>
                </a:solidFill>
              </a:rPr>
              <a:t> 처리 개시 후 반복 측정 </a:t>
            </a:r>
            <a:br>
              <a:rPr lang="en-US" altLang="ko-KR" sz="1250" b="0" dirty="0">
                <a:solidFill>
                  <a:srgbClr val="595959"/>
                </a:solidFill>
              </a:rPr>
            </a:br>
            <a:r>
              <a:rPr lang="ko-KR" altLang="en-US" sz="1250" b="0" dirty="0">
                <a:solidFill>
                  <a:srgbClr val="595959"/>
                </a:solidFill>
              </a:rPr>
              <a:t>보정 gsw (Rizzo &amp; Bailey, 2026)</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baseline="-25000" dirty="0">
                <a:solidFill>
                  <a:srgbClr val="000000"/>
                </a:solidFill>
              </a:rPr>
              <a:t>PSII</a:t>
            </a:r>
            <a:r>
              <a:rPr lang="ko-KR" altLang="en-US" sz="1400" b="1" dirty="0">
                <a:solidFill>
                  <a:srgbClr val="000000"/>
                </a:solidFill>
              </a:rPr>
              <a:t>, Φ</a:t>
            </a:r>
            <a:r>
              <a:rPr lang="ko-KR" altLang="en-US" sz="1400" b="1" baseline="-25000" dirty="0">
                <a:solidFill>
                  <a:srgbClr val="000000"/>
                </a:solidFill>
              </a:rPr>
              <a:t>NPQ</a:t>
            </a:r>
            <a:r>
              <a:rPr lang="ko-KR" altLang="en-US" sz="1400" b="1" dirty="0">
                <a:solidFill>
                  <a:srgbClr val="000000"/>
                </a:solidFill>
              </a:rPr>
              <a:t>, Φ</a:t>
            </a:r>
            <a:r>
              <a:rPr lang="ko-KR" altLang="en-US" sz="1400" b="1" baseline="-25000" dirty="0">
                <a:solidFill>
                  <a:srgbClr val="000000"/>
                </a:solidFill>
              </a:rPr>
              <a:t>NO</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a:t>
            </a:r>
            <a:r>
              <a:rPr lang="en-US" altLang="ko-KR" sz="1250" b="0" dirty="0">
                <a:solidFill>
                  <a:srgbClr val="595959"/>
                </a:solidFill>
              </a:rPr>
              <a:t>,</a:t>
            </a:r>
            <a:r>
              <a:rPr lang="ko-KR" altLang="en-US" sz="1250" b="0" dirty="0">
                <a:solidFill>
                  <a:srgbClr val="595959"/>
                </a:solidFill>
              </a:rPr>
              <a:t> </a:t>
            </a:r>
            <a:r>
              <a:rPr lang="ko-KR" altLang="en-US" sz="1250" b="0" dirty="0" err="1">
                <a:solidFill>
                  <a:srgbClr val="595959"/>
                </a:solidFill>
              </a:rPr>
              <a:t>명적응</a:t>
            </a:r>
            <a:r>
              <a:rPr lang="ko-KR" altLang="en-US" sz="1250" b="0" dirty="0">
                <a:solidFill>
                  <a:srgbClr val="595959"/>
                </a:solidFill>
              </a:rPr>
              <a:t> 형광</a:t>
            </a:r>
            <a:br>
              <a:rPr lang="en-US" altLang="ko-KR" sz="1250" b="0" dirty="0">
                <a:solidFill>
                  <a:srgbClr val="595959"/>
                </a:solidFill>
              </a:rPr>
            </a:br>
            <a:r>
              <a:rPr lang="ko-KR" altLang="en-US" sz="1250" b="0" dirty="0" err="1">
                <a:solidFill>
                  <a:srgbClr val="595959"/>
                </a:solidFill>
              </a:rPr>
              <a:t>PAR·기온</a:t>
            </a:r>
            <a:r>
              <a:rPr lang="ko-KR" altLang="en-US" sz="1250" b="0" dirty="0">
                <a:solidFill>
                  <a:srgbClr val="595959"/>
                </a:solidFill>
              </a:rPr>
              <a:t>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광합성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baseline="-25000" dirty="0">
                <a:solidFill>
                  <a:srgbClr val="000000"/>
                </a:solidFill>
              </a:rPr>
              <a:t>cmax</a:t>
            </a:r>
            <a:r>
              <a:rPr lang="ko-KR" altLang="en-US" sz="1400" b="1" dirty="0">
                <a:solidFill>
                  <a:srgbClr val="000000"/>
                </a:solidFill>
              </a:rPr>
              <a:t>, J</a:t>
            </a:r>
            <a:r>
              <a:rPr lang="ko-KR" altLang="en-US" sz="1400" b="1" baseline="-25000" dirty="0">
                <a:solidFill>
                  <a:srgbClr val="000000"/>
                </a:solidFill>
              </a:rPr>
              <a:t>max</a:t>
            </a:r>
            <a:r>
              <a:rPr lang="ko-KR" altLang="en-US" sz="1400" b="1" dirty="0">
                <a:solidFill>
                  <a:srgbClr val="000000"/>
                </a:solidFill>
              </a:rPr>
              <a:t>, R</a:t>
            </a:r>
            <a:r>
              <a:rPr lang="ko-KR" altLang="en-US" sz="1400" b="1" baseline="-25000" dirty="0">
                <a:solidFill>
                  <a:srgbClr val="000000"/>
                </a:solidFill>
              </a:rPr>
              <a:t>d</a:t>
            </a:r>
            <a:r>
              <a:rPr lang="ko-KR" altLang="en-US" sz="1400" b="1" dirty="0">
                <a:solidFill>
                  <a:srgbClr val="000000"/>
                </a:solidFill>
              </a:rPr>
              <a:t>, A</a:t>
            </a:r>
            <a:r>
              <a:rPr lang="ko-KR" altLang="en-US" sz="1400" b="1" baseline="-25000" dirty="0">
                <a:solidFill>
                  <a:srgbClr val="000000"/>
                </a:solidFill>
              </a:rPr>
              <a:t>max</a:t>
            </a:r>
            <a:r>
              <a:rPr lang="ko-KR" altLang="en-US" sz="1400" b="1" dirty="0">
                <a:solidFill>
                  <a:srgbClr val="000000"/>
                </a:solidFill>
              </a:rPr>
              <a:t>, α</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a:t>
            </a:r>
            <a:r>
              <a:rPr lang="en-US" altLang="ko-KR" sz="1250" b="0" dirty="0">
                <a:solidFill>
                  <a:srgbClr val="595959"/>
                </a:solidFill>
              </a:rPr>
              <a:t>,</a:t>
            </a:r>
            <a:r>
              <a:rPr lang="ko-KR" altLang="en-US" sz="1250" b="0" dirty="0">
                <a:solidFill>
                  <a:srgbClr val="595959"/>
                </a:solidFill>
              </a:rPr>
              <a:t> A-Ci (FvCB), </a:t>
            </a:r>
            <a:r>
              <a:rPr lang="en-US" altLang="ko-KR" sz="1250" b="0" dirty="0">
                <a:solidFill>
                  <a:srgbClr val="595959"/>
                </a:solidFill>
              </a:rPr>
              <a:t>A-PPFD </a:t>
            </a:r>
            <a:r>
              <a:rPr lang="ko-KR" altLang="en-US" sz="1250" b="0" dirty="0">
                <a:solidFill>
                  <a:srgbClr val="595959"/>
                </a:solidFill>
              </a:rPr>
              <a:t>(NR</a:t>
            </a:r>
            <a:r>
              <a:rPr lang="en-US" altLang="ko-KR" sz="1250" b="0" dirty="0">
                <a:solidFill>
                  <a:srgbClr val="595959"/>
                </a:solidFill>
              </a:rPr>
              <a:t>H</a:t>
            </a:r>
            <a:r>
              <a:rPr lang="ko-KR" altLang="en-US" sz="1250" b="0" dirty="0">
                <a:solidFill>
                  <a:srgbClr val="595959"/>
                </a:solidFill>
              </a:rPr>
              <a:t>)</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err="1">
                <a:solidFill>
                  <a:srgbClr val="FFFFFF"/>
                </a:solidFill>
              </a:rPr>
              <a:t>생육·수량</a:t>
            </a:r>
            <a:endParaRPr lang="ko-KR" altLang="en-US" sz="1500" b="1" dirty="0">
              <a:solidFill>
                <a:srgbClr val="FFFFFF"/>
              </a:solidFill>
            </a:endParaRP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dirty="0">
                <a:solidFill>
                  <a:srgbClr val="595959"/>
                </a:solidFill>
              </a:rPr>
              <a:t>생육</a:t>
            </a:r>
            <a:r>
              <a:rPr lang="ko-KR" altLang="en-US" sz="1250" b="0" dirty="0">
                <a:solidFill>
                  <a:srgbClr val="595959"/>
                </a:solidFill>
              </a:rPr>
              <a:t> 조사 (상추 DAT 16, 콩 DAT 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9" name="BottomBar">
            <a:extLst>
              <a:ext uri="{FF2B5EF4-FFF2-40B4-BE49-F238E27FC236}">
                <a16:creationId xmlns:a16="http://schemas.microsoft.com/office/drawing/2014/main" id="{E5B48800-A198-8988-D95E-ABDB07A775F9}"/>
              </a:ext>
            </a:extLst>
          </p:cNvPr>
          <p:cNvSpPr/>
          <p:nvPr/>
        </p:nvSpPr>
        <p:spPr>
          <a:xfrm>
            <a:off x="863600" y="5458503"/>
            <a:ext cx="10464800" cy="457200"/>
          </a:xfrm>
          <a:prstGeom prst="rect">
            <a:avLst/>
          </a:prstGeom>
          <a:solidFill>
            <a:srgbClr val="FAFAFA"/>
          </a:solidFill>
          <a:ln w="9525">
            <a:solidFill>
              <a:srgbClr val="D9D9D9"/>
            </a:solidFill>
          </a:ln>
        </p:spPr>
        <p:txBody>
          <a:bodyPr wrap="square" lIns="152400" tIns="101600" rIns="152400" bIns="101600" anchor="t"/>
          <a:lstStyle/>
          <a:p>
            <a:pPr>
              <a:buNone/>
            </a:pPr>
            <a:endParaRPr lang="en-US" sz="1050"/>
          </a:p>
        </p:txBody>
      </p:sp>
      <p:sp>
        <p:nvSpPr>
          <p:cNvPr id="11" name="ToolSection">
            <a:extLst>
              <a:ext uri="{FF2B5EF4-FFF2-40B4-BE49-F238E27FC236}">
                <a16:creationId xmlns:a16="http://schemas.microsoft.com/office/drawing/2014/main" id="{6F433551-D753-1F37-3E41-CDCEA8C49748}"/>
              </a:ext>
            </a:extLst>
          </p:cNvPr>
          <p:cNvSpPr/>
          <p:nvPr/>
        </p:nvSpPr>
        <p:spPr>
          <a:xfrm>
            <a:off x="863599" y="5458503"/>
            <a:ext cx="5356225" cy="457200"/>
          </a:xfrm>
          <a:prstGeom prst="rect">
            <a:avLst/>
          </a:prstGeom>
          <a:noFill/>
          <a:ln>
            <a:noFill/>
          </a:ln>
        </p:spPr>
        <p:txBody>
          <a:bodyPr wrap="square" lIns="152400" tIns="101600" rIns="152400" bIns="101600" anchor="ctr"/>
          <a:lstStyle/>
          <a:p>
            <a:pPr algn="l">
              <a:buNone/>
            </a:pPr>
            <a:r>
              <a:rPr lang="ko-KR" altLang="en-US" sz="1200" b="1" dirty="0"/>
              <a:t>매개변수 산출 ▸ </a:t>
            </a:r>
            <a:r>
              <a:rPr lang="en-US" sz="1600" b="1" dirty="0"/>
              <a:t>V</a:t>
            </a:r>
            <a:r>
              <a:rPr lang="en-US" sz="1600" b="1" baseline="-25000" dirty="0"/>
              <a:t>cmax</a:t>
            </a:r>
            <a:r>
              <a:rPr lang="en-US" sz="1600" dirty="0"/>
              <a:t>, </a:t>
            </a:r>
            <a:r>
              <a:rPr lang="en-US" sz="1600" b="1" dirty="0"/>
              <a:t>J</a:t>
            </a:r>
            <a:r>
              <a:rPr lang="en-US" sz="1600" b="1" baseline="-25000" dirty="0"/>
              <a:t>max</a:t>
            </a:r>
            <a:r>
              <a:rPr lang="en-US" sz="1600" dirty="0"/>
              <a:t>, </a:t>
            </a:r>
            <a:r>
              <a:rPr lang="en-US" sz="1600" b="1" dirty="0"/>
              <a:t>R</a:t>
            </a:r>
            <a:r>
              <a:rPr lang="en-US" sz="1600" b="1" baseline="-25000" dirty="0"/>
              <a:t>d</a:t>
            </a:r>
            <a:r>
              <a:rPr lang="en-US" sz="1600" dirty="0"/>
              <a:t>  </a:t>
            </a:r>
            <a:r>
              <a:rPr lang="en-US" sz="1600" dirty="0">
                <a:solidFill>
                  <a:srgbClr val="0E2841"/>
                </a:solidFill>
              </a:rPr>
              <a:t>→  R · </a:t>
            </a:r>
            <a:r>
              <a:rPr lang="en-US" sz="1600" i="1" dirty="0"/>
              <a:t>plantecophys</a:t>
            </a:r>
            <a:r>
              <a:rPr lang="ko-KR" altLang="en-US" sz="1200" dirty="0">
                <a:solidFill>
                  <a:srgbClr val="0E2841"/>
                </a:solidFill>
              </a:rPr>
              <a:t> 패키지</a:t>
            </a:r>
          </a:p>
        </p:txBody>
      </p:sp>
      <p:sp>
        <p:nvSpPr>
          <p:cNvPr id="13" name="StatSection">
            <a:extLst>
              <a:ext uri="{FF2B5EF4-FFF2-40B4-BE49-F238E27FC236}">
                <a16:creationId xmlns:a16="http://schemas.microsoft.com/office/drawing/2014/main" id="{54EF5C4E-5260-A4E3-BC89-D12EC97BC840}"/>
              </a:ext>
            </a:extLst>
          </p:cNvPr>
          <p:cNvSpPr/>
          <p:nvPr/>
        </p:nvSpPr>
        <p:spPr>
          <a:xfrm>
            <a:off x="6121400" y="5458503"/>
            <a:ext cx="5207000" cy="457200"/>
          </a:xfrm>
          <a:prstGeom prst="rect">
            <a:avLst/>
          </a:prstGeom>
          <a:noFill/>
          <a:ln>
            <a:noFill/>
          </a:ln>
        </p:spPr>
        <p:txBody>
          <a:bodyPr wrap="square" lIns="152400" tIns="101600" rIns="152400" bIns="101600" anchor="ctr"/>
          <a:lstStyle/>
          <a:p>
            <a:pPr algn="l">
              <a:buNone/>
            </a:pPr>
            <a:r>
              <a:rPr lang="ko-KR" altLang="en-US" sz="1200" b="1" dirty="0"/>
              <a:t>통계 분석 ▸ </a:t>
            </a:r>
            <a:r>
              <a:rPr lang="en-US" sz="1600" b="1" dirty="0"/>
              <a:t>ANOVA</a:t>
            </a:r>
            <a:r>
              <a:rPr lang="en-US" sz="1600" dirty="0"/>
              <a:t> + </a:t>
            </a:r>
            <a:r>
              <a:rPr lang="en-US" sz="1600" b="1" dirty="0"/>
              <a:t>Tukey</a:t>
            </a:r>
            <a:r>
              <a:rPr lang="ko-KR" altLang="en-US" sz="1200" dirty="0"/>
              <a:t> 사후검정  </a:t>
            </a:r>
            <a:r>
              <a:rPr lang="en-US" sz="1600" b="1" dirty="0"/>
              <a:t>(</a:t>
            </a:r>
            <a:r>
              <a:rPr lang="en-US" sz="1600" b="1" i="1" dirty="0"/>
              <a:t>α = 0.05</a:t>
            </a:r>
            <a:r>
              <a:rPr lang="en-US" sz="1600" b="1" dirty="0"/>
              <a:t>)</a:t>
            </a:r>
          </a:p>
        </p:txBody>
      </p:sp>
      <p:sp>
        <p:nvSpPr>
          <p:cNvPr id="15" name="Divider">
            <a:extLst>
              <a:ext uri="{FF2B5EF4-FFF2-40B4-BE49-F238E27FC236}">
                <a16:creationId xmlns:a16="http://schemas.microsoft.com/office/drawing/2014/main" id="{9689C6B9-354E-B674-591B-6C89F909D7DE}"/>
              </a:ext>
            </a:extLst>
          </p:cNvPr>
          <p:cNvSpPr/>
          <p:nvPr/>
        </p:nvSpPr>
        <p:spPr>
          <a:xfrm>
            <a:off x="6083300" y="5560103"/>
            <a:ext cx="12700" cy="254000"/>
          </a:xfrm>
          <a:prstGeom prst="rect">
            <a:avLst/>
          </a:prstGeom>
          <a:solidFill>
            <a:srgbClr val="D9D9D9"/>
          </a:solidFill>
          <a:ln>
            <a:noFill/>
          </a:ln>
        </p:spPr>
        <p:txBody>
          <a:bodyPr wrap="square" lIns="152400" tIns="101600" rIns="152400" bIns="101600" anchor="t"/>
          <a:lstStyle/>
          <a:p>
            <a:pPr>
              <a:buNone/>
            </a:pPr>
            <a:endParaRPr lang="en-US" sz="200"/>
          </a:p>
        </p:txBody>
      </p:sp>
      <p:sp>
        <p:nvSpPr>
          <p:cNvPr id="16" name="직사각형 15">
            <a:extLst>
              <a:ext uri="{FF2B5EF4-FFF2-40B4-BE49-F238E27FC236}">
                <a16:creationId xmlns:a16="http://schemas.microsoft.com/office/drawing/2014/main" id="{8047BECD-13AC-34B4-648E-3F786D1CA844}"/>
              </a:ext>
            </a:extLst>
          </p:cNvPr>
          <p:cNvSpPr/>
          <p:nvPr/>
        </p:nvSpPr>
        <p:spPr>
          <a:xfrm>
            <a:off x="10592242" y="2395714"/>
            <a:ext cx="2148840" cy="8821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보정 수식 추가</a:t>
            </a:r>
            <a:endParaRPr lang="en-US" altLang="ko-KR" sz="1200" dirty="0"/>
          </a:p>
          <a:p>
            <a:pPr algn="ctr"/>
            <a:r>
              <a:rPr lang="ko-KR" altLang="ko-KR" sz="1200" dirty="0" err="1"/>
              <a:t>y</a:t>
            </a:r>
            <a:r>
              <a:rPr lang="ko-KR" altLang="ko-KR" sz="1200" dirty="0"/>
              <a:t> = </a:t>
            </a:r>
            <a:r>
              <a:rPr lang="ko-KR" altLang="ko-KR" sz="1200" dirty="0" err="1"/>
              <a:t>μ</a:t>
            </a:r>
            <a:r>
              <a:rPr lang="ko-KR" altLang="ko-KR" sz="1200" dirty="0"/>
              <a:t> + 처리 + β1·PAR + β2·기온 + (측정일 임의효과)</a:t>
            </a:r>
            <a:endParaRPr lang="en-US" altLang="ko-KR" sz="1200" dirty="0"/>
          </a:p>
          <a:p>
            <a:pPr algn="ctr"/>
            <a:r>
              <a:rPr lang="ko-KR" altLang="en-US" sz="1200" dirty="0"/>
              <a:t>맞겠지</a:t>
            </a:r>
            <a:r>
              <a:rPr lang="en-US" altLang="ko-KR" sz="1200" dirty="0"/>
              <a:t>?</a:t>
            </a:r>
            <a:endParaRPr lang="ko-KR" altLang="en-US" sz="1200" dirty="0"/>
          </a:p>
        </p:txBody>
      </p:sp>
      <p:sp>
        <p:nvSpPr>
          <p:cNvPr id="17" name="직사각형 16">
            <a:extLst>
              <a:ext uri="{FF2B5EF4-FFF2-40B4-BE49-F238E27FC236}">
                <a16:creationId xmlns:a16="http://schemas.microsoft.com/office/drawing/2014/main" id="{2CEDB320-84EB-5AE7-2DBA-8591CC594407}"/>
              </a:ext>
            </a:extLst>
          </p:cNvPr>
          <p:cNvSpPr/>
          <p:nvPr/>
        </p:nvSpPr>
        <p:spPr>
          <a:xfrm>
            <a:off x="10546523" y="1376238"/>
            <a:ext cx="2041273" cy="8821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t>보정 방법</a:t>
            </a:r>
            <a:r>
              <a:rPr lang="en-US" altLang="ko-KR" sz="1400" dirty="0"/>
              <a:t>? </a:t>
            </a:r>
            <a:r>
              <a:rPr lang="ko-KR" altLang="en-US" sz="1400" dirty="0"/>
              <a:t>설명</a:t>
            </a:r>
            <a:r>
              <a:rPr lang="en-US" altLang="ko-KR" sz="1400" dirty="0"/>
              <a:t>?</a:t>
            </a:r>
          </a:p>
          <a:p>
            <a:pPr algn="ctr"/>
            <a:r>
              <a:rPr lang="ko-KR" altLang="en-US" sz="1400" dirty="0" err="1"/>
              <a:t>해야할까</a:t>
            </a:r>
            <a:r>
              <a:rPr lang="en-US" altLang="ko-KR" sz="1400" dirty="0"/>
              <a:t>?</a:t>
            </a:r>
          </a:p>
          <a:p>
            <a:pPr algn="ctr"/>
            <a:r>
              <a:rPr lang="en-US" altLang="ko-KR" sz="1400" dirty="0"/>
              <a:t>+ </a:t>
            </a:r>
            <a:r>
              <a:rPr lang="ko-KR" altLang="en-US" sz="1400" dirty="0"/>
              <a:t>측정 위치 </a:t>
            </a:r>
            <a:r>
              <a:rPr lang="ko-KR" altLang="en-US" sz="1400" dirty="0" err="1"/>
              <a:t>설명해야함</a:t>
            </a:r>
            <a:endParaRPr lang="ko-KR" altLang="en-US" sz="1400" dirty="0"/>
          </a:p>
        </p:txBody>
      </p:sp>
      <p:sp>
        <p:nvSpPr>
          <p:cNvPr id="18" name="직사각형 17">
            <a:extLst>
              <a:ext uri="{FF2B5EF4-FFF2-40B4-BE49-F238E27FC236}">
                <a16:creationId xmlns:a16="http://schemas.microsoft.com/office/drawing/2014/main" id="{95189CE0-F7CA-C1ED-F747-0D0B0B86823B}"/>
              </a:ext>
            </a:extLst>
          </p:cNvPr>
          <p:cNvSpPr/>
          <p:nvPr/>
        </p:nvSpPr>
        <p:spPr>
          <a:xfrm>
            <a:off x="1278383" y="6125591"/>
            <a:ext cx="3968320" cy="595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Alpha, Amax</a:t>
            </a:r>
            <a:r>
              <a:rPr lang="ko-KR" altLang="en-US" dirty="0"/>
              <a:t>도 어떻게 산출했는지</a:t>
            </a:r>
            <a:endParaRPr lang="en-US" altLang="ko-KR" dirty="0"/>
          </a:p>
          <a:p>
            <a:pPr algn="ctr"/>
            <a:r>
              <a:rPr lang="en-US" altLang="ko-KR" dirty="0" err="1"/>
              <a:t>PhiNPQ</a:t>
            </a:r>
            <a:r>
              <a:rPr lang="en-US" altLang="ko-KR" dirty="0"/>
              <a:t>, </a:t>
            </a:r>
            <a:r>
              <a:rPr lang="en-US" altLang="ko-KR" dirty="0" err="1"/>
              <a:t>PhiNO</a:t>
            </a:r>
            <a:r>
              <a:rPr lang="ko-KR" altLang="en-US" dirty="0"/>
              <a:t>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500"/>
                                        <p:tgtEl>
                                          <p:spTgt spid="4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재배 환경</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pic>
        <p:nvPicPr>
          <p:cNvPr id="27" name="Picture 26" descr="image.png"/>
          <p:cNvPicPr>
            <a:picLocks noChangeAspect="1"/>
          </p:cNvPicPr>
          <p:nvPr/>
        </p:nvPicPr>
        <p:blipFill>
          <a:blip r:embed="rId4"/>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(상추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baseline="30000" dirty="0">
                <a:solidFill>
                  <a:srgbClr val="595959"/>
                </a:solidFill>
              </a:rPr>
              <a:t>−2</a:t>
            </a:r>
            <a:r>
              <a:rPr lang="ko-KR" altLang="en-US" sz="1100" b="0" dirty="0">
                <a:solidFill>
                  <a:srgbClr val="595959"/>
                </a:solidFill>
              </a:rPr>
              <a:t>·d</a:t>
            </a:r>
            <a:r>
              <a:rPr lang="ko-KR" altLang="en-US" sz="1100" b="0" baseline="30000" dirty="0">
                <a:solidFill>
                  <a:srgbClr val="595959"/>
                </a:solidFill>
              </a:rPr>
              <a:t>−1</a:t>
            </a:r>
            <a:r>
              <a:rPr lang="ko-KR" altLang="en-US" sz="1100" b="0" dirty="0">
                <a:solidFill>
                  <a:srgbClr val="595959"/>
                </a:solidFill>
              </a:rPr>
              <a:t>, 상추 vs 콩 DAT 0~16)</a:t>
            </a:r>
          </a:p>
        </p:txBody>
      </p:sp>
      <p:sp>
        <p:nvSpPr>
          <p:cNvPr id="34" name="Card 요점"/>
          <p:cNvSpPr/>
          <p:nvPr/>
        </p:nvSpPr>
        <p:spPr>
          <a:xfrm>
            <a:off x="7863840" y="1481328"/>
            <a:ext cx="3493008" cy="17830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137160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상추:</a:t>
            </a:r>
            <a:r>
              <a:rPr lang="ko-KR" altLang="en-US" sz="1400" dirty="0">
                <a:solidFill>
                  <a:srgbClr val="000000"/>
                </a:solidFill>
              </a:rPr>
              <a:t> 처리 기간 동안 저온·중간 일사 조건</a:t>
            </a:r>
          </a:p>
          <a:p>
            <a:pPr marL="201168" indent="-201168" algn="l">
              <a:spcBef>
                <a:spcPts val="1000"/>
              </a:spcBef>
              <a:buFont typeface="Arial"/>
              <a:buChar char="•"/>
            </a:pPr>
            <a:r>
              <a:rPr lang="ko-KR" altLang="en-US" sz="1400" b="1" dirty="0">
                <a:solidFill>
                  <a:srgbClr val="000000"/>
                </a:solidFill>
              </a:rPr>
              <a:t>콩</a:t>
            </a:r>
            <a:r>
              <a:rPr lang="ko-KR" altLang="en-US" sz="1400" dirty="0">
                <a:solidFill>
                  <a:srgbClr val="000000"/>
                </a:solidFill>
              </a:rPr>
              <a:t>:  처리 초기에 상추보다 고온·고일사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49" name="Table 7"/>
          <p:cNvGraphicFramePr>
            <a:graphicFrameLocks noGrp="1"/>
          </p:cNvGraphicFramePr>
          <p:nvPr>
            <p:extLst>
              <p:ext uri="{D42A27DB-BD31-4B8C-83A1-F6EECF244321}">
                <p14:modId xmlns:p14="http://schemas.microsoft.com/office/powerpoint/2010/main" val="3914231821"/>
              </p:ext>
            </p:extLst>
          </p:nvPr>
        </p:nvGraphicFramePr>
        <p:xfrm>
          <a:off x="7863840" y="3520440"/>
          <a:ext cx="3493008" cy="109728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sz="800" b="1" dirty="0">
                          <a:solidFill>
                            <a:srgbClr val="000000"/>
                          </a:solidFill>
                        </a:rPr>
                        <a:t>DAT 0~16 평균</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상추</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콩</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74320">
                <a:tc>
                  <a:txBody>
                    <a:bodyPr/>
                    <a:lstStyle/>
                    <a:p>
                      <a:pPr algn="l">
                        <a:lnSpc>
                          <a:spcPct val="100000"/>
                        </a:lnSpc>
                        <a:spcBef>
                          <a:spcPts val="0"/>
                        </a:spcBef>
                        <a:spcAft>
                          <a:spcPts val="0"/>
                        </a:spcAft>
                      </a:pPr>
                      <a:r>
                        <a:rPr sz="800" b="0">
                          <a:solidFill>
                            <a:srgbClr val="000000"/>
                          </a:solidFill>
                        </a:rPr>
                        <a:t>최고기온 (°C)</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30.3</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35.6</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sz="800" b="0">
                          <a:solidFill>
                            <a:srgbClr val="000000"/>
                          </a:solidFill>
                        </a:rPr>
                        <a:t>최저기온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10.5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23.4</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en-US" sz="800" b="0" dirty="0">
                          <a:solidFill>
                            <a:srgbClr val="000000"/>
                          </a:solidFill>
                        </a:rPr>
                        <a:t>평균 상대습도 (%)</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71.0</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78.4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3"/>
                  </a:ext>
                </a:extLst>
              </a:tr>
            </a:tbl>
          </a:graphicData>
        </a:graphic>
      </p:graphicFrame>
      <p:sp>
        <p:nvSpPr>
          <p:cNvPr id="5" name="직사각형 4">
            <a:extLst>
              <a:ext uri="{FF2B5EF4-FFF2-40B4-BE49-F238E27FC236}">
                <a16:creationId xmlns:a16="http://schemas.microsoft.com/office/drawing/2014/main" id="{293BF952-5CBE-9DFF-EDF4-EEBCECA32F62}"/>
              </a:ext>
            </a:extLst>
          </p:cNvPr>
          <p:cNvSpPr/>
          <p:nvPr/>
        </p:nvSpPr>
        <p:spPr>
          <a:xfrm>
            <a:off x="11571514" y="3520440"/>
            <a:ext cx="1238795" cy="11821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평균 온도</a:t>
            </a:r>
            <a:r>
              <a:rPr lang="en-US" altLang="ko-KR" dirty="0"/>
              <a:t>, DLI</a:t>
            </a:r>
            <a:r>
              <a:rPr lang="ko-KR" altLang="en-US" dirty="0"/>
              <a:t>도 포함</a:t>
            </a:r>
          </a:p>
        </p:txBody>
      </p:sp>
      <p:sp>
        <p:nvSpPr>
          <p:cNvPr id="8" name="직사각형 7">
            <a:extLst>
              <a:ext uri="{FF2B5EF4-FFF2-40B4-BE49-F238E27FC236}">
                <a16:creationId xmlns:a16="http://schemas.microsoft.com/office/drawing/2014/main" id="{E2D85033-6542-1444-4923-ED97A1BC94D0}"/>
              </a:ext>
            </a:extLst>
          </p:cNvPr>
          <p:cNvSpPr/>
          <p:nvPr/>
        </p:nvSpPr>
        <p:spPr>
          <a:xfrm>
            <a:off x="-757647" y="1567543"/>
            <a:ext cx="1280160" cy="2730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전체 재배 환경까지 포함</a:t>
            </a:r>
            <a:endParaRPr lang="en-US" altLang="ko-KR" dirty="0"/>
          </a:p>
          <a:p>
            <a:pPr algn="ctr"/>
            <a:r>
              <a:rPr lang="en-US" altLang="ko-KR" dirty="0"/>
              <a:t>Y</a:t>
            </a:r>
            <a:r>
              <a:rPr lang="ko-KR" altLang="en-US" dirty="0"/>
              <a:t>축 이름 바꾸기</a:t>
            </a:r>
            <a:r>
              <a:rPr lang="en-US" altLang="ko-KR" dirty="0"/>
              <a:t>(</a:t>
            </a:r>
            <a:r>
              <a:rPr lang="en-US" altLang="ko-KR" dirty="0" err="1"/>
              <a:t>Temparature</a:t>
            </a:r>
            <a:r>
              <a:rPr lang="en-US" altLang="ko-KR" dirty="0"/>
              <a:t>)</a:t>
            </a:r>
          </a:p>
          <a:p>
            <a:pPr algn="ctr"/>
            <a:r>
              <a:rPr lang="en-US" altLang="ko-KR" dirty="0"/>
              <a:t>X</a:t>
            </a:r>
            <a:r>
              <a:rPr lang="ko-KR" altLang="en-US" dirty="0"/>
              <a:t>축 </a:t>
            </a:r>
            <a:r>
              <a:rPr lang="en-US" altLang="ko-KR" dirty="0"/>
              <a:t>2026 </a:t>
            </a:r>
            <a:r>
              <a:rPr lang="ko-KR" altLang="en-US" dirty="0"/>
              <a:t>빼기</a:t>
            </a:r>
          </a:p>
        </p:txBody>
      </p:sp>
      <p:sp>
        <p:nvSpPr>
          <p:cNvPr id="9" name="직사각형 8">
            <a:extLst>
              <a:ext uri="{FF2B5EF4-FFF2-40B4-BE49-F238E27FC236}">
                <a16:creationId xmlns:a16="http://schemas.microsoft.com/office/drawing/2014/main" id="{0797C480-80C3-A5FA-E06F-4EC67AFFAD20}"/>
              </a:ext>
            </a:extLst>
          </p:cNvPr>
          <p:cNvSpPr/>
          <p:nvPr/>
        </p:nvSpPr>
        <p:spPr>
          <a:xfrm>
            <a:off x="7950926" y="4911634"/>
            <a:ext cx="2299063" cy="13672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재배 장소 추가</a:t>
            </a:r>
            <a:endParaRPr lang="en-US" altLang="ko-KR" dirty="0"/>
          </a:p>
          <a:p>
            <a:pPr algn="ctr"/>
            <a:r>
              <a:rPr lang="ko-KR" altLang="en-US" dirty="0"/>
              <a:t>전북대학교 부속농장 온실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27" name="Picture 26" descr="image.png"/>
          <p:cNvPicPr>
            <a:picLocks noChangeAspect="1"/>
          </p:cNvPicPr>
          <p:nvPr/>
        </p:nvPicPr>
        <p:blipFill>
          <a:blip r:embed="rId4"/>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(상추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(상추 · 콩, 대조구 대비)</a:t>
            </a:r>
          </a:p>
        </p:txBody>
      </p:sp>
      <p:sp>
        <p:nvSpPr>
          <p:cNvPr id="36" name="Text 요점"/>
          <p:cNvSpPr txBox="1"/>
          <p:nvPr/>
        </p:nvSpPr>
        <p:spPr>
          <a:xfrm>
            <a:off x="8046720" y="1464780"/>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600" dirty="0">
                <a:solidFill>
                  <a:srgbClr val="000000"/>
                </a:solidFill>
              </a:rPr>
              <a:t>건조·복합: 두 작물 모두 설계대로 관수량이 감소</a:t>
            </a:r>
          </a:p>
          <a:p>
            <a:pPr marL="201168" indent="-201168" algn="l">
              <a:spcBef>
                <a:spcPts val="1000"/>
              </a:spcBef>
              <a:buFont typeface="Arial"/>
              <a:buChar char="•"/>
            </a:pPr>
            <a:r>
              <a:rPr lang="ko-KR" altLang="en-US" sz="1600" dirty="0">
                <a:solidFill>
                  <a:srgbClr val="000000"/>
                </a:solidFill>
              </a:rPr>
              <a:t>상추:  대조구와 침수구의 차이가 커서, 침수가 생육에 직접적인 타격을 입혔을 가능성</a:t>
            </a:r>
          </a:p>
          <a:p>
            <a:pPr marL="201168" indent="-201168" algn="l">
              <a:spcBef>
                <a:spcPts val="1000"/>
              </a:spcBef>
              <a:buFont typeface="Arial"/>
              <a:buChar char="•"/>
            </a:pPr>
            <a:r>
              <a:rPr lang="ko-KR" altLang="en-US" sz="1600" dirty="0">
                <a:solidFill>
                  <a:srgbClr val="000000"/>
                </a:solidFill>
              </a:rPr>
              <a:t>콩:  대조구와 침수구의 차이가 크지 않아, 3일 침수가 큰 타격을 입히지 못한 것으로 추정</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5" name="직사각형 4">
            <a:extLst>
              <a:ext uri="{FF2B5EF4-FFF2-40B4-BE49-F238E27FC236}">
                <a16:creationId xmlns:a16="http://schemas.microsoft.com/office/drawing/2014/main" id="{0F15D703-4D61-BD63-2766-9017B752BD5F}"/>
              </a:ext>
            </a:extLst>
          </p:cNvPr>
          <p:cNvSpPr/>
          <p:nvPr/>
        </p:nvSpPr>
        <p:spPr>
          <a:xfrm>
            <a:off x="3688298" y="392368"/>
            <a:ext cx="2535500" cy="5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실험 결과로 변경</a:t>
            </a:r>
            <a:endParaRPr lang="en-US" altLang="ko-K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a:t>
            </a:r>
            <a:r>
              <a:rPr lang="ko-KR" altLang="en-US" sz="2800" dirty="0" err="1"/>
              <a:t>g</a:t>
            </a:r>
            <a:r>
              <a:rPr lang="ko-KR" altLang="en-US" sz="2800" baseline="-25000" dirty="0" err="1"/>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graphicFrame>
        <p:nvGraphicFramePr>
          <p:cNvPr id="8" name="Table 7"/>
          <p:cNvGraphicFramePr>
            <a:graphicFrameLocks noGrp="1"/>
          </p:cNvGraphicFramePr>
          <p:nvPr>
            <p:extLst>
              <p:ext uri="{D42A27DB-BD31-4B8C-83A1-F6EECF244321}">
                <p14:modId xmlns:p14="http://schemas.microsoft.com/office/powerpoint/2010/main" val="1145075524"/>
              </p:ext>
            </p:extLst>
          </p:nvPr>
        </p:nvGraphicFramePr>
        <p:xfrm>
          <a:off x="6675120" y="1280160"/>
          <a:ext cx="4572001" cy="1371600"/>
        </p:xfrm>
        <a:graphic>
          <a:graphicData uri="http://schemas.openxmlformats.org/drawingml/2006/table">
            <a:tbl>
              <a:tblPr>
                <a:tableStyleId>{2D5ABB26-0587-4C30-8999-92F81FD0307C}</a:tableStyleId>
              </a:tblPr>
              <a:tblGrid>
                <a:gridCol w="1180153">
                  <a:extLst>
                    <a:ext uri="{9D8B030D-6E8A-4147-A177-3AD203B41FA5}">
                      <a16:colId xmlns:a16="http://schemas.microsoft.com/office/drawing/2014/main" val="20000"/>
                    </a:ext>
                  </a:extLst>
                </a:gridCol>
                <a:gridCol w="847962">
                  <a:extLst>
                    <a:ext uri="{9D8B030D-6E8A-4147-A177-3AD203B41FA5}">
                      <a16:colId xmlns:a16="http://schemas.microsoft.com/office/drawing/2014/main" val="20001"/>
                    </a:ext>
                  </a:extLst>
                </a:gridCol>
                <a:gridCol w="847962">
                  <a:extLst>
                    <a:ext uri="{9D8B030D-6E8A-4147-A177-3AD203B41FA5}">
                      <a16:colId xmlns:a16="http://schemas.microsoft.com/office/drawing/2014/main" val="20002"/>
                    </a:ext>
                  </a:extLst>
                </a:gridCol>
                <a:gridCol w="847962">
                  <a:extLst>
                    <a:ext uri="{9D8B030D-6E8A-4147-A177-3AD203B41FA5}">
                      <a16:colId xmlns:a16="http://schemas.microsoft.com/office/drawing/2014/main" val="20003"/>
                    </a:ext>
                  </a:extLst>
                </a:gridCol>
                <a:gridCol w="847962">
                  <a:extLst>
                    <a:ext uri="{9D8B030D-6E8A-4147-A177-3AD203B41FA5}">
                      <a16:colId xmlns:a16="http://schemas.microsoft.com/office/drawing/2014/main" val="20004"/>
                    </a:ext>
                  </a:extLst>
                </a:gridCol>
              </a:tblGrid>
              <a:tr h="27432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7432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0.363 a</a:t>
                      </a:r>
                      <a:endParaRPr sz="800" dirty="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0.347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0.264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0.155 ab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0.113 b</a:t>
                      </a:r>
                      <a:endParaRPr sz="800" dirty="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0.273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0.353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0.254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7432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0.233 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0.237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0.145 ab</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상추는 배수 직후 회복, 콩은 회복이 느림</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20" name="Picture 19" descr="ts_gsw_w.png"/>
          <p:cNvPicPr>
            <a:picLocks noChangeAspect="1"/>
          </p:cNvPicPr>
          <p:nvPr/>
        </p:nvPicPr>
        <p:blipFill>
          <a:blip r:embed="rId4"/>
          <a:stretch>
            <a:fillRect/>
          </a:stretch>
        </p:blipFill>
        <p:spPr>
          <a:xfrm>
            <a:off x="457200" y="1143000"/>
            <a:ext cx="5852160" cy="2145792"/>
          </a:xfrm>
          <a:prstGeom prst="rect">
            <a:avLst/>
          </a:prstGeom>
        </p:spPr>
      </p:pic>
      <p:pic>
        <p:nvPicPr>
          <p:cNvPr id="21" name="Picture 20" descr="recovery_w.png"/>
          <p:cNvPicPr>
            <a:picLocks noChangeAspect="1"/>
          </p:cNvPicPr>
          <p:nvPr/>
        </p:nvPicPr>
        <p:blipFill>
          <a:blip r:embed="rId5"/>
          <a:stretch>
            <a:fillRect/>
          </a:stretch>
        </p:blipFill>
        <p:spPr>
          <a:xfrm>
            <a:off x="457200" y="3334512"/>
            <a:ext cx="5852160" cy="2280062"/>
          </a:xfrm>
          <a:prstGeom prst="rect">
            <a:avLst/>
          </a:prstGeom>
        </p:spPr>
      </p:pic>
      <p:grpSp>
        <p:nvGrpSpPr>
          <p:cNvPr id="7" name="그룹 6">
            <a:extLst>
              <a:ext uri="{FF2B5EF4-FFF2-40B4-BE49-F238E27FC236}">
                <a16:creationId xmlns:a16="http://schemas.microsoft.com/office/drawing/2014/main" id="{6DFFF5F8-0689-8718-2088-863FA9323D0A}"/>
              </a:ext>
            </a:extLst>
          </p:cNvPr>
          <p:cNvGrpSpPr/>
          <p:nvPr/>
        </p:nvGrpSpPr>
        <p:grpSpPr>
          <a:xfrm>
            <a:off x="9124001" y="4369223"/>
            <a:ext cx="2595154" cy="1188720"/>
            <a:chOff x="7663543" y="3063240"/>
            <a:chExt cx="2595154" cy="1188720"/>
          </a:xfrm>
        </p:grpSpPr>
        <p:sp>
          <p:nvSpPr>
            <p:cNvPr id="30" name="Stat box"/>
            <p:cNvSpPr/>
            <p:nvPr/>
          </p:nvSpPr>
          <p:spPr>
            <a:xfrm>
              <a:off x="7663543" y="3063240"/>
              <a:ext cx="2595154" cy="11887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1" name="Stat value"/>
            <p:cNvSpPr txBox="1"/>
            <p:nvPr/>
          </p:nvSpPr>
          <p:spPr>
            <a:xfrm>
              <a:off x="7741920" y="3108960"/>
              <a:ext cx="2438400" cy="685800"/>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dirty="0">
                  <a:solidFill>
                    <a:srgbClr val="2E6B3F"/>
                  </a:solidFill>
                </a:rPr>
                <a:t>2~3일</a:t>
              </a:r>
            </a:p>
          </p:txBody>
        </p:sp>
        <p:sp>
          <p:nvSpPr>
            <p:cNvPr id="32" name="Stat label"/>
            <p:cNvSpPr txBox="1"/>
            <p:nvPr/>
          </p:nvSpPr>
          <p:spPr>
            <a:xfrm>
              <a:off x="7758933" y="3749039"/>
              <a:ext cx="2413518"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상추: 배수 후 대조구 수준까지 회복</a:t>
              </a:r>
            </a:p>
          </p:txBody>
        </p:sp>
      </p:grpSp>
      <p:grpSp>
        <p:nvGrpSpPr>
          <p:cNvPr id="5" name="그룹 4">
            <a:extLst>
              <a:ext uri="{FF2B5EF4-FFF2-40B4-BE49-F238E27FC236}">
                <a16:creationId xmlns:a16="http://schemas.microsoft.com/office/drawing/2014/main" id="{81741FFE-9ABA-B3CC-3766-4D49424A24AF}"/>
              </a:ext>
            </a:extLst>
          </p:cNvPr>
          <p:cNvGrpSpPr/>
          <p:nvPr/>
        </p:nvGrpSpPr>
        <p:grpSpPr>
          <a:xfrm>
            <a:off x="6433457" y="4369223"/>
            <a:ext cx="2595154" cy="1188720"/>
            <a:chOff x="7663543" y="4434840"/>
            <a:chExt cx="2595154" cy="1188720"/>
          </a:xfrm>
        </p:grpSpPr>
        <p:sp>
          <p:nvSpPr>
            <p:cNvPr id="33" name="Stat box"/>
            <p:cNvSpPr/>
            <p:nvPr/>
          </p:nvSpPr>
          <p:spPr>
            <a:xfrm>
              <a:off x="7663543" y="4434840"/>
              <a:ext cx="2595154" cy="11887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4" name="Stat value"/>
            <p:cNvSpPr txBox="1"/>
            <p:nvPr/>
          </p:nvSpPr>
          <p:spPr>
            <a:xfrm>
              <a:off x="7741920" y="4480560"/>
              <a:ext cx="2438400" cy="685800"/>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dirty="0">
                  <a:solidFill>
                    <a:srgbClr val="6B4226"/>
                  </a:solidFill>
                </a:rPr>
                <a:t>DAT 9: 48%</a:t>
              </a:r>
            </a:p>
          </p:txBody>
        </p:sp>
        <p:sp>
          <p:nvSpPr>
            <p:cNvPr id="35" name="Stat label"/>
            <p:cNvSpPr txBox="1"/>
            <p:nvPr/>
          </p:nvSpPr>
          <p:spPr>
            <a:xfrm>
              <a:off x="7758933" y="5120640"/>
              <a:ext cx="2413518"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grpSp>
      <p:sp>
        <p:nvSpPr>
          <p:cNvPr id="9" name="직사각형 8">
            <a:extLst>
              <a:ext uri="{FF2B5EF4-FFF2-40B4-BE49-F238E27FC236}">
                <a16:creationId xmlns:a16="http://schemas.microsoft.com/office/drawing/2014/main" id="{94A385AD-D659-736C-4E2F-D511B8D61E1C}"/>
              </a:ext>
            </a:extLst>
          </p:cNvPr>
          <p:cNvSpPr/>
          <p:nvPr/>
        </p:nvSpPr>
        <p:spPr>
          <a:xfrm>
            <a:off x="841248" y="3195907"/>
            <a:ext cx="3208238" cy="582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2</a:t>
            </a:r>
            <a:r>
              <a:rPr lang="ko-KR" altLang="en-US" dirty="0"/>
              <a:t>개 그래프 </a:t>
            </a:r>
            <a:r>
              <a:rPr lang="en-US" altLang="ko-KR" dirty="0"/>
              <a:t>x</a:t>
            </a:r>
            <a:r>
              <a:rPr lang="ko-KR" altLang="en-US" dirty="0"/>
              <a:t>축 길이 똑같게</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baseline="-25000" dirty="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10</a:t>
            </a:fld>
            <a:endParaRPr lang="ko-KR" altLang="en-US"/>
          </a:p>
        </p:txBody>
      </p:sp>
      <p:pic>
        <p:nvPicPr>
          <p:cNvPr id="14" name="Picture 13" descr="image.png"/>
          <p:cNvPicPr>
            <a:picLocks noChangeAspect="1"/>
          </p:cNvPicPr>
          <p:nvPr/>
        </p:nvPicPr>
        <p:blipFill>
          <a:blip r:embed="rId4"/>
          <a:stretch>
            <a:fillRect/>
          </a:stretch>
        </p:blipFill>
        <p:spPr>
          <a:xfrm>
            <a:off x="771006" y="1188720"/>
            <a:ext cx="6276107" cy="251044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030306546"/>
              </p:ext>
            </p:extLst>
          </p:nvPr>
        </p:nvGraphicFramePr>
        <p:xfrm>
          <a:off x="1271448" y="3790000"/>
          <a:ext cx="4206241" cy="950000"/>
        </p:xfrm>
        <a:graphic>
          <a:graphicData uri="http://schemas.openxmlformats.org/drawingml/2006/table">
            <a:tbl>
              <a:tblPr>
                <a:tableStyleId>{2D5ABB26-0587-4C30-8999-92F81FD0307C}</a:tableStyleId>
              </a:tblPr>
              <a:tblGrid>
                <a:gridCol w="1065581">
                  <a:extLst>
                    <a:ext uri="{9D8B030D-6E8A-4147-A177-3AD203B41FA5}">
                      <a16:colId xmlns:a16="http://schemas.microsoft.com/office/drawing/2014/main" val="20000"/>
                    </a:ext>
                  </a:extLst>
                </a:gridCol>
                <a:gridCol w="785165">
                  <a:extLst>
                    <a:ext uri="{9D8B030D-6E8A-4147-A177-3AD203B41FA5}">
                      <a16:colId xmlns:a16="http://schemas.microsoft.com/office/drawing/2014/main" val="20001"/>
                    </a:ext>
                  </a:extLst>
                </a:gridCol>
                <a:gridCol w="785165">
                  <a:extLst>
                    <a:ext uri="{9D8B030D-6E8A-4147-A177-3AD203B41FA5}">
                      <a16:colId xmlns:a16="http://schemas.microsoft.com/office/drawing/2014/main" val="20002"/>
                    </a:ext>
                  </a:extLst>
                </a:gridCol>
                <a:gridCol w="785165">
                  <a:extLst>
                    <a:ext uri="{9D8B030D-6E8A-4147-A177-3AD203B41FA5}">
                      <a16:colId xmlns:a16="http://schemas.microsoft.com/office/drawing/2014/main" val="20004"/>
                    </a:ext>
                  </a:extLst>
                </a:gridCol>
                <a:gridCol w="785165">
                  <a:extLst>
                    <a:ext uri="{9D8B030D-6E8A-4147-A177-3AD203B41FA5}">
                      <a16:colId xmlns:a16="http://schemas.microsoft.com/office/drawing/2014/main" val="20005"/>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dirty="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0.702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0.697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0.612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0.645 a</a:t>
                      </a:r>
                      <a:endParaRPr sz="800" dirty="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0.612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0.679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0.660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0.630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0.585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0.656 a</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7680959" y="1608906"/>
            <a:ext cx="4075612" cy="830997"/>
          </a:xfrm>
          <a:prstGeom prst="rect">
            <a:avLst/>
          </a:prstGeom>
          <a:noFill/>
        </p:spPr>
        <p:txBody>
          <a:bodyPr wrap="square">
            <a:spAutoFit/>
          </a:bodyPr>
          <a:lstStyle/>
          <a:p>
            <a:pPr marL="201168" indent="-201168">
              <a:spcBef>
                <a:spcPts val="0"/>
              </a:spcBef>
              <a:buFont typeface="Arial"/>
              <a:buChar char="•"/>
            </a:pPr>
            <a:r>
              <a:rPr sz="1600" dirty="0">
                <a:solidFill>
                  <a:srgbClr val="000000"/>
                </a:solidFill>
              </a:rPr>
              <a:t>콩 P1:</a:t>
            </a:r>
            <a:r>
              <a:rPr sz="1600" dirty="0" err="1">
                <a:solidFill>
                  <a:srgbClr val="000000"/>
                </a:solidFill>
              </a:rPr>
              <a:t> 침수구가 대조구보다 약간 낮았음</a:t>
            </a:r>
            <a:endParaRPr sz="1600" dirty="0">
              <a:solidFill>
                <a:srgbClr val="000000"/>
              </a:solidFill>
            </a:endParaRPr>
          </a:p>
          <a:p>
            <a:pPr marL="201168" indent="-201168">
              <a:spcBef>
                <a:spcPts val="0"/>
              </a:spcBef>
              <a:buFont typeface="Arial"/>
              <a:buChar char="•"/>
            </a:pPr>
            <a:r>
              <a:rPr sz="1600" dirty="0">
                <a:solidFill>
                  <a:srgbClr val="000000"/>
                </a:solidFill>
              </a:rPr>
              <a:t>콩 P2: 건조구가 가장 낮았음</a:t>
            </a:r>
          </a:p>
          <a:p>
            <a:pPr marL="201168" indent="-201168">
              <a:spcBef>
                <a:spcPts val="0"/>
              </a:spcBef>
              <a:buFont typeface="Arial"/>
              <a:buChar char="•"/>
            </a:pPr>
            <a:r>
              <a:rPr lang="ko-KR" altLang="en-US" sz="1600" dirty="0">
                <a:solidFill>
                  <a:srgbClr val="000000"/>
                </a:solidFill>
              </a:rPr>
              <a:t>상추:</a:t>
            </a:r>
            <a:r>
              <a:rPr sz="1600" dirty="0">
                <a:solidFill>
                  <a:srgbClr val="000000"/>
                </a:solidFill>
              </a:rPr>
              <a:t> P1·P2 모두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err="1">
                <a:solidFill>
                  <a:srgbClr val="E97132"/>
                </a:solidFill>
              </a:rPr>
              <a:t>콩은</a:t>
            </a:r>
            <a:r>
              <a:rPr sz="1600" dirty="0">
                <a:solidFill>
                  <a:srgbClr val="E97132"/>
                </a:solidFill>
              </a:rPr>
              <a:t> </a:t>
            </a:r>
            <a:r>
              <a:rPr sz="1600" dirty="0" err="1">
                <a:solidFill>
                  <a:srgbClr val="E97132"/>
                </a:solidFill>
              </a:rPr>
              <a:t>건조구에서</a:t>
            </a:r>
            <a:r>
              <a:rPr sz="1600" dirty="0">
                <a:solidFill>
                  <a:srgbClr val="E97132"/>
                </a:solidFill>
              </a:rPr>
              <a:t> </a:t>
            </a:r>
            <a:r>
              <a:rPr sz="1600" dirty="0" err="1">
                <a:solidFill>
                  <a:srgbClr val="E97132"/>
                </a:solidFill>
              </a:rPr>
              <a:t>Φ</a:t>
            </a:r>
            <a:r>
              <a:rPr sz="1600" baseline="-25000" dirty="0" err="1">
                <a:solidFill>
                  <a:srgbClr val="E97132"/>
                </a:solidFill>
              </a:rPr>
              <a:t>PSII</a:t>
            </a:r>
            <a:r>
              <a:rPr sz="1600" dirty="0" err="1">
                <a:solidFill>
                  <a:srgbClr val="E97132"/>
                </a:solidFill>
              </a:rPr>
              <a:t>가</a:t>
            </a:r>
            <a:r>
              <a:rPr sz="1600" dirty="0">
                <a:solidFill>
                  <a:srgbClr val="E97132"/>
                </a:solidFill>
              </a:rPr>
              <a:t> </a:t>
            </a:r>
            <a:r>
              <a:rPr sz="1600" dirty="0" err="1">
                <a:solidFill>
                  <a:srgbClr val="E97132"/>
                </a:solidFill>
              </a:rPr>
              <a:t>낮았고</a:t>
            </a:r>
            <a:r>
              <a:rPr sz="1600" dirty="0">
                <a:solidFill>
                  <a:srgbClr val="E97132"/>
                </a:solidFill>
              </a:rPr>
              <a:t>, </a:t>
            </a:r>
            <a:r>
              <a:rPr lang="ko-KR" altLang="en-US" sz="1600" dirty="0">
                <a:solidFill>
                  <a:srgbClr val="E97132"/>
                </a:solidFill>
              </a:rPr>
              <a:t>상추는</a:t>
            </a:r>
            <a:r>
              <a:rPr sz="1600" dirty="0">
                <a:solidFill>
                  <a:srgbClr val="E97132"/>
                </a:solidFill>
              </a:rPr>
              <a:t> </a:t>
            </a:r>
            <a:r>
              <a:rPr sz="1600" dirty="0" err="1">
                <a:solidFill>
                  <a:srgbClr val="E97132"/>
                </a:solidFill>
              </a:rPr>
              <a:t>처리</a:t>
            </a:r>
            <a:r>
              <a:rPr sz="1600" dirty="0">
                <a:solidFill>
                  <a:srgbClr val="E97132"/>
                </a:solidFill>
              </a:rPr>
              <a:t> 간 </a:t>
            </a:r>
            <a:r>
              <a:rPr sz="1600" dirty="0" err="1">
                <a:solidFill>
                  <a:srgbClr val="E97132"/>
                </a:solidFill>
              </a:rPr>
              <a:t>차이</a:t>
            </a:r>
            <a:r>
              <a:rPr sz="1600" dirty="0">
                <a:solidFill>
                  <a:srgbClr val="E97132"/>
                </a:solidFill>
              </a:rPr>
              <a:t> </a:t>
            </a:r>
            <a:r>
              <a:rPr sz="1600" dirty="0" err="1">
                <a:solidFill>
                  <a:srgbClr val="E97132"/>
                </a:solidFill>
              </a:rPr>
              <a:t>없음</a:t>
            </a:r>
            <a:endParaRPr sz="1600" dirty="0">
              <a:solidFill>
                <a:srgbClr val="E97132"/>
              </a:solidFill>
            </a:endParaRP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에너지 소산 양자수율 (Φ</a:t>
            </a:r>
            <a:r>
              <a:rPr lang="ko-KR" altLang="en-US" sz="2800" baseline="-25000" dirty="0"/>
              <a:t>NPQ</a:t>
            </a:r>
            <a:r>
              <a:rPr lang="ko-KR" altLang="en-US" sz="2800" dirty="0"/>
              <a:t>, Φ</a:t>
            </a:r>
            <a:r>
              <a:rPr lang="ko-KR" altLang="en-US" sz="2800" baseline="-25000" dirty="0"/>
              <a:t>NO</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graphicFrame>
        <p:nvGraphicFramePr>
          <p:cNvPr id="8" name="Table 7"/>
          <p:cNvGraphicFramePr>
            <a:graphicFrameLocks noGrp="1"/>
          </p:cNvGraphicFramePr>
          <p:nvPr>
            <p:extLst>
              <p:ext uri="{D42A27DB-BD31-4B8C-83A1-F6EECF244321}">
                <p14:modId xmlns:p14="http://schemas.microsoft.com/office/powerpoint/2010/main" val="4260527216"/>
              </p:ext>
            </p:extLst>
          </p:nvPr>
        </p:nvGraphicFramePr>
        <p:xfrm>
          <a:off x="6675120" y="1280160"/>
          <a:ext cx="3958047" cy="1307589"/>
        </p:xfrm>
        <a:graphic>
          <a:graphicData uri="http://schemas.openxmlformats.org/drawingml/2006/table">
            <a:tbl>
              <a:tblPr>
                <a:tableStyleId>{2D5ABB26-0587-4C30-8999-92F81FD0307C}</a:tableStyleId>
              </a:tblPr>
              <a:tblGrid>
                <a:gridCol w="1021675">
                  <a:extLst>
                    <a:ext uri="{9D8B030D-6E8A-4147-A177-3AD203B41FA5}">
                      <a16:colId xmlns:a16="http://schemas.microsoft.com/office/drawing/2014/main" val="20000"/>
                    </a:ext>
                  </a:extLst>
                </a:gridCol>
                <a:gridCol w="734093">
                  <a:extLst>
                    <a:ext uri="{9D8B030D-6E8A-4147-A177-3AD203B41FA5}">
                      <a16:colId xmlns:a16="http://schemas.microsoft.com/office/drawing/2014/main" val="20001"/>
                    </a:ext>
                  </a:extLst>
                </a:gridCol>
                <a:gridCol w="734093">
                  <a:extLst>
                    <a:ext uri="{9D8B030D-6E8A-4147-A177-3AD203B41FA5}">
                      <a16:colId xmlns:a16="http://schemas.microsoft.com/office/drawing/2014/main" val="20002"/>
                    </a:ext>
                  </a:extLst>
                </a:gridCol>
                <a:gridCol w="734093">
                  <a:extLst>
                    <a:ext uri="{9D8B030D-6E8A-4147-A177-3AD203B41FA5}">
                      <a16:colId xmlns:a16="http://schemas.microsoft.com/office/drawing/2014/main" val="20003"/>
                    </a:ext>
                  </a:extLst>
                </a:gridCol>
                <a:gridCol w="734093">
                  <a:extLst>
                    <a:ext uri="{9D8B030D-6E8A-4147-A177-3AD203B41FA5}">
                      <a16:colId xmlns:a16="http://schemas.microsoft.com/office/drawing/2014/main" val="20004"/>
                    </a:ext>
                  </a:extLst>
                </a:gridCol>
              </a:tblGrid>
              <a:tr h="266613">
                <a:tc>
                  <a:txBody>
                    <a:bodyPr/>
                    <a:lstStyle/>
                    <a:p>
                      <a:pPr algn="l">
                        <a:lnSpc>
                          <a:spcPct val="100000"/>
                        </a:lnSpc>
                        <a:spcBef>
                          <a:spcPts val="0"/>
                        </a:spcBef>
                        <a:spcAft>
                          <a:spcPts val="0"/>
                        </a:spcAft>
                      </a:pPr>
                      <a:r>
                        <a:rPr sz="800" b="1" dirty="0">
                          <a:solidFill>
                            <a:srgbClr val="000000"/>
                          </a:solidFill>
                        </a:rPr>
                        <a:t>Φ</a:t>
                      </a:r>
                      <a:r>
                        <a:rPr sz="800" b="1" baseline="-25000" dirty="0">
                          <a:solidFill>
                            <a:srgbClr val="000000"/>
                          </a:solidFill>
                        </a:rPr>
                        <a:t>NPQ</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57384">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0.087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0.100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0.149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0.141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57384">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0.157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0.138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63104">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0.100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0.104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0.142 a</a:t>
                      </a:r>
                      <a:endParaRPr sz="800" dirty="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63104">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0.134 ab</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0.170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0.120 a</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콩은 ΦNPQ·ΦNO가 높아 명반응에 타격을 입은 것으로 추정, 상추는 처리 간 유의한 차이 없음</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20" name="Picture 19" descr="ts_phinpq_w.png"/>
          <p:cNvPicPr>
            <a:picLocks noChangeAspect="1"/>
          </p:cNvPicPr>
          <p:nvPr/>
        </p:nvPicPr>
        <p:blipFill>
          <a:blip r:embed="rId4"/>
          <a:stretch>
            <a:fillRect/>
          </a:stretch>
        </p:blipFill>
        <p:spPr>
          <a:xfrm>
            <a:off x="457200" y="1143000"/>
            <a:ext cx="5852160" cy="2145792"/>
          </a:xfrm>
          <a:prstGeom prst="rect">
            <a:avLst/>
          </a:prstGeom>
        </p:spPr>
      </p:pic>
      <p:pic>
        <p:nvPicPr>
          <p:cNvPr id="21" name="Picture 20" descr="ts_phino_w.png"/>
          <p:cNvPicPr>
            <a:picLocks noChangeAspect="1"/>
          </p:cNvPicPr>
          <p:nvPr/>
        </p:nvPicPr>
        <p:blipFill>
          <a:blip r:embed="rId5"/>
          <a:stretch>
            <a:fillRect/>
          </a:stretch>
        </p:blipFill>
        <p:spPr>
          <a:xfrm>
            <a:off x="457200" y="3334512"/>
            <a:ext cx="5852160" cy="2145792"/>
          </a:xfrm>
          <a:prstGeom prst="rect">
            <a:avLst/>
          </a:prstGeom>
        </p:spPr>
      </p:pic>
      <p:graphicFrame>
        <p:nvGraphicFramePr>
          <p:cNvPr id="22" name="Table 7"/>
          <p:cNvGraphicFramePr>
            <a:graphicFrameLocks noGrp="1"/>
          </p:cNvGraphicFramePr>
          <p:nvPr>
            <p:extLst>
              <p:ext uri="{D42A27DB-BD31-4B8C-83A1-F6EECF244321}">
                <p14:modId xmlns:p14="http://schemas.microsoft.com/office/powerpoint/2010/main" val="565401316"/>
              </p:ext>
            </p:extLst>
          </p:nvPr>
        </p:nvGraphicFramePr>
        <p:xfrm>
          <a:off x="6675118" y="3611880"/>
          <a:ext cx="3958048" cy="1158235"/>
        </p:xfrm>
        <a:graphic>
          <a:graphicData uri="http://schemas.openxmlformats.org/drawingml/2006/table">
            <a:tbl>
              <a:tblPr>
                <a:tableStyleId>{2D5ABB26-0587-4C30-8999-92F81FD0307C}</a:tableStyleId>
              </a:tblPr>
              <a:tblGrid>
                <a:gridCol w="1021676">
                  <a:extLst>
                    <a:ext uri="{9D8B030D-6E8A-4147-A177-3AD203B41FA5}">
                      <a16:colId xmlns:a16="http://schemas.microsoft.com/office/drawing/2014/main" val="20000"/>
                    </a:ext>
                  </a:extLst>
                </a:gridCol>
                <a:gridCol w="734093">
                  <a:extLst>
                    <a:ext uri="{9D8B030D-6E8A-4147-A177-3AD203B41FA5}">
                      <a16:colId xmlns:a16="http://schemas.microsoft.com/office/drawing/2014/main" val="20001"/>
                    </a:ext>
                  </a:extLst>
                </a:gridCol>
                <a:gridCol w="734093">
                  <a:extLst>
                    <a:ext uri="{9D8B030D-6E8A-4147-A177-3AD203B41FA5}">
                      <a16:colId xmlns:a16="http://schemas.microsoft.com/office/drawing/2014/main" val="20002"/>
                    </a:ext>
                  </a:extLst>
                </a:gridCol>
                <a:gridCol w="734093">
                  <a:extLst>
                    <a:ext uri="{9D8B030D-6E8A-4147-A177-3AD203B41FA5}">
                      <a16:colId xmlns:a16="http://schemas.microsoft.com/office/drawing/2014/main" val="20003"/>
                    </a:ext>
                  </a:extLst>
                </a:gridCol>
                <a:gridCol w="734093">
                  <a:extLst>
                    <a:ext uri="{9D8B030D-6E8A-4147-A177-3AD203B41FA5}">
                      <a16:colId xmlns:a16="http://schemas.microsoft.com/office/drawing/2014/main" val="20004"/>
                    </a:ext>
                  </a:extLst>
                </a:gridCol>
              </a:tblGrid>
              <a:tr h="231647">
                <a:tc>
                  <a:txBody>
                    <a:bodyPr/>
                    <a:lstStyle/>
                    <a:p>
                      <a:pPr algn="l">
                        <a:lnSpc>
                          <a:spcPct val="100000"/>
                        </a:lnSpc>
                        <a:spcBef>
                          <a:spcPts val="0"/>
                        </a:spcBef>
                        <a:spcAft>
                          <a:spcPts val="0"/>
                        </a:spcAft>
                      </a:pPr>
                      <a:r>
                        <a:rPr sz="800" b="1" dirty="0">
                          <a:solidFill>
                            <a:srgbClr val="000000"/>
                          </a:solidFill>
                        </a:rPr>
                        <a:t>Φ</a:t>
                      </a:r>
                      <a:r>
                        <a:rPr sz="800" b="1" baseline="-25000" dirty="0">
                          <a:solidFill>
                            <a:srgbClr val="000000"/>
                          </a:solidFill>
                        </a:rPr>
                        <a:t>NO</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dirty="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1647">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0.211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0.203 b</a:t>
                      </a:r>
                      <a:endParaRPr sz="800" dirty="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0.240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0.214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1647">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0.231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0.213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1647">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0.236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0.215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1647">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0.245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0.223 a</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23" name="TextBox 22"/>
          <p:cNvSpPr txBox="1"/>
          <p:nvPr/>
        </p:nvSpPr>
        <p:spPr>
          <a:xfrm>
            <a:off x="6675120" y="2697480"/>
            <a:ext cx="4572000" cy="731520"/>
          </a:xfrm>
          <a:prstGeom prst="rect">
            <a:avLst/>
          </a:prstGeom>
          <a:noFill/>
        </p:spPr>
        <p:txBody>
          <a:bodyPr wrap="square">
            <a:spAutoFit/>
          </a:bodyPr>
          <a:lstStyle/>
          <a:p>
            <a:r>
              <a:rPr sz="1200" b="1">
                <a:solidFill>
                  <a:srgbClr val="333333"/>
                </a:solidFill>
              </a:rPr>
              <a:t>콩:</a:t>
            </a:r>
            <a:r>
              <a:rPr sz="1200" b="0">
                <a:solidFill>
                  <a:srgbClr val="333333"/>
                </a:solidFill>
              </a:rPr>
              <a:t> P1 침수구, P2 건조·복합구에서 높은 경향</a:t>
            </a:r>
          </a:p>
          <a:p>
            <a:r>
              <a:rPr sz="1200" b="1">
                <a:solidFill>
                  <a:srgbClr val="333333"/>
                </a:solidFill>
              </a:rPr>
              <a:t>상추:</a:t>
            </a:r>
            <a:r>
              <a:rPr sz="1200" b="0">
                <a:solidFill>
                  <a:srgbClr val="333333"/>
                </a:solidFill>
              </a:rPr>
              <a:t> 처리 간 차이 없음</a:t>
            </a:r>
          </a:p>
        </p:txBody>
      </p:sp>
      <p:sp>
        <p:nvSpPr>
          <p:cNvPr id="24" name="TextBox 23"/>
          <p:cNvSpPr txBox="1"/>
          <p:nvPr/>
        </p:nvSpPr>
        <p:spPr>
          <a:xfrm>
            <a:off x="6675120" y="5029200"/>
            <a:ext cx="4572000" cy="731520"/>
          </a:xfrm>
          <a:prstGeom prst="rect">
            <a:avLst/>
          </a:prstGeom>
          <a:noFill/>
        </p:spPr>
        <p:txBody>
          <a:bodyPr wrap="square">
            <a:spAutoFit/>
          </a:bodyPr>
          <a:lstStyle/>
          <a:p>
            <a:r>
              <a:rPr sz="1200" b="1">
                <a:solidFill>
                  <a:srgbClr val="333333"/>
                </a:solidFill>
              </a:rPr>
              <a:t>콩:</a:t>
            </a:r>
            <a:r>
              <a:rPr sz="1200" b="0">
                <a:solidFill>
                  <a:srgbClr val="333333"/>
                </a:solidFill>
              </a:rPr>
              <a:t> P1 침수구, P2 건조·침수·복합구가 모두 대조구보다 높음</a:t>
            </a:r>
          </a:p>
          <a:p>
            <a:r>
              <a:rPr sz="1200" b="1">
                <a:solidFill>
                  <a:srgbClr val="333333"/>
                </a:solidFill>
              </a:rPr>
              <a:t>상추:</a:t>
            </a:r>
            <a:r>
              <a:rPr sz="1200" b="0">
                <a:solidFill>
                  <a:srgbClr val="333333"/>
                </a:solidFill>
              </a:rPr>
              <a:t> 처리 간 차이 없음</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12</a:t>
            </a:fld>
            <a:endParaRPr lang="ko-KR" altLang="en-US"/>
          </a:p>
        </p:txBody>
      </p:sp>
      <p:pic>
        <p:nvPicPr>
          <p:cNvPr id="14" name="Picture 13" descr="image.png"/>
          <p:cNvPicPr>
            <a:picLocks noChangeAspect="1"/>
          </p:cNvPicPr>
          <p:nvPr/>
        </p:nvPicPr>
        <p:blipFill>
          <a:blip r:embed="rId4"/>
          <a:stretch>
            <a:fillRect/>
          </a:stretch>
        </p:blipFill>
        <p:spPr>
          <a:xfrm>
            <a:off x="405715" y="1241540"/>
            <a:ext cx="7729066" cy="336908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795480835"/>
              </p:ext>
            </p:extLst>
          </p:nvPr>
        </p:nvGraphicFramePr>
        <p:xfrm>
          <a:off x="914400" y="449987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3510531167"/>
                    </a:ext>
                  </a:extLst>
                </a:gridCol>
              </a:tblGrid>
              <a:tr h="233172">
                <a:tc>
                  <a:txBody>
                    <a:bodyPr/>
                    <a:lstStyle/>
                    <a:p>
                      <a:pPr algn="l">
                        <a:lnSpc>
                          <a:spcPct val="100000"/>
                        </a:lnSpc>
                        <a:spcBef>
                          <a:spcPts val="0"/>
                        </a:spcBef>
                        <a:spcAft>
                          <a:spcPts val="0"/>
                        </a:spcAft>
                      </a:pPr>
                      <a:r>
                        <a:rPr sz="1000" b="1">
                          <a:solidFill>
                            <a:srgbClr val="000000"/>
                          </a:solidFill>
                        </a:rPr>
                        <a:t>Soybean</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60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83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1.44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15.4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0.047</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150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18.5</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68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0.043</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1.16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17.2</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0.046</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75 ab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120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0.86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18.6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0.048</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59" y="1373775"/>
            <a:ext cx="3886200" cy="1169551"/>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a:t>
            </a:r>
            <a:r>
              <a:rPr sz="1400" dirty="0" err="1">
                <a:solidFill>
                  <a:srgbClr val="000000"/>
                </a:solidFill>
              </a:rPr>
              <a:t>건조구에서</a:t>
            </a:r>
            <a:r>
              <a:rPr sz="1400" dirty="0">
                <a:solidFill>
                  <a:srgbClr val="000000"/>
                </a:solidFill>
              </a:rPr>
              <a:t> </a:t>
            </a:r>
            <a:r>
              <a:rPr sz="1400" dirty="0" err="1">
                <a:solidFill>
                  <a:srgbClr val="000000"/>
                </a:solidFill>
              </a:rPr>
              <a:t>V</a:t>
            </a:r>
            <a:r>
              <a:rPr sz="1400" baseline="-25000" dirty="0" err="1">
                <a:solidFill>
                  <a:srgbClr val="000000"/>
                </a:solidFill>
              </a:rPr>
              <a:t>cmax</a:t>
            </a:r>
            <a:r>
              <a:rPr sz="1400" dirty="0" err="1">
                <a:solidFill>
                  <a:srgbClr val="000000"/>
                </a:solidFill>
              </a:rPr>
              <a:t>·J</a:t>
            </a:r>
            <a:r>
              <a:rPr sz="1400" baseline="-25000" dirty="0" err="1">
                <a:solidFill>
                  <a:srgbClr val="000000"/>
                </a:solidFill>
              </a:rPr>
              <a:t>max</a:t>
            </a:r>
            <a:r>
              <a:rPr sz="1400" dirty="0" err="1">
                <a:solidFill>
                  <a:srgbClr val="000000"/>
                </a:solidFill>
              </a:rPr>
              <a:t>가</a:t>
            </a:r>
            <a:r>
              <a:rPr sz="1400" dirty="0">
                <a:solidFill>
                  <a:srgbClr val="000000"/>
                </a:solidFill>
              </a:rPr>
              <a:t> </a:t>
            </a:r>
            <a:r>
              <a:rPr sz="1400" dirty="0" err="1">
                <a:solidFill>
                  <a:srgbClr val="000000"/>
                </a:solidFill>
              </a:rPr>
              <a:t>낮았고</a:t>
            </a:r>
            <a:r>
              <a:rPr sz="1400" dirty="0">
                <a:solidFill>
                  <a:srgbClr val="000000"/>
                </a:solidFill>
              </a:rPr>
              <a:t> A</a:t>
            </a:r>
            <a:r>
              <a:rPr sz="1400" baseline="-25000" dirty="0">
                <a:solidFill>
                  <a:srgbClr val="000000"/>
                </a:solidFill>
              </a:rPr>
              <a:t>max</a:t>
            </a:r>
            <a:r>
              <a:rPr sz="1400" dirty="0">
                <a:solidFill>
                  <a:srgbClr val="000000"/>
                </a:solidFill>
              </a:rPr>
              <a:t>·α는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lang="en-US" sz="1400" dirty="0">
              <a:solidFill>
                <a:srgbClr val="000000"/>
              </a:solidFill>
            </a:endParaRPr>
          </a:p>
          <a:p>
            <a:pPr marL="201168" indent="-201168">
              <a:spcBef>
                <a:spcPts val="0"/>
              </a:spcBef>
              <a:buFont typeface="Arial"/>
              <a:buChar char="•"/>
            </a:pPr>
            <a:endParaRPr sz="1400" dirty="0">
              <a:solidFill>
                <a:srgbClr val="000000"/>
              </a:solidFill>
            </a:endParaRPr>
          </a:p>
          <a:p>
            <a:pPr marL="201168" indent="-201168">
              <a:spcBef>
                <a:spcPts val="0"/>
              </a:spcBef>
              <a:buFont typeface="Arial"/>
              <a:buChar char="•"/>
            </a:pPr>
            <a:r>
              <a:rPr lang="ko-KR" altLang="en-US" sz="1400" dirty="0">
                <a:solidFill>
                  <a:srgbClr val="000000"/>
                </a:solidFill>
              </a:rPr>
              <a:t>상추</a:t>
            </a:r>
            <a:r>
              <a:rPr sz="1400" dirty="0">
                <a:solidFill>
                  <a:srgbClr val="000000"/>
                </a:solidFill>
              </a:rPr>
              <a:t>: </a:t>
            </a:r>
            <a:r>
              <a:rPr sz="1400" dirty="0" err="1">
                <a:solidFill>
                  <a:srgbClr val="000000"/>
                </a:solidFill>
              </a:rPr>
              <a:t>복합구에서</a:t>
            </a:r>
            <a:r>
              <a:rPr sz="1400" dirty="0">
                <a:solidFill>
                  <a:srgbClr val="000000"/>
                </a:solidFill>
              </a:rPr>
              <a:t> </a:t>
            </a:r>
            <a:r>
              <a:rPr sz="1400" dirty="0" err="1">
                <a:solidFill>
                  <a:srgbClr val="000000"/>
                </a:solidFill>
              </a:rPr>
              <a:t>V</a:t>
            </a:r>
            <a:r>
              <a:rPr sz="1400" baseline="-25000" dirty="0" err="1">
                <a:solidFill>
                  <a:srgbClr val="000000"/>
                </a:solidFill>
              </a:rPr>
              <a:t>cmax</a:t>
            </a:r>
            <a:r>
              <a:rPr sz="1400" dirty="0" err="1">
                <a:solidFill>
                  <a:srgbClr val="000000"/>
                </a:solidFill>
              </a:rPr>
              <a:t>·J</a:t>
            </a:r>
            <a:r>
              <a:rPr sz="1400" baseline="-25000" dirty="0" err="1">
                <a:solidFill>
                  <a:srgbClr val="000000"/>
                </a:solidFill>
              </a:rPr>
              <a:t>max</a:t>
            </a:r>
            <a:r>
              <a:rPr sz="1400" dirty="0" err="1">
                <a:solidFill>
                  <a:srgbClr val="000000"/>
                </a:solidFill>
              </a:rPr>
              <a:t>가</a:t>
            </a:r>
            <a:r>
              <a:rPr sz="1400" dirty="0">
                <a:solidFill>
                  <a:srgbClr val="000000"/>
                </a:solidFill>
              </a:rPr>
              <a:t> </a:t>
            </a:r>
            <a:r>
              <a:rPr sz="1400" dirty="0" err="1">
                <a:solidFill>
                  <a:srgbClr val="000000"/>
                </a:solidFill>
              </a:rPr>
              <a:t>낮은</a:t>
            </a:r>
            <a:r>
              <a:rPr sz="1400" dirty="0">
                <a:solidFill>
                  <a:srgbClr val="000000"/>
                </a:solidFill>
              </a:rPr>
              <a:t> </a:t>
            </a:r>
            <a:r>
              <a:rPr sz="1400" dirty="0" err="1">
                <a:solidFill>
                  <a:srgbClr val="000000"/>
                </a:solidFill>
              </a:rPr>
              <a:t>경향이고</a:t>
            </a:r>
            <a:r>
              <a:rPr sz="1400" dirty="0">
                <a:solidFill>
                  <a:srgbClr val="000000"/>
                </a:solidFill>
              </a:rPr>
              <a:t> A</a:t>
            </a:r>
            <a:r>
              <a:rPr sz="1400" baseline="-25000" dirty="0">
                <a:solidFill>
                  <a:srgbClr val="000000"/>
                </a:solidFill>
              </a:rPr>
              <a:t>max</a:t>
            </a:r>
            <a:r>
              <a:rPr sz="1400" dirty="0">
                <a:solidFill>
                  <a:srgbClr val="000000"/>
                </a:solidFill>
              </a:rPr>
              <a:t>·α는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a:solidFill>
                  <a:srgbClr val="E97132"/>
                </a:solidFill>
              </a:rPr>
              <a:t>콩 건조·복합구(9월)와 상추 복합구(10월)에서 Vcmax·Jmax가 낮은 경향</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u="none">
                <a:solidFill>
                  <a:srgbClr val="595959"/>
                </a:solidFill>
              </a:rPr>
              <a:t>결론</a:t>
            </a:r>
          </a:p>
        </p:txBody>
      </p:sp>
      <p:graphicFrame>
        <p:nvGraphicFramePr>
          <p:cNvPr id="20" name="Table P2"/>
          <p:cNvGraphicFramePr>
            <a:graphicFrameLocks noGrp="1"/>
          </p:cNvGraphicFramePr>
          <p:nvPr>
            <p:extLst>
              <p:ext uri="{D42A27DB-BD31-4B8C-83A1-F6EECF244321}">
                <p14:modId xmlns:p14="http://schemas.microsoft.com/office/powerpoint/2010/main" val="3789131975"/>
              </p:ext>
            </p:extLst>
          </p:nvPr>
        </p:nvGraphicFramePr>
        <p:xfrm>
          <a:off x="4423955" y="4499870"/>
          <a:ext cx="3520440" cy="1399032"/>
        </p:xfrm>
        <a:graphic>
          <a:graphicData uri="http://schemas.openxmlformats.org/drawingml/2006/table">
            <a:tbl>
              <a:tblPr>
                <a:tableStyleId>{2D5ABB26-0587-4C30-8999-92F81FD0307C}</a:tableStyleId>
              </a:tblPr>
              <a:tblGrid>
                <a:gridCol w="842659">
                  <a:extLst>
                    <a:ext uri="{9D8B030D-6E8A-4147-A177-3AD203B41FA5}">
                      <a16:colId xmlns:a16="http://schemas.microsoft.com/office/drawing/2014/main" val="20000"/>
                    </a:ext>
                  </a:extLst>
                </a:gridCol>
                <a:gridCol w="514958">
                  <a:extLst>
                    <a:ext uri="{9D8B030D-6E8A-4147-A177-3AD203B41FA5}">
                      <a16:colId xmlns:a16="http://schemas.microsoft.com/office/drawing/2014/main" val="20001"/>
                    </a:ext>
                  </a:extLst>
                </a:gridCol>
                <a:gridCol w="514958">
                  <a:extLst>
                    <a:ext uri="{9D8B030D-6E8A-4147-A177-3AD203B41FA5}">
                      <a16:colId xmlns:a16="http://schemas.microsoft.com/office/drawing/2014/main" val="20002"/>
                    </a:ext>
                  </a:extLst>
                </a:gridCol>
                <a:gridCol w="617949">
                  <a:extLst>
                    <a:ext uri="{9D8B030D-6E8A-4147-A177-3AD203B41FA5}">
                      <a16:colId xmlns:a16="http://schemas.microsoft.com/office/drawing/2014/main" val="20003"/>
                    </a:ext>
                  </a:extLst>
                </a:gridCol>
                <a:gridCol w="514958">
                  <a:extLst>
                    <a:ext uri="{9D8B030D-6E8A-4147-A177-3AD203B41FA5}">
                      <a16:colId xmlns:a16="http://schemas.microsoft.com/office/drawing/2014/main" val="20004"/>
                    </a:ext>
                  </a:extLst>
                </a:gridCol>
                <a:gridCol w="514958">
                  <a:extLst>
                    <a:ext uri="{9D8B030D-6E8A-4147-A177-3AD203B41FA5}">
                      <a16:colId xmlns:a16="http://schemas.microsoft.com/office/drawing/2014/main" val="3850450545"/>
                    </a:ext>
                  </a:extLst>
                </a:gridCol>
              </a:tblGrid>
              <a:tr h="233172">
                <a:tc>
                  <a:txBody>
                    <a:bodyPr/>
                    <a:lstStyle/>
                    <a:p>
                      <a:pPr algn="l">
                        <a:lnSpc>
                          <a:spcPct val="100000"/>
                        </a:lnSpc>
                        <a:spcBef>
                          <a:spcPts val="0"/>
                        </a:spcBef>
                        <a:spcAft>
                          <a:spcPts val="0"/>
                        </a:spcAft>
                      </a:pPr>
                      <a:r>
                        <a:rPr sz="1000" b="1">
                          <a:solidFill>
                            <a:srgbClr val="000000"/>
                          </a:solidFill>
                        </a:rPr>
                        <a:t>Romaine</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98</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26.4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26.1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0.065</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2.06</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25.0</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0.067</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168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28.9</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0.059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73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142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1.76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21.6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dirty="0">
                          <a:solidFill>
                            <a:srgbClr val="000000"/>
                          </a:solidFill>
                        </a:rPr>
                        <a:t>0.063</a:t>
                      </a:r>
                      <a:endParaRPr sz="10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a:t>
            </a:r>
            <a:r>
              <a:rPr sz="1600" dirty="0">
                <a:solidFill>
                  <a:srgbClr val="E97132"/>
                </a:solidFill>
              </a:rPr>
              <a:t> </a:t>
            </a:r>
            <a:r>
              <a:rPr sz="1600" dirty="0" err="1">
                <a:solidFill>
                  <a:srgbClr val="E97132"/>
                </a:solidFill>
              </a:rPr>
              <a:t>건물중</a:t>
            </a:r>
            <a:r>
              <a:rPr sz="1600" dirty="0">
                <a:solidFill>
                  <a:srgbClr val="E97132"/>
                </a:solidFill>
              </a:rPr>
              <a:t> −16~43% </a:t>
            </a:r>
            <a:r>
              <a:rPr sz="1600" dirty="0" err="1">
                <a:solidFill>
                  <a:srgbClr val="E97132"/>
                </a:solidFill>
              </a:rPr>
              <a:t>감소</a:t>
            </a:r>
            <a:r>
              <a:rPr sz="1600" dirty="0">
                <a:solidFill>
                  <a:srgbClr val="E97132"/>
                </a:solidFill>
              </a:rPr>
              <a:t>, </a:t>
            </a:r>
            <a:r>
              <a:rPr sz="1600" dirty="0" err="1">
                <a:solidFill>
                  <a:srgbClr val="E97132"/>
                </a:solidFill>
              </a:rPr>
              <a:t>콩은</a:t>
            </a:r>
            <a:r>
              <a:rPr sz="1600" dirty="0">
                <a:solidFill>
                  <a:srgbClr val="E97132"/>
                </a:solidFill>
              </a:rPr>
              <a:t> </a:t>
            </a:r>
            <a:r>
              <a:rPr sz="1600" dirty="0" err="1">
                <a:solidFill>
                  <a:srgbClr val="E97132"/>
                </a:solidFill>
              </a:rPr>
              <a:t>수량</a:t>
            </a:r>
            <a:r>
              <a:rPr sz="1600" dirty="0">
                <a:solidFill>
                  <a:srgbClr val="E97132"/>
                </a:solidFill>
              </a:rPr>
              <a:t> </a:t>
            </a:r>
            <a:r>
              <a:rPr sz="1600" dirty="0" err="1">
                <a:solidFill>
                  <a:srgbClr val="E97132"/>
                </a:solidFill>
              </a:rPr>
              <a:t>감소</a:t>
            </a:r>
            <a:r>
              <a:rPr sz="1600" dirty="0">
                <a:solidFill>
                  <a:srgbClr val="E97132"/>
                </a:solidFill>
              </a:rPr>
              <a:t> </a:t>
            </a:r>
            <a:r>
              <a:rPr sz="1600" dirty="0" err="1">
                <a:solidFill>
                  <a:srgbClr val="E97132"/>
                </a:solidFill>
              </a:rPr>
              <a:t>경향이나</a:t>
            </a:r>
            <a:r>
              <a:rPr sz="1600" dirty="0">
                <a:solidFill>
                  <a:srgbClr val="E97132"/>
                </a:solidFill>
              </a:rPr>
              <a:t> </a:t>
            </a:r>
            <a:r>
              <a:rPr sz="1600" dirty="0" err="1">
                <a:solidFill>
                  <a:srgbClr val="E97132"/>
                </a:solidFill>
              </a:rPr>
              <a:t>유의차</a:t>
            </a:r>
            <a:r>
              <a:rPr sz="1600" dirty="0">
                <a:solidFill>
                  <a:srgbClr val="E97132"/>
                </a:solidFill>
              </a:rPr>
              <a:t> </a:t>
            </a:r>
            <a:r>
              <a:rPr sz="1600" dirty="0" err="1">
                <a:solidFill>
                  <a:srgbClr val="E97132"/>
                </a:solidFill>
              </a:rPr>
              <a:t>없음</a:t>
            </a:r>
            <a:endParaRPr sz="1600" dirty="0">
              <a:solidFill>
                <a:srgbClr val="E97132"/>
              </a:solidFill>
            </a:endParaRPr>
          </a:p>
        </p:txBody>
      </p:sp>
      <p:pic>
        <p:nvPicPr>
          <p:cNvPr id="27" name="Picture 26" descr="image.png"/>
          <p:cNvPicPr>
            <a:picLocks noChangeAspect="1"/>
          </p:cNvPicPr>
          <p:nvPr/>
        </p:nvPicPr>
        <p:blipFill>
          <a:blip r:embed="rId4"/>
          <a:stretch>
            <a:fillRect/>
          </a:stretch>
        </p:blipFill>
        <p:spPr>
          <a:xfrm>
            <a:off x="658368" y="1143000"/>
            <a:ext cx="6638544" cy="1982941"/>
          </a:xfrm>
          <a:prstGeom prst="rect">
            <a:avLst/>
          </a:prstGeom>
        </p:spPr>
      </p:pic>
      <p:sp>
        <p:nvSpPr>
          <p:cNvPr id="36" name="Text 요점"/>
          <p:cNvSpPr txBox="1"/>
          <p:nvPr/>
        </p:nvSpPr>
        <p:spPr>
          <a:xfrm>
            <a:off x="8046720" y="1534448"/>
            <a:ext cx="3172968" cy="1536191"/>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상추:</a:t>
            </a:r>
            <a:r>
              <a:rPr lang="ko-KR" altLang="en-US" sz="1400" dirty="0">
                <a:solidFill>
                  <a:srgbClr val="000000"/>
                </a:solidFill>
              </a:rPr>
              <a:t> 지상부 건물중이 모든 처리에서 감소했고 복합구에서 가장 크게 감소</a:t>
            </a:r>
          </a:p>
          <a:p>
            <a:pPr marL="201168" indent="-201168" algn="l">
              <a:spcBef>
                <a:spcPts val="1000"/>
              </a:spcBef>
              <a:buFont typeface="Arial"/>
              <a:buChar char="•"/>
            </a:pPr>
            <a:r>
              <a:rPr lang="ko-KR" altLang="en-US" sz="1400" dirty="0">
                <a:solidFill>
                  <a:srgbClr val="000000"/>
                </a:solidFill>
              </a:rPr>
              <a:t>콩:  종실 생체중·건조중이 감소하는 경향이나 처리 간 유의한 차이는 없음</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extLst>
              <p:ext uri="{D42A27DB-BD31-4B8C-83A1-F6EECF244321}">
                <p14:modId xmlns:p14="http://schemas.microsoft.com/office/powerpoint/2010/main" val="2893031633"/>
              </p:ext>
            </p:extLst>
          </p:nvPr>
        </p:nvGraphicFramePr>
        <p:xfrm>
          <a:off x="457200" y="3401568"/>
          <a:ext cx="7040880"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lnSpc>
                          <a:spcPct val="100000"/>
                        </a:lnSpc>
                        <a:spcBef>
                          <a:spcPts val="0"/>
                        </a:spcBef>
                        <a:spcAft>
                          <a:spcPts val="0"/>
                        </a:spcAft>
                      </a:pPr>
                      <a:r>
                        <a:rPr sz="800" b="1" dirty="0">
                          <a:solidFill>
                            <a:srgbClr val="000000"/>
                          </a:solidFill>
                        </a:rPr>
                        <a:t>Crop · variable</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Control</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Drought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Waterlog.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Combined</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800" b="0" dirty="0">
                          <a:solidFill>
                            <a:srgbClr val="000000"/>
                          </a:solidFill>
                        </a:rPr>
                        <a:t>Romaine DAT 16</a:t>
                      </a:r>
                      <a:endParaRPr sz="800" dirty="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800" b="0">
                          <a:solidFill>
                            <a:srgbClr val="000000"/>
                          </a:solidFill>
                        </a:rPr>
                        <a:t>Shoot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90 a</a:t>
                      </a:r>
                      <a:endParaRPr sz="800" dirty="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b (−29%)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b (−26%)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55 b (−38%)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lang="en-US" sz="800" b="0" dirty="0">
                          <a:solidFill>
                            <a:srgbClr val="000000"/>
                          </a:solidFill>
                        </a:rPr>
                        <a:t>Shoot DW (g)</a:t>
                      </a:r>
                      <a:endParaRPr sz="800" dirty="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6.5 a</a:t>
                      </a:r>
                      <a:endParaRPr sz="800" dirty="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5.4 ab (−16%)</a:t>
                      </a:r>
                      <a:endParaRPr sz="800" dirty="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4.3 </a:t>
                      </a:r>
                      <a:r>
                        <a:rPr sz="800" b="0" dirty="0" err="1">
                          <a:solidFill>
                            <a:srgbClr val="000000"/>
                          </a:solidFill>
                        </a:rPr>
                        <a:t>bc</a:t>
                      </a:r>
                      <a:r>
                        <a:rPr sz="800" b="0" dirty="0">
                          <a:solidFill>
                            <a:srgbClr val="000000"/>
                          </a:solidFill>
                        </a:rPr>
                        <a:t> (−34%)</a:t>
                      </a:r>
                      <a:endParaRPr sz="800" dirty="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3.7 c (−43%)</a:t>
                      </a:r>
                      <a:endParaRPr sz="800" dirty="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lang="en-US" sz="800" b="0" dirty="0">
                          <a:solidFill>
                            <a:srgbClr val="000000"/>
                          </a:solidFill>
                        </a:rPr>
                        <a:t>Soybean DAT 55</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176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177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 (−14%)</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2995192877"/>
                  </a:ext>
                </a:extLst>
              </a:tr>
              <a:tr h="233172">
                <a:tc>
                  <a:txBody>
                    <a:bodyPr/>
                    <a:lstStyle/>
                    <a:p>
                      <a:pPr algn="l">
                        <a:lnSpc>
                          <a:spcPct val="100000"/>
                        </a:lnSpc>
                        <a:spcBef>
                          <a:spcPts val="0"/>
                        </a:spcBef>
                        <a:spcAft>
                          <a:spcPts val="0"/>
                        </a:spcAft>
                      </a:pPr>
                      <a:r>
                        <a:rPr lang="en-US" sz="800" b="0" dirty="0">
                          <a:solidFill>
                            <a:srgbClr val="000000"/>
                          </a:solidFill>
                        </a:rPr>
                        <a:t>Seed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57 (−18%)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3906187141"/>
                  </a:ext>
                </a:extLst>
              </a:tr>
              <a:tr h="233172">
                <a:tc>
                  <a:txBody>
                    <a:bodyPr/>
                    <a:lstStyle/>
                    <a:p>
                      <a:pPr algn="l">
                        <a:lnSpc>
                          <a:spcPct val="100000"/>
                        </a:lnSpc>
                        <a:spcBef>
                          <a:spcPts val="0"/>
                        </a:spcBef>
                        <a:spcAft>
                          <a:spcPts val="0"/>
                        </a:spcAft>
                      </a:pPr>
                      <a:r>
                        <a:rPr lang="en-US" sz="800" b="0" dirty="0">
                          <a:solidFill>
                            <a:srgbClr val="000000"/>
                          </a:solidFill>
                        </a:rPr>
                        <a:t>Seed no.</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354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334 (−6%)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326 (−8%)</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300 (−15%)</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333812275"/>
                  </a:ext>
                </a:extLst>
              </a:tr>
              <a:tr h="233172">
                <a:tc>
                  <a:txBody>
                    <a:bodyPr/>
                    <a:lstStyle/>
                    <a:p>
                      <a:pPr algn="l">
                        <a:lnSpc>
                          <a:spcPct val="100000"/>
                        </a:lnSpc>
                        <a:spcBef>
                          <a:spcPts val="0"/>
                        </a:spcBef>
                        <a:spcAft>
                          <a:spcPts val="0"/>
                        </a:spcAft>
                      </a:pPr>
                      <a:r>
                        <a:rPr lang="en-US" sz="800" b="0" dirty="0">
                          <a:solidFill>
                            <a:srgbClr val="000000"/>
                          </a:solidFill>
                        </a:rPr>
                        <a:t>Pod no.</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170</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162 (−5%)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163 (−4%)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144 (−15%)</a:t>
                      </a:r>
                      <a:endParaRPr sz="800" dirty="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398122305"/>
                  </a:ext>
                </a:extLst>
              </a:tr>
            </a:tbl>
          </a:graphicData>
        </a:graphic>
      </p:graphicFrame>
      <p:sp>
        <p:nvSpPr>
          <p:cNvPr id="5" name="직사각형 4">
            <a:extLst>
              <a:ext uri="{FF2B5EF4-FFF2-40B4-BE49-F238E27FC236}">
                <a16:creationId xmlns:a16="http://schemas.microsoft.com/office/drawing/2014/main" id="{1D033586-424C-359C-062B-77D0EF336D1B}"/>
              </a:ext>
            </a:extLst>
          </p:cNvPr>
          <p:cNvSpPr/>
          <p:nvPr/>
        </p:nvSpPr>
        <p:spPr>
          <a:xfrm>
            <a:off x="7881257" y="3762103"/>
            <a:ext cx="1759132" cy="1463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표 </a:t>
            </a:r>
            <a:r>
              <a:rPr lang="en-US" altLang="ko-KR" dirty="0"/>
              <a:t>: </a:t>
            </a:r>
            <a:r>
              <a:rPr lang="ko-KR" altLang="en-US" dirty="0"/>
              <a:t>처리를 왼쪽</a:t>
            </a:r>
            <a:r>
              <a:rPr lang="en-US" altLang="ko-KR" dirty="0"/>
              <a:t>, </a:t>
            </a:r>
            <a:r>
              <a:rPr lang="ko-KR" altLang="en-US" dirty="0"/>
              <a:t>각 지표를 위쪽으로 재배치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a:t>
            </a:r>
            <a:r>
              <a:rPr sz="1600" dirty="0">
                <a:solidFill>
                  <a:srgbClr val="E97132"/>
                </a:solidFill>
              </a:rPr>
              <a:t> </a:t>
            </a:r>
            <a:r>
              <a:rPr sz="1600" dirty="0" err="1">
                <a:solidFill>
                  <a:srgbClr val="E97132"/>
                </a:solidFill>
              </a:rPr>
              <a:t>건물중</a:t>
            </a:r>
            <a:r>
              <a:rPr sz="1600" dirty="0">
                <a:solidFill>
                  <a:srgbClr val="E97132"/>
                </a:solidFill>
              </a:rPr>
              <a:t> −16~43% </a:t>
            </a:r>
            <a:r>
              <a:rPr sz="1600" dirty="0" err="1">
                <a:solidFill>
                  <a:srgbClr val="E97132"/>
                </a:solidFill>
              </a:rPr>
              <a:t>감소</a:t>
            </a:r>
            <a:r>
              <a:rPr sz="1600" dirty="0">
                <a:solidFill>
                  <a:srgbClr val="E97132"/>
                </a:solidFill>
              </a:rPr>
              <a:t>, </a:t>
            </a:r>
            <a:r>
              <a:rPr sz="1600" dirty="0" err="1">
                <a:solidFill>
                  <a:srgbClr val="E97132"/>
                </a:solidFill>
              </a:rPr>
              <a:t>콩은</a:t>
            </a:r>
            <a:r>
              <a:rPr sz="1600" dirty="0">
                <a:solidFill>
                  <a:srgbClr val="E97132"/>
                </a:solidFill>
              </a:rPr>
              <a:t> </a:t>
            </a:r>
            <a:r>
              <a:rPr sz="1600" dirty="0" err="1">
                <a:solidFill>
                  <a:srgbClr val="E97132"/>
                </a:solidFill>
              </a:rPr>
              <a:t>종실</a:t>
            </a:r>
            <a:r>
              <a:rPr sz="1600" dirty="0">
                <a:solidFill>
                  <a:srgbClr val="E97132"/>
                </a:solidFill>
              </a:rPr>
              <a:t> </a:t>
            </a:r>
            <a:r>
              <a:rPr sz="1600" dirty="0" err="1">
                <a:solidFill>
                  <a:srgbClr val="E97132"/>
                </a:solidFill>
              </a:rPr>
              <a:t>생체중</a:t>
            </a:r>
            <a:r>
              <a:rPr sz="1600" dirty="0">
                <a:solidFill>
                  <a:srgbClr val="E97132"/>
                </a:solidFill>
              </a:rPr>
              <a:t> −5~14% </a:t>
            </a:r>
            <a:r>
              <a:rPr sz="1600" dirty="0" err="1">
                <a:solidFill>
                  <a:srgbClr val="E97132"/>
                </a:solidFill>
              </a:rPr>
              <a:t>감소</a:t>
            </a:r>
            <a:r>
              <a:rPr sz="1600" dirty="0">
                <a:solidFill>
                  <a:srgbClr val="E97132"/>
                </a:solidFill>
              </a:rPr>
              <a:t> </a:t>
            </a:r>
            <a:r>
              <a:rPr sz="1600" dirty="0" err="1">
                <a:solidFill>
                  <a:srgbClr val="E97132"/>
                </a:solidFill>
              </a:rPr>
              <a:t>경향</a:t>
            </a:r>
            <a:endParaRPr sz="1600" dirty="0">
              <a:solidFill>
                <a:srgbClr val="E97132"/>
              </a:solidFill>
            </a:endParaRP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baseline="-25000" dirty="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baseline="-25000" dirty="0">
                <a:solidFill>
                  <a:srgbClr val="000000"/>
                </a:solidFill>
              </a:rPr>
              <a:t>PSII</a:t>
            </a:r>
            <a:r>
              <a:rPr lang="ko-KR" altLang="en-US" sz="1050" b="0" dirty="0">
                <a:solidFill>
                  <a:srgbClr val="000000"/>
                </a:solidFill>
              </a:rPr>
              <a:t> · Φ</a:t>
            </a:r>
            <a:r>
              <a:rPr lang="ko-KR" altLang="en-US" sz="1050" b="0" baseline="-25000" dirty="0">
                <a:solidFill>
                  <a:srgbClr val="000000"/>
                </a:solidFill>
              </a:rPr>
              <a:t>NPQ</a:t>
            </a:r>
            <a:r>
              <a:rPr lang="ko-KR" altLang="en-US" sz="1050" b="0" dirty="0">
                <a:solidFill>
                  <a:srgbClr val="000000"/>
                </a:solidFill>
              </a:rPr>
              <a:t> · Φ</a:t>
            </a:r>
            <a:r>
              <a:rPr lang="ko-KR" altLang="en-US" sz="1050" b="0" baseline="-25000" dirty="0">
                <a:solidFill>
                  <a:srgbClr val="000000"/>
                </a:solidFill>
              </a:rPr>
              <a:t>NO</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광합성</a:t>
            </a:r>
          </a:p>
          <a:p>
            <a:pPr marL="0" indent="0" algn="ctr">
              <a:spcBef>
                <a:spcPts val="0"/>
              </a:spcBef>
              <a:buNone/>
            </a:pPr>
            <a:r>
              <a:rPr lang="ko-KR" altLang="en-US" sz="1050" b="0" dirty="0">
                <a:solidFill>
                  <a:srgbClr val="FFFFFF"/>
                </a:solidFill>
              </a:rPr>
              <a:t>V</a:t>
            </a:r>
            <a:r>
              <a:rPr lang="ko-KR" altLang="en-US" sz="1050" b="0" baseline="-25000" dirty="0">
                <a:solidFill>
                  <a:srgbClr val="FFFFFF"/>
                </a:solidFill>
              </a:rPr>
              <a:t>cmax</a:t>
            </a:r>
            <a:r>
              <a:rPr lang="ko-KR" altLang="en-US" sz="1050" b="0" dirty="0">
                <a:solidFill>
                  <a:srgbClr val="FFFFFF"/>
                </a:solidFill>
              </a:rPr>
              <a:t> · J</a:t>
            </a:r>
            <a:r>
              <a:rPr lang="ko-KR" altLang="en-US" sz="1050" b="0" baseline="-25000" dirty="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상추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상추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상추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baseline="-25000" dirty="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Φ</a:t>
            </a:r>
            <a:r>
              <a:rPr lang="ko-KR" altLang="en-US" sz="1200" baseline="-25000" dirty="0">
                <a:solidFill>
                  <a:srgbClr val="FFFFFF"/>
                </a:solidFill>
              </a:rPr>
              <a:t>PSII</a:t>
            </a:r>
            <a:r>
              <a:rPr lang="ko-KR" altLang="en-US" sz="1200" dirty="0">
                <a:solidFill>
                  <a:srgbClr val="FFFFFF"/>
                </a:solidFill>
              </a:rPr>
              <a:t> ↓</a:t>
            </a:r>
          </a:p>
          <a:p>
            <a:pPr marL="0" indent="0" algn="ctr">
              <a:spcBef>
                <a:spcPts val="0"/>
              </a:spcBef>
              <a:buNone/>
            </a:pPr>
            <a:r>
              <a:rPr lang="ko-KR" altLang="en-US" sz="1200" dirty="0">
                <a:solidFill>
                  <a:srgbClr val="FFFFFF"/>
                </a:solidFill>
              </a:rPr>
              <a:t>Φ</a:t>
            </a:r>
            <a:r>
              <a:rPr lang="ko-KR" altLang="en-US" sz="1200" baseline="-25000" dirty="0">
                <a:solidFill>
                  <a:srgbClr val="FFFFFF"/>
                </a:solidFill>
              </a:rPr>
              <a:t>NPQ</a:t>
            </a:r>
            <a:r>
              <a:rPr lang="ko-KR" altLang="en-US" sz="1200" dirty="0">
                <a:solidFill>
                  <a:srgbClr val="FFFFFF"/>
                </a:solidFill>
              </a:rPr>
              <a:t> ↑ · Φ</a:t>
            </a:r>
            <a:r>
              <a:rPr lang="ko-KR" altLang="en-US" sz="1200" baseline="-25000" dirty="0">
                <a:solidFill>
                  <a:srgbClr val="FFFFFF"/>
                </a:solidFill>
              </a:rPr>
              <a:t>NO</a:t>
            </a:r>
            <a:r>
              <a:rPr lang="ko-KR" altLang="en-US" sz="1200" dirty="0">
                <a:solidFill>
                  <a:srgbClr val="FFFFFF"/>
                </a:solidFill>
              </a:rPr>
              <a:t> ↑</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Vcmax·Jmax</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−5%</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Φ</a:t>
            </a:r>
            <a:r>
              <a:rPr lang="ko-KR" altLang="en-US" sz="1200" baseline="-25000" dirty="0">
                <a:solidFill>
                  <a:srgbClr val="7F7F7F"/>
                </a:solidFill>
              </a:rPr>
              <a:t>PSII</a:t>
            </a:r>
            <a:r>
              <a:rPr lang="ko-KR" altLang="en-US" sz="1200" dirty="0">
                <a:solidFill>
                  <a:srgbClr val="7F7F7F"/>
                </a:solidFill>
              </a:rPr>
              <a:t> ↓ (P1)</a:t>
            </a:r>
          </a:p>
          <a:p>
            <a:pPr marL="0" indent="0" algn="ctr">
              <a:spcBef>
                <a:spcPts val="0"/>
              </a:spcBef>
              <a:buNone/>
            </a:pPr>
            <a:r>
              <a:rPr lang="ko-KR" altLang="en-US" sz="1200" dirty="0">
                <a:solidFill>
                  <a:srgbClr val="7F7F7F"/>
                </a:solidFill>
              </a:rPr>
              <a:t>Φ</a:t>
            </a:r>
            <a:r>
              <a:rPr lang="ko-KR" altLang="en-US" sz="1200" baseline="-25000" dirty="0">
                <a:solidFill>
                  <a:srgbClr val="7F7F7F"/>
                </a:solidFill>
              </a:rPr>
              <a:t>NO</a:t>
            </a:r>
            <a:r>
              <a:rPr lang="ko-KR" altLang="en-US" sz="1200" dirty="0">
                <a:solidFill>
                  <a:srgbClr val="7F7F7F"/>
                </a:solidFill>
              </a:rPr>
              <a:t> ↑</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Φ</a:t>
            </a:r>
            <a:r>
              <a:rPr lang="ko-KR" altLang="en-US" sz="1200" baseline="-25000" dirty="0">
                <a:solidFill>
                  <a:srgbClr val="000000"/>
                </a:solidFill>
              </a:rPr>
              <a:t>NPQ</a:t>
            </a:r>
            <a:r>
              <a:rPr lang="ko-KR" altLang="en-US" sz="1200" dirty="0">
                <a:solidFill>
                  <a:srgbClr val="000000"/>
                </a:solidFill>
              </a:rPr>
              <a:t> ↑ 경향</a:t>
            </a:r>
          </a:p>
          <a:p>
            <a:pPr marL="0" indent="0" algn="ctr">
              <a:spcBef>
                <a:spcPts val="0"/>
              </a:spcBef>
              <a:buNone/>
            </a:pPr>
            <a:r>
              <a:rPr lang="ko-KR" altLang="en-US" sz="1200" dirty="0">
                <a:solidFill>
                  <a:srgbClr val="000000"/>
                </a:solidFill>
              </a:rPr>
              <a:t>Φ</a:t>
            </a:r>
            <a:r>
              <a:rPr lang="ko-KR" altLang="en-US" sz="1200" baseline="-25000" dirty="0">
                <a:solidFill>
                  <a:srgbClr val="000000"/>
                </a:solidFill>
              </a:rPr>
              <a:t>NO</a:t>
            </a:r>
            <a:r>
              <a:rPr lang="ko-KR" altLang="en-US" sz="1200" dirty="0">
                <a:solidFill>
                  <a:srgbClr val="000000"/>
                </a:solidFill>
              </a:rPr>
              <a:t> ↑</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Jmax</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−14%</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7" name="직사각형 6">
            <a:extLst>
              <a:ext uri="{FF2B5EF4-FFF2-40B4-BE49-F238E27FC236}">
                <a16:creationId xmlns:a16="http://schemas.microsoft.com/office/drawing/2014/main" id="{71BA781D-4F2A-A482-9BAC-AA3150E40E32}"/>
              </a:ext>
            </a:extLst>
          </p:cNvPr>
          <p:cNvSpPr/>
          <p:nvPr/>
        </p:nvSpPr>
        <p:spPr>
          <a:xfrm>
            <a:off x="2562932" y="5779185"/>
            <a:ext cx="7066135" cy="12615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전면 수정</a:t>
            </a:r>
            <a:endParaRPr lang="en-US" altLang="ko-KR" dirty="0"/>
          </a:p>
          <a:p>
            <a:pPr algn="ctr"/>
            <a:r>
              <a:rPr lang="en-US" altLang="ko-KR" dirty="0"/>
              <a:t>15, 16</a:t>
            </a:r>
            <a:r>
              <a:rPr lang="ko-KR" altLang="en-US" dirty="0"/>
              <a:t>페이지와 합쳐서 대조구와 각 처리만 그래프 색 남기고</a:t>
            </a:r>
            <a:r>
              <a:rPr lang="en-US" altLang="ko-KR" dirty="0"/>
              <a:t>, </a:t>
            </a:r>
            <a:r>
              <a:rPr lang="ko-KR" altLang="en-US" dirty="0"/>
              <a:t>다른 처리는 회색</a:t>
            </a:r>
            <a:r>
              <a:rPr lang="en-US" altLang="ko-KR" dirty="0"/>
              <a:t>, </a:t>
            </a:r>
            <a:r>
              <a:rPr lang="ko-KR" altLang="en-US" dirty="0"/>
              <a:t>흐리게 표시하여 강조하고 싶은 부분만 강조</a:t>
            </a:r>
            <a:endParaRPr lang="en-US" altLang="ko-KR" dirty="0"/>
          </a:p>
          <a:p>
            <a:pPr algn="ctr"/>
            <a:r>
              <a:rPr lang="ko-KR" altLang="en-US" dirty="0"/>
              <a:t>콩 슬라이드</a:t>
            </a:r>
            <a:r>
              <a:rPr lang="en-US" altLang="ko-KR" dirty="0"/>
              <a:t>, </a:t>
            </a:r>
            <a:r>
              <a:rPr lang="ko-KR" altLang="en-US" dirty="0"/>
              <a:t>상추 슬라이드 총 </a:t>
            </a:r>
            <a:r>
              <a:rPr lang="en-US" altLang="ko-KR" dirty="0"/>
              <a:t>2</a:t>
            </a:r>
            <a:r>
              <a:rPr lang="ko-KR" altLang="en-US" dirty="0"/>
              <a:t>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fade">
                                      <p:cBhvr>
                                        <p:cTn id="80" dur="500"/>
                                        <p:tgtEl>
                                          <p:spTgt spid="5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6"/>
                                        </p:tgtEl>
                                        <p:attrNameLst>
                                          <p:attrName>style.visibility</p:attrName>
                                        </p:attrNameLst>
                                      </p:cBhvr>
                                      <p:to>
                                        <p:strVal val="visible"/>
                                      </p:to>
                                    </p:set>
                                    <p:animEffect transition="in" filter="fade">
                                      <p:cBhvr>
                                        <p:cTn id="86" dur="500"/>
                                        <p:tgtEl>
                                          <p:spTgt spid="6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3"/>
                                        </p:tgtEl>
                                        <p:attrNameLst>
                                          <p:attrName>style.visibility</p:attrName>
                                        </p:attrNameLst>
                                      </p:cBhvr>
                                      <p:to>
                                        <p:strVal val="visible"/>
                                      </p:to>
                                    </p:set>
                                    <p:animEffect transition="in" filter="fade">
                                      <p:cBhvr>
                                        <p:cTn id="89" dur="500"/>
                                        <p:tgtEl>
                                          <p:spTgt spid="7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500"/>
                                        <p:tgtEl>
                                          <p:spTgt spid="3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fade">
                                      <p:cBhvr>
                                        <p:cTn id="100" dur="500"/>
                                        <p:tgtEl>
                                          <p:spTgt spid="4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500"/>
                                        <p:tgtEl>
                                          <p:spTgt spid="5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fade">
                                      <p:cBhvr>
                                        <p:cTn id="106" dur="500"/>
                                        <p:tgtEl>
                                          <p:spTgt spid="6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fade">
                                      <p:cBhvr>
                                        <p:cTn id="109" dur="500"/>
                                        <p:tgtEl>
                                          <p:spTgt spid="6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fade">
                                      <p:cBhvr>
                                        <p:cTn id="112" dur="500"/>
                                        <p:tgtEl>
                                          <p:spTgt spid="74"/>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recap_bean.png"/>
          <p:cNvPicPr>
            <a:picLocks noChangeAspect="1"/>
          </p:cNvPicPr>
          <p:nvPr/>
        </p:nvPicPr>
        <p:blipFill>
          <a:blip r:embed="rId3"/>
          <a:stretch>
            <a:fillRect/>
          </a:stretch>
        </p:blipFill>
        <p:spPr>
          <a:xfrm>
            <a:off x="502920" y="1810512"/>
            <a:ext cx="11155680" cy="3749040"/>
          </a:xfrm>
          <a:prstGeom prst="rect">
            <a:avLst/>
          </a:prstGeom>
        </p:spPr>
      </p:pic>
      <p:sp>
        <p:nvSpPr>
          <p:cNvPr id="2" name="Title 1"/>
          <p:cNvSpPr>
            <a:spLocks noGrp="1"/>
          </p:cNvSpPr>
          <p:nvPr>
            <p:ph type="title"/>
          </p:nvPr>
        </p:nvSpPr>
        <p:spPr>
          <a:xfrm>
            <a:off x="841248" y="420624"/>
            <a:ext cx="8549640" cy="566928"/>
          </a:xfrm>
        </p:spPr>
        <p:txBody>
          <a:bodyPr anchor="b">
            <a:normAutofit/>
          </a:bodyPr>
          <a:lstStyle/>
          <a:p>
            <a:r>
              <a:rPr lang="ko-KR" altLang="en-US" sz="2800" dirty="0"/>
              <a:t>콩 (기공 → 명반응 → 광합성 능력 → 수량)</a:t>
            </a:r>
          </a:p>
        </p:txBody>
      </p:sp>
      <p:pic>
        <p:nvPicPr>
          <p:cNvPr id="3" name="Logo" descr="image.png"/>
          <p:cNvPicPr>
            <a:picLocks noChangeAspect="1"/>
          </p:cNvPicPr>
          <p:nvPr/>
        </p:nvPicPr>
        <p:blipFill>
          <a:blip r:embed="rId4"/>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15</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58" name="Rounded Rectangle 57"/>
          <p:cNvSpPr/>
          <p:nvPr/>
        </p:nvSpPr>
        <p:spPr>
          <a:xfrm>
            <a:off x="8650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33190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78707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② 명반응</a:t>
            </a:r>
          </a:p>
          <a:p>
            <a:pPr algn="ctr"/>
            <a:r>
              <a:rPr sz="1050">
                <a:solidFill>
                  <a:srgbClr val="FFFFFF"/>
                </a:solidFill>
              </a:rPr>
              <a:t>ΦPSII · ΦNPQ · ΦNO</a:t>
            </a:r>
          </a:p>
        </p:txBody>
      </p:sp>
      <p:sp>
        <p:nvSpPr>
          <p:cNvPr id="61" name="Right Arrow 60"/>
          <p:cNvSpPr/>
          <p:nvPr/>
        </p:nvSpPr>
        <p:spPr>
          <a:xfrm>
            <a:off x="625392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70909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071"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9385364"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④ 수량</a:t>
            </a:r>
          </a:p>
          <a:p>
            <a:pPr algn="ctr"/>
            <a:r>
              <a:rPr sz="1050">
                <a:solidFill>
                  <a:srgbClr val="FFFFFF"/>
                </a:solidFill>
              </a:rPr>
              <a:t>종실 생체중</a:t>
            </a:r>
          </a:p>
        </p:txBody>
      </p:sp>
      <p:sp>
        <p:nvSpPr>
          <p:cNvPr id="7" name="직사각형 6">
            <a:extLst>
              <a:ext uri="{FF2B5EF4-FFF2-40B4-BE49-F238E27FC236}">
                <a16:creationId xmlns:a16="http://schemas.microsoft.com/office/drawing/2014/main" id="{F2C72CA3-8F70-2442-8D82-5E3D9391C945}"/>
              </a:ext>
            </a:extLst>
          </p:cNvPr>
          <p:cNvSpPr/>
          <p:nvPr/>
        </p:nvSpPr>
        <p:spPr>
          <a:xfrm>
            <a:off x="8595360" y="1168621"/>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a:t>
            </a:r>
            <a:r>
              <a:rPr lang="en-US" altLang="ko-KR" sz="1200" dirty="0"/>
              <a:t>, </a:t>
            </a:r>
            <a:r>
              <a:rPr lang="ko-KR" altLang="en-US" sz="1200" dirty="0"/>
              <a:t>복합 ↓</a:t>
            </a:r>
          </a:p>
        </p:txBody>
      </p:sp>
      <p:sp>
        <p:nvSpPr>
          <p:cNvPr id="9" name="직사각형 8">
            <a:extLst>
              <a:ext uri="{FF2B5EF4-FFF2-40B4-BE49-F238E27FC236}">
                <a16:creationId xmlns:a16="http://schemas.microsoft.com/office/drawing/2014/main" id="{257BA967-62DE-9EE1-D03F-FA8E669737C8}"/>
              </a:ext>
            </a:extLst>
          </p:cNvPr>
          <p:cNvSpPr/>
          <p:nvPr/>
        </p:nvSpPr>
        <p:spPr>
          <a:xfrm>
            <a:off x="11353800" y="1167214"/>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
        <p:nvSpPr>
          <p:cNvPr id="11" name="직사각형 10">
            <a:extLst>
              <a:ext uri="{FF2B5EF4-FFF2-40B4-BE49-F238E27FC236}">
                <a16:creationId xmlns:a16="http://schemas.microsoft.com/office/drawing/2014/main" id="{999A3BDB-5EA9-95F4-4F7F-1C507C37851F}"/>
              </a:ext>
            </a:extLst>
          </p:cNvPr>
          <p:cNvSpPr/>
          <p:nvPr/>
        </p:nvSpPr>
        <p:spPr>
          <a:xfrm>
            <a:off x="5657066" y="1115322"/>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a:t>
            </a:r>
            <a:r>
              <a:rPr lang="en-US" altLang="ko-KR" sz="1200" dirty="0"/>
              <a:t>, </a:t>
            </a:r>
            <a:r>
              <a:rPr lang="ko-KR" altLang="en-US" sz="1200" dirty="0"/>
              <a:t>복합 ↑</a:t>
            </a:r>
          </a:p>
        </p:txBody>
      </p:sp>
      <p:sp>
        <p:nvSpPr>
          <p:cNvPr id="13" name="직사각형 12">
            <a:extLst>
              <a:ext uri="{FF2B5EF4-FFF2-40B4-BE49-F238E27FC236}">
                <a16:creationId xmlns:a16="http://schemas.microsoft.com/office/drawing/2014/main" id="{591DE11C-8293-4AEA-12CF-6F63D7BC4625}"/>
              </a:ext>
            </a:extLst>
          </p:cNvPr>
          <p:cNvSpPr/>
          <p:nvPr/>
        </p:nvSpPr>
        <p:spPr>
          <a:xfrm>
            <a:off x="2712410" y="1080349"/>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a:t>
            </a:r>
            <a:r>
              <a:rPr lang="en-US" altLang="ko-KR" sz="1200" dirty="0"/>
              <a:t>, </a:t>
            </a:r>
            <a:r>
              <a:rPr lang="ko-KR" altLang="en-US" sz="1200" dirty="0"/>
              <a:t>복합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recap_lettuce.png"/>
          <p:cNvPicPr>
            <a:picLocks noChangeAspect="1"/>
          </p:cNvPicPr>
          <p:nvPr/>
        </p:nvPicPr>
        <p:blipFill>
          <a:blip r:embed="rId3"/>
          <a:stretch>
            <a:fillRect/>
          </a:stretch>
        </p:blipFill>
        <p:spPr>
          <a:xfrm>
            <a:off x="502920" y="1810512"/>
            <a:ext cx="11155680" cy="3749040"/>
          </a:xfrm>
          <a:prstGeom prst="rect">
            <a:avLst/>
          </a:prstGeom>
        </p:spPr>
      </p:pic>
      <p:sp>
        <p:nvSpPr>
          <p:cNvPr id="2" name="Title 1"/>
          <p:cNvSpPr>
            <a:spLocks noGrp="1"/>
          </p:cNvSpPr>
          <p:nvPr>
            <p:ph type="title"/>
          </p:nvPr>
        </p:nvSpPr>
        <p:spPr>
          <a:xfrm>
            <a:off x="841247" y="420624"/>
            <a:ext cx="9966089" cy="566928"/>
          </a:xfrm>
        </p:spPr>
        <p:txBody>
          <a:bodyPr anchor="b">
            <a:normAutofit/>
          </a:bodyPr>
          <a:lstStyle/>
          <a:p>
            <a:r>
              <a:rPr lang="ko-KR" altLang="en-US" sz="2800" dirty="0"/>
              <a:t>상추 (기공 → 명반응 → 광합성 능력 → 건물중)</a:t>
            </a:r>
          </a:p>
        </p:txBody>
      </p:sp>
      <p:pic>
        <p:nvPicPr>
          <p:cNvPr id="3" name="Logo" descr="image.png"/>
          <p:cNvPicPr>
            <a:picLocks noChangeAspect="1"/>
          </p:cNvPicPr>
          <p:nvPr/>
        </p:nvPicPr>
        <p:blipFill>
          <a:blip r:embed="rId4"/>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 회복이 빨랐지만 침수 기간 동안의 손실이 유지됨</a:t>
            </a:r>
            <a:endParaRPr sz="1600" dirty="0">
              <a:solidFill>
                <a:srgbClr val="E97132"/>
              </a:solidFill>
            </a:endParaRP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58" name="Rounded Rectangle 57"/>
          <p:cNvSpPr/>
          <p:nvPr/>
        </p:nvSpPr>
        <p:spPr>
          <a:xfrm>
            <a:off x="8650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33190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78707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② 명반응</a:t>
            </a:r>
          </a:p>
          <a:p>
            <a:pPr algn="ctr"/>
            <a:r>
              <a:rPr sz="1050">
                <a:solidFill>
                  <a:srgbClr val="FFFFFF"/>
                </a:solidFill>
              </a:rPr>
              <a:t>ΦPSII · ΦNPQ · ΦNO</a:t>
            </a:r>
          </a:p>
        </p:txBody>
      </p:sp>
      <p:sp>
        <p:nvSpPr>
          <p:cNvPr id="61" name="Right Arrow 60"/>
          <p:cNvSpPr/>
          <p:nvPr/>
        </p:nvSpPr>
        <p:spPr>
          <a:xfrm>
            <a:off x="625392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70909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071"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9385364"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④ 생육</a:t>
            </a:r>
          </a:p>
          <a:p>
            <a:pPr algn="ctr"/>
            <a:r>
              <a:rPr sz="1050">
                <a:solidFill>
                  <a:srgbClr val="FFFFFF"/>
                </a:solidFill>
              </a:rPr>
              <a:t>지상부 건물중</a:t>
            </a:r>
          </a:p>
        </p:txBody>
      </p:sp>
      <p:sp>
        <p:nvSpPr>
          <p:cNvPr id="5" name="직사각형 4">
            <a:extLst>
              <a:ext uri="{FF2B5EF4-FFF2-40B4-BE49-F238E27FC236}">
                <a16:creationId xmlns:a16="http://schemas.microsoft.com/office/drawing/2014/main" id="{B7433705-DE95-1091-4879-D000C4ADC4CD}"/>
              </a:ext>
            </a:extLst>
          </p:cNvPr>
          <p:cNvSpPr/>
          <p:nvPr/>
        </p:nvSpPr>
        <p:spPr>
          <a:xfrm>
            <a:off x="5482903" y="1081434"/>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차이</a:t>
            </a:r>
            <a:r>
              <a:rPr lang="en-US" altLang="ko-KR" sz="1200" dirty="0"/>
              <a:t>X</a:t>
            </a:r>
            <a:endParaRPr lang="ko-KR" altLang="en-US" sz="1200" dirty="0"/>
          </a:p>
        </p:txBody>
      </p:sp>
      <p:sp>
        <p:nvSpPr>
          <p:cNvPr id="8" name="직사각형 7">
            <a:extLst>
              <a:ext uri="{FF2B5EF4-FFF2-40B4-BE49-F238E27FC236}">
                <a16:creationId xmlns:a16="http://schemas.microsoft.com/office/drawing/2014/main" id="{7D61ECC6-1CEF-5370-C6E7-823EC645308D}"/>
              </a:ext>
            </a:extLst>
          </p:cNvPr>
          <p:cNvSpPr/>
          <p:nvPr/>
        </p:nvSpPr>
        <p:spPr>
          <a:xfrm>
            <a:off x="2519029" y="1057492"/>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 ↓</a:t>
            </a:r>
          </a:p>
        </p:txBody>
      </p:sp>
      <p:sp>
        <p:nvSpPr>
          <p:cNvPr id="10" name="직사각형 9">
            <a:extLst>
              <a:ext uri="{FF2B5EF4-FFF2-40B4-BE49-F238E27FC236}">
                <a16:creationId xmlns:a16="http://schemas.microsoft.com/office/drawing/2014/main" id="{E3190527-AE47-95F8-6E0F-F6B8DF14C73B}"/>
              </a:ext>
            </a:extLst>
          </p:cNvPr>
          <p:cNvSpPr/>
          <p:nvPr/>
        </p:nvSpPr>
        <p:spPr>
          <a:xfrm>
            <a:off x="8563574" y="1212937"/>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
        <p:nvSpPr>
          <p:cNvPr id="12" name="직사각형 11">
            <a:extLst>
              <a:ext uri="{FF2B5EF4-FFF2-40B4-BE49-F238E27FC236}">
                <a16:creationId xmlns:a16="http://schemas.microsoft.com/office/drawing/2014/main" id="{57350A76-C00A-6029-D647-AE882512F6CC}"/>
              </a:ext>
            </a:extLst>
          </p:cNvPr>
          <p:cNvSpPr/>
          <p:nvPr/>
        </p:nvSpPr>
        <p:spPr>
          <a:xfrm>
            <a:off x="11256126" y="1233170"/>
            <a:ext cx="776238" cy="3872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a:t>
            </a:r>
            <a:r>
              <a:rPr sz="1600" dirty="0">
                <a:solidFill>
                  <a:srgbClr val="E97132"/>
                </a:solidFill>
              </a:rPr>
              <a:t> </a:t>
            </a:r>
            <a:r>
              <a:rPr sz="1600" dirty="0" err="1">
                <a:solidFill>
                  <a:srgbClr val="E97132"/>
                </a:solidFill>
              </a:rPr>
              <a:t>회복이</a:t>
            </a:r>
            <a:r>
              <a:rPr sz="1600" dirty="0">
                <a:solidFill>
                  <a:srgbClr val="E97132"/>
                </a:solidFill>
              </a:rPr>
              <a:t> </a:t>
            </a:r>
            <a:r>
              <a:rPr sz="1600" dirty="0" err="1">
                <a:solidFill>
                  <a:srgbClr val="E97132"/>
                </a:solidFill>
              </a:rPr>
              <a:t>빠르나</a:t>
            </a:r>
            <a:r>
              <a:rPr sz="1600" dirty="0">
                <a:solidFill>
                  <a:srgbClr val="E97132"/>
                </a:solidFill>
              </a:rPr>
              <a:t> </a:t>
            </a:r>
            <a:r>
              <a:rPr sz="1600" dirty="0" err="1">
                <a:solidFill>
                  <a:srgbClr val="E97132"/>
                </a:solidFill>
              </a:rPr>
              <a:t>생육</a:t>
            </a:r>
            <a:r>
              <a:rPr sz="1600" dirty="0">
                <a:solidFill>
                  <a:srgbClr val="E97132"/>
                </a:solidFill>
              </a:rPr>
              <a:t> </a:t>
            </a:r>
            <a:r>
              <a:rPr sz="1600" dirty="0" err="1">
                <a:solidFill>
                  <a:srgbClr val="E97132"/>
                </a:solidFill>
              </a:rPr>
              <a:t>감소</a:t>
            </a:r>
            <a:r>
              <a:rPr sz="1600" dirty="0">
                <a:solidFill>
                  <a:srgbClr val="E97132"/>
                </a:solidFill>
              </a:rPr>
              <a:t>, </a:t>
            </a:r>
            <a:r>
              <a:rPr sz="1600" dirty="0" err="1">
                <a:solidFill>
                  <a:srgbClr val="E97132"/>
                </a:solidFill>
              </a:rPr>
              <a:t>콩은</a:t>
            </a:r>
            <a:r>
              <a:rPr sz="1600" dirty="0">
                <a:solidFill>
                  <a:srgbClr val="E97132"/>
                </a:solidFill>
              </a:rPr>
              <a:t> </a:t>
            </a:r>
            <a:r>
              <a:rPr sz="1600" dirty="0" err="1">
                <a:solidFill>
                  <a:srgbClr val="E97132"/>
                </a:solidFill>
              </a:rPr>
              <a:t>회복이</a:t>
            </a:r>
            <a:r>
              <a:rPr sz="1600" dirty="0">
                <a:solidFill>
                  <a:srgbClr val="E97132"/>
                </a:solidFill>
              </a:rPr>
              <a:t> </a:t>
            </a:r>
            <a:r>
              <a:rPr sz="1600" dirty="0" err="1">
                <a:solidFill>
                  <a:srgbClr val="E97132"/>
                </a:solidFill>
              </a:rPr>
              <a:t>느리나</a:t>
            </a:r>
            <a:r>
              <a:rPr sz="1600" dirty="0">
                <a:solidFill>
                  <a:srgbClr val="E97132"/>
                </a:solidFill>
              </a:rPr>
              <a:t> </a:t>
            </a:r>
            <a:r>
              <a:rPr sz="1600" dirty="0" err="1">
                <a:solidFill>
                  <a:srgbClr val="E97132"/>
                </a:solidFill>
              </a:rPr>
              <a:t>수량</a:t>
            </a:r>
            <a:r>
              <a:rPr sz="1600" dirty="0">
                <a:solidFill>
                  <a:srgbClr val="E97132"/>
                </a:solidFill>
              </a:rPr>
              <a:t> </a:t>
            </a:r>
            <a:r>
              <a:rPr sz="1600" dirty="0" err="1">
                <a:solidFill>
                  <a:srgbClr val="E97132"/>
                </a:solidFill>
              </a:rPr>
              <a:t>차이</a:t>
            </a:r>
            <a:r>
              <a:rPr sz="1600" dirty="0">
                <a:solidFill>
                  <a:srgbClr val="E97132"/>
                </a:solidFill>
              </a:rPr>
              <a:t> </a:t>
            </a:r>
            <a:r>
              <a:rPr sz="1600" dirty="0" err="1">
                <a:solidFill>
                  <a:srgbClr val="E97132"/>
                </a:solidFill>
              </a:rPr>
              <a:t>작음</a:t>
            </a:r>
            <a:r>
              <a:rPr sz="1600" dirty="0">
                <a:solidFill>
                  <a:srgbClr val="E97132"/>
                </a:solidFill>
              </a:rPr>
              <a:t> — </a:t>
            </a:r>
            <a:r>
              <a:rPr sz="1600" dirty="0" err="1">
                <a:solidFill>
                  <a:srgbClr val="E97132"/>
                </a:solidFill>
              </a:rPr>
              <a:t>반응은</a:t>
            </a:r>
            <a:r>
              <a:rPr sz="1600" dirty="0">
                <a:solidFill>
                  <a:srgbClr val="E97132"/>
                </a:solidFill>
              </a:rPr>
              <a:t> </a:t>
            </a:r>
            <a:r>
              <a:rPr sz="1600" dirty="0" err="1">
                <a:solidFill>
                  <a:srgbClr val="E97132"/>
                </a:solidFill>
              </a:rPr>
              <a:t>작물마다</a:t>
            </a:r>
            <a:r>
              <a:rPr sz="1600" dirty="0">
                <a:solidFill>
                  <a:srgbClr val="E97132"/>
                </a:solidFill>
              </a:rPr>
              <a:t> </a:t>
            </a:r>
            <a:r>
              <a:rPr sz="1600" dirty="0" err="1">
                <a:solidFill>
                  <a:srgbClr val="E97132"/>
                </a:solidFill>
              </a:rPr>
              <a:t>다름</a:t>
            </a:r>
            <a:endParaRPr sz="1600" dirty="0">
              <a:solidFill>
                <a:srgbClr val="E97132"/>
              </a:solidFill>
            </a:endParaRP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상추는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상추는 ΦPSII·ΦNPQ·ΦNO에 처리 차이가 없었고 Vcmax·Jmax는 복합구에서 낮은 경향이었다. 콩은 건조구에서 ΦPSII가 낮고 ΦNPQ·ΦNO가 높아 명반응에 타격을 입은 것으로 추정되며, Vcmax·Jmax도 건조구에서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상추는 대조구와 침수구의 차이가 커 침수가 생육에 직접 타격을 입혔을 가능성이 있으며 지상부 건물중이 감소했다(건조 −16%, 침수 −34%, 복합 −43%). 콩은 대조·침수 차이가 작아 3일 침수의 타격이 작았던 것으로 추정되며, 종실 생체중은 5~14% 감소하는 경향이었으나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19</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baseline="-25000" dirty="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1815882"/>
          </a:xfrm>
          <a:prstGeom prst="rect">
            <a:avLst/>
          </a:prstGeom>
          <a:noFill/>
        </p:spPr>
        <p:txBody>
          <a:bodyPr wrap="square">
            <a:spAutoFit/>
          </a:bodyPr>
          <a:lstStyle/>
          <a:p>
            <a:pPr marL="201168" indent="-201168">
              <a:spcBef>
                <a:spcPts val="0"/>
              </a:spcBef>
              <a:buFont typeface="Arial"/>
              <a:buChar char="•"/>
            </a:pPr>
            <a:r>
              <a:rPr sz="1400" b="0" dirty="0" err="1">
                <a:solidFill>
                  <a:srgbClr val="000000"/>
                </a:solidFill>
              </a:rPr>
              <a:t>이유: 같은 날에도 처리 간 측정 PAR·기온이 달랐음</a:t>
            </a:r>
            <a:endParaRPr sz="1400" b="0" dirty="0">
              <a:solidFill>
                <a:srgbClr val="000000"/>
              </a:solidFill>
            </a:endParaRPr>
          </a:p>
          <a:p>
            <a:pPr marL="201168" indent="-201168">
              <a:spcBef>
                <a:spcPts val="0"/>
              </a:spcBef>
              <a:buFont typeface="Arial"/>
              <a:buChar char="•"/>
            </a:pPr>
            <a:r>
              <a:rPr sz="1400" b="0" dirty="0" err="1">
                <a:solidFill>
                  <a:srgbClr val="000000"/>
                </a:solidFill>
              </a:rPr>
              <a:t>모형: y = μ + 처리 + β</a:t>
            </a:r>
            <a:r>
              <a:rPr sz="1400" b="0" baseline="-25000" dirty="0" err="1">
                <a:solidFill>
                  <a:srgbClr val="000000"/>
                </a:solidFill>
              </a:rPr>
              <a:t>1</a:t>
            </a:r>
            <a:r>
              <a:rPr sz="1400" b="0" dirty="0" err="1">
                <a:solidFill>
                  <a:srgbClr val="000000"/>
                </a:solidFill>
              </a:rPr>
              <a:t>·Q</a:t>
            </a:r>
            <a:r>
              <a:rPr sz="1400" b="0" baseline="-25000" dirty="0" err="1">
                <a:solidFill>
                  <a:srgbClr val="000000"/>
                </a:solidFill>
              </a:rPr>
              <a:t>amb</a:t>
            </a:r>
            <a:r>
              <a:rPr sz="1400" b="0" dirty="0" err="1">
                <a:solidFill>
                  <a:srgbClr val="000000"/>
                </a:solidFill>
              </a:rPr>
              <a:t> + β</a:t>
            </a:r>
            <a:r>
              <a:rPr sz="1400" b="0" baseline="-25000" dirty="0" err="1">
                <a:solidFill>
                  <a:srgbClr val="000000"/>
                </a:solidFill>
              </a:rPr>
              <a:t>2</a:t>
            </a:r>
            <a:r>
              <a:rPr sz="1400" b="0" dirty="0" err="1">
                <a:solidFill>
                  <a:srgbClr val="000000"/>
                </a:solidFill>
              </a:rPr>
              <a:t>·T</a:t>
            </a:r>
            <a:r>
              <a:rPr sz="1400" b="0" baseline="-25000" dirty="0" err="1">
                <a:solidFill>
                  <a:srgbClr val="000000"/>
                </a:solidFill>
              </a:rPr>
              <a:t>air</a:t>
            </a:r>
            <a:r>
              <a:rPr sz="1400" b="0" dirty="0" err="1">
                <a:solidFill>
                  <a:srgbClr val="000000"/>
                </a:solidFill>
              </a:rPr>
              <a:t> + 측정일(임의효과) + ε (Ali et al., 2025; Gao et al., 2024)</a:t>
            </a:r>
          </a:p>
          <a:p>
            <a:pPr marL="201168" indent="-201168">
              <a:spcBef>
                <a:spcPts val="0"/>
              </a:spcBef>
              <a:buFont typeface="Arial"/>
              <a:buChar char="•"/>
            </a:pPr>
            <a:r>
              <a:rPr sz="1400" b="0" dirty="0" err="1">
                <a:solidFill>
                  <a:srgbClr val="000000"/>
                </a:solidFill>
              </a:rPr>
              <a:t>PAR과 기온을 양적(선형) 공변량으로 넣어 처리별 보정 평균(BLUE)을 산출, Φ</a:t>
            </a:r>
            <a:r>
              <a:rPr sz="1400" b="0" baseline="-25000" dirty="0" err="1">
                <a:solidFill>
                  <a:srgbClr val="000000"/>
                </a:solidFill>
              </a:rPr>
              <a:t>PSII</a:t>
            </a:r>
            <a:r>
              <a:rPr sz="1400" b="0" dirty="0" err="1">
                <a:solidFill>
                  <a:srgbClr val="000000"/>
                </a:solidFill>
              </a:rPr>
              <a:t>는 PAR이 높을수록 낮아짐</a:t>
            </a:r>
            <a:endParaRPr sz="1400" b="0" dirty="0">
              <a:solidFill>
                <a:srgbClr val="000000"/>
              </a:solidFill>
            </a:endParaRPr>
          </a:p>
          <a:p>
            <a:pPr marL="201168" indent="-201168">
              <a:spcBef>
                <a:spcPts val="0"/>
              </a:spcBef>
              <a:buFont typeface="Arial"/>
              <a:buChar char="•"/>
            </a:pPr>
            <a:r>
              <a:rPr lang="ko-KR" altLang="en-US" sz="1400" b="0" dirty="0">
                <a:solidFill>
                  <a:srgbClr val="000000"/>
                </a:solidFill>
              </a:rPr>
              <a:t>기공전도도(g</a:t>
            </a:r>
            <a:r>
              <a:rPr lang="ko-KR" altLang="en-US" sz="1400" b="0" baseline="-25000" dirty="0">
                <a:solidFill>
                  <a:srgbClr val="000000"/>
                </a:solidFill>
              </a:rPr>
              <a:t>sw</a:t>
            </a:r>
            <a:r>
              <a:rPr lang="ko-KR" altLang="en-US" sz="1400" b="0" dirty="0">
                <a:solidFill>
                  <a:srgbClr val="000000"/>
                </a:solidFill>
              </a:rPr>
              <a:t>)는 PAR·기온 보정 없이 온도 보정 gsw(Rizzo &amp; Bailey, 2026)를 사용</a:t>
            </a:r>
            <a:endParaRPr sz="1400" b="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426464"/>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lnSpc>
                          <a:spcPct val="100000"/>
                        </a:lnSpc>
                        <a:spcBef>
                          <a:spcPts val="0"/>
                        </a:spcBef>
                        <a:spcAft>
                          <a:spcPts val="0"/>
                        </a:spcAft>
                      </a:pPr>
                      <a:r>
                        <a:rPr sz="1050" b="1">
                          <a:solidFill>
                            <a:srgbClr val="000000"/>
                          </a:solidFill>
                        </a:rPr>
                        <a:t>A (PPFD 1500)</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Soybean</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Romaine</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12.9</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22.6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16.4</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16.7</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12.5</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21.2</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15.8</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17.7</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769441"/>
          </a:xfrm>
          <a:prstGeom prst="rect">
            <a:avLst/>
          </a:prstGeom>
          <a:noFill/>
        </p:spPr>
        <p:txBody>
          <a:bodyPr wrap="square">
            <a:spAutoFit/>
          </a:bodyPr>
          <a:lstStyle/>
          <a:p>
            <a:pPr marL="201168" indent="-201168">
              <a:buFont typeface="Arial"/>
              <a:buChar char="•"/>
            </a:pPr>
            <a:r>
              <a:rPr sz="1100" b="0" dirty="0" err="1">
                <a:solidFill>
                  <a:srgbClr val="000000"/>
                </a:solidFill>
              </a:rPr>
              <a:t>모든</a:t>
            </a:r>
            <a:r>
              <a:rPr sz="1100" b="0" dirty="0">
                <a:solidFill>
                  <a:srgbClr val="000000"/>
                </a:solidFill>
              </a:rPr>
              <a:t> PPFD </a:t>
            </a:r>
            <a:r>
              <a:rPr sz="1100" b="0" dirty="0" err="1">
                <a:solidFill>
                  <a:srgbClr val="000000"/>
                </a:solidFill>
              </a:rPr>
              <a:t>수준에서</a:t>
            </a:r>
            <a:r>
              <a:rPr sz="1100" b="0" dirty="0">
                <a:solidFill>
                  <a:srgbClr val="000000"/>
                </a:solidFill>
              </a:rPr>
              <a:t> </a:t>
            </a:r>
            <a:r>
              <a:rPr sz="1100" b="0" dirty="0" err="1">
                <a:solidFill>
                  <a:srgbClr val="000000"/>
                </a:solidFill>
              </a:rPr>
              <a:t>처리</a:t>
            </a:r>
            <a:r>
              <a:rPr sz="1100" b="0" dirty="0">
                <a:solidFill>
                  <a:srgbClr val="000000"/>
                </a:solidFill>
              </a:rPr>
              <a:t> 간 </a:t>
            </a:r>
            <a:r>
              <a:rPr sz="1100" b="0" dirty="0" err="1">
                <a:solidFill>
                  <a:srgbClr val="000000"/>
                </a:solidFill>
              </a:rPr>
              <a:t>유의차</a:t>
            </a:r>
            <a:r>
              <a:rPr sz="1100" b="0" dirty="0">
                <a:solidFill>
                  <a:srgbClr val="000000"/>
                </a:solidFill>
              </a:rPr>
              <a:t> </a:t>
            </a:r>
            <a:r>
              <a:rPr sz="1100" b="0" dirty="0" err="1">
                <a:solidFill>
                  <a:srgbClr val="000000"/>
                </a:solidFill>
              </a:rPr>
              <a:t>없음</a:t>
            </a:r>
            <a:endParaRPr sz="1100" b="0" dirty="0">
              <a:solidFill>
                <a:srgbClr val="000000"/>
              </a:solidFill>
            </a:endParaRPr>
          </a:p>
          <a:p>
            <a:pPr marL="201168" indent="-201168">
              <a:buFont typeface="Arial"/>
              <a:buChar char="•"/>
            </a:pPr>
            <a:r>
              <a:rPr sz="1100" b="0" dirty="0" err="1">
                <a:solidFill>
                  <a:srgbClr val="000000"/>
                </a:solidFill>
              </a:rPr>
              <a:t>콩은</a:t>
            </a:r>
            <a:r>
              <a:rPr sz="1100" b="0" dirty="0">
                <a:solidFill>
                  <a:srgbClr val="000000"/>
                </a:solidFill>
              </a:rPr>
              <a:t> </a:t>
            </a:r>
            <a:r>
              <a:rPr sz="1100" b="0" dirty="0" err="1">
                <a:solidFill>
                  <a:srgbClr val="000000"/>
                </a:solidFill>
              </a:rPr>
              <a:t>처리</a:t>
            </a:r>
            <a:r>
              <a:rPr sz="1100" b="0" dirty="0">
                <a:solidFill>
                  <a:srgbClr val="000000"/>
                </a:solidFill>
              </a:rPr>
              <a:t> 전 </a:t>
            </a:r>
            <a:r>
              <a:rPr sz="1100" b="0" dirty="0" err="1">
                <a:solidFill>
                  <a:srgbClr val="000000"/>
                </a:solidFill>
              </a:rPr>
              <a:t>곡선이</a:t>
            </a:r>
            <a:r>
              <a:rPr sz="1100" b="0" dirty="0">
                <a:solidFill>
                  <a:srgbClr val="000000"/>
                </a:solidFill>
              </a:rPr>
              <a:t> </a:t>
            </a:r>
            <a:r>
              <a:rPr sz="1100" b="0" dirty="0" err="1">
                <a:solidFill>
                  <a:srgbClr val="000000"/>
                </a:solidFill>
              </a:rPr>
              <a:t>처리</a:t>
            </a:r>
            <a:r>
              <a:rPr sz="1100" b="0" dirty="0">
                <a:solidFill>
                  <a:srgbClr val="000000"/>
                </a:solidFill>
              </a:rPr>
              <a:t> </a:t>
            </a:r>
            <a:r>
              <a:rPr sz="1100" b="0" dirty="0" err="1">
                <a:solidFill>
                  <a:srgbClr val="000000"/>
                </a:solidFill>
              </a:rPr>
              <a:t>후보다</a:t>
            </a:r>
            <a:r>
              <a:rPr sz="1100" b="0" dirty="0">
                <a:solidFill>
                  <a:srgbClr val="000000"/>
                </a:solidFill>
              </a:rPr>
              <a:t> </a:t>
            </a:r>
            <a:r>
              <a:rPr sz="1100" b="0" dirty="0" err="1">
                <a:solidFill>
                  <a:srgbClr val="000000"/>
                </a:solidFill>
              </a:rPr>
              <a:t>낮고</a:t>
            </a:r>
            <a:r>
              <a:rPr sz="1100" b="0" dirty="0">
                <a:solidFill>
                  <a:srgbClr val="000000"/>
                </a:solidFill>
              </a:rPr>
              <a:t>, </a:t>
            </a:r>
            <a:r>
              <a:rPr lang="ko-KR" altLang="en-US" sz="1100" b="0" dirty="0">
                <a:solidFill>
                  <a:srgbClr val="000000"/>
                </a:solidFill>
              </a:rPr>
              <a:t>상추는</a:t>
            </a:r>
            <a:r>
              <a:rPr sz="1100" b="0" dirty="0">
                <a:solidFill>
                  <a:srgbClr val="000000"/>
                </a:solidFill>
              </a:rPr>
              <a:t> </a:t>
            </a:r>
            <a:r>
              <a:rPr sz="1100" b="0" dirty="0" err="1">
                <a:solidFill>
                  <a:srgbClr val="000000"/>
                </a:solidFill>
              </a:rPr>
              <a:t>처리</a:t>
            </a:r>
            <a:r>
              <a:rPr sz="1100" b="0" dirty="0">
                <a:solidFill>
                  <a:srgbClr val="000000"/>
                </a:solidFill>
              </a:rPr>
              <a:t> 전 </a:t>
            </a:r>
            <a:r>
              <a:rPr sz="1100" b="0" dirty="0" err="1">
                <a:solidFill>
                  <a:srgbClr val="000000"/>
                </a:solidFill>
              </a:rPr>
              <a:t>곡선이</a:t>
            </a:r>
            <a:r>
              <a:rPr sz="1100" b="0" dirty="0">
                <a:solidFill>
                  <a:srgbClr val="000000"/>
                </a:solidFill>
              </a:rPr>
              <a:t> </a:t>
            </a:r>
            <a:r>
              <a:rPr sz="1100" b="0" dirty="0" err="1">
                <a:solidFill>
                  <a:srgbClr val="000000"/>
                </a:solidFill>
              </a:rPr>
              <a:t>처리</a:t>
            </a:r>
            <a:r>
              <a:rPr sz="1100" b="0" dirty="0">
                <a:solidFill>
                  <a:srgbClr val="000000"/>
                </a:solidFill>
              </a:rPr>
              <a:t> </a:t>
            </a:r>
            <a:r>
              <a:rPr sz="1100" b="0" dirty="0" err="1">
                <a:solidFill>
                  <a:srgbClr val="000000"/>
                </a:solidFill>
              </a:rPr>
              <a:t>후보다</a:t>
            </a:r>
            <a:r>
              <a:rPr sz="1100" b="0" dirty="0">
                <a:solidFill>
                  <a:srgbClr val="000000"/>
                </a:solidFill>
              </a:rPr>
              <a:t> </a:t>
            </a:r>
            <a:r>
              <a:rPr sz="1100" b="0" dirty="0" err="1">
                <a:solidFill>
                  <a:srgbClr val="000000"/>
                </a:solidFill>
              </a:rPr>
              <a:t>높음</a:t>
            </a:r>
            <a:endParaRPr sz="1100" b="0" dirty="0">
              <a:solidFill>
                <a:srgbClr val="000000"/>
              </a:solidFill>
            </a:endParaRPr>
          </a:p>
          <a:p>
            <a:pPr marL="201168" indent="-201168">
              <a:buFont typeface="Arial"/>
              <a:buChar char="•"/>
            </a:pPr>
            <a:r>
              <a:rPr sz="1100" b="0" dirty="0">
                <a:solidFill>
                  <a:srgbClr val="000000"/>
                </a:solidFill>
              </a:rPr>
              <a:t>콩 </a:t>
            </a:r>
            <a:r>
              <a:rPr sz="1100" b="0" dirty="0" err="1">
                <a:solidFill>
                  <a:srgbClr val="000000"/>
                </a:solidFill>
              </a:rPr>
              <a:t>침수구와</a:t>
            </a:r>
            <a:r>
              <a:rPr sz="1100" b="0" dirty="0">
                <a:solidFill>
                  <a:srgbClr val="000000"/>
                </a:solidFill>
              </a:rPr>
              <a:t> </a:t>
            </a:r>
            <a:r>
              <a:rPr lang="ko-KR" altLang="en-US" sz="1100" b="0" dirty="0">
                <a:solidFill>
                  <a:srgbClr val="000000"/>
                </a:solidFill>
              </a:rPr>
              <a:t>상추</a:t>
            </a:r>
            <a:r>
              <a:rPr sz="1100" b="0" dirty="0">
                <a:solidFill>
                  <a:srgbClr val="000000"/>
                </a:solidFill>
              </a:rPr>
              <a:t> </a:t>
            </a:r>
            <a:r>
              <a:rPr sz="1100" b="0" dirty="0" err="1">
                <a:solidFill>
                  <a:srgbClr val="000000"/>
                </a:solidFill>
              </a:rPr>
              <a:t>복합구가</a:t>
            </a:r>
            <a:r>
              <a:rPr sz="1100" b="0" dirty="0">
                <a:solidFill>
                  <a:srgbClr val="000000"/>
                </a:solidFill>
              </a:rPr>
              <a:t> </a:t>
            </a:r>
            <a:r>
              <a:rPr sz="1100" b="0" dirty="0" err="1">
                <a:solidFill>
                  <a:srgbClr val="000000"/>
                </a:solidFill>
              </a:rPr>
              <a:t>낮은</a:t>
            </a:r>
            <a:r>
              <a:rPr sz="1100" b="0" dirty="0">
                <a:solidFill>
                  <a:srgbClr val="000000"/>
                </a:solidFill>
              </a:rPr>
              <a:t> </a:t>
            </a:r>
            <a:r>
              <a:rPr sz="1100" b="0" dirty="0" err="1">
                <a:solidFill>
                  <a:srgbClr val="000000"/>
                </a:solidFill>
              </a:rPr>
              <a:t>경향</a:t>
            </a:r>
            <a:endParaRPr sz="1100" b="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값: </a:t>
            </a:r>
            <a:r>
              <a:rPr sz="1000" b="0" dirty="0" err="1">
                <a:solidFill>
                  <a:srgbClr val="595959"/>
                </a:solidFill>
              </a:rPr>
              <a:t>평균</a:t>
            </a:r>
            <a:r>
              <a:rPr sz="1000" b="0" dirty="0">
                <a:solidFill>
                  <a:srgbClr val="595959"/>
                </a:solidFill>
              </a:rPr>
              <a:t> ± SE (µmol CO</a:t>
            </a:r>
            <a:r>
              <a:rPr sz="1000" b="0" baseline="-25000" dirty="0">
                <a:solidFill>
                  <a:srgbClr val="595959"/>
                </a:solidFill>
              </a:rPr>
              <a:t>2</a:t>
            </a:r>
            <a:r>
              <a:rPr sz="1000" b="0" dirty="0">
                <a:solidFill>
                  <a:srgbClr val="595959"/>
                </a:solidFill>
              </a:rPr>
              <a:t> m</a:t>
            </a:r>
            <a:r>
              <a:rPr sz="1000" b="0" baseline="30000" dirty="0">
                <a:solidFill>
                  <a:srgbClr val="595959"/>
                </a:solidFill>
              </a:rPr>
              <a:t>−2</a:t>
            </a:r>
            <a:r>
              <a:rPr sz="1000" b="0" dirty="0">
                <a:solidFill>
                  <a:srgbClr val="595959"/>
                </a:solidFill>
              </a:rPr>
              <a:t>·s</a:t>
            </a:r>
            <a:r>
              <a:rPr sz="1000" b="0" baseline="30000" dirty="0">
                <a:solidFill>
                  <a:srgbClr val="595959"/>
                </a:solidFill>
              </a:rPr>
              <a:t>−1</a:t>
            </a:r>
            <a:r>
              <a:rPr sz="1000" b="0" dirty="0">
                <a:solidFill>
                  <a:srgbClr val="595959"/>
                </a:solidFill>
              </a:rPr>
              <a:t>). 콩 </a:t>
            </a:r>
            <a:r>
              <a:rPr sz="1000" b="0" dirty="0" err="1">
                <a:solidFill>
                  <a:srgbClr val="595959"/>
                </a:solidFill>
              </a:rPr>
              <a:t>처리</a:t>
            </a:r>
            <a:r>
              <a:rPr sz="1000" b="0" dirty="0">
                <a:solidFill>
                  <a:srgbClr val="595959"/>
                </a:solidFill>
              </a:rPr>
              <a:t> 전 7/22~23(3곡선), </a:t>
            </a:r>
            <a:r>
              <a:rPr lang="ko-KR" altLang="en-US" sz="1000" b="0" dirty="0">
                <a:solidFill>
                  <a:srgbClr val="595959"/>
                </a:solidFill>
              </a:rPr>
              <a:t>상추</a:t>
            </a:r>
            <a:r>
              <a:rPr sz="1000" b="0" dirty="0">
                <a:solidFill>
                  <a:srgbClr val="595959"/>
                </a:solidFill>
              </a:rPr>
              <a:t> </a:t>
            </a:r>
            <a:r>
              <a:rPr sz="1000" b="0" dirty="0" err="1">
                <a:solidFill>
                  <a:srgbClr val="595959"/>
                </a:solidFill>
              </a:rPr>
              <a:t>처리</a:t>
            </a:r>
            <a:r>
              <a:rPr sz="1000" b="0" dirty="0">
                <a:solidFill>
                  <a:srgbClr val="595959"/>
                </a:solidFill>
              </a:rPr>
              <a:t> 전 10/4(3곡선), </a:t>
            </a:r>
            <a:r>
              <a:rPr sz="1000" b="0" dirty="0" err="1">
                <a:solidFill>
                  <a:srgbClr val="595959"/>
                </a:solidFill>
              </a:rPr>
              <a:t>처리</a:t>
            </a:r>
            <a:r>
              <a:rPr sz="1000" b="0" dirty="0">
                <a:solidFill>
                  <a:srgbClr val="595959"/>
                </a:solidFill>
              </a:rPr>
              <a:t> 후 </a:t>
            </a:r>
            <a:r>
              <a:rPr sz="1000" b="0" dirty="0" err="1">
                <a:solidFill>
                  <a:srgbClr val="595959"/>
                </a:solidFill>
              </a:rPr>
              <a:t>처리당</a:t>
            </a:r>
            <a:r>
              <a:rPr sz="1000" b="0" dirty="0">
                <a:solidFill>
                  <a:srgbClr val="595959"/>
                </a:solidFill>
              </a:rPr>
              <a:t> 3곡선(10/16~19). PPFD </a:t>
            </a:r>
            <a:r>
              <a:rPr sz="1000" b="0" dirty="0" err="1">
                <a:solidFill>
                  <a:srgbClr val="595959"/>
                </a:solidFill>
              </a:rPr>
              <a:t>수준별</a:t>
            </a:r>
            <a:r>
              <a:rPr sz="1000" b="0" dirty="0">
                <a:solidFill>
                  <a:srgbClr val="595959"/>
                </a:solidFill>
              </a:rPr>
              <a:t>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baseline="-25000" dirty="0"/>
              <a:t>s</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95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129.1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113.3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157.0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142.3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130.2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139.0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158.1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133.4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144.3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828432"/>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P1 </a:t>
            </a:r>
            <a:r>
              <a:rPr sz="1400" dirty="0" err="1">
                <a:solidFill>
                  <a:srgbClr val="000000"/>
                </a:solidFill>
              </a:rPr>
              <a:t>침수구</a:t>
            </a:r>
            <a:r>
              <a:rPr sz="1400" dirty="0">
                <a:solidFill>
                  <a:srgbClr val="000000"/>
                </a:solidFill>
              </a:rPr>
              <a:t>, P2 </a:t>
            </a:r>
            <a:r>
              <a:rPr sz="1400" dirty="0" err="1">
                <a:solidFill>
                  <a:srgbClr val="000000"/>
                </a:solidFill>
              </a:rPr>
              <a:t>건조·침수·복합구가</a:t>
            </a:r>
            <a:r>
              <a:rPr sz="1400" dirty="0">
                <a:solidFill>
                  <a:srgbClr val="000000"/>
                </a:solidFill>
              </a:rPr>
              <a:t> </a:t>
            </a:r>
            <a:r>
              <a:rPr sz="1400" dirty="0" err="1">
                <a:solidFill>
                  <a:srgbClr val="000000"/>
                </a:solidFill>
              </a:rPr>
              <a:t>대조구보다</a:t>
            </a:r>
            <a:r>
              <a:rPr sz="1400" dirty="0">
                <a:solidFill>
                  <a:srgbClr val="000000"/>
                </a:solidFill>
              </a:rPr>
              <a:t> </a:t>
            </a:r>
            <a:r>
              <a:rPr sz="1400" dirty="0" err="1">
                <a:solidFill>
                  <a:srgbClr val="000000"/>
                </a:solidFill>
              </a:rPr>
              <a:t>높음</a:t>
            </a:r>
            <a:endParaRPr sz="1400" dirty="0">
              <a:solidFill>
                <a:srgbClr val="000000"/>
              </a:solidFill>
            </a:endParaRPr>
          </a:p>
          <a:p>
            <a:pPr marL="201168" indent="-201168">
              <a:spcBef>
                <a:spcPts val="700"/>
              </a:spcBef>
              <a:buFont typeface="Arial"/>
              <a:buChar char="•"/>
            </a:pPr>
            <a:r>
              <a:rPr lang="ko-KR" altLang="en-US" sz="1400" dirty="0">
                <a:solidFill>
                  <a:srgbClr val="000000"/>
                </a:solidFill>
              </a:rPr>
              <a:t>상추</a:t>
            </a:r>
            <a:r>
              <a:rPr sz="1400" dirty="0">
                <a:solidFill>
                  <a:srgbClr val="000000"/>
                </a:solidFill>
              </a:rPr>
              <a:t>: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23</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95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120.0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189.6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141.7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75.8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143.8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137.9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78.5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110.0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178.0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72.6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164.2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80.2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828432"/>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a:t>
            </a:r>
            <a:r>
              <a:rPr sz="1400" dirty="0" err="1">
                <a:solidFill>
                  <a:srgbClr val="000000"/>
                </a:solidFill>
              </a:rPr>
              <a:t>대조구가</a:t>
            </a:r>
            <a:r>
              <a:rPr sz="1400" dirty="0">
                <a:solidFill>
                  <a:srgbClr val="000000"/>
                </a:solidFill>
              </a:rPr>
              <a:t> </a:t>
            </a:r>
            <a:r>
              <a:rPr sz="1400" dirty="0" err="1">
                <a:solidFill>
                  <a:srgbClr val="000000"/>
                </a:solidFill>
              </a:rPr>
              <a:t>높고</a:t>
            </a:r>
            <a:r>
              <a:rPr sz="1400" dirty="0">
                <a:solidFill>
                  <a:srgbClr val="000000"/>
                </a:solidFill>
              </a:rPr>
              <a:t> </a:t>
            </a:r>
            <a:r>
              <a:rPr sz="1400" dirty="0" err="1">
                <a:solidFill>
                  <a:srgbClr val="000000"/>
                </a:solidFill>
              </a:rPr>
              <a:t>건조구가</a:t>
            </a:r>
            <a:r>
              <a:rPr sz="1400" dirty="0">
                <a:solidFill>
                  <a:srgbClr val="000000"/>
                </a:solidFill>
              </a:rPr>
              <a:t> </a:t>
            </a:r>
            <a:r>
              <a:rPr sz="1400" dirty="0" err="1">
                <a:solidFill>
                  <a:srgbClr val="000000"/>
                </a:solidFill>
              </a:rPr>
              <a:t>가장</a:t>
            </a:r>
            <a:r>
              <a:rPr sz="1400" dirty="0">
                <a:solidFill>
                  <a:srgbClr val="000000"/>
                </a:solidFill>
              </a:rPr>
              <a:t> </a:t>
            </a:r>
            <a:r>
              <a:rPr sz="1400" dirty="0" err="1">
                <a:solidFill>
                  <a:srgbClr val="000000"/>
                </a:solidFill>
              </a:rPr>
              <a:t>낮음</a:t>
            </a:r>
            <a:endParaRPr sz="1400" dirty="0">
              <a:solidFill>
                <a:srgbClr val="000000"/>
              </a:solidFill>
            </a:endParaRPr>
          </a:p>
          <a:p>
            <a:pPr marL="201168" indent="-201168">
              <a:spcBef>
                <a:spcPts val="700"/>
              </a:spcBef>
              <a:buFont typeface="Arial"/>
              <a:buChar char="•"/>
            </a:pPr>
            <a:r>
              <a:rPr lang="ko-KR" altLang="en-US" sz="1400" dirty="0">
                <a:solidFill>
                  <a:srgbClr val="000000"/>
                </a:solidFill>
              </a:rPr>
              <a:t>상추</a:t>
            </a:r>
            <a:r>
              <a:rPr sz="1400" dirty="0">
                <a:solidFill>
                  <a:srgbClr val="000000"/>
                </a:solidFill>
              </a:rPr>
              <a:t>: P1 </a:t>
            </a:r>
            <a:r>
              <a:rPr sz="1400" dirty="0" err="1">
                <a:solidFill>
                  <a:srgbClr val="000000"/>
                </a:solidFill>
              </a:rPr>
              <a:t>대조구가</a:t>
            </a:r>
            <a:r>
              <a:rPr sz="1400" dirty="0">
                <a:solidFill>
                  <a:srgbClr val="000000"/>
                </a:solidFill>
              </a:rPr>
              <a:t> </a:t>
            </a:r>
            <a:r>
              <a:rPr sz="1400" dirty="0" err="1">
                <a:solidFill>
                  <a:srgbClr val="000000"/>
                </a:solidFill>
              </a:rPr>
              <a:t>높은</a:t>
            </a:r>
            <a:r>
              <a:rPr sz="1400" dirty="0">
                <a:solidFill>
                  <a:srgbClr val="000000"/>
                </a:solidFill>
              </a:rPr>
              <a:t> </a:t>
            </a:r>
            <a:r>
              <a:rPr sz="1400" dirty="0" err="1">
                <a:solidFill>
                  <a:srgbClr val="000000"/>
                </a:solidFill>
              </a:rPr>
              <a:t>경향</a:t>
            </a:r>
            <a:r>
              <a:rPr sz="1400" dirty="0">
                <a:solidFill>
                  <a:srgbClr val="000000"/>
                </a:solidFill>
              </a:rPr>
              <a:t>, P2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24</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08/13</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10:31–11:01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348</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0.61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08/14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10:19–10:36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08/15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08:31–08:40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08/16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08:43–08:57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08/17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08:37–08:51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08/18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08:54–09:05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08/19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09:42–10:01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08/20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09:32–09:45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162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08/21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08:18–08:25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08/29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11:39–12:32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76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09/04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10:25–11:02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09/11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10:16–10:43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09/25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09:19–09:59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10/02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10:25–11:06</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338</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ko-KR" altLang="en-US" sz="1300" b="1" dirty="0">
                <a:solidFill>
                  <a:srgbClr val="FFFFFF"/>
                </a:solidFill>
              </a:rPr>
              <a:t>상추</a:t>
            </a:r>
            <a:endParaRPr sz="1300" b="1" dirty="0">
              <a:solidFill>
                <a:srgbClr val="FFFFFF"/>
              </a:solidFill>
            </a:endParaRP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10/06</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10:20–10:22</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214</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0.50</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10/08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09:29–09:36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10/09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10:53–10:59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10/10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09:44–09:53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10/11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11:17–11:28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0.74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10/12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10:36–10:57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484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10/13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09:33–10:06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10/14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09:28–09:53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10/15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09:31–09:51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10/16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09:40–09:56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10/17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08:59–09:33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10/19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08:28–09:27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10/21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09:47–10:04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10/23</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09:33–09:55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dirty="0">
                <a:solidFill>
                  <a:srgbClr val="595959"/>
                </a:solidFill>
              </a:rPr>
              <a:t>CI = </a:t>
            </a:r>
            <a:r>
              <a:rPr sz="1000" dirty="0" err="1">
                <a:solidFill>
                  <a:srgbClr val="595959"/>
                </a:solidFill>
              </a:rPr>
              <a:t>측정</a:t>
            </a:r>
            <a:r>
              <a:rPr sz="1000" dirty="0">
                <a:solidFill>
                  <a:srgbClr val="595959"/>
                </a:solidFill>
              </a:rPr>
              <a:t> </a:t>
            </a:r>
            <a:r>
              <a:rPr sz="1000" dirty="0" err="1">
                <a:solidFill>
                  <a:srgbClr val="595959"/>
                </a:solidFill>
              </a:rPr>
              <a:t>구간</a:t>
            </a:r>
            <a:r>
              <a:rPr sz="1000" dirty="0">
                <a:solidFill>
                  <a:srgbClr val="595959"/>
                </a:solidFill>
              </a:rPr>
              <a:t> </a:t>
            </a:r>
            <a:r>
              <a:rPr sz="1000" dirty="0" err="1">
                <a:solidFill>
                  <a:srgbClr val="595959"/>
                </a:solidFill>
              </a:rPr>
              <a:t>평균</a:t>
            </a:r>
            <a:r>
              <a:rPr sz="1000" dirty="0">
                <a:solidFill>
                  <a:srgbClr val="595959"/>
                </a:solidFill>
              </a:rPr>
              <a:t> SW / </a:t>
            </a:r>
            <a:r>
              <a:rPr sz="1000" dirty="0" err="1">
                <a:solidFill>
                  <a:srgbClr val="595959"/>
                </a:solidFill>
              </a:rPr>
              <a:t>같은</a:t>
            </a:r>
            <a:r>
              <a:rPr sz="1000" dirty="0">
                <a:solidFill>
                  <a:srgbClr val="595959"/>
                </a:solidFill>
              </a:rPr>
              <a:t> </a:t>
            </a:r>
            <a:r>
              <a:rPr sz="1000" dirty="0" err="1">
                <a:solidFill>
                  <a:srgbClr val="595959"/>
                </a:solidFill>
              </a:rPr>
              <a:t>시각대</a:t>
            </a:r>
            <a:r>
              <a:rPr sz="1000" dirty="0">
                <a:solidFill>
                  <a:srgbClr val="595959"/>
                </a:solidFill>
              </a:rPr>
              <a:t> ±10일 90분위수 SW(</a:t>
            </a:r>
            <a:r>
              <a:rPr sz="1000" dirty="0" err="1">
                <a:solidFill>
                  <a:srgbClr val="595959"/>
                </a:solidFill>
              </a:rPr>
              <a:t>맑은</a:t>
            </a:r>
            <a:r>
              <a:rPr sz="1000" dirty="0">
                <a:solidFill>
                  <a:srgbClr val="595959"/>
                </a:solidFill>
              </a:rPr>
              <a:t> 날 </a:t>
            </a:r>
            <a:r>
              <a:rPr sz="1000" dirty="0" err="1">
                <a:solidFill>
                  <a:srgbClr val="595959"/>
                </a:solidFill>
              </a:rPr>
              <a:t>기준</a:t>
            </a:r>
            <a:r>
              <a:rPr sz="1000" dirty="0">
                <a:solidFill>
                  <a:srgbClr val="595959"/>
                </a:solidFill>
              </a:rPr>
              <a:t>). </a:t>
            </a:r>
            <a:r>
              <a:rPr sz="1000" dirty="0" err="1">
                <a:solidFill>
                  <a:srgbClr val="595959"/>
                </a:solidFill>
              </a:rPr>
              <a:t>날짜별</a:t>
            </a:r>
            <a:r>
              <a:rPr sz="1000" dirty="0">
                <a:solidFill>
                  <a:srgbClr val="595959"/>
                </a:solidFill>
              </a:rPr>
              <a:t> </a:t>
            </a:r>
            <a:r>
              <a:rPr sz="1000" dirty="0" err="1">
                <a:solidFill>
                  <a:srgbClr val="595959"/>
                </a:solidFill>
              </a:rPr>
              <a:t>예외</a:t>
            </a:r>
            <a:r>
              <a:rPr sz="1000" dirty="0">
                <a:solidFill>
                  <a:srgbClr val="595959"/>
                </a:solidFill>
              </a:rPr>
              <a:t> </a:t>
            </a:r>
            <a:r>
              <a:rPr sz="1000" dirty="0" err="1">
                <a:solidFill>
                  <a:srgbClr val="595959"/>
                </a:solidFill>
              </a:rPr>
              <a:t>없이</a:t>
            </a:r>
            <a:r>
              <a:rPr sz="1000" dirty="0">
                <a:solidFill>
                  <a:srgbClr val="595959"/>
                </a:solidFill>
              </a:rPr>
              <a:t> 한 </a:t>
            </a:r>
            <a:r>
              <a:rPr sz="1000" dirty="0" err="1">
                <a:solidFill>
                  <a:srgbClr val="595959"/>
                </a:solidFill>
              </a:rPr>
              <a:t>규칙으로</a:t>
            </a:r>
            <a:r>
              <a:rPr sz="1000" dirty="0">
                <a:solidFill>
                  <a:srgbClr val="595959"/>
                </a:solidFill>
              </a:rPr>
              <a:t> </a:t>
            </a:r>
            <a:r>
              <a:rPr sz="1000" dirty="0" err="1">
                <a:solidFill>
                  <a:srgbClr val="595959"/>
                </a:solidFill>
              </a:rPr>
              <a:t>통일</a:t>
            </a:r>
            <a:r>
              <a:rPr sz="1000" dirty="0">
                <a:solidFill>
                  <a:srgbClr val="595959"/>
                </a:solidFill>
              </a:rPr>
              <a:t>. </a:t>
            </a:r>
            <a:r>
              <a:rPr lang="ko-KR" altLang="en-US" sz="1000" dirty="0">
                <a:solidFill>
                  <a:srgbClr val="595959"/>
                </a:solidFill>
              </a:rPr>
              <a:t>상추</a:t>
            </a:r>
            <a:r>
              <a:rPr sz="1000" dirty="0">
                <a:solidFill>
                  <a:srgbClr val="595959"/>
                </a:solidFill>
              </a:rPr>
              <a:t> 10/13은 SW </a:t>
            </a:r>
            <a:r>
              <a:rPr sz="1000" dirty="0" err="1">
                <a:solidFill>
                  <a:srgbClr val="595959"/>
                </a:solidFill>
              </a:rPr>
              <a:t>자료가</a:t>
            </a:r>
            <a:r>
              <a:rPr sz="1000" dirty="0">
                <a:solidFill>
                  <a:srgbClr val="595959"/>
                </a:solidFill>
              </a:rPr>
              <a:t> 4분뿐(</a:t>
            </a:r>
            <a:r>
              <a:rPr sz="1000" dirty="0" err="1">
                <a:solidFill>
                  <a:srgbClr val="595959"/>
                </a:solidFill>
              </a:rPr>
              <a:t>결측</a:t>
            </a:r>
            <a:r>
              <a:rPr sz="1000" dirty="0">
                <a:solidFill>
                  <a:srgbClr val="595959"/>
                </a:solidFill>
              </a:rPr>
              <a:t>).</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19835</TotalTime>
  <Words>4706</Words>
  <Application>Microsoft Office PowerPoint</Application>
  <PresentationFormat>와이드스크린</PresentationFormat>
  <Paragraphs>943</Paragraphs>
  <Slides>25</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25</vt:i4>
      </vt:variant>
    </vt:vector>
  </HeadingPairs>
  <TitlesOfParts>
    <vt:vector size="30" baseType="lpstr">
      <vt:lpstr>맑은 고딕</vt:lpstr>
      <vt:lpstr>맑은 고딕</vt:lpstr>
      <vt:lpstr>Arial</vt:lpstr>
      <vt:lpstr>Times New Roman</vt:lpstr>
      <vt:lpstr>Office 테마</vt:lpstr>
      <vt:lpstr>침수 및 건조 복합재해에 대한  생육 및 생리 반응 비교  Comparison of Growth and Physiological Responses of Soybean and Romaine Lettuce to Flooding, Drought, and Combined Stress</vt:lpstr>
      <vt:lpstr>연구 배경</vt:lpstr>
      <vt:lpstr>연구 목적</vt:lpstr>
      <vt:lpstr>공시 작물 및 수분 처리</vt:lpstr>
      <vt:lpstr>처리 일정과 측정 시기 (DAT 기준 정렬)</vt:lpstr>
      <vt:lpstr>측정 항목: 제한 단계별 지표</vt:lpstr>
      <vt:lpstr>재배 환경</vt:lpstr>
      <vt:lpstr>누적 관수량</vt:lpstr>
      <vt:lpstr>LI-600 : 기공전도도 (gsw)</vt:lpstr>
      <vt:lpstr>LI-600 : 광계 II 양자수율 (ΦPSII)</vt:lpstr>
      <vt:lpstr>LI-600 : 에너지 소산 양자수율 (ΦNPQ, ΦNO)</vt:lpstr>
      <vt:lpstr>LI-6800 : 광합성 능력</vt:lpstr>
      <vt:lpstr>생육 조사 : 수량 및 지상부 생육</vt:lpstr>
      <vt:lpstr>종합 : 지표별 반응 (대조구 대비)</vt:lpstr>
      <vt:lpstr>콩 (기공 → 명반응 → 광합성 능력 → 수량)</vt:lpstr>
      <vt:lpstr>상추 (기공 → 명반응 → 광합성 능력 → 건물중)</vt:lpstr>
      <vt:lpstr>결론</vt:lpstr>
      <vt:lpstr>PowerPoint 프레젠테이션</vt:lpstr>
      <vt:lpstr>보충 자료</vt:lpstr>
      <vt:lpstr>LI-600 : PAR·기온 보정</vt:lpstr>
      <vt:lpstr>LI-6800 : 광-광합성 곡선 (A-Q)</vt:lpstr>
      <vt:lpstr>LI-600 : 정상 상태 형광 (Fs)</vt:lpstr>
      <vt:lpstr>LI-600 : 전자전달속도 (ETR)</vt:lpstr>
      <vt:lpstr>A5. 측정 당시 일사 조건: 흐린 날 표시</vt:lpstr>
      <vt:lpstr>A6. 참고문헌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33</cp:revision>
  <dcterms:created xsi:type="dcterms:W3CDTF">2026-04-06T01:45:26Z</dcterms:created>
  <dcterms:modified xsi:type="dcterms:W3CDTF">2026-11-02T02:01:38Z</dcterms:modified>
</cp:coreProperties>
</file>